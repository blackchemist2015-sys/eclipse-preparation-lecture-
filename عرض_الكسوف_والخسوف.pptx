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77814bdc-a898-ee7a-c74c-be8b9c9c9722}">
          <p14:sldIdLst>
            <p14:sldId id="256"/>
          </p14:sldIdLst>
        </p14:section>
        <p14:section name="كسوف الشمس" id="{3de1a423-45f1-0b2c-6f89-b7446b5e3960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كسوف الشمس — ٢٥ أكتوبر ٢٠٢٢" id="{625d2529-0019-6db5-b16a-cd22f9ddbc5b}">
          <p14:sldIdLst>
            <p14:sldId id="270"/>
            <p14:sldId id="271"/>
            <p14:sldId id="272"/>
            <p14:sldId id="273"/>
            <p14:sldId id="274"/>
          </p14:sldIdLst>
        </p14:section>
        <p14:section name="خسوف القمر" id="{fcbc74f5-b414-517a-7772-37bbd5ee9cd8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القمر العملاق" id="{923da3e2-8523-a562-c16f-62d1174597cb}">
          <p14:sldIdLst>
            <p14:sldId id="282"/>
            <p14:sldId id="283"/>
            <p14:sldId id="284"/>
            <p14:sldId id="285"/>
          </p14:sldIdLst>
        </p14:section>
        <p14:section name="مراجعة المفاهيم" id="{9597bef8-58d6-c012-2130-1f26e35828f3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EB Garamond"/>
                <a:cs typeface="Noto Naskh Arabic"/>
              </a:defRPr>
            </a:lvl1pPr>
          </a:lstStyle>
          <a:p>
            <a:endParaRPr lang="en-US">
              <a:latin typeface="EB Garamond"/>
              <a:cs typeface="Noto Naskh Arabic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EB Garamond"/>
                <a:cs typeface="Noto Naskh Arabic"/>
              </a:defRPr>
            </a:lvl1pPr>
          </a:lstStyle>
          <a:p>
            <a:fld id="{5282F153-3F37-0F45-9E97-73ACFA13230C}" type="datetimeFigureOut">
              <a:rPr lang="en-US">
                <a:latin typeface="EB Garamond"/>
                <a:cs typeface="Noto Naskh Arabic"/>
              </a:rPr>
              <a:t>7/23/19</a:t>
            </a:fld>
            <a:endParaRPr lang="en-US">
              <a:latin typeface="EB Garamond"/>
              <a:cs typeface="Noto Naskh Arabi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EB Garamond"/>
              <a:cs typeface="Noto Naskh Arabic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EB Garamond"/>
                <a:cs typeface="Noto Naskh Arabic"/>
              </a:rPr>
              <a:t>Click to edit Master text styles</a:t>
            </a:r>
          </a:p>
          <a:p>
            <a:pPr lvl="1"/>
            <a:r>
              <a:rPr lang="en-US">
                <a:latin typeface="EB Garamond"/>
                <a:cs typeface="Noto Naskh Arabic"/>
              </a:rPr>
              <a:t>Second level</a:t>
            </a:r>
          </a:p>
          <a:p>
            <a:pPr lvl="2"/>
            <a:r>
              <a:rPr lang="en-US">
                <a:latin typeface="EB Garamond"/>
                <a:cs typeface="Noto Naskh Arabic"/>
              </a:rPr>
              <a:t>Third level</a:t>
            </a:r>
          </a:p>
          <a:p>
            <a:pPr lvl="3"/>
            <a:r>
              <a:rPr lang="en-US">
                <a:latin typeface="EB Garamond"/>
                <a:cs typeface="Noto Naskh Arabic"/>
              </a:rPr>
              <a:t>Fourth level</a:t>
            </a:r>
          </a:p>
          <a:p>
            <a:pPr lvl="4"/>
            <a:r>
              <a:rPr lang="en-US">
                <a:latin typeface="EB Garamond"/>
                <a:cs typeface="Noto Naskh Arabic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EB Garamond"/>
                <a:cs typeface="Noto Naskh Arabic"/>
              </a:defRPr>
            </a:lvl1pPr>
          </a:lstStyle>
          <a:p>
            <a:endParaRPr lang="en-US">
              <a:latin typeface="EB Garamond"/>
              <a:cs typeface="Noto Naskh Arabic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EB Garamond"/>
                <a:cs typeface="Noto Naskh Arabic"/>
              </a:defRPr>
            </a:lvl1pPr>
          </a:lstStyle>
          <a:p>
            <a:fld id="{CE5E9CC1-C706-0F49-92D6-E571CC5EEA8F}" type="slidenum">
              <a:rPr lang="en-US">
                <a:latin typeface="EB Garamond"/>
                <a:cs typeface="Noto Naskh Arabic"/>
              </a:rPr>
              <a:t>‹#›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EB Garamond"/>
        <a:cs typeface="Noto Naskh Arabic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EB Garamond"/>
        <a:cs typeface="Noto Naskh Arabic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EB Garamond"/>
        <a:cs typeface="Noto Naskh Arabic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EB Garamond"/>
        <a:cs typeface="Noto Naskh Arabic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EB Garamond"/>
        <a:cs typeface="Noto Naskh Arabic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EB Garamond"/>
        <a:cs typeface="Noto Naskh Arabic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EB Garamond"/>
        <a:cs typeface="Noto Naskh Arabic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EB Garamond"/>
        <a:cs typeface="Noto Naskh Arabic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EB Garamond"/>
        <a:cs typeface="Noto Naskh Arabic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عرض عن الكسوف والخسوف ضمن سلسلة #السماء_بيتي: كيف يحدث كسوف الشمس وأنواعه، ثم كسوف ٢٥ أكتوبر ٢٠٢٢ كما رُئي من القاهرة، ثم خسوف القمر واحمراره، وأخيرًا القمر العملاق.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1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الجزء الأول: كسوف الشمس. نبدأ من حركة القمر، ثم الظل، ثم لماذا لا يحدث كل شهر، ثم أنواعه الثلاثة.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2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نقطة البداية: ثلاثة أجرام تتحرك معًا. القمر يدور حول الأرض، والاثنان معًا يدوران حول الشمس. ولا يحدث الكسوف أو الخسوف إلا إذا اصطف الثلاثة على خط واحد.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3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الرسم يوضح مخروطي ظل القمر. الظل الكامل بقعة لا يتجاوز عرضها بضع مئات من الكيلومترات، ولهذا يرى أهل مدينة الكسوف كليًا بينما يراه جيرانهم جزئيًا.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4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خط العقد يشير نحو الشمس مرتين كل عام تقريبًا، وهما «موسما الكسوف». في كل موسم يمكن أن يقع كسوف وخسوف متتاليان بفارق أسبوعين.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5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الصورة من رسم متحرك (GIFs de Física) في العرض الأصلي. اشرح بيديك: طوقان مائلان أحدهما على الآخر قليلًا، لا يلتقيان إلا في نقطتين.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6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الرسمان متماثلان إلا في بعد القمر. في الكلي تظهر الهالة، وفي الحلقي لا تظهر لأن الحلقة المضيئة أسطع بكثير، وتبقى النظارة على العين طوال الحلقي.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7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مثال تاريخي من مصر: كسوف ٢٤ يناير ١٠٠٤م كان هجينًا، وغربت الشمس فيه على القاهرة مكسوفة ٩٧٪.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8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محاكاة من ناسا (A. T. Sinclair, sunearth.gsfc.nasa.gov/eclipse) لموقع ظل القمر على الأرض الساعة ١٥:٣٠ بالتوقيت العالمي يوم ٢١ أغسطس ٢٠١٧.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9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صورة ثابتة من رسم متحرك في العرض الأصلي لكسوف ١١ أغسطس ١٩٩٩. اطلب من الحضور تخيّل هذه البقعة فوق صعيد مصر يوم ٢ أغسطس ٢٠٢٧.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10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تسلسل كامل لكسوف ٢٩ مارس ٢٠٠٦ (تصوير Odd Høydalsvik). مرّ ظله الكلي بالسلوم في شمال غرب مصر، وهو آخر كسوف كلي رأته مصر قبل ٢٠٢٧.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11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تصوير المصوّر عصام جودة (Esam Goda Photography). تذكير: كل ما يراه أهل القاهرة والإسكندرية في ٢٠٢٧ جزئي مثل هذا.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12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تسلسل كسوف حلقي من العرض الأصلي. القمر هنا أصغر ظاهريًا من الشمس لأنه قرب الأوج.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13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خريطة مسارات الكسوفات لخمسين عامًا من العرض الأصلي. أشر إلى مسار ٢٠٢٧ وهو يعبر شمال أفريقيا ومصر.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14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الجزء الثاني: كسوف جزئي حديث رآه أهل مصر — مثال عملي على التنظيم والرصد الآمن.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15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خريطة الكسوف من ناسا (فريد إسبيناك). الكسوفات الجزئية من هذا النوع تحدث حين يمر ظل القمر الكامل فوق القطب أو خارج الأرض تمامًا.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16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محاكاة لشكل الشمس عند الذروة من القاهرة يوم ٢٥ أكتوبر ٢٠٢٢. الأوقات بتوقيت القاهرة (لم يكن التوقيت الصيفي مطبقًا يومها).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17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إعلان فعالية الرصد العام في قصر البارون بمصر الجديدة. نموذج لما يمكن تكراره على نطاق أوسع في ٢٠٢٧.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18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أسهل وسيلة آمنة لمشاهدة الكسوف الجزئي، وتصلح للمدارس والعائلات.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19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الجزء الثالث: خسوف القمر — ظاهرة يراها نصف الكرة الأرضية بالعين المجردة بأمان تام.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20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عكس الكسوف: هنا الأرض هي التي تحجب ضوء الشمس عن القمر. ظل الأرض كبير، فيدوم الخسوف ساعات وتدوم كليته حتى ساعة وأربعين دقيقة.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21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رسم لمراحل خسوف كلي والقمر يعبر ظل الأرض من الغرب إلى الشرق.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22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تسلسل صور خسوف كلي (١٩٩٢) من العرض الأصلي. لاحظ أن حافة ظل الأرض مستديرة دائمًا — دليل قديم على كروية الأرض.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23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ولهذا يختلف لون الخسوف من مرة إلى أخرى: إذا كان في الجو غبار بركاني كثير صار القمر داكنًا جدًا.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24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الصورة معاينة لمقطع مرئي في العرض الأصلي. ظلال أقمار المشتري تُرى بالتلسكوبات المتوسطة، وهي نشاط جميل لأمسيات الرصد.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25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الرسم يوضح خط الرؤية الظاهري والمسار الحقيقي للضوء. ولا تُرى هذه النجوم نهارًا إلا أثناء الكلية.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26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الجزء الرابع: القمر العملاق — والعلاقة المباشرة بينه وبين نوع الكسوف (كلي أم حلقي).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27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مدار القمر بيضاوي لا دائري. والتغير نفسه هو الذي يجعل كسوفًا كليًا وآخر حلقيًا.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28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أرقام متوسطة؛ تتغير قليلًا من شهر إلى آخر. في الحضيض قد يقترب القمر حتى نحو ٣٥٦٥٠٠ كم، وفي الأوج قد يبتعد حتى نحو ٤٠٦٧٠٠ كم.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29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في كسوف ٢ أغسطس ٢٠٢٧ القمر قريب من الحضيض — ولهذا تطول الكلية فوق مصر إلى أكثر من ست دقائق.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30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الجزء الأخير: مراجعة سريعة للمفاهيم بالعربية والإنجليزية — مناسبة للمدارس وللختام.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31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مراجعة: الكلمتان تُستعملان في اللغة للنيّرين، واشتهر: الكسوف للشمس والخسوف للقمر.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32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تعريف مختصر للخسوف مع رسم ظل الأرض.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33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المصطلحان نفسهما في الكسوف والخسوف: ظل القمر على الأرض، أو ظل الأرض على القمر.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34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تسلسل صور خسوف ٣ مارس ٢٠٠٧ الكلي، وقد رُئي من مصر.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35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استعملنا هنا صور المراحل الجزئية من الخسوف الكلي، لأن صورة هذه الشريحة في العرض الأصلي كانت لهلال يظهر عليه «ضوء الأرض» (Earthshine) لا لخسوف جزئي.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36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تسلسل كسوف ٢٠٠٦ الكلي. أقصى مدة ممكنة للكلية نحو سبع دقائق ونصف.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37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الكسوف الجزئي هو ما يراه معظم الناس في أي كسوف؛ الكلي لا يُرى إلا من شريط ضيق.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38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حلقة النار كما تُرى بمرشح شمسي. النظارة على العين طوال الكسوف الحلقي.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39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السبب نفسه الذي يمنع الكسوف كل شهر.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40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EB Garamond"/>
                <a:cs typeface="Noto Naskh Arabic"/>
              </a:rPr>
              <a:t>خلاصة: الكسوف والخسوف يأتيان في «مواسم» حين يشير خط العقد نحو الشمس. ولهذا كثيرًا ما يتبع الكسوفَ خسوفٌ بعد أسبوعين أو يسبقه.</a:t>
            </a:r>
            <a:endParaRPr lang="en-US" dirty="0">
              <a:latin typeface="EB Garamond"/>
              <a:cs typeface="Noto Naskh Arab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B Garamond"/>
                <a:cs typeface="Noto Naskh Arabic"/>
              </a:rPr>
              <a:t>41</a:t>
            </a:fld>
            <a:endParaRPr lang="en-US">
              <a:latin typeface="EB Garamond"/>
              <a:cs typeface="Noto Naskh Arab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30E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000" b="1" dirty="0">
                <a:solidFill>
                  <a:srgbClr val="E8B84B"/>
                </a:solidFill>
                <a:latin typeface="EB Garamond"/>
                <a:cs typeface="Amiri"/>
              </a:defRPr>
            </a:lvl1pPr>
          </a:lstStyle>
          <a:p>
            <a:pPr algn="r" indent="0" marL="0">
              <a:buNone/>
            </a:pPr>
            <a:endParaRPr lang="ar-EG" sz="3000" dirty="0">
              <a:latin typeface="EB Garamond"/>
              <a:cs typeface="Ami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9525">
            <a:solidFill>
              <a:srgbClr val="C996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54880" y="6437376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EG" altLang="en-US" sz="1000" dirty="0">
                <a:solidFill>
                  <a:srgbClr val="9C8B6E"/>
                </a:solidFill>
                <a:latin typeface="EB Garamond"/>
                <a:cs typeface="Noto Naskh Arabic"/>
              </a:rPr>
              <a:t>الكسوف والخسوف  |  #السماء_بيتي</a:t>
            </a:r>
            <a:endParaRPr lang="ar-EG" sz="1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1002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0E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000" b="1" dirty="0">
                <a:solidFill>
                  <a:srgbClr val="E8B84B"/>
                </a:solidFill>
                <a:latin typeface="EB Garamond"/>
                <a:cs typeface="Amiri"/>
              </a:defRPr>
            </a:lvl1pPr>
          </a:lstStyle>
          <a:p>
            <a:pPr algn="r" indent="0" marL="0">
              <a:buNone/>
            </a:pPr>
            <a:endParaRPr lang="ar-EG" sz="3000" dirty="0">
              <a:latin typeface="EB Garamond"/>
              <a:cs typeface="Ami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9525">
            <a:solidFill>
              <a:srgbClr val="C996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54880" y="6437376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EG" altLang="en-US" sz="1000" dirty="0">
                <a:solidFill>
                  <a:srgbClr val="9C8B6E"/>
                </a:solidFill>
                <a:latin typeface="EB Garamond"/>
                <a:cs typeface="Noto Naskh Arabic"/>
              </a:rPr>
              <a:t>الكسوف والخسوف  |  #السماء_بيتي</a:t>
            </a:r>
            <a:endParaRPr lang="ar-EG" sz="1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1003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30E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74320"/>
            <a:ext cx="11734495" cy="6355080"/>
          </a:xfrm>
          <a:prstGeom prst="rect">
            <a:avLst/>
          </a:prstGeom>
          <a:ln w="19050">
            <a:solidFill>
              <a:srgbClr val="C9962B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30E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null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EB Garamond"/>
          <a:cs typeface="Amiri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EB Garamond"/>
          <a:cs typeface="Amiri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EB Garamond"/>
          <a:cs typeface="Amiri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EB Garamond"/>
          <a:cs typeface="Amiri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EB Garamond"/>
          <a:cs typeface="Noto Naskh Arabic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EB Garamond"/>
          <a:cs typeface="Noto Naskh Arab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EB Garamond"/>
          <a:cs typeface="Noto Naskh Arabi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EB Garamond"/>
          <a:cs typeface="Noto Naskh Arabi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EB Garamond"/>
          <a:cs typeface="Noto Naskh Arabi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EB Garamond"/>
          <a:cs typeface="Noto Naskh Arabic"/>
        </a:defRPr>
      </a:lvl9pPr>
    </p:bodyStyle>
    <p:otherStyle>
      <a:defPPr>
        <a:defRPr lang="en-US">
          <a:latin typeface="EB Garamond"/>
          <a:cs typeface="Noto Naskh Arabic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EB Garamond"/>
          <a:cs typeface="Noto Naskh Arabi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EB Garamond"/>
          <a:cs typeface="Noto Naskh Arabi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EB Garamond"/>
          <a:cs typeface="Noto Naskh Arabi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EB Garamond"/>
          <a:cs typeface="Noto Naskh Arabi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EB Garamond"/>
          <a:cs typeface="Noto Naskh Arabi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EB Garamond"/>
          <a:cs typeface="Noto Naskh Arabi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EB Garamond"/>
          <a:cs typeface="Noto Naskh Arabi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EB Garamond"/>
          <a:cs typeface="Noto Naskh Arabi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EB Garamond"/>
          <a:cs typeface="Noto Naskh Arab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image" Target="../media/image-41-3.jpg"/><Relationship Id="rId4" Type="http://schemas.openxmlformats.org/officeDocument/2006/relationships/image" Target="../media/image-41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-e_10_1" descr="مراحل كسوف ٢٩ مارس ٢٠٠٦ الكلي">    </p:cNvPr>
          <p:cNvPicPr>
            <a:picLocks noChangeAspect="1"/>
          </p:cNvPicPr>
          <p:nvPr/>
        </p:nvPicPr>
        <p:blipFill>
          <a:blip r:embed="rId1"/>
          <a:srcRect l="22009" r="22009" t="0" b="0"/>
          <a:stretch/>
        </p:blipFill>
        <p:spPr>
          <a:xfrm>
            <a:off x="182880" y="182880"/>
            <a:ext cx="5394960" cy="6492240"/>
          </a:xfrm>
          <a:prstGeom prst="rect">
            <a:avLst/>
          </a:prstGeom>
        </p:spPr>
      </p:pic>
      <p:sp>
        <p:nvSpPr>
          <p:cNvPr id="3" name="photo-frame-e_10_1"/>
          <p:cNvSpPr/>
          <p:nvPr/>
        </p:nvSpPr>
        <p:spPr>
          <a:xfrm>
            <a:off x="182880" y="182880"/>
            <a:ext cx="5394960" cy="6492240"/>
          </a:xfrm>
          <a:prstGeom prst="rect">
            <a:avLst/>
          </a:prstGeom>
          <a:ln w="9525">
            <a:solidFill>
              <a:srgbClr val="C9962B"/>
            </a:solidFill>
            <a:prstDash val="solid"/>
          </a:ln>
        </p:spPr>
      </p:sp>
      <p:sp>
        <p:nvSpPr>
          <p:cNvPr id="4" name="cover-frame"/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31750">
            <a:solidFill>
              <a:srgbClr val="C9962B"/>
            </a:solidFill>
            <a:prstDash val="solid"/>
          </a:ln>
        </p:spPr>
      </p:sp>
      <p:sp>
        <p:nvSpPr>
          <p:cNvPr id="5" name="cover-divider"/>
          <p:cNvSpPr/>
          <p:nvPr/>
        </p:nvSpPr>
        <p:spPr>
          <a:xfrm>
            <a:off x="5669280" y="109728"/>
            <a:ext cx="0" cy="6638544"/>
          </a:xfrm>
          <a:prstGeom prst="line">
            <a:avLst/>
          </a:prstGeom>
          <a:noFill/>
          <a:ln w="19050">
            <a:solidFill>
              <a:srgbClr val="C996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54864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E8B84B"/>
                </a:solidFill>
                <a:latin typeface="EB Garamond"/>
                <a:cs typeface="Noto Naskh Arabic"/>
              </a:rPr>
              <a:t>ASTRONOMICAL EVENTS  ·  #السماء_بيتي</a:t>
            </a:r>
            <a:endParaRPr lang="en-US" sz="1000" dirty="0">
              <a:latin typeface="EB Garamond"/>
              <a:cs typeface="Noto Naskh Arabic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080760" y="1463040"/>
            <a:ext cx="5608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5800" b="1" dirty="0">
                <a:solidFill>
                  <a:srgbClr val="E8B84B"/>
                </a:solidFill>
                <a:latin typeface="EB Garamond"/>
                <a:cs typeface="Amiri"/>
              </a:rPr>
              <a:t>الكسوف والخسوف</a:t>
            </a:r>
            <a:endParaRPr lang="ar-EG" sz="5800" dirty="0">
              <a:latin typeface="EB Garamond"/>
              <a:cs typeface="Amiri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080760" y="2697480"/>
            <a:ext cx="5608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400" i="1" dirty="0">
                <a:solidFill>
                  <a:srgbClr val="C9962B"/>
                </a:solidFill>
                <a:latin typeface="EB Garamond"/>
                <a:cs typeface="Amiri"/>
              </a:rPr>
              <a:t>Solar &amp; Lunar Eclipse</a:t>
            </a:r>
            <a:endParaRPr lang="en-US" sz="2400" dirty="0">
              <a:latin typeface="EB Garamond"/>
              <a:cs typeface="Amiri"/>
            </a:endParaRPr>
          </a:p>
        </p:txBody>
      </p:sp>
      <p:sp>
        <p:nvSpPr>
          <p:cNvPr id="9" name="ornament-sun-0"/>
          <p:cNvSpPr/>
          <p:nvPr/>
        </p:nvSpPr>
        <p:spPr>
          <a:xfrm>
            <a:off x="11377879" y="3502152"/>
            <a:ext cx="310896" cy="310896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ornament-moon-0"/>
          <p:cNvSpPr/>
          <p:nvPr/>
        </p:nvSpPr>
        <p:spPr>
          <a:xfrm>
            <a:off x="11135380" y="3574435"/>
            <a:ext cx="329550" cy="329550"/>
          </a:xfrm>
          <a:prstGeom prst="ellipse">
            <a:avLst/>
          </a:prstGeom>
          <a:solidFill>
            <a:srgbClr val="130E07"/>
          </a:solidFill>
          <a:ln w="12700">
            <a:solidFill>
              <a:srgbClr val="130E07"/>
            </a:solidFill>
            <a:prstDash val="solid"/>
          </a:ln>
        </p:spPr>
      </p:sp>
      <p:sp>
        <p:nvSpPr>
          <p:cNvPr id="11" name="ornament-sun-1"/>
          <p:cNvSpPr/>
          <p:nvPr/>
        </p:nvSpPr>
        <p:spPr>
          <a:xfrm>
            <a:off x="10810951" y="3502152"/>
            <a:ext cx="310896" cy="310896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2" name="ornament-moon-1"/>
          <p:cNvSpPr/>
          <p:nvPr/>
        </p:nvSpPr>
        <p:spPr>
          <a:xfrm>
            <a:off x="10653949" y="3544512"/>
            <a:ext cx="329550" cy="329550"/>
          </a:xfrm>
          <a:prstGeom prst="ellipse">
            <a:avLst/>
          </a:prstGeom>
          <a:solidFill>
            <a:srgbClr val="130E07"/>
          </a:solidFill>
          <a:ln w="12700">
            <a:solidFill>
              <a:srgbClr val="130E07"/>
            </a:solidFill>
            <a:prstDash val="solid"/>
          </a:ln>
        </p:spPr>
      </p:sp>
      <p:sp>
        <p:nvSpPr>
          <p:cNvPr id="13" name="ornament-sun-2"/>
          <p:cNvSpPr/>
          <p:nvPr/>
        </p:nvSpPr>
        <p:spPr>
          <a:xfrm>
            <a:off x="10244023" y="3502152"/>
            <a:ext cx="310896" cy="310896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ornament-moon-2"/>
          <p:cNvSpPr/>
          <p:nvPr/>
        </p:nvSpPr>
        <p:spPr>
          <a:xfrm>
            <a:off x="10164745" y="3517308"/>
            <a:ext cx="329550" cy="329550"/>
          </a:xfrm>
          <a:prstGeom prst="ellipse">
            <a:avLst/>
          </a:prstGeom>
          <a:solidFill>
            <a:srgbClr val="130E07"/>
          </a:solidFill>
          <a:ln w="12700">
            <a:solidFill>
              <a:srgbClr val="130E07"/>
            </a:solidFill>
            <a:prstDash val="solid"/>
          </a:ln>
        </p:spPr>
      </p:sp>
      <p:sp>
        <p:nvSpPr>
          <p:cNvPr id="15" name="ornament-corona"/>
          <p:cNvSpPr/>
          <p:nvPr/>
        </p:nvSpPr>
        <p:spPr>
          <a:xfrm>
            <a:off x="9583826" y="3408883"/>
            <a:ext cx="497434" cy="497434"/>
          </a:xfrm>
          <a:prstGeom prst="ellipse">
            <a:avLst/>
          </a:prstGeom>
          <a:solidFill>
            <a:srgbClr val="FAF3E0">
              <a:alpha val="25000"/>
            </a:srgbClr>
          </a:solidFill>
          <a:ln w="12700">
            <a:solidFill>
              <a:srgbClr val="FAF3E0"/>
            </a:solidFill>
            <a:prstDash val="solid"/>
          </a:ln>
        </p:spPr>
      </p:sp>
      <p:sp>
        <p:nvSpPr>
          <p:cNvPr id="16" name="ornament-sun-3"/>
          <p:cNvSpPr/>
          <p:nvPr/>
        </p:nvSpPr>
        <p:spPr>
          <a:xfrm>
            <a:off x="9677095" y="3502152"/>
            <a:ext cx="310896" cy="310896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7" name="ornament-moon-3"/>
          <p:cNvSpPr/>
          <p:nvPr/>
        </p:nvSpPr>
        <p:spPr>
          <a:xfrm>
            <a:off x="9667768" y="3492825"/>
            <a:ext cx="329550" cy="329550"/>
          </a:xfrm>
          <a:prstGeom prst="ellipse">
            <a:avLst/>
          </a:prstGeom>
          <a:solidFill>
            <a:srgbClr val="130E07"/>
          </a:solidFill>
          <a:ln w="9525">
            <a:solidFill>
              <a:srgbClr val="FAF3E0"/>
            </a:solidFill>
            <a:prstDash val="solid"/>
          </a:ln>
        </p:spPr>
      </p:sp>
      <p:sp>
        <p:nvSpPr>
          <p:cNvPr id="18" name="ornament-sun-4"/>
          <p:cNvSpPr/>
          <p:nvPr/>
        </p:nvSpPr>
        <p:spPr>
          <a:xfrm>
            <a:off x="9110167" y="3502152"/>
            <a:ext cx="310896" cy="310896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ornament-moon-4"/>
          <p:cNvSpPr/>
          <p:nvPr/>
        </p:nvSpPr>
        <p:spPr>
          <a:xfrm>
            <a:off x="9170792" y="3468342"/>
            <a:ext cx="329550" cy="329550"/>
          </a:xfrm>
          <a:prstGeom prst="ellipse">
            <a:avLst/>
          </a:prstGeom>
          <a:solidFill>
            <a:srgbClr val="130E07"/>
          </a:solidFill>
          <a:ln w="12700">
            <a:solidFill>
              <a:srgbClr val="130E07"/>
            </a:solidFill>
            <a:prstDash val="solid"/>
          </a:ln>
        </p:spPr>
      </p:sp>
      <p:sp>
        <p:nvSpPr>
          <p:cNvPr id="20" name="ornament-sun-5"/>
          <p:cNvSpPr/>
          <p:nvPr/>
        </p:nvSpPr>
        <p:spPr>
          <a:xfrm>
            <a:off x="8543239" y="3502152"/>
            <a:ext cx="310896" cy="310896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1" name="ornament-moon-5"/>
          <p:cNvSpPr/>
          <p:nvPr/>
        </p:nvSpPr>
        <p:spPr>
          <a:xfrm>
            <a:off x="8681588" y="3441139"/>
            <a:ext cx="329550" cy="329550"/>
          </a:xfrm>
          <a:prstGeom prst="ellipse">
            <a:avLst/>
          </a:prstGeom>
          <a:solidFill>
            <a:srgbClr val="130E07"/>
          </a:solidFill>
          <a:ln w="12700">
            <a:solidFill>
              <a:srgbClr val="130E07"/>
            </a:solidFill>
            <a:prstDash val="solid"/>
          </a:ln>
        </p:spPr>
      </p:sp>
      <p:sp>
        <p:nvSpPr>
          <p:cNvPr id="22" name="ornament-sun-6"/>
          <p:cNvSpPr/>
          <p:nvPr/>
        </p:nvSpPr>
        <p:spPr>
          <a:xfrm>
            <a:off x="7976311" y="3502152"/>
            <a:ext cx="310896" cy="310896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3" name="ornament-moon-6"/>
          <p:cNvSpPr/>
          <p:nvPr/>
        </p:nvSpPr>
        <p:spPr>
          <a:xfrm>
            <a:off x="8200156" y="3411215"/>
            <a:ext cx="329550" cy="329550"/>
          </a:xfrm>
          <a:prstGeom prst="ellipse">
            <a:avLst/>
          </a:prstGeom>
          <a:solidFill>
            <a:srgbClr val="130E07"/>
          </a:solidFill>
          <a:ln w="12700">
            <a:solidFill>
              <a:srgbClr val="130E0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80760" y="4206240"/>
            <a:ext cx="56080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500"/>
              </a:spcAft>
              <a:buNone/>
            </a:pPr>
            <a:r>
              <a:rPr lang="ar-EG" altLang="en-US" sz="1600" dirty="0">
                <a:solidFill>
                  <a:srgbClr val="F0E0B0"/>
                </a:solidFill>
                <a:latin typeface="EB Garamond"/>
                <a:cs typeface="Noto Naskh Arabic"/>
              </a:rPr>
              <a:t>كسوف الشمس: كيف يحدث وأنواعه</a:t>
            </a:r>
            <a:endParaRPr lang="en-US" sz="1600" dirty="0">
              <a:latin typeface="EB Garamond"/>
              <a:cs typeface="Noto Naskh Arabic"/>
            </a:endParaRPr>
          </a:p>
          <a:p>
            <a:pPr rtl="1" algn="r" indent="0" marL="0">
              <a:spcAft>
                <a:spcPts val="500"/>
              </a:spcAft>
              <a:buNone/>
            </a:pPr>
            <a:r>
              <a:rPr lang="ar-EG" altLang="en-US" sz="1600" dirty="0">
                <a:solidFill>
                  <a:srgbClr val="F0E0B0"/>
                </a:solidFill>
                <a:latin typeface="EB Garamond"/>
                <a:cs typeface="Noto Naskh Arabic"/>
              </a:rPr>
              <a:t>كسوف ٢٥ أكتوبر ٢٠٢٢ من القاهرة</a:t>
            </a:r>
            <a:endParaRPr lang="en-US" sz="1600" dirty="0">
              <a:latin typeface="EB Garamond"/>
              <a:cs typeface="Noto Naskh Arabic"/>
            </a:endParaRPr>
          </a:p>
          <a:p>
            <a:pPr rtl="1" algn="r" indent="0" marL="0">
              <a:spcAft>
                <a:spcPts val="500"/>
              </a:spcAft>
              <a:buNone/>
            </a:pPr>
            <a:r>
              <a:rPr lang="ar-EG" altLang="en-US" sz="1600" dirty="0">
                <a:solidFill>
                  <a:srgbClr val="F0E0B0"/>
                </a:solidFill>
                <a:latin typeface="EB Garamond"/>
                <a:cs typeface="Noto Naskh Arabic"/>
              </a:rPr>
              <a:t>خسوف القمر والقمر الدموي</a:t>
            </a:r>
            <a:endParaRPr lang="en-US" sz="1600" dirty="0">
              <a:latin typeface="EB Garamond"/>
              <a:cs typeface="Noto Naskh Arabic"/>
            </a:endParaRPr>
          </a:p>
          <a:p>
            <a:pPr rtl="1" algn="r" indent="0" marL="0">
              <a:spcAft>
                <a:spcPts val="500"/>
              </a:spcAft>
              <a:buNone/>
            </a:pPr>
            <a:r>
              <a:rPr lang="ar-EG" altLang="en-US" sz="1600" dirty="0">
                <a:solidFill>
                  <a:srgbClr val="F0E0B0"/>
                </a:solidFill>
                <a:latin typeface="EB Garamond"/>
                <a:cs typeface="Noto Naskh Arabic"/>
              </a:rPr>
              <a:t>القمر العملاق</a:t>
            </a:r>
            <a:endParaRPr lang="en-US" sz="1600" dirty="0">
              <a:latin typeface="EB Garamond"/>
              <a:cs typeface="Noto Naskh Arabic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6080760" y="5852160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rgbClr val="C9962B"/>
                </a:solidFill>
                <a:latin typeface="EB Garamond"/>
                <a:cs typeface="Noto Naskh Arabic"/>
              </a:rPr>
              <a:t>م. أسامة فتحي — الجمعية المصرية لعلوم الفلك</a:t>
            </a:r>
            <a:endParaRPr lang="ar-EG" sz="1400" dirty="0">
              <a:latin typeface="EB Garamond"/>
              <a:cs typeface="Noto Naskh Arabic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320040" y="6355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E0B0"/>
                </a:solidFill>
                <a:latin typeface="EB Garamond"/>
                <a:cs typeface="Noto Naskh Arabic"/>
              </a:rPr>
              <a:t>صورة: Odd Høydalsvik — كسوف ٢٩ مارس ٢٠٠٦</a:t>
            </a:r>
            <a:endParaRPr lang="en-US" sz="900" dirty="0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ona-glow"/>
          <p:cNvSpPr/>
          <p:nvPr/>
        </p:nvSpPr>
        <p:spPr>
          <a:xfrm>
            <a:off x="914400" y="1417320"/>
            <a:ext cx="4023360" cy="402336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corona-inner"/>
          <p:cNvSpPr/>
          <p:nvPr/>
        </p:nvSpPr>
        <p:spPr>
          <a:xfrm>
            <a:off x="1234440" y="1737360"/>
            <a:ext cx="3383280" cy="3383280"/>
          </a:xfrm>
          <a:prstGeom prst="ellipse">
            <a:avLst/>
          </a:prstGeom>
          <a:solidFill>
            <a:srgbClr val="E8B84B">
              <a:alpha val="4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ection-disc"/>
          <p:cNvSpPr/>
          <p:nvPr/>
        </p:nvSpPr>
        <p:spPr>
          <a:xfrm>
            <a:off x="1463040" y="1965960"/>
            <a:ext cx="2926080" cy="2926080"/>
          </a:xfrm>
          <a:prstGeom prst="ellipse">
            <a:avLst/>
          </a:prstGeom>
          <a:solidFill>
            <a:srgbClr val="130E07"/>
          </a:solidFill>
          <a:ln w="508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50800" dir="16200000">
              <a:srgbClr val="E8B84B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463040" y="19659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E8B84B"/>
                </a:solidFill>
                <a:latin typeface="EB Garamond"/>
                <a:cs typeface="Amiri"/>
              </a:rPr>
              <a:t>١</a:t>
            </a:r>
            <a:endParaRPr lang="en-US" sz="7200" dirty="0">
              <a:latin typeface="EB Garamond"/>
              <a:cs typeface="Ami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394960" y="1691640"/>
            <a:ext cx="6263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rgbClr val="E8B84B"/>
                </a:solidFill>
                <a:latin typeface="EB Garamond"/>
                <a:cs typeface="Amiri"/>
              </a:rPr>
              <a:t>كسوف الشمس</a:t>
            </a:r>
            <a:endParaRPr lang="ar-EG" sz="3400" dirty="0">
              <a:latin typeface="EB Garamond"/>
              <a:cs typeface="Ami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394960" y="361188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rgbClr val="F0E0B0"/>
                </a:solidFill>
                <a:latin typeface="EB Garamond"/>
                <a:cs typeface="Noto Naskh Arabic"/>
              </a:rPr>
              <a:t>القمر بين الشمس والأرض: الظل، والمدار المائل، وأنواع الكسوف</a:t>
            </a:r>
            <a:endParaRPr lang="ar-EG" sz="1700" dirty="0">
              <a:latin typeface="EB Garamond"/>
              <a:cs typeface="Noto Naskh Arabic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394960" y="457200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i="1" dirty="0">
                <a:solidFill>
                  <a:srgbClr val="E8B84B"/>
                </a:solidFill>
                <a:latin typeface="EB Garamond"/>
                <a:cs typeface="Noto Naskh Arabic"/>
              </a:rPr>
              <a:t>Solar eclipses</a:t>
            </a:r>
            <a:endParaRPr lang="en-US" sz="1600" dirty="0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6452921" y="182880"/>
            <a:ext cx="519013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6452921" y="182880"/>
            <a:ext cx="5190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HOW THE MOON MOVES AROUND THE EARTH AND THE SUN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حركة القمر حول الأرض والشمس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02_1" descr="e_02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108"/>
            <a:ext cx="6126480" cy="32929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95160" y="1371600"/>
            <a:ext cx="46478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الأرض: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تدور حول الشمس مرة كل سنة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القمر: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يدور حول الأرض مرة كل ٢٧٫٣ يومًا، ويعود إلى الطور نفسه كل ٢٩٫٥ يومًا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الكسوف: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حين يمر القمر بين الشمس والأرض في المحاق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الخسوف: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حين تمر الأرض بين الشمس والقمر في البدر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3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7440473" y="182880"/>
            <a:ext cx="420258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7440473" y="182880"/>
            <a:ext cx="4202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THE MOON'S SHADOW: UMBRA AND PENUMBRA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ظل القمر: الظل الكامل وشبه الظل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03_1" descr="e_03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2879"/>
            <a:ext cx="6309360" cy="34294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78040" y="1371600"/>
            <a:ext cx="44650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الظل الكامل (Umbra):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منطقة صغيرة على الأرض يُرى منها الكسوف كليًا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شبه الظل (Penumbra):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منطقة واسعة يُرى منها الكسوف جزئيًا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الرسم ليس بمقياس: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لو رُسم بالمقياس لكان القمر على بعد ٣٠ قطرًا أرضيًا، والشمس أبعد بـ٤٠٠ مرة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4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7341718" y="182880"/>
            <a:ext cx="4301338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7341718" y="182880"/>
            <a:ext cx="430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WHY NOT EVERY MONTH? THE LINE OF NODES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لماذا لا يحدث الكسوف كل شهر؟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04_1" descr="e_04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46" y="1325880"/>
            <a:ext cx="5585068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95160" y="1371600"/>
            <a:ext cx="46478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ميل المدار ٥° (Inclination):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مدار القمر مائل على مستوى مدار الأرض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خط العقد (Line of nodes):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الخط الذي يلتقي فيه المداران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موسم مواتٍ (Favorable):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حين يشير خط العقد نحو الشمس، فيقع المحاق أو البدر على العقدة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موسم غير مواتٍ (Unfavorable):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يمر القمر فوق الشمس أو تحتها فلا كسوف ولا خسوف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5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8329270" y="182880"/>
            <a:ext cx="3313786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8329270" y="182880"/>
            <a:ext cx="3313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THE TILT OF THE MOON'S ORBIT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ميل مدار القمر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05_1" descr="e_05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6715"/>
            <a:ext cx="5943600" cy="446177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الصورة العليا: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مدار القمر المائل حول الأرض كما يُرى من الجانب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في أغلب الشهور: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يمر القمر في المحاق فوق قرص الشمس أو تحته، فلا يحجبها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في موسم الكسوف: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يمر القمر على العقدة في المحاق، فيعبر أمام الشمس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000" i="1" dirty="0">
                <a:solidFill>
                  <a:srgbClr val="9C8B6E"/>
                </a:solidFill>
                <a:latin typeface="EB Garamond"/>
                <a:cs typeface="Noto Naskh Arabic"/>
              </a:rPr>
              <a:t>GIFs de Física (صورة ثابتة من الرسم المتحرك)</a:t>
            </a:r>
            <a:endParaRPr lang="ar-EG" sz="1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6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9415577" y="182880"/>
            <a:ext cx="2227478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9415577" y="182880"/>
            <a:ext cx="2227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TOTAL OR ANNULAR?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كسوف كلي أم حلقي؟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06_1" descr="e_06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66455"/>
            <a:ext cx="5943600" cy="37822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الكلي (Total):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القمر قريب من الأرض، فيبلغ رأس ظله الكامل سطحها ويحجب الشمس كلها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الحلقي (Annular):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القمر بعيد، فلا يبلغ رأس ظله الأرض، وتبقى حلقة من نور الشمس حوله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السبب: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مدار القمر بيضاوي، فيتغير حجمه الظاهري خلال الشهر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7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9316822" y="182880"/>
            <a:ext cx="232623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9316822" y="182880"/>
            <a:ext cx="2326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THE HYBRID ECLIPSE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الكسوف الهجين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07_1" descr="e_07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97405"/>
            <a:ext cx="5943600" cy="312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الهجين (Hybrid):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حلقي في جزء من المسار وكلي في جزء آخر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السبب: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رأس ظل القمر يكاد يلامس الأرض، وسطح الأرض المحدّب يجعل وسط المسار أقرب إلى القمر من طرفيه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ندرته: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نحو ٣٪ فقط من كسوفات الشمس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000" i="1" dirty="0">
                <a:solidFill>
                  <a:srgbClr val="9C8B6E"/>
                </a:solidFill>
                <a:latin typeface="EB Garamond"/>
                <a:cs typeface="Noto Naskh Arabic"/>
              </a:rPr>
              <a:t>© timeanddate.com</a:t>
            </a:r>
            <a:endParaRPr lang="ar-EG" sz="1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8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6650431" y="182880"/>
            <a:ext cx="499262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6650431" y="182880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THE UMBRA CROSSING THE EARTH — 21 AUGUST 2017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ظل القمر يعبر الأرض: كسوف ٢١ أغسطس ٢٠١٧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08_1" descr="e_08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0" y="1325880"/>
            <a:ext cx="431800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29400" y="1371600"/>
            <a:ext cx="501365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البقعة الداكنة: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الظل الكامل وهو يعبر الولايات المتحدة من الغرب إلى الشرق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السرعة: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يتحرك الظل بآلاف الكيلومترات في الساعة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٢٠٢٧: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الظل نفسه سيعبر مصر من سيوة إلى برنيس في نحو ٣٥ دقيقة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000" i="1" dirty="0">
                <a:solidFill>
                  <a:srgbClr val="9C8B6E"/>
                </a:solidFill>
                <a:latin typeface="EB Garamond"/>
                <a:cs typeface="Noto Naskh Arabic"/>
              </a:rPr>
              <a:t>NASA — sunearth.gsfc.nasa.gov/eclipse</a:t>
            </a:r>
            <a:endParaRPr lang="ar-EG" sz="1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9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6156655" y="182880"/>
            <a:ext cx="5486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6156655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THE MOON'S SHADOW SEEN FROM SPACE — 11 AUGUST 1999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ظل القمر من الفضاء: ١١ أغسطس ١٩٩٩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09_1" descr="e_09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26290"/>
            <a:ext cx="6309360" cy="3862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78040" y="1371600"/>
            <a:ext cx="44650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المشهد: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صورة من قمر صناعي للطقس تظهر ظل القمر بقعة داكنة فوق أوروبا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الفكرة: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الكسوف ليس «اختفاء الشمس» بل ظلًا حقيقيًا يمر على سطح الأرض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000" i="1" dirty="0">
                <a:solidFill>
                  <a:srgbClr val="9C8B6E"/>
                </a:solidFill>
                <a:latin typeface="EB Garamond"/>
                <a:cs typeface="Noto Naskh Arabic"/>
              </a:rPr>
              <a:t>صورة ثابتة من الرسم المتحرك في العرض الأصلي</a:t>
            </a:r>
            <a:endParaRPr lang="ar-EG" sz="1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10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7045452" y="182880"/>
            <a:ext cx="4597603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7045452" y="182880"/>
            <a:ext cx="4597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PHASES OF A TOTAL ECLIPSE — 29 MARCH 2006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مراحل الكسوف الكلي: ٢٩ مارس ٢٠٠٦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10_1" descr="e_10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7147"/>
            <a:ext cx="5760720" cy="38809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29400" y="1371600"/>
            <a:ext cx="501365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الصف الأول: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الجزئي المتزايد بعد التماس الأول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الصف الأوسط: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الخاتم الماسي، ثم الكلية والهالة، ثم الخاتم الماسي الثاني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الصف الأخير: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الجزئي المتناقص حتى التماس الرابع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مصر: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هذا الكسوف كان كليًا فوق السلوم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000" i="1" dirty="0">
                <a:solidFill>
                  <a:srgbClr val="9C8B6E"/>
                </a:solidFill>
                <a:latin typeface="EB Garamond"/>
                <a:cs typeface="Noto Naskh Arabic"/>
              </a:rPr>
              <a:t>تصوير: Odd Høydalsvik</a:t>
            </a:r>
            <a:endParaRPr lang="ar-EG" sz="1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11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7440473" y="182880"/>
            <a:ext cx="420258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7440473" y="182880"/>
            <a:ext cx="4202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A PARTIAL SOLAR ECLIPSE, STEP BY STEP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مراحل كسوف جزئي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11_1" descr="e_11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604" y="1325880"/>
            <a:ext cx="3471672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الصور: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القمر يدخل قرص الشمس ثم يخرج منه دون أن يغطيه كله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المرشح: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صُوّرت بمرشح شمسي، ولذلك يبدو القرص أحمر برتقاليًا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السلامة: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في الكسوف الجزئي لا تُنزع النظارة أبدًا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000" i="1" dirty="0">
                <a:solidFill>
                  <a:srgbClr val="9C8B6E"/>
                </a:solidFill>
                <a:latin typeface="EB Garamond"/>
                <a:cs typeface="Noto Naskh Arabic"/>
              </a:rPr>
              <a:t>Esam Goda Photography</a:t>
            </a:r>
            <a:endParaRPr lang="ar-EG" sz="1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12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7341718" y="182880"/>
            <a:ext cx="4301338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7341718" y="182880"/>
            <a:ext cx="430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AN ANNULAR SOLAR ECLIPSE, STEP BY STEP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مراحل كسوف حلقي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12_1" descr="e_12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3070"/>
            <a:ext cx="5212080" cy="39090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80760" y="1371600"/>
            <a:ext cx="55622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في الوسط: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الحلقة المضيئة (Ring of fire) حين يتوسط القمر قرص الشمس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الفرق عن الكلي: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لا ظلام ولا هالة؛ يبقى ضوء الشمس شديدًا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السلامة: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النظارة على العين في كل المراحل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13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6551676" y="182880"/>
            <a:ext cx="5091379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6551676" y="182880"/>
            <a:ext cx="50913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FIFTY YEARS OF TOTAL AND HYBRID SOLAR ECLIPSES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مسارات الكسوفات على مدى خمسين عامًا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13_1" descr="e_13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26445"/>
            <a:ext cx="6309360" cy="32623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78040" y="1371600"/>
            <a:ext cx="44650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الخطوط: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مسارات الكسوفات الكلية والهجينة على الكرة الأرضية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الملاحظة: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المسارات كثيرة، لكن كل نقطة على الأرض نادرًا ما يعبرها مسار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المتوسط: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يعود الكسوف الكلي إلى النقطة نفسها مرة كل نحو ٣٧٥ سنة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14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ona-glow"/>
          <p:cNvSpPr/>
          <p:nvPr/>
        </p:nvSpPr>
        <p:spPr>
          <a:xfrm>
            <a:off x="914400" y="1417320"/>
            <a:ext cx="4023360" cy="402336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corona-inner"/>
          <p:cNvSpPr/>
          <p:nvPr/>
        </p:nvSpPr>
        <p:spPr>
          <a:xfrm>
            <a:off x="1234440" y="1737360"/>
            <a:ext cx="3383280" cy="3383280"/>
          </a:xfrm>
          <a:prstGeom prst="ellipse">
            <a:avLst/>
          </a:prstGeom>
          <a:solidFill>
            <a:srgbClr val="E8B84B">
              <a:alpha val="4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ection-disc"/>
          <p:cNvSpPr/>
          <p:nvPr/>
        </p:nvSpPr>
        <p:spPr>
          <a:xfrm>
            <a:off x="1463040" y="1965960"/>
            <a:ext cx="2926080" cy="2926080"/>
          </a:xfrm>
          <a:prstGeom prst="ellipse">
            <a:avLst/>
          </a:prstGeom>
          <a:solidFill>
            <a:srgbClr val="130E07"/>
          </a:solidFill>
          <a:ln w="508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50800" dir="16200000">
              <a:srgbClr val="E8B84B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463040" y="19659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E8B84B"/>
                </a:solidFill>
                <a:latin typeface="EB Garamond"/>
                <a:cs typeface="Amiri"/>
              </a:rPr>
              <a:t>٢</a:t>
            </a:r>
            <a:endParaRPr lang="en-US" sz="7200" dirty="0">
              <a:latin typeface="EB Garamond"/>
              <a:cs typeface="Ami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394960" y="1691640"/>
            <a:ext cx="6263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rgbClr val="E8B84B"/>
                </a:solidFill>
                <a:latin typeface="EB Garamond"/>
                <a:cs typeface="Amiri"/>
              </a:rPr>
              <a:t>كسوف الشمس — ٢٥ أكتوبر ٢٠٢٢</a:t>
            </a:r>
            <a:endParaRPr lang="ar-EG" sz="3400" dirty="0">
              <a:latin typeface="EB Garamond"/>
              <a:cs typeface="Ami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394960" y="361188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rgbClr val="F0E0B0"/>
                </a:solidFill>
                <a:latin typeface="EB Garamond"/>
                <a:cs typeface="Noto Naskh Arabic"/>
              </a:rPr>
              <a:t>كسوف جزئي رُئي من مصر: الخريطة والمواعيد وفعالية الرصد</a:t>
            </a:r>
            <a:endParaRPr lang="ar-EG" sz="1700" dirty="0">
              <a:latin typeface="EB Garamond"/>
              <a:cs typeface="Noto Naskh Arabic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394960" y="457200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i="1" dirty="0">
                <a:solidFill>
                  <a:srgbClr val="E8B84B"/>
                </a:solidFill>
                <a:latin typeface="EB Garamond"/>
                <a:cs typeface="Noto Naskh Arabic"/>
              </a:rPr>
              <a:t>The partial solar eclipse of 25 October 2022</a:t>
            </a:r>
            <a:endParaRPr lang="en-US" sz="1600" dirty="0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8230514" y="182880"/>
            <a:ext cx="3412541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8230514" y="182880"/>
            <a:ext cx="3412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ECLIPSE MAP — 25 OCTOBER 2022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خريطة كسوف ٢٥ أكتوبر ٢٠٢٢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15_1" descr="e_15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1662" y="1325880"/>
            <a:ext cx="3600356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55080" y="1371600"/>
            <a:ext cx="52879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النوع: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كسوف جزئي فقط؛ لم يكن له مسار كلي ولا حلقي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المنطقة: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أوروبا وشمال أفريقيا والشرق الأوسط وغرب آسيا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الخطوط: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منحنيات نسبة الكسوف وأوقات البداية والنهاية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16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8131759" y="182880"/>
            <a:ext cx="3511296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8131759" y="18288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THE ECLIPSE AS SEEN FROM CAIRO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الكسوف كما رُئي من القاهرة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16_1" descr="e_16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8382"/>
            <a:ext cx="6126480" cy="28384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95160" y="1325880"/>
            <a:ext cx="4647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rgbClr val="E8B84B"/>
                </a:solidFill>
                <a:latin typeface="EB Garamond"/>
                <a:cs typeface="Noto Naskh Arabic"/>
              </a:rPr>
              <a:t>٢٥ أكتوبر ٢٠٢٢ — القاهرة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995160" y="2194560"/>
            <a:ext cx="464789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البداية: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١٢:٠٠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الذروة: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١٣:٠٩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النهاية: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١٤:١٦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الشكل: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القمر يغطي الجزء العلوي من قرص الشمس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17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6551676" y="182880"/>
            <a:ext cx="5091379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6551676" y="182880"/>
            <a:ext cx="50913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PUBLIC OBSERVATION EVENT — BARON EMPAIN PALACE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فعالية رصد: قصر البارون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17_1" descr="e_17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297680" cy="4297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166360" y="1371600"/>
            <a:ext cx="64766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المنظم: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الجمعية المصرية لعلوم الفلك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المكان والزمان: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قصر البارون — ٢٥ أكتوبر ٢٠٢٢ — ١١:٣٠ صباحًا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الأداة: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نظارات رصد كسوف الشمس المعتمدة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الدرس: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الإعلان المبكر وتوفير النظارات أساس نجاح أي فعالية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18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9020556" y="182880"/>
            <a:ext cx="2622499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9020556" y="182880"/>
            <a:ext cx="26224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THE PINHOLE PROJECTOR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كاميرا الثقب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18_1" descr="e_18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58721"/>
            <a:ext cx="5943600" cy="33977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المبدأ: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ثقب صغير في ورقة أو رقاقة ألومنيوم يرسم صورة الشمس المكسوفة على ورقة ثانية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الصورة: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هلال مقلوب يتبع شكل الكسوف لحظة بلحظة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السلامة: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ننظر إلى الورقة لا إلى الشمس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19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ona-glow"/>
          <p:cNvSpPr/>
          <p:nvPr/>
        </p:nvSpPr>
        <p:spPr>
          <a:xfrm>
            <a:off x="914400" y="1417320"/>
            <a:ext cx="4023360" cy="402336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corona-inner"/>
          <p:cNvSpPr/>
          <p:nvPr/>
        </p:nvSpPr>
        <p:spPr>
          <a:xfrm>
            <a:off x="1234440" y="1737360"/>
            <a:ext cx="3383280" cy="3383280"/>
          </a:xfrm>
          <a:prstGeom prst="ellipse">
            <a:avLst/>
          </a:prstGeom>
          <a:solidFill>
            <a:srgbClr val="E8B84B">
              <a:alpha val="4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ection-disc"/>
          <p:cNvSpPr/>
          <p:nvPr/>
        </p:nvSpPr>
        <p:spPr>
          <a:xfrm>
            <a:off x="1463040" y="1965960"/>
            <a:ext cx="2926080" cy="2926080"/>
          </a:xfrm>
          <a:prstGeom prst="ellipse">
            <a:avLst/>
          </a:prstGeom>
          <a:solidFill>
            <a:srgbClr val="130E07"/>
          </a:solidFill>
          <a:ln w="508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50800" dir="16200000">
              <a:srgbClr val="E8B84B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463040" y="19659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E8B84B"/>
                </a:solidFill>
                <a:latin typeface="EB Garamond"/>
                <a:cs typeface="Amiri"/>
              </a:rPr>
              <a:t>٣</a:t>
            </a:r>
            <a:endParaRPr lang="en-US" sz="7200" dirty="0">
              <a:latin typeface="EB Garamond"/>
              <a:cs typeface="Ami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394960" y="1691640"/>
            <a:ext cx="6263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rgbClr val="E8B84B"/>
                </a:solidFill>
                <a:latin typeface="EB Garamond"/>
                <a:cs typeface="Amiri"/>
              </a:rPr>
              <a:t>خسوف القمر</a:t>
            </a:r>
            <a:endParaRPr lang="ar-EG" sz="3400" dirty="0">
              <a:latin typeface="EB Garamond"/>
              <a:cs typeface="Ami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394960" y="361188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rgbClr val="F0E0B0"/>
                </a:solidFill>
                <a:latin typeface="EB Garamond"/>
                <a:cs typeface="Noto Naskh Arabic"/>
              </a:rPr>
              <a:t>الأرض بين الشمس والقمر: ظل الأرض، ومراحل الخسوف، والقمر الدموي</a:t>
            </a:r>
            <a:endParaRPr lang="ar-EG" sz="1700" dirty="0">
              <a:latin typeface="EB Garamond"/>
              <a:cs typeface="Noto Naskh Arabic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394960" y="457200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i="1" dirty="0">
                <a:solidFill>
                  <a:srgbClr val="E8B84B"/>
                </a:solidFill>
                <a:latin typeface="EB Garamond"/>
                <a:cs typeface="Noto Naskh Arabic"/>
              </a:rPr>
              <a:t>Lunar eclipses</a:t>
            </a:r>
            <a:endParaRPr lang="en-US" sz="1600" dirty="0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8921801" y="182880"/>
            <a:ext cx="272125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8921801" y="182880"/>
            <a:ext cx="2721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LUNAR ECLIPSE GEOMETRY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هندسة خسوف القمر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19_1" descr="e_19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6400"/>
            <a:ext cx="5943600" cy="3962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الترتيب: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الشمس ← الأرض ← القمر، في البدر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ظل الأرض: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ظل كامل (Umbra) داكن، وشبه ظل (Penumbra) باهت حوله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من يراه: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كل من كان القمر فوق أفقه — نصف الكرة الأرضية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21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7341718" y="182880"/>
            <a:ext cx="4301338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7341718" y="182880"/>
            <a:ext cx="430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THE MOON'S PATH THROUGH EARTH'S SHADOW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مسار القمر عبر ظل الأرض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20_1" descr="e_20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670" y="1325880"/>
            <a:ext cx="3171139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97880" y="1371600"/>
            <a:ext cx="57451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شبه الظل (Penumbra):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يدخله القمر أولًا فيبهت قليلًا دون أن يلاحظ أغلب الناس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الظل الكامل (Umbra):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حين يدخله يبدأ الخسوف الجزئي، ثم الكلي حين يغطيه كله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اللون: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في الكلية يتحول القمر إلى نحاسي أو أحمر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22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8033004" y="182880"/>
            <a:ext cx="3610051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8033004" y="182880"/>
            <a:ext cx="3610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PHASES OF A TOTAL LUNAR ECLIPSE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مراحل خسوف كلي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21_1" descr="e_21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7638"/>
            <a:ext cx="5943600" cy="39599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الصف الأول: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الدخول التدريجي في ظل الأرض (جزئي)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الصف الأوسط: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الكلية: القمر أحمر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الصف الأخير: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الخروج من الظل حتى يعود بدرًا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23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7242962" y="182880"/>
            <a:ext cx="4400093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7242962" y="182880"/>
            <a:ext cx="440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WHY THE MOON TURNS RED — THE BLOOD MOON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لماذا يحمرّ القمر؟ القمر الدموي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22_1" descr="e_22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86778"/>
            <a:ext cx="5943600" cy="33416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الانكسار: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الغلاف الجوي للأرض يكسر ضوء الشمس فيدخل بعضه إلى ظل الأرض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الأحمر: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يتشتت الأزرق في الجو ويمر الأحمر، كما في الشروق والغروب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الخلاصة: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القمر في الكلية مضاء بضوء كل شروق وغروب على الأرض في تلك اللحظة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القمر الدموي (Blood Moon):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اسم شائع لا مصطلح علمي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24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6551676" y="182880"/>
            <a:ext cx="5091379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6551676" y="182880"/>
            <a:ext cx="50913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ECLIPSES ELSEWHERE: A MOON'S SHADOW ON JUPITER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الكسوف على كوكب آخر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23_1" descr="e_23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8069"/>
            <a:ext cx="5943600" cy="39190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المشهد: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قمر من أقمار المشتري وظله الأسود على سحب الكوكب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المعنى: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من يقف داخل هذه البقعة على المشتري يرى «كسوفًا» للشمس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الفرق: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أقمار المشتري لا تطابق الشمس في حجمها الظاهري كما يفعل قمرنا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000" i="1" dirty="0">
                <a:solidFill>
                  <a:srgbClr val="9C8B6E"/>
                </a:solidFill>
                <a:latin typeface="EB Garamond"/>
                <a:cs typeface="Noto Naskh Arabic"/>
              </a:rPr>
              <a:t>صورة ثابتة من المقطع المرئي في العرض الأصلي</a:t>
            </a:r>
            <a:endParaRPr lang="ar-EG" sz="1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25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6452921" y="182880"/>
            <a:ext cx="519013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6452921" y="182880"/>
            <a:ext cx="5190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1919 SOLAR ECLIPSE — PROVING GENERAL RELATIVITY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كسوف ١٩١٩: إثبات النسبية العامة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24_1" descr="e_24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63583"/>
            <a:ext cx="5212080" cy="178803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80760" y="1371600"/>
            <a:ext cx="55622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التنبؤ: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الشمس تحني ضوء النجوم المار بحافتها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الرصد: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في الكلية يظهر النجم في موضع مزاح قليلًا عن موضعه الحقيقي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النتيجة: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قياسات بعثة إدنغتون أيدت أينشتاين، فصار الكسوف حدثًا علميًا عالميًا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26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ona-glow"/>
          <p:cNvSpPr/>
          <p:nvPr/>
        </p:nvSpPr>
        <p:spPr>
          <a:xfrm>
            <a:off x="914400" y="1417320"/>
            <a:ext cx="4023360" cy="402336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corona-inner"/>
          <p:cNvSpPr/>
          <p:nvPr/>
        </p:nvSpPr>
        <p:spPr>
          <a:xfrm>
            <a:off x="1234440" y="1737360"/>
            <a:ext cx="3383280" cy="3383280"/>
          </a:xfrm>
          <a:prstGeom prst="ellipse">
            <a:avLst/>
          </a:prstGeom>
          <a:solidFill>
            <a:srgbClr val="E8B84B">
              <a:alpha val="4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ection-disc"/>
          <p:cNvSpPr/>
          <p:nvPr/>
        </p:nvSpPr>
        <p:spPr>
          <a:xfrm>
            <a:off x="1463040" y="1965960"/>
            <a:ext cx="2926080" cy="2926080"/>
          </a:xfrm>
          <a:prstGeom prst="ellipse">
            <a:avLst/>
          </a:prstGeom>
          <a:solidFill>
            <a:srgbClr val="130E07"/>
          </a:solidFill>
          <a:ln w="508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50800" dir="16200000">
              <a:srgbClr val="E8B84B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463040" y="19659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E8B84B"/>
                </a:solidFill>
                <a:latin typeface="EB Garamond"/>
                <a:cs typeface="Amiri"/>
              </a:rPr>
              <a:t>٤</a:t>
            </a:r>
            <a:endParaRPr lang="en-US" sz="7200" dirty="0">
              <a:latin typeface="EB Garamond"/>
              <a:cs typeface="Ami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394960" y="1691640"/>
            <a:ext cx="6263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rgbClr val="E8B84B"/>
                </a:solidFill>
                <a:latin typeface="EB Garamond"/>
                <a:cs typeface="Amiri"/>
              </a:rPr>
              <a:t>القمر العملاق</a:t>
            </a:r>
            <a:endParaRPr lang="ar-EG" sz="3400" dirty="0">
              <a:latin typeface="EB Garamond"/>
              <a:cs typeface="Ami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394960" y="361188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rgbClr val="F0E0B0"/>
                </a:solidFill>
                <a:latin typeface="EB Garamond"/>
                <a:cs typeface="Noto Naskh Arabic"/>
              </a:rPr>
              <a:t>الحضيض والأوج: لماذا يكبر القمر ويصغر؟</a:t>
            </a:r>
            <a:endParaRPr lang="ar-EG" sz="1700" dirty="0">
              <a:latin typeface="EB Garamond"/>
              <a:cs typeface="Noto Naskh Arabic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394960" y="457200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i="1" dirty="0">
                <a:solidFill>
                  <a:srgbClr val="E8B84B"/>
                </a:solidFill>
                <a:latin typeface="EB Garamond"/>
                <a:cs typeface="Noto Naskh Arabic"/>
              </a:rPr>
              <a:t>Super Moon</a:t>
            </a:r>
            <a:endParaRPr lang="en-US" sz="1600" dirty="0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9316822" y="182880"/>
            <a:ext cx="232623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9316822" y="182880"/>
            <a:ext cx="2326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PERIGEE AND APOGEE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الحضيض والأوج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26_1" descr="e_26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88820"/>
            <a:ext cx="5943600" cy="3337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الأوج (Apogee):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أبعد نقطة في مدار القمر عن الأرض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الحضيض (Perigee):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أقرب نقطة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القمر العملاق: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بدر يقع والقمر قرب الحضيض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28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8033004" y="182880"/>
            <a:ext cx="3610051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8033004" y="182880"/>
            <a:ext cx="3610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DISTANCES AT APOGEE AND PERIGEE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كم يبعد القمر؟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27_1" descr="e_27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83471"/>
            <a:ext cx="5943600" cy="33482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في الأوج: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نحو ٤٠٥٥٠٠ كم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في الحضيض: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نحو ٣٦٣٣٠٠ كم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الفرق: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أكثر من ٤٠ ألف كم — نحو ١٠٪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29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8823046" y="182880"/>
            <a:ext cx="282001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8823046" y="182880"/>
            <a:ext cx="2820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SUPERMOON VS. MICROMOON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القمر العملاق والقمر الصغير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28_1" descr="e_28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6400"/>
            <a:ext cx="5943600" cy="3962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الحجم: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البدر في الحضيض أكبر ظاهريًا بنحو ١٤٪ من البدر في الأوج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اللمعان: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وأسطع بنحو ٣٠٪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الكسوف: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قمر قريب يحجب الشمس كلها (كلي)، وقمر بعيد يترك حلقة (حلقي)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30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ona-glow"/>
          <p:cNvSpPr/>
          <p:nvPr/>
        </p:nvSpPr>
        <p:spPr>
          <a:xfrm>
            <a:off x="914400" y="1417320"/>
            <a:ext cx="4023360" cy="402336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corona-inner"/>
          <p:cNvSpPr/>
          <p:nvPr/>
        </p:nvSpPr>
        <p:spPr>
          <a:xfrm>
            <a:off x="1234440" y="1737360"/>
            <a:ext cx="3383280" cy="3383280"/>
          </a:xfrm>
          <a:prstGeom prst="ellipse">
            <a:avLst/>
          </a:prstGeom>
          <a:solidFill>
            <a:srgbClr val="E8B84B">
              <a:alpha val="4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ection-disc"/>
          <p:cNvSpPr/>
          <p:nvPr/>
        </p:nvSpPr>
        <p:spPr>
          <a:xfrm>
            <a:off x="1463040" y="1965960"/>
            <a:ext cx="2926080" cy="2926080"/>
          </a:xfrm>
          <a:prstGeom prst="ellipse">
            <a:avLst/>
          </a:prstGeom>
          <a:solidFill>
            <a:srgbClr val="130E07"/>
          </a:solidFill>
          <a:ln w="508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50800" dir="16200000">
              <a:srgbClr val="E8B84B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463040" y="19659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E8B84B"/>
                </a:solidFill>
                <a:latin typeface="EB Garamond"/>
                <a:cs typeface="Amiri"/>
              </a:rPr>
              <a:t>٥</a:t>
            </a:r>
            <a:endParaRPr lang="en-US" sz="7200" dirty="0">
              <a:latin typeface="EB Garamond"/>
              <a:cs typeface="Ami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394960" y="1691640"/>
            <a:ext cx="6263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rgbClr val="E8B84B"/>
                </a:solidFill>
                <a:latin typeface="EB Garamond"/>
                <a:cs typeface="Amiri"/>
              </a:rPr>
              <a:t>مراجعة المفاهيم</a:t>
            </a:r>
            <a:endParaRPr lang="ar-EG" sz="3400" dirty="0">
              <a:latin typeface="EB Garamond"/>
              <a:cs typeface="Ami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394960" y="361188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rgbClr val="F0E0B0"/>
                </a:solidFill>
                <a:latin typeface="EB Garamond"/>
                <a:cs typeface="Noto Naskh Arabic"/>
              </a:rPr>
              <a:t>تعريفات قصيرة للمصطلحات الأساسية مع صورة لكل منها</a:t>
            </a:r>
            <a:endParaRPr lang="ar-EG" sz="1700" dirty="0">
              <a:latin typeface="EB Garamond"/>
              <a:cs typeface="Noto Naskh Arabic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394960" y="457200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i="1" dirty="0">
                <a:solidFill>
                  <a:srgbClr val="E8B84B"/>
                </a:solidFill>
                <a:latin typeface="EB Garamond"/>
                <a:cs typeface="Noto Naskh Arabic"/>
              </a:rPr>
              <a:t>Key concepts review</a:t>
            </a:r>
            <a:endParaRPr lang="en-US" sz="1600" dirty="0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9218066" y="182880"/>
            <a:ext cx="2424989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9218066" y="182880"/>
            <a:ext cx="2424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WHAT IS AN ECLIPSE?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ما الكسوف؟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29_1" descr="e_29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79173"/>
            <a:ext cx="5029200" cy="33568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97880" y="1371600"/>
            <a:ext cx="57451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التعريف: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يحدث الكسوف حين يحجب جرم ضوء الشمس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كسوف الشمس (Solar eclipse):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القمر يحجب الشمس عن جزء من الأرض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خسوف القمر (Lunar eclipse):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الأرض تحجب ضوء الشمس عن القمر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32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9711842" y="182880"/>
            <a:ext cx="1931213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9711842" y="182880"/>
            <a:ext cx="19312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LUNAR ECLIPSES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خسوف القمر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30_1" descr="e_30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6400"/>
            <a:ext cx="5943600" cy="3962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التعريف: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تمر الأرض بين الشمس والقمر فتحجب ضوء الشمس عنه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اللون: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يتوهج القمر بلون أحمر في الكلية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33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9316822" y="182880"/>
            <a:ext cx="232623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9316822" y="182880"/>
            <a:ext cx="2326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UMBRA AND PENUMBRA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الظل الكامل وشبه الظل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31_1" descr="e_31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80585"/>
            <a:ext cx="5943600" cy="35540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الظل الكامل (Umbra):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الجزء الداخلي الداكن من مخروط الظل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شبه الظل (Penumbra):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الجزء الخارجي الأفتح من الظل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34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7736738" y="182880"/>
            <a:ext cx="3906317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7736738" y="182880"/>
            <a:ext cx="3906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TOTAL LUNAR ECLIPSE — 3 MARCH 2007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الخسوف الكلي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32_1" descr="e_32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944" y="1325880"/>
            <a:ext cx="4677472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80760" y="1371600"/>
            <a:ext cx="55622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التعريف: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يدخل القمر كله في الظل الكامل للأرض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المثال: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خسوف ٣ مارس ٢٠٠٧، من البداية إلى النهاية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35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9020556" y="182880"/>
            <a:ext cx="2622499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9020556" y="182880"/>
            <a:ext cx="26224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PARTIAL LUNAR ECLIPSE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الخسوف الجزئي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21_1" descr="e_21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7638"/>
            <a:ext cx="5943600" cy="39599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التعريف: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لا يدخل القمر كله في الظل الكامل للأرض، فيبقى جزء منه مضيئًا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في الصور: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الصفّان الأول والأخير مراحل جزئية من خسوف كلي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الخسوف شبه الظلي (Penumbral):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حين لا يمس القمر إلا شبه الظل؛ يبهت قليلًا فقط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36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9218066" y="182880"/>
            <a:ext cx="2424989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9218066" y="182880"/>
            <a:ext cx="2424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TOTAL SOLAR ECLIPSE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الكسوف الكلي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34_1" descr="e_34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7147"/>
            <a:ext cx="5760720" cy="38809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29400" y="1371600"/>
            <a:ext cx="501365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التعريف: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لا يُرى إلا من داخل الظل الكامل للقمر، وهو شريط ضيق على الأرض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المشهد: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ظلام وهالة ونجوم في النهار لدقائق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37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9020556" y="182880"/>
            <a:ext cx="2622499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9020556" y="182880"/>
            <a:ext cx="26224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PARTIAL SOLAR ECLIPSE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الكسوف الجزئي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35_1" descr="e_35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9285"/>
            <a:ext cx="5943600" cy="419663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التعريف: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يُرى من داخل شبه ظل القمر؛ يحجب القمر جزءًا من الشمس فقط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الصورة: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شمس مكسوفة جزئيًا عند الغروب فوق البحر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38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9613087" y="182880"/>
            <a:ext cx="2029968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9613087" y="1828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ANNULAR ECLIPSE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الكسوف الحلقي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36_1" descr="e_36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320" y="1325880"/>
            <a:ext cx="5114239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التعريف: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يحدث حين يكون القمر بعيدًا عن الأرض في مداره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الشكل: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يبدو القمر أصغر من الشمس، فتبقى حلقة مضيئة حوله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39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6847942" y="182880"/>
            <a:ext cx="479511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6847942" y="182880"/>
            <a:ext cx="4795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WHY DON'T WE SEE LUNAR ECLIPSES MORE OFTEN?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لماذا لا نرى الخسوف كثيرًا؟</a:t>
            </a:r>
            <a:endParaRPr lang="ar-EG" sz="3000" dirty="0">
              <a:latin typeface="EB Garamond"/>
              <a:cs typeface="Amiri"/>
            </a:endParaRPr>
          </a:p>
        </p:txBody>
      </p:sp>
      <p:pic>
        <p:nvPicPr>
          <p:cNvPr id="5" name="e_37_1" descr="e_37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6267"/>
            <a:ext cx="5943600" cy="44026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12280" y="1371600"/>
            <a:ext cx="48307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الجواب: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لأن مدار القمر مائل نحو ٥°</a:t>
            </a:r>
            <a:endParaRPr lang="ar-EG" sz="20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2000" b="1" dirty="0">
                <a:solidFill>
                  <a:srgbClr val="F0E0B0"/>
                </a:solidFill>
                <a:latin typeface="EB Garamond"/>
                <a:cs typeface="Noto Naskh Arabic"/>
              </a:rPr>
              <a:t>النتيجة: </a:t>
            </a:r>
            <a:pPr rtl="1" algn="r" indent="0" marL="0">
              <a:buNone/>
            </a:pPr>
            <a:r>
              <a:rPr lang="ar-EG" altLang="en-US" sz="2000" dirty="0">
                <a:solidFill>
                  <a:srgbClr val="F0E0B0"/>
                </a:solidFill>
                <a:latin typeface="EB Garamond"/>
                <a:cs typeface="Noto Naskh Arabic"/>
              </a:rPr>
              <a:t>في أغلب الشهور يمر البدر فوق ظل الأرض أو تحته</a:t>
            </a:r>
            <a:endParaRPr lang="ar-EG" sz="20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40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box"/>
          <p:cNvSpPr/>
          <p:nvPr/>
        </p:nvSpPr>
        <p:spPr>
          <a:xfrm>
            <a:off x="8724290" y="182880"/>
            <a:ext cx="2918765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8724290" y="182880"/>
            <a:ext cx="29187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spc="200" kern="0" dirty="0">
                <a:solidFill>
                  <a:srgbClr val="E8B84B"/>
                </a:solidFill>
                <a:latin typeface="EB Garamond"/>
                <a:cs typeface="Noto Naskh Arabic"/>
              </a:rPr>
              <a:t>ECLIPSE SEASONS — SYZYGY</a:t>
            </a:r>
            <a:endParaRPr lang="en-US" sz="900" dirty="0">
              <a:latin typeface="EB Garamond"/>
              <a:cs typeface="Noto Naskh Arabic"/>
            </a:endParaRPr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rgbClr val="E8B84B"/>
                </a:solidFill>
                <a:latin typeface="EB Garamond"/>
                <a:cs typeface="Amiri"/>
              </a:rPr>
              <a:t>مواسم الكسوف والاصطفاف</a:t>
            </a:r>
            <a:endParaRPr lang="ar-EG" sz="3000" dirty="0">
              <a:latin typeface="EB Garamond"/>
              <a:cs typeface="Ami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1700" b="1" dirty="0">
                <a:solidFill>
                  <a:srgbClr val="F0E0B0"/>
                </a:solidFill>
                <a:latin typeface="EB Garamond"/>
                <a:cs typeface="Noto Naskh Arabic"/>
              </a:rPr>
              <a:t>الاصطفاف (Syzygy): </a:t>
            </a:r>
            <a:pPr rtl="1" algn="r" indent="0" marL="0">
              <a:buNone/>
            </a:pPr>
            <a:r>
              <a:rPr lang="ar-EG" altLang="en-US" sz="1700" dirty="0">
                <a:solidFill>
                  <a:srgbClr val="F0E0B0"/>
                </a:solidFill>
                <a:latin typeface="EB Garamond"/>
                <a:cs typeface="Noto Naskh Arabic"/>
              </a:rPr>
              <a:t>الأوقات التي تقع فيها الشمس والأرض والقمر على خط واحد تمامًا، فيحدث الكسوف أو الخسوف</a:t>
            </a:r>
            <a:endParaRPr lang="ar-EG" sz="1700" dirty="0">
              <a:latin typeface="EB Garamond"/>
              <a:cs typeface="Noto Naskh Arabic"/>
            </a:endParaRPr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EG" altLang="en-US" sz="1700" b="1" dirty="0">
                <a:solidFill>
                  <a:srgbClr val="F0E0B0"/>
                </a:solidFill>
                <a:latin typeface="EB Garamond"/>
                <a:cs typeface="Noto Naskh Arabic"/>
              </a:rPr>
              <a:t>كل موسم: </a:t>
            </a:r>
            <a:pPr rtl="1" algn="r" indent="0" marL="0">
              <a:buNone/>
            </a:pPr>
            <a:r>
              <a:rPr lang="ar-EG" altLang="en-US" sz="1700" dirty="0">
                <a:solidFill>
                  <a:srgbClr val="F0E0B0"/>
                </a:solidFill>
                <a:latin typeface="EB Garamond"/>
                <a:cs typeface="Noto Naskh Arabic"/>
              </a:rPr>
              <a:t>كسوف للشمس في المحاق، وخسوف للقمر في البدر قبله أو بعده بأسبوعين</a:t>
            </a:r>
            <a:endParaRPr lang="ar-EG" sz="1700" dirty="0">
              <a:latin typeface="EB Garamond"/>
              <a:cs typeface="Noto Naskh Arabic"/>
            </a:endParaRPr>
          </a:p>
        </p:txBody>
      </p:sp>
      <p:pic>
        <p:nvPicPr>
          <p:cNvPr id="6" name="e_38_1" descr="e_38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5320" y="2788920"/>
            <a:ext cx="1587606" cy="2926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075191" y="5788152"/>
            <a:ext cx="256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100" i="1" dirty="0">
                <a:solidFill>
                  <a:srgbClr val="9C8B6E"/>
                </a:solidFill>
                <a:latin typeface="EB Garamond"/>
                <a:cs typeface="Noto Naskh Arabic"/>
              </a:rPr>
              <a:t>ترتيب الأجرام في كسوف الشمس</a:t>
            </a:r>
            <a:endParaRPr lang="ar-EG" sz="1100" dirty="0">
              <a:latin typeface="EB Garamond"/>
              <a:cs typeface="Noto Naskh Arabic"/>
            </a:endParaRPr>
          </a:p>
        </p:txBody>
      </p:sp>
      <p:pic>
        <p:nvPicPr>
          <p:cNvPr id="8" name="e_38_2" descr="e_38_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3354619"/>
            <a:ext cx="2567864" cy="179468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33008" y="5788152"/>
            <a:ext cx="256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100" i="1" dirty="0">
                <a:solidFill>
                  <a:srgbClr val="9C8B6E"/>
                </a:solidFill>
                <a:latin typeface="EB Garamond"/>
                <a:cs typeface="Noto Naskh Arabic"/>
              </a:rPr>
              <a:t>الكسوف الكلي</a:t>
            </a:r>
            <a:endParaRPr lang="ar-EG" sz="1100" dirty="0">
              <a:latin typeface="EB Garamond"/>
              <a:cs typeface="Noto Naskh Arabic"/>
            </a:endParaRPr>
          </a:p>
        </p:txBody>
      </p:sp>
      <p:pic>
        <p:nvPicPr>
          <p:cNvPr id="10" name="e_38_3" descr="e_38_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436" y="2788920"/>
            <a:ext cx="1946639" cy="2926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90824" y="5788152"/>
            <a:ext cx="256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100" i="1" dirty="0">
                <a:solidFill>
                  <a:srgbClr val="9C8B6E"/>
                </a:solidFill>
                <a:latin typeface="EB Garamond"/>
                <a:cs typeface="Noto Naskh Arabic"/>
              </a:rPr>
              <a:t>ترتيب الأجرام في خسوف القمر</a:t>
            </a:r>
            <a:endParaRPr lang="ar-EG" sz="1100" dirty="0">
              <a:latin typeface="EB Garamond"/>
              <a:cs typeface="Noto Naskh Arabic"/>
            </a:endParaRPr>
          </a:p>
        </p:txBody>
      </p:sp>
      <p:pic>
        <p:nvPicPr>
          <p:cNvPr id="12" name="e_38_4" descr="e_38_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83582"/>
            <a:ext cx="2567864" cy="23367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8640" y="5788152"/>
            <a:ext cx="256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100" i="1" dirty="0">
                <a:solidFill>
                  <a:srgbClr val="9C8B6E"/>
                </a:solidFill>
                <a:latin typeface="EB Garamond"/>
                <a:cs typeface="Noto Naskh Arabic"/>
              </a:rPr>
              <a:t>الخسوف الكلي</a:t>
            </a:r>
            <a:endParaRPr lang="ar-EG" sz="1100" dirty="0">
              <a:latin typeface="EB Garamond"/>
              <a:cs typeface="Noto Naskh Arabic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962B"/>
                </a:solidFill>
                <a:latin typeface="EB Garamond"/>
                <a:cs typeface="Noto Naskh Arabic"/>
              </a:defRPr>
            </a:lvl1pPr>
          </a:lstStyle>
          <a:p>
            <a:pPr algn="l"/>
            <a:fld id="{F7021451-1387-4CA6-816F-3879F97B5CBC}" type="slidenum">
              <a:rPr b="0" lang="en-US">
                <a:latin typeface="EB Garamond"/>
                <a:cs typeface="Noto Naskh Arabic"/>
              </a:rPr>
              <a:t>41</a:t>
            </a:fld>
            <a:endParaRPr lang="en-US">
              <a:latin typeface="EB Garamond"/>
              <a:cs typeface="Noto Naskh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lipse 2027 — Gold">
  <a:themeElements>
    <a:clrScheme name="Eclipse 2027 — Gold">
      <a:dk1>
        <a:srgbClr val="130E07"/>
      </a:dk1>
      <a:lt1>
        <a:srgbClr val="F0E0B0"/>
      </a:lt1>
      <a:dk2>
        <a:srgbClr val="161F2F"/>
      </a:dk2>
      <a:lt2>
        <a:srgbClr val="FAF3E0"/>
      </a:lt2>
      <a:accent1>
        <a:srgbClr val="C9962B"/>
      </a:accent1>
      <a:accent2>
        <a:srgbClr val="E8B84B"/>
      </a:accent2>
      <a:accent3>
        <a:srgbClr val="1B3A6B"/>
      </a:accent3>
      <a:accent4>
        <a:srgbClr val="5BAD7A"/>
      </a:accent4>
      <a:accent5>
        <a:srgbClr val="2A5BAD"/>
      </a:accent5>
      <a:accent6>
        <a:srgbClr val="8B3A1A"/>
      </a:accent6>
      <a:hlink>
        <a:srgbClr val="E8B84B"/>
      </a:hlink>
      <a:folHlink>
        <a:srgbClr val="C9962B"/>
      </a:folHlink>
    </a:clrScheme>
    <a:fontScheme name="Eclipse 2027 — Gold">
      <a:majorFont>
        <a:latin typeface="EB Garamond"/>
        <a:ea typeface=""/>
        <a:cs typeface="Amiri"/>
        <a:font script="Jpan" typeface="游ゴシック Light"/>
        <a:font script="Hang" typeface="맑은 고딕"/>
        <a:font script="Hans" typeface="等线 Light"/>
        <a:font script="Hant" typeface="新細明體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B Garamond"/>
        <a:ea typeface=""/>
        <a:cs typeface="Noto Naskh Arabic"/>
        <a:font script="Jpan" typeface="游ゴシック"/>
        <a:font script="Hang" typeface="맑은 고딕"/>
        <a:font script="Hans" typeface="等线"/>
        <a:font script="Hant" typeface="新細明體"/>
        <a:font script="Arab" typeface="Noto Naskh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الكسوف والخسوف — Solar &amp; Lunar Eclipse</dc:title>
  <dc:subject>الكسوف والخسوف والقمر العملاق — #السماء_بيتي</dc:subject>
  <dc:creator>مبنية على كتاب «الكسوف الكلي للشمس — ٢ أغسطس ٢٠٢٧»</dc:creator>
  <cp:lastModifiedBy>مبنية على كتاب «الكسوف الكلي للشمس — ٢ أغسطس ٢٠٢٧»</cp:lastModifiedBy>
  <cp:revision>1</cp:revision>
  <dcterms:created xsi:type="dcterms:W3CDTF">2026-10-25T06:57:10Z</dcterms:created>
  <dcterms:modified xsi:type="dcterms:W3CDTF">2026-10-25T06:57:10Z</dcterms:modified>
</cp:coreProperties>
</file>