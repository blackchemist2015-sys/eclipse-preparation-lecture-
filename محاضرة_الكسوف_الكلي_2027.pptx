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2.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افتتاح" id="{8a24ea74-f0f1-764c-cc46-fe1bf46498b7}">
          <p14:sldIdLst>
            <p14:sldId id="256"/>
            <p14:sldId id="257"/>
            <p14:sldId id="258"/>
          </p14:sldIdLst>
        </p14:section>
        <p14:section name="المرحلة الأولى: تعريف الكسوف والخسوف وهندستهما" id="{9b8cb17a-16db-1365-7512-3132a6508194}">
          <p14:sldIdLst>
            <p14:sldId id="259"/>
            <p14:sldId id="260"/>
            <p14:sldId id="261"/>
            <p14:sldId id="262"/>
            <p14:sldId id="263"/>
            <p14:sldId id="264"/>
            <p14:sldId id="265"/>
            <p14:sldId id="266"/>
            <p14:sldId id="267"/>
            <p14:sldId id="268"/>
            <p14:sldId id="269"/>
          </p14:sldIdLst>
        </p14:section>
        <p14:section name="المرحلة الثانية: الكسوف في تاريخ مصر والحضارة الإسلامية" id="{1d0fae72-d335-f310-6941-23c772898c53}">
          <p14:sldIdLst>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المرحلة الثالثة: كسوف ٢ أغسطس ٢٠٢٧" id="{d9113ff7-6673-cf44-01eb-3d9c4d094238}">
          <p14:sldIdLst>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الختام" id="{796674c8-6a09-f258-3dfd-f6460c55a13f}">
          <p14:sldIdLst>
            <p14:sldId id="317"/>
            <p14:sldId id="318"/>
            <p14:sldId id="319"/>
            <p14:sldId id="320"/>
            <p14:sldId id="321"/>
            <p14:sldId id="32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D8C79C"/>
                </a:solidFill>
                <a:latin typeface="EB Garamond"/>
                <a:cs typeface="Noto Naskh Arabic"/>
              </a:defRPr>
            </a:pPr>
            <a:r>
              <a:rPr sz="1400" b="0" i="0" u="none" strike="noStrike">
                <a:solidFill>
                  <a:srgbClr val="D8C79C"/>
                </a:solidFill>
                <a:latin typeface="EB Garamond"/>
                <a:cs typeface="Noto Naskh Arabic"/>
              </a:rPr>
              <a:t>عدد كسوفات الشمس حسب النوع — ٣٣٦ كسوفًا في ١٥٠ سنة</a:t>
            </a:r>
          </a:p>
        </c:rich>
      </c:tx>
      <c:layout/>
      <c:overlay val="0"/>
    </c:title>
    <c:autoTitleDeleted val="0"/>
    <c:plotArea>
      <c:layout/>
      <c:barChart>
        <c:barDir val="col"/>
        <c:grouping val="clustered"/>
        <c:varyColors val="0"/>
        <c:ser>
          <c:idx val="0"/>
          <c:order val="0"/>
          <c:tx>
            <c:strRef>
              <c:f>Sheet1!$B$1</c:f>
              <c:strCache>
                <c:ptCount val="1"/>
                <c:pt idx="0">
                  <c:v>عدد الكسوفات</c:v>
                </c:pt>
              </c:strCache>
            </c:strRef>
          </c:tx>
          <c:spPr>
            <a:solidFill>
              <a:srgbClr val="9C8B6E"/>
            </a:solidFill>
            <a:effectLst/>
          </c:spPr>
          <c:invertIfNegative val="0"/>
          <c:dLbls>
            <c:numFmt formatCode="#,##0" sourceLinked="0"/>
            <c:txPr>
              <a:bodyPr/>
              <a:lstStyle/>
              <a:p>
                <a:pPr>
                  <a:defRPr b="0" i="0" strike="noStrike" sz="1400" u="none">
                    <a:solidFill>
                      <a:srgbClr val="F0E0B0"/>
                    </a:solidFill>
                    <a:latin typeface="EB Garamond"/>
                    <a:cs typeface="Noto Naskh Arabic"/>
                  </a:defRPr>
                </a:pPr>
              </a:p>
            </c:txPr>
            <c:showLegendKey val="0"/>
            <c:showVal val="1"/>
            <c:showCatName val="0"/>
            <c:showSerName val="0"/>
            <c:showPercent val="0"/>
            <c:showBubbleSize val="0"/>
            <c:showLeaderLines val="0"/>
          </c:dLbls>
          <c:dPt>
            <c:idx val="0"/>
            <c:invertIfNegative val="0"/>
            <c:bubble3D val="0"/>
            <c:spPr>
              <a:solidFill>
                <a:srgbClr val="9C8B6E"/>
              </a:solidFill>
              <a:effectLst/>
            </c:spPr>
          </c:dPt>
          <c:dPt>
            <c:idx val="1"/>
            <c:invertIfNegative val="0"/>
            <c:bubble3D val="0"/>
            <c:spPr>
              <a:solidFill>
                <a:srgbClr val="C9962B"/>
              </a:solidFill>
              <a:effectLst/>
            </c:spPr>
          </c:dPt>
          <c:dPt>
            <c:idx val="2"/>
            <c:invertIfNegative val="0"/>
            <c:bubble3D val="0"/>
            <c:spPr>
              <a:solidFill>
                <a:srgbClr val="E8B84B"/>
              </a:solidFill>
              <a:effectLst/>
            </c:spPr>
          </c:dPt>
          <c:dPt>
            <c:idx val="3"/>
            <c:invertIfNegative val="0"/>
            <c:bubble3D val="0"/>
            <c:spPr>
              <a:solidFill>
                <a:srgbClr val="2A5BAD"/>
              </a:solidFill>
              <a:effectLst/>
            </c:spPr>
          </c:dPt>
          <c:cat>
            <c:multiLvlStrRef>
              <c:f>Sheet1!$A$2:$A$5</c:f>
              <c:multiLvlStrCache>
                <c:ptCount val="4"/>
                <c:lvl>
                  <c:pt idx="0">
                    <c:v>جزئي</c:v>
                  </c:pt>
                  <c:pt idx="1">
                    <c:v>حلقي</c:v>
                  </c:pt>
                  <c:pt idx="2">
                    <c:v>كلي</c:v>
                  </c:pt>
                  <c:pt idx="3">
                    <c:v>هجين</c:v>
                  </c:pt>
                </c:lvl>
              </c:multiLvlStrCache>
            </c:multiLvlStrRef>
          </c:cat>
          <c:val>
            <c:numRef>
              <c:f>Sheet1!$B$2:$B$5</c:f>
              <c:numCache>
                <c:formatCode>General</c:formatCode>
                <c:ptCount val="4"/>
                <c:pt idx="0">
                  <c:v>120</c:v>
                </c:pt>
                <c:pt idx="1">
                  <c:v>106</c:v>
                </c:pt>
                <c:pt idx="2">
                  <c:v>99</c:v>
                </c:pt>
                <c:pt idx="3">
                  <c:v>11</c:v>
                </c:pt>
              </c:numCache>
            </c:numRef>
          </c:val>
        </c:ser>
        <c:dLbls>
          <c:numFmt formatCode="#,##0" sourceLinked="0"/>
          <c:txPr>
            <a:bodyPr/>
            <a:lstStyle/>
            <a:p>
              <a:pPr>
                <a:defRPr b="0" i="0" strike="noStrike" sz="1400" u="none">
                  <a:solidFill>
                    <a:srgbClr val="F0E0B0"/>
                  </a:solidFill>
                  <a:latin typeface="EB Garamond"/>
                  <a:cs typeface="Noto Naskh Arab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D8C79C"/>
                </a:solidFill>
                <a:latin typeface="EB Garamond"/>
                <a:cs typeface="Noto Naskh Arabic"/>
              </a:defRPr>
            </a:pPr>
            <a:endParaRPr lang="en-US">
              <a:latin typeface="EB Garamond"/>
              <a:cs typeface="Noto Naskh Arabic"/>
            </a:endParaRPr>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EB Garamond"/>
                <a:cs typeface="Noto Naskh Arabic"/>
              </a:defRPr>
            </a:pPr>
            <a:endParaRPr lang="en-US">
              <a:latin typeface="EB Garamond"/>
              <a:cs typeface="Noto Naskh Arabic"/>
            </a:endParaRPr>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D8C79C"/>
                </a:solidFill>
                <a:latin typeface="EB Garamond"/>
                <a:cs typeface="Noto Naskh Arabic"/>
              </a:defRPr>
            </a:pPr>
            <a:r>
              <a:rPr sz="1300" b="0" i="0" u="none" strike="noStrike">
                <a:solidFill>
                  <a:srgbClr val="D8C79C"/>
                </a:solidFill>
                <a:latin typeface="EB Garamond"/>
                <a:cs typeface="Noto Naskh Arabic"/>
              </a:rPr>
              <a:t>نسبة تغطية قرص الشمس عند الذروة (٪)</a:t>
            </a:r>
          </a:p>
        </c:rich>
      </c:tx>
      <c:layout/>
      <c:overlay val="0"/>
    </c:title>
    <c:autoTitleDeleted val="0"/>
    <c:plotArea>
      <c:layout/>
      <c:barChart>
        <c:barDir val="bar"/>
        <c:grouping val="clustered"/>
        <c:varyColors val="0"/>
        <c:ser>
          <c:idx val="0"/>
          <c:order val="0"/>
          <c:tx>
            <c:strRef>
              <c:f>Sheet1!$B$1</c:f>
              <c:strCache>
                <c:ptCount val="1"/>
                <c:pt idx="0">
                  <c:v>نسبة تغطية قرص الشمس ٪</c:v>
                </c:pt>
              </c:strCache>
            </c:strRef>
          </c:tx>
          <c:spPr>
            <a:solidFill>
              <a:srgbClr val="C9962B"/>
            </a:solidFill>
            <a:effectLst/>
          </c:spPr>
          <c:invertIfNegative val="0"/>
          <c:dLbls>
            <c:numFmt formatCode="0.0" sourceLinked="0"/>
            <c:txPr>
              <a:bodyPr/>
              <a:lstStyle/>
              <a:p>
                <a:pPr>
                  <a:defRPr b="0" i="0" strike="noStrike" sz="1200" u="none">
                    <a:solidFill>
                      <a:srgbClr val="F0E0B0"/>
                    </a:solidFill>
                    <a:latin typeface="EB Garamond"/>
                    <a:cs typeface="Noto Naskh Arabic"/>
                  </a:defRPr>
                </a:pPr>
              </a:p>
            </c:txPr>
            <c:showLegendKey val="0"/>
            <c:showVal val="1"/>
            <c:showCatName val="0"/>
            <c:showSerName val="0"/>
            <c:showPercent val="0"/>
            <c:showBubbleSize val="0"/>
            <c:showLeaderLines val="0"/>
          </c:dLbls>
          <c:cat>
            <c:multiLvlStrRef>
              <c:f>Sheet1!$A$2:$A$12</c:f>
              <c:multiLvlStrCache>
                <c:ptCount val="11"/>
                <c:lvl>
                  <c:pt idx="0">
                    <c:v>بورسعيد</c:v>
                  </c:pt>
                  <c:pt idx="1">
                    <c:v>أبو سمبل</c:v>
                  </c:pt>
                  <c:pt idx="2">
                    <c:v>الإسكندرية</c:v>
                  </c:pt>
                  <c:pt idx="3">
                    <c:v>القاهرة</c:v>
                  </c:pt>
                  <c:pt idx="4">
                    <c:v>الجيزة</c:v>
                  </c:pt>
                  <c:pt idx="5">
                    <c:v>شرم الشيخ</c:v>
                  </c:pt>
                  <c:pt idx="6">
                    <c:v>بني سويف</c:v>
                  </c:pt>
                  <c:pt idx="7">
                    <c:v>الغردقة</c:v>
                  </c:pt>
                  <c:pt idx="8">
                    <c:v>الخارجة</c:v>
                  </c:pt>
                  <c:pt idx="9">
                    <c:v>سفاجا</c:v>
                  </c:pt>
                  <c:pt idx="10">
                    <c:v>أسوان</c:v>
                  </c:pt>
                </c:lvl>
              </c:multiLvlStrCache>
            </c:multiLvlStrRef>
          </c:cat>
          <c:val>
            <c:numRef>
              <c:f>Sheet1!$B$2:$B$12</c:f>
              <c:numCache>
                <c:formatCode>General</c:formatCode>
                <c:ptCount val="11"/>
                <c:pt idx="0">
                  <c:v>88.5</c:v>
                </c:pt>
                <c:pt idx="1">
                  <c:v>92</c:v>
                </c:pt>
                <c:pt idx="2">
                  <c:v>93.4</c:v>
                </c:pt>
                <c:pt idx="3">
                  <c:v>94.8</c:v>
                </c:pt>
                <c:pt idx="4">
                  <c:v>95</c:v>
                </c:pt>
                <c:pt idx="5">
                  <c:v>95.6</c:v>
                </c:pt>
                <c:pt idx="6">
                  <c:v>98.2</c:v>
                </c:pt>
                <c:pt idx="7">
                  <c:v>98.6</c:v>
                </c:pt>
                <c:pt idx="8">
                  <c:v>99.5</c:v>
                </c:pt>
                <c:pt idx="9">
                  <c:v>99.6</c:v>
                </c:pt>
                <c:pt idx="10">
                  <c:v>99.8</c:v>
                </c:pt>
              </c:numCache>
            </c:numRef>
          </c:val>
        </c:ser>
        <c:dLbls>
          <c:numFmt formatCode="0.0" sourceLinked="0"/>
          <c:txPr>
            <a:bodyPr/>
            <a:lstStyle/>
            <a:p>
              <a:pPr>
                <a:defRPr b="0" i="0" strike="noStrike" sz="1200" u="none">
                  <a:solidFill>
                    <a:srgbClr val="F0E0B0"/>
                  </a:solidFill>
                  <a:latin typeface="EB Garamond"/>
                  <a:cs typeface="Noto Naskh Arabic"/>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D8C79C"/>
                </a:solidFill>
                <a:latin typeface="EB Garamond"/>
                <a:cs typeface="Noto Naskh Arabic"/>
              </a:defRPr>
            </a:pPr>
            <a:endParaRPr lang="en-US">
              <a:latin typeface="EB Garamond"/>
              <a:cs typeface="Noto Naskh Arabic"/>
            </a:endParaRPr>
          </a:p>
        </c:txPr>
        <c:crossAx val="2094734552"/>
        <c:crosses val="autoZero"/>
        <c:auto val="1"/>
        <c:lblAlgn val="ctr"/>
        <c:noMultiLvlLbl val="1"/>
      </c:catAx>
      <c:valAx>
        <c:axId val="2094734552"/>
        <c:scaling>
          <c:orientation val="minMax"/>
          <c:max val="100"/>
          <c:min val="8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EB Garamond"/>
                <a:cs typeface="Noto Naskh Arabic"/>
              </a:defRPr>
            </a:pPr>
            <a:endParaRPr lang="en-US">
              <a:latin typeface="EB Garamond"/>
              <a:cs typeface="Noto Naskh Arabic"/>
            </a:endParaRPr>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EB Garamond"/>
                <a:cs typeface="Noto Naskh Arabic"/>
              </a:defRPr>
            </a:lvl1pPr>
          </a:lstStyle>
          <a:p>
            <a:endParaRPr lang="en-US">
              <a:latin typeface="EB Garamond"/>
              <a:cs typeface="Noto Naskh Arabic"/>
            </a:endParaRP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EB Garamond"/>
                <a:cs typeface="Noto Naskh Arabic"/>
              </a:defRPr>
            </a:lvl1pPr>
          </a:lstStyle>
          <a:p>
            <a:fld id="{5282F153-3F37-0F45-9E97-73ACFA13230C}" type="datetimeFigureOut">
              <a:rPr lang="en-US">
                <a:latin typeface="EB Garamond"/>
                <a:cs typeface="Noto Naskh Arabic"/>
              </a:rPr>
              <a:t>7/23/19</a:t>
            </a:fld>
            <a:endParaRPr lang="en-US">
              <a:latin typeface="EB Garamond"/>
              <a:cs typeface="Noto Naskh Arabic"/>
            </a:endParaRP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latin typeface="EB Garamond"/>
              <a:cs typeface="Noto Naskh Arabic"/>
            </a:endParaRP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atin typeface="EB Garamond"/>
                <a:cs typeface="Noto Naskh Arabic"/>
              </a:rPr>
              <a:t>Click to edit Master text styles</a:t>
            </a:r>
          </a:p>
          <a:p>
            <a:pPr lvl="1"/>
            <a:r>
              <a:rPr lang="en-US">
                <a:latin typeface="EB Garamond"/>
                <a:cs typeface="Noto Naskh Arabic"/>
              </a:rPr>
              <a:t>Second level</a:t>
            </a:r>
          </a:p>
          <a:p>
            <a:pPr lvl="2"/>
            <a:r>
              <a:rPr lang="en-US">
                <a:latin typeface="EB Garamond"/>
                <a:cs typeface="Noto Naskh Arabic"/>
              </a:rPr>
              <a:t>Third level</a:t>
            </a:r>
          </a:p>
          <a:p>
            <a:pPr lvl="3"/>
            <a:r>
              <a:rPr lang="en-US">
                <a:latin typeface="EB Garamond"/>
                <a:cs typeface="Noto Naskh Arabic"/>
              </a:rPr>
              <a:t>Fourth level</a:t>
            </a:r>
          </a:p>
          <a:p>
            <a:pPr lvl="4"/>
            <a:r>
              <a:rPr lang="en-US">
                <a:latin typeface="EB Garamond"/>
                <a:cs typeface="Noto Naskh Arabic"/>
              </a:rP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EB Garamond"/>
                <a:cs typeface="Noto Naskh Arabic"/>
              </a:defRPr>
            </a:lvl1pPr>
          </a:lstStyle>
          <a:p>
            <a:endParaRPr lang="en-US">
              <a:latin typeface="EB Garamond"/>
              <a:cs typeface="Noto Naskh Arabic"/>
            </a:endParaRP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EB Garamond"/>
                <a:cs typeface="Noto Naskh Arabic"/>
              </a:defRPr>
            </a:lvl1pPr>
          </a:lstStyle>
          <a:p>
            <a:fld id="{CE5E9CC1-C706-0F49-92D6-E571CC5EEA8F}" type="slidenum">
              <a:rPr lang="en-US">
                <a:latin typeface="EB Garamond"/>
                <a:cs typeface="Noto Naskh Arabic"/>
              </a:rPr>
              <a:t>‹#›</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EB Garamond"/>
        <a:cs typeface="Noto Naskh Arabic"/>
      </a:defRPr>
    </a:lvl1pPr>
    <a:lvl2pPr marL="457200" algn="l" defTabSz="914400" rtl="0" eaLnBrk="1" latinLnBrk="0" hangingPunct="1">
      <a:defRPr sz="1200" kern="1200">
        <a:solidFill>
          <a:schemeClr val="tx1"/>
        </a:solidFill>
        <a:latin typeface="EB Garamond"/>
        <a:cs typeface="Noto Naskh Arabic"/>
      </a:defRPr>
    </a:lvl2pPr>
    <a:lvl3pPr marL="914400" algn="l" defTabSz="914400" rtl="0" eaLnBrk="1" latinLnBrk="0" hangingPunct="1">
      <a:defRPr sz="1200" kern="1200">
        <a:solidFill>
          <a:schemeClr val="tx1"/>
        </a:solidFill>
        <a:latin typeface="EB Garamond"/>
        <a:cs typeface="Noto Naskh Arabic"/>
      </a:defRPr>
    </a:lvl3pPr>
    <a:lvl4pPr marL="1371600" algn="l" defTabSz="914400" rtl="0" eaLnBrk="1" latinLnBrk="0" hangingPunct="1">
      <a:defRPr sz="1200" kern="1200">
        <a:solidFill>
          <a:schemeClr val="tx1"/>
        </a:solidFill>
        <a:latin typeface="EB Garamond"/>
        <a:cs typeface="Noto Naskh Arabic"/>
      </a:defRPr>
    </a:lvl4pPr>
    <a:lvl5pPr marL="1828800" algn="l" defTabSz="914400" rtl="0" eaLnBrk="1" latinLnBrk="0" hangingPunct="1">
      <a:defRPr sz="1200" kern="1200">
        <a:solidFill>
          <a:schemeClr val="tx1"/>
        </a:solidFill>
        <a:latin typeface="EB Garamond"/>
        <a:cs typeface="Noto Naskh Arabic"/>
      </a:defRPr>
    </a:lvl5pPr>
    <a:lvl6pPr marL="2286000" algn="l" defTabSz="914400" rtl="0" eaLnBrk="1" latinLnBrk="0" hangingPunct="1">
      <a:defRPr sz="1200" kern="1200">
        <a:solidFill>
          <a:schemeClr val="tx1"/>
        </a:solidFill>
        <a:latin typeface="EB Garamond"/>
        <a:cs typeface="Noto Naskh Arabic"/>
      </a:defRPr>
    </a:lvl6pPr>
    <a:lvl7pPr marL="2743200" algn="l" defTabSz="914400" rtl="0" eaLnBrk="1" latinLnBrk="0" hangingPunct="1">
      <a:defRPr sz="1200" kern="1200">
        <a:solidFill>
          <a:schemeClr val="tx1"/>
        </a:solidFill>
        <a:latin typeface="EB Garamond"/>
        <a:cs typeface="Noto Naskh Arabic"/>
      </a:defRPr>
    </a:lvl7pPr>
    <a:lvl8pPr marL="3200400" algn="l" defTabSz="914400" rtl="0" eaLnBrk="1" latinLnBrk="0" hangingPunct="1">
      <a:defRPr sz="1200" kern="1200">
        <a:solidFill>
          <a:schemeClr val="tx1"/>
        </a:solidFill>
        <a:latin typeface="EB Garamond"/>
        <a:cs typeface="Noto Naskh Arabic"/>
      </a:defRPr>
    </a:lvl8pPr>
    <a:lvl9pPr marL="3657600" algn="l" defTabSz="914400" rtl="0" eaLnBrk="1" latinLnBrk="0" hangingPunct="1">
      <a:defRPr sz="1200" kern="1200">
        <a:solidFill>
          <a:schemeClr val="tx1"/>
        </a:solidFill>
        <a:latin typeface="EB Garamond"/>
        <a:cs typeface="Noto Naskh Arabic"/>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الترحيب وتقديم المحاضرة. هدفنا اليوم أن يخرج المرشد السياحي والأثري قادرًا على ثلاثة أمور: أن يشرح للزائر ما سيحدث في السماء بلغة بسيطة دقيقة، وأن يربط الحدث بتاريخ مصر وبالحضارة الإسلامية، وأن يدير مجموعته يوم الكسوف بأمان: متى يلبسون النظارة ومتى ينزعونها، وأين يقفون، وكيف يتقون الحر. كل الأرقام في هذه المحاضرة محسوبة في الكتاب من عناصر بِسِل الرسمية التي نشرتها ناسا لهذا الكسوف، والأوقات كلها بتوقيت مصر الصيفي (التوقيت العالمي + ٣).</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ابدأ بالمفارقة: الأقصر — أغنى مدينة في العالم بالآثار — لم تشهد كسوفًا كليًا منذ نحو ستة قرون ونصف (١٠ يناير ١٣٧٧م بحساب الكتاب، وهو تقدير تقريبي لأن تباطؤ دوران الأرض في العصور الوسطى غير معروف بدقة). والقاهرة لم ترَه منذ ٦ أكتوبر ١٢٤١م. ويوم ٢ أغسطس ٢٠٢٧ تدوم الكلية في الأقصر ٦ دقائق و٢٠ ثانية. دور المرشد: الشرح، والربط بالتاريخ، والسلامة. وسنعود في آخر المحاضرة إلى خطة عملية للمرشد يوم الكسوف.</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المحاضرة ثلاث ساعات في ثلاث مراحل: (١) التعريف والهندسة نحو خمسين دقيقة، ثم استراحة؛ (٢) الكسوف في تاريخ مصر وفي الحضارة الإسلامية نحو خمسين دقيقة، ثم استراحة؛ (٣) كسوف ٢٠٢٧ تفصيلًا: المسار والمواعيد، ومراحله، وشكله في الأقصر، والرصد الآمن، والتصوير، وخطة المرشد — نحو ساعة.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المرحلة الأولى (نحو خمسين دقيقة): الأساس العلمي. الرسالة التي يحفظها المرشد: الكسوف = القمر يحجب الشمس في آخر الشهر القمري، والخسوف = ظل الأرض يغطي القمر ليلة البدر. ثم الدورية: كسوف كلي في مكان ما كل ١٨ شهرًا تقريبًا، لكن المدينة الواحدة تنتظره قرونًا.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جملة تصلح للسائح: «لو كان القمر أصغر قليلًا أو أبعد قليلًا لما رأينا كسوفًا كليًا قط». النسبة ٤٠٠ إلى ٤٠٠ مصادفة لا قانون، والقمر يبتعد عن الأرض نحو ٣٫٨ سم كل سنة، فبعد مئات الملايين من السنين لن يحدث كسوف كلي. في ٢٠٢٧ القمر قريب من الحضيض، فيبدو أكبر من الشمس بنحو ٤٪ (قدر الكسوف ١٫٠٣٩)، ولهذا تطول الكلية.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شرح بالرسم: مخروطا الظل. الظل الكامل بقعة صغيرة على الأرض عرضها في ٢٠٢٧ لا يتجاوز ٢٥٩ كيلومترًا، أما شبه الظل فيغطي آلاف الكيلومترات — ولهذا يرى أهل القاهرة والإسكندرية الكسوف جزئيًا فقط. نبّه إلى أن الفرق بين الجزئي والكلي ليس فرقًا في الدرجة بل في النوع: حتى ٩٩٪ ليس كليًا.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الشريحة هي ما يُسأل عنه المرشد أكثر من غيره. الفارق الجوهري: الكسوف يقع دائمًا في آخر الشهر الهجري (كسوف ٢٠٢٧ يوافق ٢٨ أو ٢٩ صفر ١٤٤٩هـ بحسب الرؤية)، والخسوف دائمًا في منتصف الشهر ليلة البدر. وفي اللغة يُستعمل اللفظان للشمس والقمر معًا، وقد شاع في الاصطلاح: الكسوف للشمس والخسوف للقمر، كما في قوله تعالى «وَخَسَفَ الْقَمَرُ». أقصى كلية شمسية ممكنة نحو ٧ دقائق و٣٠ ثانية؛ وأطول خسوف كلي للقمر يقارب ساعة و٤٥ دقيقة.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تشبيه مفيد: مدار الأرض ومدار القمر طوقان مائلان أحدهما على الآخر قليلًا، يتقاطعان في نقطتين فقط. ولا يصطف الثلاثة على خط واحد إلا عندما يكون القمر عند إحدى النقطتين في المحاق أو البدر. ولهذا يأتي الكسوف والخسوف غالبًا متقاربين: خسوف قبل الكسوف أو بعده بأسبوعين.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الأوقات المذكورة لمدينة الأقصر بتوقيت مصر الصيفي، محسوبة في الكتاب. المدة الكلية للحدث من أوله إلى آخره ساعتان و٤٦ دقيقة، أما الكلية فست دقائق وعشرون ثانية فقط. اعتمد في الإرشاد أرقام الكتاب المحسوبة بعناصر ناسا، وأبلغ الزوار بأن يكونوا مستعدين قبل الموعد بدقيقتين.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صور حقيقية من كسوفي ٢٠١٧ و٢٠٢٤. رتّبها للزوار زمنيًا: قبل الكلية بثوانٍ تظهر حبات بيلي ثم الخاتم الماسي — وهنا ما زالت النظارة على العين حتى يختفي آخر ضوء. ثم الكروموسفير الوردي والشواظ عند حافة القمر، ثم الهالة البيضاء الممتدة ملايين الكيلومترات. وفي نهاية الكلية يتكرر الخاتم الماسي في الجهة المقابلة — وهو إشارة لبس النظارة فورًا.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عرف البابليون هذه الدورة من سجلات الكسوف المتراكمة، وسمّاها إدموند هالي «ساروس». أعضاء سلسلة ساروس ١٣٦ المعاصرون: ١٩٥٥ (٧ د ٠٨ ث)، ١٩٧٣ (الكسوف الذي طاردته طائرة الكونكورد)، ١٩٩١، ٢٠٠٩، ثم ٢٠٢٧ (٦ د ٢٣ ث)، ثم ٢٠٤٥. والمدد تتناقص ببطء في هذه السلسلة.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بين ١٩٠١ و٢٠٥٠ وقع ٣٣٦ كسوفًا للشمس بحسب حسابات الكتاب: ١٢٠ جزئيًا، و١٠٦ حلقيًا، و٩٩ كليًا، و١١ هجينًا. أي أن الكسوف الكلي يقع في مكان ما من الأرض كل سنة ونصف تقريبًا، لكنه غالبًا فوق المحيطات أو مناطق نائية. أما النقطة الواحدة فلا يمر بها الكسوف الكلي إلا مرة كل ٣٧٥ سنة في المتوسط (تقدير الفلكي جان ميوس)، مع تفاوت كبير: بعض المدن تراه مرتين في عقود قليلة، وبعضها لا يراه ألف عام.</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الحساب أُجري خصيصًا لهذه المحاضرة بالأدوات نفسها التي حُسب بها الكتاب. أفضل خسوف قادم للتدريب: ليلة ٢٠ إلى ٢١ ديسمبر ٢٠٢٩، الذروة نحو ٠٠:٤٣ بتوقيت القاهرة والقمر على ارتفاع نحو ٧٧°، والكلية ٥٥ دقيقة. وخسوف ٣١ ديسمبر ٢٠٢٨ — ليلة رأس السنة — كلي لمدة ٧٢ دقيقة والقمر يرتفع في الشرق بعد الغروب، وهي فرصة سياحية ممتازة. أما خسوف ٢٦ يونيو ٢٠٢٩ فهو من أعمق الخسوفات (قدر ١٫٨٥) لكن ذروته تقع والقمر تحت أفق القاهرة صباحًا. الخسوفان الجزئيان ٦ يوليو ٢٠٢٨ (قدر ٠٫٣٩) و١٥ يونيو ٢٠٣٠ (قدر ٠٫٥١). الأوقات تقريبية بدقيقة.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استراحة بعد المرحلة الأولى.</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المرحلة الثانية (نحو خمسين دقيقة) في جزأين: (أ) الكسوفات التي حدثت في مصر من الأسطورة إلى الحساب، (ب) الكسوف والخسوف في الحضارة الإسلامية. تنبيه منهجي: لا يوجد نص مصري قديم معروف يؤرخ كسوفًا بعينه تأريخًا قاطعًا؛ فكل ربط بين نص وكسوف اجتهاد، والحساب يبيّن ما هو ممكن.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الجزء الأول من المرحلة الثانية: نبدأ بسياق عالمي قصير عن سجلات الكسوف، ثم ننتقل إلى مصر.</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مدخل مهم للأثريين: الكسوف من أدق أدوات التأريخ، لأن الحساب الفلكي يعطي يومه وساعته بلا لبس. كسوف ٧٦٣ ق.م المسجل في قوائم الحكام الآشوريين (في سنة بور-ساجالي) هو المسمار الذي تُعلَّق عليه أزمنة الشرق القديم كله. وقصة طاليس يرويها هيرودوت، وكسوف ثوسيديدس (٣ أغسطس ٤٣١ ق.م) كان حلقيًا رآه أهل أثينا جزئيًا ٨٣٪. مصدر الجدول: كتاب «الكسوفات» لسيفاريال (١٩١٥) بعد تدقيق الكتاب له بالحساب؛ مع التنبيه إلى أن الجانب التنجيمي في ذلك الكتاب معتقد قديم لا علم.</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عند الحديث في مقابر وادي الملوك (حيث كتب العالم الآخر: الأمدوات وكتاب البوابات) يمكن ربط رحلة رع الليلية بالحدث: في ٢ أغسطس ٢٠٢٧ يتحول نهار وادي الملوك إلى ليل لمدة ٦ دقائق و٢٠ ثانية.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من أقوى الحكايات لمرشدي المنيا وتل العمارنة: عاصمة إله قرص الشمس آتون شهدت كسوفًا كليًا للشمس. الحساب الفلكي الحديث يثبت وقوع الكسوف ومرور ظله فوق أخت-آتون، أما ربطه بحدث أو سنة من حكم إخناتون فاجتهاد لا يثبته نص. وأجرى الكتاب الحساب بنظرية ERFA مع معادلات إسبيناك ومييس لفرق التوقيت. وفي ٢٠٢٧ يعود الظل إلى تل العمارنة: الكلية هناك ٥ دقائق و٣٣ ثانية.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19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القراءة للباحثين المحدثين، والحساب في الكتاب أكد أن الحدثين وقعا وكانا مرئيين من صعيد مصر. قف بالزوار في معبد دندرة أمام النسخة المصبوبة في سقف المقصورة، ثم أخبرهم أن الظل الذي نقش الكهنة رمزه سيمر فوق رؤوسهم بعد أكثر من ألفي سنة.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كسوفان شهدتهما قاهرة العزيز بالله والحاكم بأمر الله، زمن ابن يونس، كما يعطيهما الحساب الحديث في الكتاب. كسوف ٢٠ أغسطس ٩٩٣م: مرّ الظل الكلي قبالة الساحل الشمالي، فبلغ الاحتجاب في القاهرة نحو ٩٦٪ ضحى — نهار باهت لا ليل. كسوف ٢٤ يناير ١٠٠٤م: كسوف هجين، بلغ في القاهرة ٩٧٪ والشمس على ارتفاع ست درجات فقط، فغربت مكسوفة خلف الأهرام. وبينهما كسوف ٧ أبريل ١٠٠٠م الجزئي (نحو نصف القرص قرب الظهر). التواريخ الهجرية بالتقويم الحسابي وقد تختلف يومًا عن الرؤية.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الخسوف حكاية ممتازة للزوار ليلًا على الأسطح والمراكب النيلية. حافة ظل الأرض على القمر مستديرة في كل خسوف، والقمر عالٍ أو منخفض، في الشرق أو في الغرب؛ وليس جسم يلقي ظلًا مستديرًا من كل جهة إلا الكرة. وهو استدلال قديم على كروية الأرض يعود إلى أرسطو، وكان معروفًا لفلكيي الحضارة الإسلامية. والخسوف لا يقع إلا والقمر بدر في منتصف الشهر القمري.</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كسوف ١٧ مايو ١٨٨٢ رُصد من سوهاج، وظهر في صور الكلية مذنب ساطع قرب الشمس سُمّي باسم الخديوي توفيق، ولم يُشاهد إلا في تلك الدقائق. وكسوف السلوم ٢٠٠٦ مقارنة مفيدة للزوار الذين يسألون عن خبرة مصر في استقبال سياحة الكسوف.</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رسالة للزائر: الكسوف ليس مشهدًا جميلًا فحسب؛ إنه مختبر طبيعي. فيه اكتُشف عنصر كيميائي، وفيه اختُبرت أشهر نظرية في الفيزياء الحديثة. واليوم تصنع المراصد الفضائية كسوفًا صناعيًا بالمِكْسَفة (Coronagraph) مثل SOHO وProba-3، لكن الكسوف الطبيعي ما زال يكشف الهالة الداخلية بوضوح لا تبلغه معظم الأجهزة. وكسوف ١٩٧٣ من سلسلة ساروس ١٣٦ نفسها التي ينتمي إليها كسوف ٢٠٢٧.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الشريحة تجيب عن سؤال «نفس المكان». التواريخ قبل ١٩٠٠ تقريبية لأن فرق التوقيت ΔT (تباطؤ دوران الأرض) غير معروف بدقة في العصور الوسطى؛ والتواريخ قبل ١٥٨٢ بالتقويم اليولياني. والفكرة للزائر: «أنتم تشهدون ما لم يشهده أهل الأقصر منذ أكثر من ستة قرون».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الجزء الثاني من المرحلة الثانية: ثلاث رسائل — الإسلام نزع عن الكسوف صفة النذير، وشرع له عبادة، ثم ازدهر رصده وحسابه علميًا في بغداد والرقة والقاهرة وغزنة.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نص الحديث في صحيح البخاري (كتاب الكسوف) من حديث عائشة رضي الله عنها، وله روايات أخرى عن المغيرة بن شعبة وأبي مسعود. حسبنا لهذه المحاضرة الكسوف المقترن بوفاة إبراهيم ابن النبي ﷺ: كسوف حلقي في ٢٧ يناير ٦٣٢م، رآه أهل المدينة جزئيًا بنسبة احتجاب نحو ٧٧٪ ضحىً والشمس على ارتفاع نحو ١٦° (نحو الثامنة صباحًا بالتوقيت الشمسي المحلي). ويوافق بالتقويم الحسابي ٢٨ أو ٢٩ شوال سنة ١٠هـ. الحساب تقريبي لأن ΔT في القرن السابع غير معروف بدقة، لكن احتجاب نحو ثلاثة أرباع القرص لا يتغير كثيرًا. الرسالة للزائر الأجنبي: قبل أربعة عشر قرنًا أعلن نبي الإسلام أن الكسوف آية كونية لا علاقة لها بموت أحد أو حياته.</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نقطة عملية مهمة يغفل عنها كثيرون: الزوال في الأقصر يوم ٢ أغسطس ٢٠٢٧ نحو ١٢:٥٥:٤٥ بتوقيت مصر الصيفي، فيُرفع أذان الظهر قرابة ١٢:٥٧–١٣:٠٠، وتبدأ الكلية ١٣:٠١:٥٨. أي أن المساجد ستصلي الظهر ثم صلاة الكسوف في قلب الحدث، وستتجمع حشود قرب المساجد والساحات. خطط لمواقع مجموعتك بعيدًا عن الزحام، واشرح للزائر الأجنبي معنى ما يسمعه من تكبير وصلاة. التاريخ الهجري: الحساب العددي يعطي ٢٨ صفر ١٤٤٩هـ، وقد يكون ٢٩ صفر بحسب رؤية الهلال.</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أربعة أسماء يحسن أن يحفظها المرشد. ابن يونس وابن الهيثم عاشا في القاهرة الفاطمية نفسها، ترك ابن يونس «الزيج الحاكمي الكبير» في ٨١ بابًا وفيه أكثر من مئة رصدة مؤرخة، يميّز رصده من رصد غيره ويكتب أخطاء أسلافه وأخطاء نفسه. ومن القاهرة نفسها رأى علي بن رضوان المستعر الأعظم سنة ١٠٠٦م (ألمع نجم مستعر في التاريخ المدوَّن) ووصف سطوعه بأنه يفوق الزهرة مرتين ونصفًا إلى ثلاث مرات. يميّز رصده من رصد غيره ويكتب أخطاء أسلافه وأخطاء نفسه. وأرصاد الكسوف العربية — مع سجلات بابل والصين — هي اليوم من أدق وسائل قياس فرق التوقيت ΔT، أي تباطؤ دوران الأرض عبر القرون.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29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المصدر: القطعة الباقية من «الزيج الحاكمي الكبير» بمخطوط ليدن، كما نشرها وترجمها كوسان دي برسفال في باريس سنة ١٨٠٤. يصف ابن يونس كسوفًا رصده مع ابنه ومولى له، وأنهم رصدوا الشمس «بالماء» حتى انجلت، وأن «أصابع الكسوف» وافقت ما أوجبه الحساب (بتصرف). التأريخ المزدوج بالهجري وبسنيّ يزدجرد الفارسية التي لا كبيس فيها كان يحمي الرصدة من اختلاف التقاويم بعد قرون. تنبيه: طست الماء لا يُنصح به اليوم، فالانعكاس على الماء ما زال ساطعًا مؤذيًا؛ البديل الحديث كاميرا الثقب والنظارة المعتمدة.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اربط العلم بالتاريخ: الحجرة المظلمة (Camera obscura) التي درسها ابن الهيثم في القاهرة هي جدّة الكاميرا الحديثة. اطلب من الزوار في المعابد أن ينظروا إلى ظلال النخيل والأشجار على الأرض قبيل الكلية — سيرون مئات الأهلّة.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نقطة تجمع الأثري والفلكي: السجل التاريخي المؤرخ يصحح الحساب الفلكي، والحساب الفلكي يؤرخ السجل. ولهذا تبقى تواريخ ومسارات الكسوفات قبل ١٩٠٠ في الكتاب «تقريبية»، ويُرسم حولها نطاق عدم اليقين كما في كسوف إخناتون. وأرصاد ابن يونس في القاهرة الفاطمية من السجلات التي استعملها علماء القرن العشرين في حساب تباطؤ دوران الأرض.</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استراحة بعد المرحلة الثانية.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المرحلة الثالثة (نحو ساعة) وهي قلب المحاضرة. كل الأرقام من عناصر بِسِل الرسمية التي نشرتها ناسا (فريد إسبيناك، ΔT = ٧٦ ثانية)، وتحقق منها الكتاب مستقلًا من تقويم JPL DE421 فاتفقت المدد في حدود ثلث ثانية.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الجزء الأول من المرحلة الثالثة.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أرقام يحفظها المرشد: أطول مدة ٦ دقائق و٢٣ ثانية، أقصى عرض للمسار ٢٥٩ كم، ١١ دولة، الشمس على ارتفاع ٨١°. كسوف ٢٠٢٧ من أطول الكسوفات الكلية في القرن الحادي والعشرين، وسر طوله ثلاثة: القمر قريب من الحضيض فيبدو كبيرًا، والأرض قرب الأوج فتبدو الشمس أصغر قليلًا، ومحور الظل يمر قريبًا من مركز الأرض (غاما ≈ ٠٫١٤)، فيكون الظل أبطأ فوق صعيد مصر. الظل يلامس الأرض من ٠٨:٢٥ إلى ١١:٤٨ بالتوقيت العالمي.</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اللون الأزرق: مدة الكلية، والبرتقالي: نسبة تغطية الشمس خارج المسار. أمثلة من الدول الأخرى للمقارنة (من ملحق الكتاب): طنجة ٤ د ٥٠ ث، طريفة ٤ د ٣٨ ث، الأقصر ٦ د ٢٠ ث، ومكة جزئي، وجدة قريبة من المسار. الرسالة: مصر تحظى بأطول مدة على اليابسة، ومع آثارها وطقسها الصافي في أغسطس تصبح الوجهة الأولى في العالم لهذا الكسوف.</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يعبر الظل الكامل مصر من سيوة إلى برنيس في نحو ٣٥ دقيقة فقط. لاحظ كيف يصغر الظل ويتباطأ قرب مصر لأن الشمس شبه عمودية فوقها. سرعة الظل فوق مصر نحو ألفي كيلومتر في الساعة — أي أن الظلام يأتي من جهة الغرب-الشمال الغربي مسرعًا، فوجّه أنظار مجموعتك نحو تلك الجهة قبيل الكلية لترى «جدار الظل» قادمًا.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خريطة مصر من أطلس الكتاب: الخطان الأزرقان حدّا مسار الكلية، والخط الأحمر المتقطع خط المركز. كلما اقتربت من الخط الأحمر طالت الكلية. أسوان تقع خارج الحد الجنوبي بقليل، فلا يراها أهل أسوان كلية — انصح مجموعات أسوان بالتوجه شمالًا إلى كوم أمبو (٣ د ٢١ ث) أو إدفو (٥ د ٣٠ ث). وأهل القاهرة يحتاجون إلى السفر جنوبًا: أقرب موقع ممتاز الواحات البحرية (نحو ٣٧٠ كم) أو المنيا.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39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يكثر الخلط بين النقطتين في الإعلام. ناسا تنشر الاثنتين، وتظهر الثانية على خرائطها مقرّبة إلى ٦ د ٢٣ ث. والمنحنى منبسط جدًا: لا يبلغ ٦ د ٢٣ ث كاملة إلا شريط ضيق في الصحراء. فإذا سألك زائر «أين أطول كسوف؟» فالجواب الصادق: «الفرق بين هنا وهناك ثانية أو ثانيتان، ولن تشعر به».</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هذا الجدول من ملحق الكتاب (جدول المدن المصرية الخمسين). رُتّبت المدن من الأطول كلية إلى الأقصر. ارتفاع الشمس عند الذروة: نجع حمادي ٨١٫٦°، الأقصر ٨١٫٨°، إدفو ٨٢٫٣°، سيوة ٧٥٫٥°. لاحظ أن مدن البحر الأحمر الجنوبية (مرسى علم وبرنيس والشلاتين ٥ د ٣٦ ث) خيار ممتاز للسياحة الشاطئية، أما القصير فعلى حافة المسار (٢ د ٣١ ث) والغردقة وسفاجا خارجه.</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هذا الجدول للمرشدين العاملين في القاهرة والإسكندرية وأسوان والبحر الأحمر وسيناء. الاحتجاب (Obscuration) هو النسبة المحجوبة من مساحة قرص الشمس. حتى ٩٩٫٨٪ في أسوان لا يعطي ظلامًا ولا هالة. اقترح على هذه المجموعات الانتقال إلى أقرب نقطة داخل المسار إن أمكن.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أخطر رسالة في المحاضرة للسلامة وللتسويق معًا. الفرق بين ٩٩٪ و١٠٠٪ هو الفرق بين «يوم غائم قليلًا» و«ليل في الظهيرة». لا تبع للسائح تجربة كلية في أسوان أو الغردقة أو القاهرة. وفي هذه المدن تبقى النظارة على العين طوال الحدث. اقتراح عملي: مجموعات الغردقة تنتقل جنوبًا إلى القصير أو مرسى علم، ومجموعات أسوان شمالًا إلى كوم أمبو أو إدفو، ومجموعات القاهرة إلى الواحات البحرية أو المنيا.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الجزء الثاني من المرحلة الثالثة: الأقصر نموذجًا، ويمكن تطبيق الشرائح نفسها على أي مدينة ببطاقتها في 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لكل مدينة في الكتاب بطاقة مماثلة (٢٥ بطاقة) — اطبع بطاقة مدينتك واحملها يوم الكسوف. في الأقصر: نحو ساعة و٢٢ دقيقة من الجزئي قبل الكلية، ثم ست دقائق وعشرون ثانية من الكلية، ثم ساعة و١٨ دقيقة من الجزئي بعدها.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هذا هو «سيناريو» اليوم كاملًا للأقصر، من التماس الأول إلى الرابع. ساعتان و٤٦ دقيقة في المجموع، منها ٦ دقائق و٢٠ ثانية فقط من الكلية. ركّز على الدقيقة الأخيرة قبل الكلية: يأتي ظل القمر من جهة الغرب-الشمال الغربي بسرعة، وقد تظهر خطوط متموجة باهتة على الأرض الفاتحة (الأحزمة الظلية). ثم حبات بيلي والخاتم الماسي: النظارة على العين حتى يختفي آخر ضوء، ثم تُنزع. وعند أول وميض في نهاية الكلية تُلبس فورًا. لمدينة أخرى: أضف الفرق بين أوقاتها وأوقات الأقصر من جدول المدن.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الرسوم محسوبة خصيصًا لهذه المحاضرة من عناصر بِسِل الرسمية (ناسا) لموقع الأقصر: موضع قرص القمر على قرص الشمس في عشر لحظات. يدخل القمر من الحافة الغربية العليا للشمس (يمين الصورة إلى أعلى) ويخرج من الحافة الشرقية السفلى. نسبة الاحتجاب: ١٢:٠٠ ← ١٤٪، ١٢:٢٠ ← ٣٨٪، ١٢:٤٠ ← ٦٨٪، ١٢:٥٥ ← ٩١٪، ثم الكلية ١٣:٠١:٥٨–١٣:٠٨:١٨، ثم ١٣:١٥ ← ٩١٪، ١٣:٣٥ ← ٦٠٪، ١٤:٠٠ ← ٢٤٪، والنهاية ١٤:٢٦:٢٥. قرص القمر أكبر ظاهريًا من قرص الشمس بنحو ٨٪ في قطره، ولهذا تطول الكلية. ولأن الشمس قريبة من سمت الرأس، فإن «أعلى» و«أسفل» يتغيران بحسب اتجاه وقوف الراصد؛ الرسم بالاتجاهات السماوية: الشمال إلى أعلى.</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خريطة سماء الأقصر لحظة ذروة الكلية (١٣:٠٥) من الكتاب. الشمس في مركز الدائرة تقريبًا (ارتفاعها نحو ٨٢°)، فليُنبَّه الزوار إلى أن ينظروا إلى أعلى، لا إلى الأفق. ويمكن للمرشد أن يجعلها لعبة: «من يرى الزهرة أولًا؟» — وهي أسطع جرم بعد الشمس والقمر، وستكون قريبة جدًا من الشمس المكسوفة. وأوصف الغروب الدائري: الأفق كله برتقالي لأننا نرى خارج حدود الظل في كل اتجاه.</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هذه الشريحة هي الأهم للأثريين. يمر مسار الكلية بأغنى بقاع الأرض بالآثار. تذكير: الشمس على ارتفاع ٨١–٨٢° في الأقصر، أي فوق الرأس تقريبًا؛ فلا تتوقع صورة «الشمس المكسوفة فوق المسلة» إلا بعدسة واسعة جدًا من زاوية منخفضة. وأهرام الجيزة خارج المسار (٩٥٪) — صحّح هذا لمن يظن أن الأهرام ستشهد الكلية.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49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انصح بالمواقع المفتوحة ذات الأفق الواسع لرؤية الظل قادمًا من الغرب. داخل المعابد المسقوفة لن يُرى شيء من السماء. واعلم أن تنظيم المواقع الأثرية يوم الكسوف (ساعات الدخول والأعداد) قرار الجهات المختصة؛ تابع تعليماتها الرسمية.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الواحات البحرية تتبع إداريًا محافظة الجيزة، وتقع داخل مسار الكلية بالكامل. وهي خيار ممتاز للمجموعات القادمة من القاهرة التي لا تريد السفر إلى الصعيد، مع إمكان الجمع بين الكسوف والصحراء البيضاء والسوداء. وكذلك سيوة (٥ د ٢٨ ث) لمن يريد تجربة الواحة ومعبد آمون.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الجزء الثالث من المرحلة الثالثة: السلامة.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ضوء الشمس — حتى لو حُجب ٩٩٪ منه — قادر على إتلاف الشبكية دون أن يشعر الإنسان بألم، لأن الشبكية بلا مستقبلات للألم. اشترِ النظارات مبكرًا من مصدر موثوق، وافحص كل نظارة قبل التوزيع، واحمل احتياطيًا.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نبّه إلى الفرق بين الرصد القديم والحديث: طست الماء عند ابن يونس كان أفضل المتاح قبل ألف سنة، لكن الانعكاس على الماء يبقى ساطعًا ولا يُعتمد اليوم. ونبّه المصورين: المرشح يوضع أمام العدسة لا خلفها، ويُنزع فقط في الكلية داخل المسار. ومن الأخطاء الشائعة أن يلبس الشخص نظارة الكسوف ثم ينظر عبر منظار بلا مرشح: النظارة لا تحميه حينئذ.</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استعمل منبّهًا صوتيًا أو تطبيق Solar Eclipse Timer، وعيّن في كل مجموعة مساعدًا يراقب الوقت. قاعدة بسيطة للزائر: «إذا رأيت أي ضوء أبيض ساطع من الشمس، فالنظارة على عينك». وفي المدن خارج المسار لا توجد لحظة نزع إطلاقًا. وفي الكتاب خطوط زمنية مماثلة لسوهاج وأسيوط وأسوان والقاهرة والغردقة.</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اجمع بين العلم والتراث في الرد: الحديث النبوي ينفي النذير، والحساب الفلكي يتنبأ بالكسوف بالثانية قبله بقرون.</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انخفاض الحرارة بضع درجات أثناء الكلية لا يعوّض ساعات الانتظار في الشمس. خطط لوصول المجموعة إلى الموقع قبل التماس الأول بوقت كافٍ، ووفر ظلًا متنقلًا. الخطر الأكبر يوم الكسوف عمليًا هو الإجهاد الحراري والزحام المروري، لا الكسوف نفسه.</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الجزء الرابع من المرحلة الثالثة: التصوير.</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58</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سيطلب كثير من الزوار مساعدتهم في التصوير. الشمس في الأقصر على ارتفاع ٨٢° تقريبًا، فصورة «الشمس المكسوفة فوق المعبد» تحتاج عدسة واسعة جدًا وزاوية منخفضة. وفي الكتاب فصل كامل للتصوير: مثلث التعريض (Exposure triangle)، وجداول التعريض المتدرج (Bracketing) لكل ظاهرة، وخطة تصوير ثانية بثانية للأقصر وسوهاج. نصيحة المصورين المحترفين المنقولة في الكتاب عن آلان هول: جرّب الحامل ورأسه في الساعة نفسها قبل الحدث بأيام، لأن التصوير قرب سمت الرأس صعب.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59</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خطة التصوير ثانية بثانية للأقصر من الكتاب. القاعدة الذهبية للمصور: ارفع عينيك عن الكاميرا في منتصف الكلية (١٣:٠٥:٠٨) واستمتع. مثلث التعريض (Exposure triangle): فتحة العدسة (Aperture) وزمن الغالق (Shutter speed) والحساسية (ISO). في الكسوف نستعمل الوضع اليدوي لأن الوضع الآلي ينخدع بالسماء المظلمة حول الهالة. وفي الكتاب جداول تعريض محسوبة لكل ظاهرة عند f/5.6 وf/8 وf/11، وخطة مماثلة لسوهاج. تحدي مصر الخاص: الشمس على ارتفاع ٨١–٨٢°، فجرّب الحامل ورأسه قبل الحدث بأيام في الساعة نفسها.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60</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الشكل يلخص إعدادات كل مرحلة كما في الفصل السابع من الكتاب. ذكّر المصورين بأن أكثر الأخطاء شيوعًا: نسيان نزع المرشح عند الكلية، أو نسيان إعادته بعدها، والتركيز التلقائي (Autofocus) الذي يضيع في الظلام — ثبّت التركيز يدويًا على اللانهاية مسبقًا.</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61</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الأوقات في الخطوتين الأخيرتين للأقصر؛ عدّلها حسب بطاقة مدينتك. تدرب على عبارتي «انزعوا النظارات» و«النظارات الآن» بالعربية والإنجليزية: Glasses OFF — totality! / Glasses ON — now! وانتبه إلى أن أذان الظهر وصلاة الكسوف سيقعان في الوقت نفسه تقريبًا. وفي الكتاب فصل كامل عن التطبيقات (Xavier Jubier، Stellarium، PhotoPills، Solar Eclipse Timer) وجدول استعداد زمني.</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62</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مسرد ثنائي اللغة للمصطلحات التي سيستعملها المرشد مع الزوار الأجانب. اطبعه بطاقة صغيرة. والمسرد الكامل في ملحق 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63</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مسرد ثنائي اللغة للمصطلحات التي سيستعملها المرشد مع الزوار الأجانب. اطبعه بطاقة صغيرة. والمسرد الكامل في ملحق 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64</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مسرد ثنائي اللغة للمصطلحات التي سيستعملها المرشد مع الزوار الأجانب. اطبعه بطاقة صغيرة. والمسرد الكامل في ملحق 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65</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لخّص الرسائل السبع، ثم افتح باب الأسئلة. ذكّر الحضور بأن جداول جميع المدن المصرية الخمسين، وبطاقات ٢٥ مدينة، وخرائط المحافظات، موجودة في 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66</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EB Garamond"/>
                <a:cs typeface="Noto Naskh Arabic"/>
              </a:rPr>
              <a:t>كل الأرقام قابلة للتحقق: شيفرة الحساب في مستودع الكتاب.</a:t>
            </a:r>
            <a:endParaRPr lang="en-US" dirty="0">
              <a:latin typeface="EB Garamond"/>
              <a:cs typeface="Noto Naskh Arabic"/>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EB Garamond"/>
                <a:cs typeface="Noto Naskh Arabic"/>
              </a:rPr>
              <a:t>67</a:t>
            </a:fld>
            <a:endParaRPr lang="en-US">
              <a:latin typeface="EB Garamond"/>
              <a:cs typeface="Noto Naskh Arabic"/>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30E07"/>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C9962B"/>
          </a:solidFill>
          <a:ln/>
        </p:spPr>
      </p:sp>
      <p:sp>
        <p:nvSpPr>
          <p:cNvPr id="3" name="Text 1"/>
          <p:cNvSpPr/>
          <p:nvPr>
            <p:ph idx="101" type="title" hasCustomPrompt="1"/>
          </p:nvPr>
        </p:nvSpPr>
        <p:spPr>
          <a:xfrm>
            <a:off x="548640" y="548640"/>
            <a:ext cx="11094415" cy="640080"/>
          </a:xfrm>
          <a:prstGeom prst="rect">
            <a:avLst/>
          </a:prstGeom>
          <a:noFill/>
          <a:ln/>
        </p:spPr>
        <p:txBody>
          <a:bodyPr wrap="square" rtlCol="0"/>
          <a:lstStyle>
            <a:lvl1pPr rtl="1" algn="r" indent="0" marL="0">
              <a:buNone/>
              <a:defRPr lang="ar-EG" altLang="en-US" sz="3000" b="1" dirty="0">
                <a:solidFill>
                  <a:srgbClr val="E8B84B"/>
                </a:solidFill>
                <a:latin typeface="EB Garamond"/>
                <a:cs typeface="Amiri"/>
              </a:defRPr>
            </a:lvl1pPr>
          </a:lstStyle>
          <a:p>
            <a:pPr algn="r" indent="0" marL="0">
              <a:buNone/>
            </a:pPr>
            <a:endParaRPr lang="ar-EG" sz="3000" dirty="0">
              <a:latin typeface="EB Garamond"/>
              <a:cs typeface="Amiri"/>
            </a:endParaRPr>
          </a:p>
        </p:txBody>
      </p:sp>
      <p:sp>
        <p:nvSpPr>
          <p:cNvPr id="4" name="Shape 1"/>
          <p:cNvSpPr/>
          <p:nvPr/>
        </p:nvSpPr>
        <p:spPr>
          <a:xfrm>
            <a:off x="548640" y="1225296"/>
            <a:ext cx="11094415" cy="0"/>
          </a:xfrm>
          <a:prstGeom prst="line">
            <a:avLst/>
          </a:prstGeom>
          <a:noFill/>
          <a:ln w="9525">
            <a:solidFill>
              <a:srgbClr val="C9962B"/>
            </a:solidFill>
            <a:prstDash val="solid"/>
          </a:ln>
        </p:spPr>
      </p:sp>
      <p:sp>
        <p:nvSpPr>
          <p:cNvPr id="5" name="Text 2"/>
          <p:cNvSpPr/>
          <p:nvPr/>
        </p:nvSpPr>
        <p:spPr>
          <a:xfrm>
            <a:off x="4754880" y="6437376"/>
            <a:ext cx="6903720" cy="274320"/>
          </a:xfrm>
          <a:prstGeom prst="rect">
            <a:avLst/>
          </a:prstGeom>
          <a:noFill/>
          <a:ln/>
        </p:spPr>
        <p:txBody>
          <a:bodyPr wrap="square" rtlCol="0" anchor="ctr"/>
          <a:lstStyle/>
          <a:p>
            <a:pPr algn="r" indent="0" marL="0">
              <a:buNone/>
            </a:pPr>
            <a:r>
              <a:rPr lang="ar-EG" altLang="en-US" sz="1000" dirty="0">
                <a:solidFill>
                  <a:srgbClr val="9C8B6E"/>
                </a:solidFill>
                <a:latin typeface="EB Garamond"/>
                <a:cs typeface="Noto Naskh Arabic"/>
              </a:rPr>
              <a:t>كسوف ٢ أغسطس ٢٠٢٧ | محاضرة تأهيلية للمرشدين السياحيين والأثريين</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1002</a:t>
            </a:fld>
            <a:endParaRPr lang="en-US">
              <a:latin typeface="EB Garamond"/>
              <a:cs typeface="Noto Naskh Arabic"/>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0E07"/>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C9962B"/>
          </a:solidFill>
          <a:ln/>
        </p:spPr>
      </p:sp>
      <p:sp>
        <p:nvSpPr>
          <p:cNvPr id="3" name="Text 1"/>
          <p:cNvSpPr/>
          <p:nvPr>
            <p:ph idx="101" type="title" hasCustomPrompt="1"/>
          </p:nvPr>
        </p:nvSpPr>
        <p:spPr>
          <a:xfrm>
            <a:off x="548640" y="548640"/>
            <a:ext cx="11094415" cy="640080"/>
          </a:xfrm>
          <a:prstGeom prst="rect">
            <a:avLst/>
          </a:prstGeom>
          <a:noFill/>
          <a:ln/>
        </p:spPr>
        <p:txBody>
          <a:bodyPr wrap="square" rtlCol="0"/>
          <a:lstStyle>
            <a:lvl1pPr rtl="1" algn="r" indent="0" marL="0">
              <a:buNone/>
              <a:defRPr lang="ar-EG" altLang="en-US" sz="3000" b="1" dirty="0">
                <a:solidFill>
                  <a:srgbClr val="E8B84B"/>
                </a:solidFill>
                <a:latin typeface="EB Garamond"/>
                <a:cs typeface="Amiri"/>
              </a:defRPr>
            </a:lvl1pPr>
          </a:lstStyle>
          <a:p>
            <a:pPr algn="r" indent="0" marL="0">
              <a:buNone/>
            </a:pPr>
            <a:endParaRPr lang="ar-EG" sz="3000" dirty="0">
              <a:latin typeface="EB Garamond"/>
              <a:cs typeface="Amiri"/>
            </a:endParaRPr>
          </a:p>
        </p:txBody>
      </p:sp>
      <p:sp>
        <p:nvSpPr>
          <p:cNvPr id="4" name="Shape 1"/>
          <p:cNvSpPr/>
          <p:nvPr/>
        </p:nvSpPr>
        <p:spPr>
          <a:xfrm>
            <a:off x="548640" y="1225296"/>
            <a:ext cx="11094415" cy="0"/>
          </a:xfrm>
          <a:prstGeom prst="line">
            <a:avLst/>
          </a:prstGeom>
          <a:noFill/>
          <a:ln w="9525">
            <a:solidFill>
              <a:srgbClr val="C9962B"/>
            </a:solidFill>
            <a:prstDash val="solid"/>
          </a:ln>
        </p:spPr>
      </p:sp>
      <p:sp>
        <p:nvSpPr>
          <p:cNvPr id="5" name="Text 2"/>
          <p:cNvSpPr/>
          <p:nvPr/>
        </p:nvSpPr>
        <p:spPr>
          <a:xfrm>
            <a:off x="4754880" y="6437376"/>
            <a:ext cx="6903720" cy="274320"/>
          </a:xfrm>
          <a:prstGeom prst="rect">
            <a:avLst/>
          </a:prstGeom>
          <a:noFill/>
          <a:ln/>
        </p:spPr>
        <p:txBody>
          <a:bodyPr wrap="square" rtlCol="0" anchor="ctr"/>
          <a:lstStyle/>
          <a:p>
            <a:pPr algn="r" indent="0" marL="0">
              <a:buNone/>
            </a:pPr>
            <a:r>
              <a:rPr lang="ar-EG" altLang="en-US" sz="1000" dirty="0">
                <a:solidFill>
                  <a:srgbClr val="9C8B6E"/>
                </a:solidFill>
                <a:latin typeface="EB Garamond"/>
                <a:cs typeface="Noto Naskh Arabic"/>
              </a:rPr>
              <a:t>كسوف ٢ أغسطس ٢٠٢٧ | محاضرة تأهيلية للمرشدين السياحيين والأثريين</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1003</a:t>
            </a:fld>
            <a:endParaRPr lang="en-US">
              <a:latin typeface="EB Garamond"/>
              <a:cs typeface="Noto Naskh Arabic"/>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30E07"/>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C9962B"/>
          </a:solidFill>
          <a:ln/>
        </p:spPr>
      </p:sp>
      <p:sp>
        <p:nvSpPr>
          <p:cNvPr id="3" name="Shape 1"/>
          <p:cNvSpPr/>
          <p:nvPr/>
        </p:nvSpPr>
        <p:spPr>
          <a:xfrm>
            <a:off x="228600" y="274320"/>
            <a:ext cx="11734495" cy="6355080"/>
          </a:xfrm>
          <a:prstGeom prst="rect">
            <a:avLst/>
          </a:prstGeom>
          <a:ln w="19050">
            <a:solidFill>
              <a:srgbClr val="C9962B"/>
            </a:solidFill>
            <a:prstDash val="solid"/>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130E0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null</a:t>
            </a:fld>
            <a:endParaRPr lang="en-US">
              <a:latin typeface="EB Garamond"/>
              <a:cs typeface="Noto Naskh Arabic"/>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EB Garamond"/>
          <a:cs typeface="Amiri"/>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EB Garamond"/>
          <a:cs typeface="Amiri"/>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EB Garamond"/>
          <a:cs typeface="Amiri"/>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EB Garamond"/>
          <a:cs typeface="Amiri"/>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EB Garamond"/>
          <a:cs typeface="Noto Naskh Arabic"/>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EB Garamond"/>
          <a:cs typeface="Noto Naskh Arabic"/>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EB Garamond"/>
          <a:cs typeface="Noto Naskh Arabic"/>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EB Garamond"/>
          <a:cs typeface="Noto Naskh Arabic"/>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EB Garamond"/>
          <a:cs typeface="Noto Naskh Arabic"/>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EB Garamond"/>
          <a:cs typeface="Noto Naskh Arabic"/>
        </a:defRPr>
      </a:lvl9pPr>
    </p:bodyStyle>
    <p:otherStyle>
      <a:defPPr>
        <a:defRPr lang="en-US">
          <a:latin typeface="EB Garamond"/>
          <a:cs typeface="Noto Naskh Arabic"/>
        </a:defRPr>
      </a:defPPr>
      <a:lvl1pPr marL="0" algn="l" defTabSz="914400" rtl="0" eaLnBrk="1" latinLnBrk="0" hangingPunct="1">
        <a:defRPr sz="1800" kern="1200">
          <a:solidFill>
            <a:schemeClr val="tx1"/>
          </a:solidFill>
          <a:latin typeface="EB Garamond"/>
          <a:cs typeface="Noto Naskh Arabic"/>
        </a:defRPr>
      </a:lvl1pPr>
      <a:lvl2pPr marL="457200" algn="l" defTabSz="914400" rtl="0" eaLnBrk="1" latinLnBrk="0" hangingPunct="1">
        <a:defRPr sz="1800" kern="1200">
          <a:solidFill>
            <a:schemeClr val="tx1"/>
          </a:solidFill>
          <a:latin typeface="EB Garamond"/>
          <a:cs typeface="Noto Naskh Arabic"/>
        </a:defRPr>
      </a:lvl2pPr>
      <a:lvl3pPr marL="914400" algn="l" defTabSz="914400" rtl="0" eaLnBrk="1" latinLnBrk="0" hangingPunct="1">
        <a:defRPr sz="1800" kern="1200">
          <a:solidFill>
            <a:schemeClr val="tx1"/>
          </a:solidFill>
          <a:latin typeface="EB Garamond"/>
          <a:cs typeface="Noto Naskh Arabic"/>
        </a:defRPr>
      </a:lvl3pPr>
      <a:lvl4pPr marL="1371600" algn="l" defTabSz="914400" rtl="0" eaLnBrk="1" latinLnBrk="0" hangingPunct="1">
        <a:defRPr sz="1800" kern="1200">
          <a:solidFill>
            <a:schemeClr val="tx1"/>
          </a:solidFill>
          <a:latin typeface="EB Garamond"/>
          <a:cs typeface="Noto Naskh Arabic"/>
        </a:defRPr>
      </a:lvl4pPr>
      <a:lvl5pPr marL="1828800" algn="l" defTabSz="914400" rtl="0" eaLnBrk="1" latinLnBrk="0" hangingPunct="1">
        <a:defRPr sz="1800" kern="1200">
          <a:solidFill>
            <a:schemeClr val="tx1"/>
          </a:solidFill>
          <a:latin typeface="EB Garamond"/>
          <a:cs typeface="Noto Naskh Arabic"/>
        </a:defRPr>
      </a:lvl5pPr>
      <a:lvl6pPr marL="2286000" algn="l" defTabSz="914400" rtl="0" eaLnBrk="1" latinLnBrk="0" hangingPunct="1">
        <a:defRPr sz="1800" kern="1200">
          <a:solidFill>
            <a:schemeClr val="tx1"/>
          </a:solidFill>
          <a:latin typeface="EB Garamond"/>
          <a:cs typeface="Noto Naskh Arabic"/>
        </a:defRPr>
      </a:lvl6pPr>
      <a:lvl7pPr marL="2743200" algn="l" defTabSz="914400" rtl="0" eaLnBrk="1" latinLnBrk="0" hangingPunct="1">
        <a:defRPr sz="1800" kern="1200">
          <a:solidFill>
            <a:schemeClr val="tx1"/>
          </a:solidFill>
          <a:latin typeface="EB Garamond"/>
          <a:cs typeface="Noto Naskh Arabic"/>
        </a:defRPr>
      </a:lvl7pPr>
      <a:lvl8pPr marL="3200400" algn="l" defTabSz="914400" rtl="0" eaLnBrk="1" latinLnBrk="0" hangingPunct="1">
        <a:defRPr sz="1800" kern="1200">
          <a:solidFill>
            <a:schemeClr val="tx1"/>
          </a:solidFill>
          <a:latin typeface="EB Garamond"/>
          <a:cs typeface="Noto Naskh Arabic"/>
        </a:defRPr>
      </a:lvl8pPr>
      <a:lvl9pPr marL="3657600" algn="l" defTabSz="914400" rtl="0" eaLnBrk="1" latinLnBrk="0" hangingPunct="1">
        <a:defRPr sz="1800" kern="1200">
          <a:solidFill>
            <a:schemeClr val="tx1"/>
          </a:solidFill>
          <a:latin typeface="EB Garamond"/>
          <a:cs typeface="Noto Naskh Arabic"/>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5.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43-1.jp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3.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corona" descr="الهالة الشمسية أثناء الكلية، صورة ناسا">    </p:cNvPr>
          <p:cNvPicPr>
            <a:picLocks noChangeAspect="1"/>
          </p:cNvPicPr>
          <p:nvPr/>
        </p:nvPicPr>
        <p:blipFill>
          <a:blip r:embed="rId1"/>
          <a:srcRect l="17054" r="17054" t="0" b="0"/>
          <a:stretch/>
        </p:blipFill>
        <p:spPr>
          <a:xfrm>
            <a:off x="182880" y="182880"/>
            <a:ext cx="5394960" cy="6492240"/>
          </a:xfrm>
          <a:prstGeom prst="rect">
            <a:avLst/>
          </a:prstGeom>
        </p:spPr>
      </p:pic>
      <p:sp>
        <p:nvSpPr>
          <p:cNvPr id="3" name="cover-frame"/>
          <p:cNvSpPr/>
          <p:nvPr/>
        </p:nvSpPr>
        <p:spPr>
          <a:xfrm>
            <a:off x="109728" y="109728"/>
            <a:ext cx="11972239" cy="6638544"/>
          </a:xfrm>
          <a:prstGeom prst="rect">
            <a:avLst/>
          </a:prstGeom>
          <a:ln w="31750">
            <a:solidFill>
              <a:srgbClr val="C9962B"/>
            </a:solidFill>
            <a:prstDash val="solid"/>
          </a:ln>
        </p:spPr>
      </p:sp>
      <p:sp>
        <p:nvSpPr>
          <p:cNvPr id="4" name="cover-divider"/>
          <p:cNvSpPr/>
          <p:nvPr/>
        </p:nvSpPr>
        <p:spPr>
          <a:xfrm>
            <a:off x="5669280" y="109728"/>
            <a:ext cx="0" cy="6638544"/>
          </a:xfrm>
          <a:prstGeom prst="line">
            <a:avLst/>
          </a:prstGeom>
          <a:noFill/>
          <a:ln w="19050">
            <a:solidFill>
              <a:srgbClr val="C9962B"/>
            </a:solidFill>
            <a:prstDash val="solid"/>
          </a:ln>
        </p:spPr>
      </p:sp>
      <p:sp>
        <p:nvSpPr>
          <p:cNvPr id="5" name="Text 2"/>
          <p:cNvSpPr txBox="1"/>
          <p:nvPr/>
        </p:nvSpPr>
        <p:spPr>
          <a:xfrm>
            <a:off x="6080760" y="502920"/>
            <a:ext cx="5608015" cy="274320"/>
          </a:xfrm>
          <a:prstGeom prst="rect">
            <a:avLst/>
          </a:prstGeom>
          <a:noFill/>
          <a:ln/>
        </p:spPr>
        <p:txBody>
          <a:bodyPr wrap="square" lIns="0" tIns="0" rIns="0" bIns="0" rtlCol="0" anchor="ctr"/>
          <a:lstStyle/>
          <a:p>
            <a:pPr algn="r" indent="0" marL="0">
              <a:buNone/>
            </a:pPr>
            <a:r>
              <a:rPr lang="en-US" altLang="en-US" sz="900" b="1" spc="300" kern="0" dirty="0">
                <a:solidFill>
                  <a:srgbClr val="E8B84B"/>
                </a:solidFill>
                <a:latin typeface="EB Garamond"/>
                <a:cs typeface="Noto Naskh Arabic"/>
              </a:rPr>
              <a:t>TRAINING LECTURE  ·  TOUR GUIDES &amp; ARCHAEOLOGISTS</a:t>
            </a:r>
            <a:endParaRPr lang="en-US" sz="900" dirty="0">
              <a:latin typeface="EB Garamond"/>
              <a:cs typeface="Noto Naskh Arabic"/>
            </a:endParaRPr>
          </a:p>
        </p:txBody>
      </p:sp>
      <p:sp>
        <p:nvSpPr>
          <p:cNvPr id="6" name="Text 3"/>
          <p:cNvSpPr txBox="1"/>
          <p:nvPr/>
        </p:nvSpPr>
        <p:spPr>
          <a:xfrm>
            <a:off x="6080760" y="868680"/>
            <a:ext cx="5608015" cy="411480"/>
          </a:xfrm>
          <a:prstGeom prst="rect">
            <a:avLst/>
          </a:prstGeom>
          <a:noFill/>
          <a:ln/>
        </p:spPr>
        <p:txBody>
          <a:bodyPr wrap="square" lIns="0" tIns="0" rIns="0" bIns="0" rtlCol="0" anchor="ctr"/>
          <a:lstStyle/>
          <a:p>
            <a:pPr rtl="1" algn="r" indent="0" marL="0">
              <a:buNone/>
            </a:pPr>
            <a:r>
              <a:rPr lang="ar-EG" altLang="en-US" sz="1700" dirty="0">
                <a:solidFill>
                  <a:srgbClr val="D8C79C"/>
                </a:solidFill>
                <a:latin typeface="EB Garamond"/>
                <a:cs typeface="Noto Naskh Arabic"/>
              </a:rPr>
              <a:t>محاضرة تأهيلية للمرشدين السياحيين والأثريين</a:t>
            </a:r>
            <a:endParaRPr lang="ar-EG" sz="1700" dirty="0">
              <a:latin typeface="EB Garamond"/>
              <a:cs typeface="Noto Naskh Arabic"/>
            </a:endParaRPr>
          </a:p>
        </p:txBody>
      </p:sp>
      <p:sp>
        <p:nvSpPr>
          <p:cNvPr id="7" name="Text 4"/>
          <p:cNvSpPr txBox="1"/>
          <p:nvPr/>
        </p:nvSpPr>
        <p:spPr>
          <a:xfrm>
            <a:off x="6080760" y="1325880"/>
            <a:ext cx="5608015" cy="1143000"/>
          </a:xfrm>
          <a:prstGeom prst="rect">
            <a:avLst/>
          </a:prstGeom>
          <a:noFill/>
          <a:ln/>
        </p:spPr>
        <p:txBody>
          <a:bodyPr wrap="square" lIns="0" tIns="0" rIns="0" bIns="0" rtlCol="0" anchor="ctr"/>
          <a:lstStyle/>
          <a:p>
            <a:pPr rtl="1" algn="r" indent="0" marL="0">
              <a:buNone/>
            </a:pPr>
            <a:r>
              <a:rPr lang="ar-EG" altLang="en-US" sz="5400" b="1" dirty="0">
                <a:solidFill>
                  <a:srgbClr val="E8B84B"/>
                </a:solidFill>
                <a:latin typeface="EB Garamond"/>
                <a:cs typeface="Amiri"/>
              </a:rPr>
              <a:t>الكسوف الكلي للشمس</a:t>
            </a:r>
            <a:endParaRPr lang="ar-EG" sz="5400" dirty="0">
              <a:latin typeface="EB Garamond"/>
              <a:cs typeface="Amiri"/>
            </a:endParaRPr>
          </a:p>
        </p:txBody>
      </p:sp>
      <p:sp>
        <p:nvSpPr>
          <p:cNvPr id="8" name="Text 5"/>
          <p:cNvSpPr txBox="1"/>
          <p:nvPr/>
        </p:nvSpPr>
        <p:spPr>
          <a:xfrm>
            <a:off x="6080760" y="2514600"/>
            <a:ext cx="5608015" cy="502920"/>
          </a:xfrm>
          <a:prstGeom prst="rect">
            <a:avLst/>
          </a:prstGeom>
          <a:noFill/>
          <a:ln/>
        </p:spPr>
        <p:txBody>
          <a:bodyPr wrap="square" lIns="0" tIns="0" rIns="0" bIns="0" rtlCol="0" anchor="ctr"/>
          <a:lstStyle/>
          <a:p>
            <a:pPr rtl="1" algn="r" indent="0" marL="0">
              <a:buNone/>
            </a:pPr>
            <a:r>
              <a:rPr lang="ar-EG" altLang="en-US" sz="2200" dirty="0">
                <a:solidFill>
                  <a:srgbClr val="F0E0B0"/>
                </a:solidFill>
                <a:latin typeface="EB Garamond"/>
                <a:cs typeface="Noto Naskh Arabic"/>
              </a:rPr>
              <a:t>٢ أغسطس ٢٠٢٧ — كسوف القرن فوق صعيد مصر</a:t>
            </a:r>
            <a:endParaRPr lang="ar-EG" sz="2200" dirty="0">
              <a:latin typeface="EB Garamond"/>
              <a:cs typeface="Noto Naskh Arabic"/>
            </a:endParaRPr>
          </a:p>
        </p:txBody>
      </p:sp>
      <p:sp>
        <p:nvSpPr>
          <p:cNvPr id="9" name="Text 6"/>
          <p:cNvSpPr txBox="1"/>
          <p:nvPr/>
        </p:nvSpPr>
        <p:spPr>
          <a:xfrm>
            <a:off x="6080760" y="3017520"/>
            <a:ext cx="5608015" cy="411480"/>
          </a:xfrm>
          <a:prstGeom prst="rect">
            <a:avLst/>
          </a:prstGeom>
          <a:noFill/>
          <a:ln/>
        </p:spPr>
        <p:txBody>
          <a:bodyPr wrap="square" lIns="0" tIns="0" rIns="0" bIns="0" rtlCol="0" anchor="ctr"/>
          <a:lstStyle/>
          <a:p>
            <a:pPr algn="r" indent="0" marL="0">
              <a:buNone/>
            </a:pPr>
            <a:r>
              <a:rPr lang="en-US" altLang="en-US" sz="1800" i="1" dirty="0">
                <a:solidFill>
                  <a:srgbClr val="C9962B"/>
                </a:solidFill>
                <a:latin typeface="EB Garamond"/>
                <a:cs typeface="Noto Naskh Arabic"/>
              </a:rPr>
              <a:t>The Total Solar Eclipse of 2 August 2027</a:t>
            </a:r>
            <a:endParaRPr lang="en-US" sz="1800" dirty="0">
              <a:latin typeface="EB Garamond"/>
              <a:cs typeface="Noto Naskh Arabic"/>
            </a:endParaRPr>
          </a:p>
        </p:txBody>
      </p:sp>
      <p:sp>
        <p:nvSpPr>
          <p:cNvPr id="10" name="ornament-sun-0"/>
          <p:cNvSpPr/>
          <p:nvPr/>
        </p:nvSpPr>
        <p:spPr>
          <a:xfrm>
            <a:off x="11377879" y="3639312"/>
            <a:ext cx="310896" cy="310896"/>
          </a:xfrm>
          <a:prstGeom prst="ellipse">
            <a:avLst/>
          </a:prstGeom>
          <a:solidFill>
            <a:srgbClr val="E8B84B"/>
          </a:solidFill>
          <a:ln w="12700">
            <a:solidFill>
              <a:srgbClr val="E8B84B"/>
            </a:solidFill>
            <a:prstDash val="solid"/>
          </a:ln>
        </p:spPr>
      </p:sp>
      <p:sp>
        <p:nvSpPr>
          <p:cNvPr id="11" name="ornament-moon-0"/>
          <p:cNvSpPr/>
          <p:nvPr/>
        </p:nvSpPr>
        <p:spPr>
          <a:xfrm>
            <a:off x="11135380" y="3711595"/>
            <a:ext cx="329550" cy="329550"/>
          </a:xfrm>
          <a:prstGeom prst="ellipse">
            <a:avLst/>
          </a:prstGeom>
          <a:solidFill>
            <a:srgbClr val="130E07"/>
          </a:solidFill>
          <a:ln w="12700">
            <a:solidFill>
              <a:srgbClr val="130E07"/>
            </a:solidFill>
            <a:prstDash val="solid"/>
          </a:ln>
        </p:spPr>
      </p:sp>
      <p:sp>
        <p:nvSpPr>
          <p:cNvPr id="12" name="ornament-sun-1"/>
          <p:cNvSpPr/>
          <p:nvPr/>
        </p:nvSpPr>
        <p:spPr>
          <a:xfrm>
            <a:off x="10810951" y="3639312"/>
            <a:ext cx="310896" cy="310896"/>
          </a:xfrm>
          <a:prstGeom prst="ellipse">
            <a:avLst/>
          </a:prstGeom>
          <a:solidFill>
            <a:srgbClr val="E8B84B"/>
          </a:solidFill>
          <a:ln w="12700">
            <a:solidFill>
              <a:srgbClr val="E8B84B"/>
            </a:solidFill>
            <a:prstDash val="solid"/>
          </a:ln>
        </p:spPr>
      </p:sp>
      <p:sp>
        <p:nvSpPr>
          <p:cNvPr id="13" name="ornament-moon-1"/>
          <p:cNvSpPr/>
          <p:nvPr/>
        </p:nvSpPr>
        <p:spPr>
          <a:xfrm>
            <a:off x="10653949" y="3681672"/>
            <a:ext cx="329550" cy="329550"/>
          </a:xfrm>
          <a:prstGeom prst="ellipse">
            <a:avLst/>
          </a:prstGeom>
          <a:solidFill>
            <a:srgbClr val="130E07"/>
          </a:solidFill>
          <a:ln w="12700">
            <a:solidFill>
              <a:srgbClr val="130E07"/>
            </a:solidFill>
            <a:prstDash val="solid"/>
          </a:ln>
        </p:spPr>
      </p:sp>
      <p:sp>
        <p:nvSpPr>
          <p:cNvPr id="14" name="ornament-sun-2"/>
          <p:cNvSpPr/>
          <p:nvPr/>
        </p:nvSpPr>
        <p:spPr>
          <a:xfrm>
            <a:off x="10244023" y="3639312"/>
            <a:ext cx="310896" cy="310896"/>
          </a:xfrm>
          <a:prstGeom prst="ellipse">
            <a:avLst/>
          </a:prstGeom>
          <a:solidFill>
            <a:srgbClr val="E8B84B"/>
          </a:solidFill>
          <a:ln w="12700">
            <a:solidFill>
              <a:srgbClr val="E8B84B"/>
            </a:solidFill>
            <a:prstDash val="solid"/>
          </a:ln>
        </p:spPr>
      </p:sp>
      <p:sp>
        <p:nvSpPr>
          <p:cNvPr id="15" name="ornament-moon-2"/>
          <p:cNvSpPr/>
          <p:nvPr/>
        </p:nvSpPr>
        <p:spPr>
          <a:xfrm>
            <a:off x="10164745" y="3654468"/>
            <a:ext cx="329550" cy="329550"/>
          </a:xfrm>
          <a:prstGeom prst="ellipse">
            <a:avLst/>
          </a:prstGeom>
          <a:solidFill>
            <a:srgbClr val="130E07"/>
          </a:solidFill>
          <a:ln w="12700">
            <a:solidFill>
              <a:srgbClr val="130E07"/>
            </a:solidFill>
            <a:prstDash val="solid"/>
          </a:ln>
        </p:spPr>
      </p:sp>
      <p:sp>
        <p:nvSpPr>
          <p:cNvPr id="16" name="ornament-corona"/>
          <p:cNvSpPr/>
          <p:nvPr/>
        </p:nvSpPr>
        <p:spPr>
          <a:xfrm>
            <a:off x="9583826" y="3546043"/>
            <a:ext cx="497434" cy="497434"/>
          </a:xfrm>
          <a:prstGeom prst="ellipse">
            <a:avLst/>
          </a:prstGeom>
          <a:solidFill>
            <a:srgbClr val="FAF3E0">
              <a:alpha val="25000"/>
            </a:srgbClr>
          </a:solidFill>
          <a:ln w="12700">
            <a:solidFill>
              <a:srgbClr val="FAF3E0"/>
            </a:solidFill>
            <a:prstDash val="solid"/>
          </a:ln>
        </p:spPr>
      </p:sp>
      <p:sp>
        <p:nvSpPr>
          <p:cNvPr id="17" name="ornament-sun-3"/>
          <p:cNvSpPr/>
          <p:nvPr/>
        </p:nvSpPr>
        <p:spPr>
          <a:xfrm>
            <a:off x="9677095" y="3639312"/>
            <a:ext cx="310896" cy="310896"/>
          </a:xfrm>
          <a:prstGeom prst="ellipse">
            <a:avLst/>
          </a:prstGeom>
          <a:solidFill>
            <a:srgbClr val="E8B84B"/>
          </a:solidFill>
          <a:ln w="12700">
            <a:solidFill>
              <a:srgbClr val="E8B84B"/>
            </a:solidFill>
            <a:prstDash val="solid"/>
          </a:ln>
        </p:spPr>
      </p:sp>
      <p:sp>
        <p:nvSpPr>
          <p:cNvPr id="18" name="ornament-moon-3"/>
          <p:cNvSpPr/>
          <p:nvPr/>
        </p:nvSpPr>
        <p:spPr>
          <a:xfrm>
            <a:off x="9667768" y="3629985"/>
            <a:ext cx="329550" cy="329550"/>
          </a:xfrm>
          <a:prstGeom prst="ellipse">
            <a:avLst/>
          </a:prstGeom>
          <a:solidFill>
            <a:srgbClr val="130E07"/>
          </a:solidFill>
          <a:ln w="9525">
            <a:solidFill>
              <a:srgbClr val="FAF3E0"/>
            </a:solidFill>
            <a:prstDash val="solid"/>
          </a:ln>
        </p:spPr>
      </p:sp>
      <p:sp>
        <p:nvSpPr>
          <p:cNvPr id="19" name="ornament-sun-4"/>
          <p:cNvSpPr/>
          <p:nvPr/>
        </p:nvSpPr>
        <p:spPr>
          <a:xfrm>
            <a:off x="9110167" y="3639312"/>
            <a:ext cx="310896" cy="310896"/>
          </a:xfrm>
          <a:prstGeom prst="ellipse">
            <a:avLst/>
          </a:prstGeom>
          <a:solidFill>
            <a:srgbClr val="E8B84B"/>
          </a:solidFill>
          <a:ln w="12700">
            <a:solidFill>
              <a:srgbClr val="E8B84B"/>
            </a:solidFill>
            <a:prstDash val="solid"/>
          </a:ln>
        </p:spPr>
      </p:sp>
      <p:sp>
        <p:nvSpPr>
          <p:cNvPr id="20" name="ornament-moon-4"/>
          <p:cNvSpPr/>
          <p:nvPr/>
        </p:nvSpPr>
        <p:spPr>
          <a:xfrm>
            <a:off x="9170792" y="3605502"/>
            <a:ext cx="329550" cy="329550"/>
          </a:xfrm>
          <a:prstGeom prst="ellipse">
            <a:avLst/>
          </a:prstGeom>
          <a:solidFill>
            <a:srgbClr val="130E07"/>
          </a:solidFill>
          <a:ln w="12700">
            <a:solidFill>
              <a:srgbClr val="130E07"/>
            </a:solidFill>
            <a:prstDash val="solid"/>
          </a:ln>
        </p:spPr>
      </p:sp>
      <p:sp>
        <p:nvSpPr>
          <p:cNvPr id="21" name="ornament-sun-5"/>
          <p:cNvSpPr/>
          <p:nvPr/>
        </p:nvSpPr>
        <p:spPr>
          <a:xfrm>
            <a:off x="8543239" y="3639312"/>
            <a:ext cx="310896" cy="310896"/>
          </a:xfrm>
          <a:prstGeom prst="ellipse">
            <a:avLst/>
          </a:prstGeom>
          <a:solidFill>
            <a:srgbClr val="E8B84B"/>
          </a:solidFill>
          <a:ln w="12700">
            <a:solidFill>
              <a:srgbClr val="E8B84B"/>
            </a:solidFill>
            <a:prstDash val="solid"/>
          </a:ln>
        </p:spPr>
      </p:sp>
      <p:sp>
        <p:nvSpPr>
          <p:cNvPr id="22" name="ornament-moon-5"/>
          <p:cNvSpPr/>
          <p:nvPr/>
        </p:nvSpPr>
        <p:spPr>
          <a:xfrm>
            <a:off x="8681588" y="3578299"/>
            <a:ext cx="329550" cy="329550"/>
          </a:xfrm>
          <a:prstGeom prst="ellipse">
            <a:avLst/>
          </a:prstGeom>
          <a:solidFill>
            <a:srgbClr val="130E07"/>
          </a:solidFill>
          <a:ln w="12700">
            <a:solidFill>
              <a:srgbClr val="130E07"/>
            </a:solidFill>
            <a:prstDash val="solid"/>
          </a:ln>
        </p:spPr>
      </p:sp>
      <p:sp>
        <p:nvSpPr>
          <p:cNvPr id="23" name="ornament-sun-6"/>
          <p:cNvSpPr/>
          <p:nvPr/>
        </p:nvSpPr>
        <p:spPr>
          <a:xfrm>
            <a:off x="7976311" y="3639312"/>
            <a:ext cx="310896" cy="310896"/>
          </a:xfrm>
          <a:prstGeom prst="ellipse">
            <a:avLst/>
          </a:prstGeom>
          <a:solidFill>
            <a:srgbClr val="E8B84B"/>
          </a:solidFill>
          <a:ln w="12700">
            <a:solidFill>
              <a:srgbClr val="E8B84B"/>
            </a:solidFill>
            <a:prstDash val="solid"/>
          </a:ln>
        </p:spPr>
      </p:sp>
      <p:sp>
        <p:nvSpPr>
          <p:cNvPr id="24" name="ornament-moon-6"/>
          <p:cNvSpPr/>
          <p:nvPr/>
        </p:nvSpPr>
        <p:spPr>
          <a:xfrm>
            <a:off x="8200156" y="3548375"/>
            <a:ext cx="329550" cy="329550"/>
          </a:xfrm>
          <a:prstGeom prst="ellipse">
            <a:avLst/>
          </a:prstGeom>
          <a:solidFill>
            <a:srgbClr val="130E07"/>
          </a:solidFill>
          <a:ln w="12700">
            <a:solidFill>
              <a:srgbClr val="130E07"/>
            </a:solidFill>
            <a:prstDash val="solid"/>
          </a:ln>
        </p:spPr>
      </p:sp>
      <p:sp>
        <p:nvSpPr>
          <p:cNvPr id="25" name="Text 22"/>
          <p:cNvSpPr txBox="1"/>
          <p:nvPr/>
        </p:nvSpPr>
        <p:spPr>
          <a:xfrm>
            <a:off x="6080760" y="4343400"/>
            <a:ext cx="5608015" cy="1188720"/>
          </a:xfrm>
          <a:prstGeom prst="rect">
            <a:avLst/>
          </a:prstGeom>
          <a:noFill/>
          <a:ln/>
        </p:spPr>
        <p:txBody>
          <a:bodyPr wrap="square" lIns="0" tIns="0" rIns="0" bIns="0" rtlCol="0" anchor="t"/>
          <a:lstStyle/>
          <a:p>
            <a:pPr rtl="1" algn="r" indent="0" marL="0">
              <a:spcAft>
                <a:spcPts val="500"/>
              </a:spcAft>
              <a:buNone/>
            </a:pPr>
            <a:r>
              <a:rPr lang="ar-EG" altLang="en-US" sz="1500" dirty="0">
                <a:solidFill>
                  <a:srgbClr val="F0E0B0"/>
                </a:solidFill>
                <a:latin typeface="EB Garamond"/>
                <a:cs typeface="Noto Naskh Arabic"/>
              </a:rPr>
              <a:t>المرحلة الأولى: تعريف الكسوف والخسوف وهندستهما</a:t>
            </a:r>
            <a:endParaRPr lang="en-US" sz="1500" dirty="0">
              <a:latin typeface="EB Garamond"/>
              <a:cs typeface="Noto Naskh Arabic"/>
            </a:endParaRPr>
          </a:p>
          <a:p>
            <a:pPr rtl="1" algn="r" indent="0" marL="0">
              <a:spcAft>
                <a:spcPts val="500"/>
              </a:spcAft>
              <a:buNone/>
            </a:pPr>
            <a:r>
              <a:rPr lang="ar-EG" altLang="en-US" sz="1500" dirty="0">
                <a:solidFill>
                  <a:srgbClr val="F0E0B0"/>
                </a:solidFill>
                <a:latin typeface="EB Garamond"/>
                <a:cs typeface="Noto Naskh Arabic"/>
              </a:rPr>
              <a:t>المرحلة الثانية: الكسوف في تاريخ مصر والحضارة الإسلامية</a:t>
            </a:r>
            <a:endParaRPr lang="en-US" sz="1500" dirty="0">
              <a:latin typeface="EB Garamond"/>
              <a:cs typeface="Noto Naskh Arabic"/>
            </a:endParaRPr>
          </a:p>
          <a:p>
            <a:pPr rtl="1" algn="r" indent="0" marL="0">
              <a:spcAft>
                <a:spcPts val="500"/>
              </a:spcAft>
              <a:buNone/>
            </a:pPr>
            <a:r>
              <a:rPr lang="ar-EG" altLang="en-US" sz="1500" dirty="0">
                <a:solidFill>
                  <a:srgbClr val="F0E0B0"/>
                </a:solidFill>
                <a:latin typeface="EB Garamond"/>
                <a:cs typeface="Noto Naskh Arabic"/>
              </a:rPr>
              <a:t>المرحلة الثالثة: كسوف ٢٠٢٧ — المواعيد والرصد والتصوير</a:t>
            </a:r>
            <a:endParaRPr lang="en-US" sz="1500" dirty="0">
              <a:latin typeface="EB Garamond"/>
              <a:cs typeface="Noto Naskh Arabic"/>
            </a:endParaRPr>
          </a:p>
        </p:txBody>
      </p:sp>
      <p:sp>
        <p:nvSpPr>
          <p:cNvPr id="26" name="Text 23"/>
          <p:cNvSpPr txBox="1"/>
          <p:nvPr/>
        </p:nvSpPr>
        <p:spPr>
          <a:xfrm>
            <a:off x="6080760" y="5989320"/>
            <a:ext cx="5608015" cy="320040"/>
          </a:xfrm>
          <a:prstGeom prst="rect">
            <a:avLst/>
          </a:prstGeom>
          <a:noFill/>
          <a:ln/>
        </p:spPr>
        <p:txBody>
          <a:bodyPr wrap="square" lIns="0" tIns="0" rIns="0" bIns="0" rtlCol="0" anchor="ctr"/>
          <a:lstStyle/>
          <a:p>
            <a:pPr rtl="1" algn="r" indent="0" marL="0">
              <a:buNone/>
            </a:pPr>
            <a:r>
              <a:rPr lang="ar-EG" altLang="en-US" sz="1100" dirty="0">
                <a:solidFill>
                  <a:srgbClr val="9C8B6E"/>
                </a:solidFill>
                <a:latin typeface="EB Garamond"/>
                <a:cs typeface="Noto Naskh Arabic"/>
              </a:rPr>
              <a:t>المادة العلمية: كتاب «الكسوف الكلي للشمس — ٢ أغسطس ٢٠٢٧»  |  ثلاث ساعات في ثلاث مراحل</a:t>
            </a:r>
            <a:endParaRPr lang="ar-EG" sz="1100" dirty="0">
              <a:latin typeface="EB Garamond"/>
              <a:cs typeface="Noto Naskh Arabic"/>
            </a:endParaRPr>
          </a:p>
        </p:txBody>
      </p:sp>
      <p:sp>
        <p:nvSpPr>
          <p:cNvPr id="27" name="Text 24"/>
          <p:cNvSpPr txBox="1"/>
          <p:nvPr/>
        </p:nvSpPr>
        <p:spPr>
          <a:xfrm>
            <a:off x="320040" y="6355080"/>
            <a:ext cx="3657600" cy="228600"/>
          </a:xfrm>
          <a:prstGeom prst="rect">
            <a:avLst/>
          </a:prstGeom>
          <a:noFill/>
          <a:ln/>
        </p:spPr>
        <p:txBody>
          <a:bodyPr wrap="square" lIns="0" tIns="0" rIns="0" bIns="0" rtlCol="0" anchor="ctr"/>
          <a:lstStyle/>
          <a:p>
            <a:pPr algn="l" indent="0" marL="0">
              <a:buNone/>
            </a:pPr>
            <a:r>
              <a:rPr lang="en-US" sz="900" dirty="0">
                <a:solidFill>
                  <a:srgbClr val="F0E0B0"/>
                </a:solidFill>
                <a:latin typeface="EB Garamond"/>
                <a:cs typeface="Noto Naskh Arabic"/>
              </a:rPr>
              <a:t>صورة: ناسا (NASA/Aubrey Gemignani)</a:t>
            </a:r>
            <a:endParaRPr lang="en-US" sz="900" dirty="0">
              <a:latin typeface="EB Garamond"/>
              <a:cs typeface="Noto Naskh Arab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box"/>
          <p:cNvSpPr/>
          <p:nvPr/>
        </p:nvSpPr>
        <p:spPr>
          <a:xfrm>
            <a:off x="7440473" y="182880"/>
            <a:ext cx="4202582" cy="274320"/>
          </a:xfrm>
          <a:prstGeom prst="rect">
            <a:avLst/>
          </a:prstGeom>
          <a:solidFill>
            <a:srgbClr val="1B3A6B"/>
          </a:solidFill>
          <a:ln w="12700">
            <a:solidFill>
              <a:srgbClr val="E8B84B"/>
            </a:solidFill>
            <a:prstDash val="solid"/>
          </a:ln>
        </p:spPr>
      </p:sp>
      <p:sp>
        <p:nvSpPr>
          <p:cNvPr id="3" name="kicker"/>
          <p:cNvSpPr txBox="1"/>
          <p:nvPr/>
        </p:nvSpPr>
        <p:spPr>
          <a:xfrm>
            <a:off x="7440473" y="182880"/>
            <a:ext cx="4202582"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WHY THIS EVENT MATTERS TO TOUR GUIDES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لماذا يهمّ هذا الحدث المرشد السياحي؟</a:t>
            </a:r>
            <a:endParaRPr lang="ar-EG" sz="3000" dirty="0">
              <a:latin typeface="EB Garamond"/>
              <a:cs typeface="Amiri"/>
            </a:endParaRPr>
          </a:p>
        </p:txBody>
      </p:sp>
      <p:sp>
        <p:nvSpPr>
          <p:cNvPr id="5" name="why-card-1"/>
          <p:cNvSpPr/>
          <p:nvPr/>
        </p:nvSpPr>
        <p:spPr>
          <a:xfrm>
            <a:off x="8076895" y="1417320"/>
            <a:ext cx="3566160" cy="3291840"/>
          </a:xfrm>
          <a:prstGeom prst="rect">
            <a:avLst/>
          </a:prstGeom>
          <a:solidFill>
            <a:srgbClr val="161F2F"/>
          </a:solidFill>
          <a:ln w="9525">
            <a:solidFill>
              <a:srgbClr val="C9962B"/>
            </a:solidFill>
            <a:prstDash val="solid"/>
          </a:ln>
        </p:spPr>
      </p:sp>
      <p:sp>
        <p:nvSpPr>
          <p:cNvPr id="6" name="why-card-1-accent"/>
          <p:cNvSpPr/>
          <p:nvPr/>
        </p:nvSpPr>
        <p:spPr>
          <a:xfrm>
            <a:off x="11579047" y="1417320"/>
            <a:ext cx="64008" cy="3291840"/>
          </a:xfrm>
          <a:prstGeom prst="rect">
            <a:avLst/>
          </a:prstGeom>
          <a:solidFill>
            <a:srgbClr val="C9962B"/>
          </a:solidFill>
          <a:ln w="12700">
            <a:solidFill>
              <a:srgbClr val="C9962B"/>
            </a:solidFill>
            <a:prstDash val="solid"/>
          </a:ln>
        </p:spPr>
      </p:sp>
      <p:sp>
        <p:nvSpPr>
          <p:cNvPr id="7" name="why-disc-1"/>
          <p:cNvSpPr/>
          <p:nvPr/>
        </p:nvSpPr>
        <p:spPr>
          <a:xfrm>
            <a:off x="10728655" y="1645920"/>
            <a:ext cx="594360" cy="59436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8" name="Text 6"/>
          <p:cNvSpPr txBox="1"/>
          <p:nvPr/>
        </p:nvSpPr>
        <p:spPr>
          <a:xfrm>
            <a:off x="8305495" y="2331720"/>
            <a:ext cx="3108960" cy="777240"/>
          </a:xfrm>
          <a:prstGeom prst="rect">
            <a:avLst/>
          </a:prstGeom>
          <a:noFill/>
          <a:ln/>
        </p:spPr>
        <p:txBody>
          <a:bodyPr wrap="square" lIns="0" tIns="0" rIns="0" bIns="0" rtlCol="0" anchor="ctr"/>
          <a:lstStyle/>
          <a:p>
            <a:pPr rtl="1" algn="r" indent="0" marL="0">
              <a:buNone/>
            </a:pPr>
            <a:r>
              <a:rPr lang="ar-EG" altLang="en-US" sz="3600" b="1" dirty="0">
                <a:solidFill>
                  <a:srgbClr val="C9962B"/>
                </a:solidFill>
                <a:latin typeface="EB Garamond"/>
                <a:cs typeface="Amiri"/>
              </a:rPr>
              <a:t>٦ د ٢٠ ث</a:t>
            </a:r>
            <a:endParaRPr lang="ar-EG" sz="3600" dirty="0">
              <a:latin typeface="EB Garamond"/>
              <a:cs typeface="Amiri"/>
            </a:endParaRPr>
          </a:p>
        </p:txBody>
      </p:sp>
      <p:sp>
        <p:nvSpPr>
          <p:cNvPr id="9" name="Text 7"/>
          <p:cNvSpPr txBox="1"/>
          <p:nvPr/>
        </p:nvSpPr>
        <p:spPr>
          <a:xfrm>
            <a:off x="8305495" y="3108960"/>
            <a:ext cx="3108960" cy="45720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مدة الكلية في الأقصر</a:t>
            </a:r>
            <a:endParaRPr lang="ar-EG" sz="1700" dirty="0">
              <a:latin typeface="EB Garamond"/>
              <a:cs typeface="Noto Naskh Arabic"/>
            </a:endParaRPr>
          </a:p>
        </p:txBody>
      </p:sp>
      <p:sp>
        <p:nvSpPr>
          <p:cNvPr id="10" name="Text 8"/>
          <p:cNvSpPr txBox="1"/>
          <p:nvPr/>
        </p:nvSpPr>
        <p:spPr>
          <a:xfrm>
            <a:off x="8305495" y="3566160"/>
            <a:ext cx="3108960" cy="1051560"/>
          </a:xfrm>
          <a:prstGeom prst="rect">
            <a:avLst/>
          </a:prstGeom>
          <a:noFill/>
          <a:ln/>
        </p:spPr>
        <p:txBody>
          <a:bodyPr wrap="square" lIns="0" tIns="0" rIns="0" bIns="0" rtlCol="0" anchor="t"/>
          <a:lstStyle/>
          <a:p>
            <a:pPr rtl="1" algn="r" indent="0" marL="0">
              <a:buNone/>
            </a:pPr>
            <a:r>
              <a:rPr lang="ar-EG" altLang="en-US" sz="1400" dirty="0">
                <a:solidFill>
                  <a:srgbClr val="D8C79C"/>
                </a:solidFill>
                <a:latin typeface="EB Garamond"/>
                <a:cs typeface="Noto Naskh Arabic"/>
              </a:rPr>
              <a:t>الكرنك ووادي الملوك والدير البحري داخل الظل الكامل، والشمس شبه عمودية فوق الرأس</a:t>
            </a:r>
            <a:endParaRPr lang="ar-EG" sz="1400" dirty="0">
              <a:latin typeface="EB Garamond"/>
              <a:cs typeface="Noto Naskh Arabic"/>
            </a:endParaRPr>
          </a:p>
        </p:txBody>
      </p:sp>
      <p:sp>
        <p:nvSpPr>
          <p:cNvPr id="11" name="why-card-2"/>
          <p:cNvSpPr/>
          <p:nvPr/>
        </p:nvSpPr>
        <p:spPr>
          <a:xfrm>
            <a:off x="4282135" y="1417320"/>
            <a:ext cx="3566160" cy="3291840"/>
          </a:xfrm>
          <a:prstGeom prst="rect">
            <a:avLst/>
          </a:prstGeom>
          <a:solidFill>
            <a:srgbClr val="161F2F"/>
          </a:solidFill>
          <a:ln w="9525">
            <a:solidFill>
              <a:srgbClr val="C9962B"/>
            </a:solidFill>
            <a:prstDash val="solid"/>
          </a:ln>
        </p:spPr>
      </p:sp>
      <p:sp>
        <p:nvSpPr>
          <p:cNvPr id="12" name="why-card-2-accent"/>
          <p:cNvSpPr/>
          <p:nvPr/>
        </p:nvSpPr>
        <p:spPr>
          <a:xfrm>
            <a:off x="7784287" y="1417320"/>
            <a:ext cx="64008" cy="3291840"/>
          </a:xfrm>
          <a:prstGeom prst="rect">
            <a:avLst/>
          </a:prstGeom>
          <a:solidFill>
            <a:srgbClr val="C9962B"/>
          </a:solidFill>
          <a:ln w="12700">
            <a:solidFill>
              <a:srgbClr val="C9962B"/>
            </a:solidFill>
            <a:prstDash val="solid"/>
          </a:ln>
        </p:spPr>
      </p:sp>
      <p:sp>
        <p:nvSpPr>
          <p:cNvPr id="13" name="why-disc-2"/>
          <p:cNvSpPr/>
          <p:nvPr/>
        </p:nvSpPr>
        <p:spPr>
          <a:xfrm>
            <a:off x="6933895" y="1645920"/>
            <a:ext cx="594360" cy="59436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14" name="Text 12"/>
          <p:cNvSpPr txBox="1"/>
          <p:nvPr/>
        </p:nvSpPr>
        <p:spPr>
          <a:xfrm>
            <a:off x="4510735" y="2331720"/>
            <a:ext cx="3108960" cy="777240"/>
          </a:xfrm>
          <a:prstGeom prst="rect">
            <a:avLst/>
          </a:prstGeom>
          <a:noFill/>
          <a:ln/>
        </p:spPr>
        <p:txBody>
          <a:bodyPr wrap="square" lIns="0" tIns="0" rIns="0" bIns="0" rtlCol="0" anchor="ctr"/>
          <a:lstStyle/>
          <a:p>
            <a:pPr rtl="1" algn="r" indent="0" marL="0">
              <a:buNone/>
            </a:pPr>
            <a:r>
              <a:rPr lang="ar-EG" altLang="en-US" sz="3600" b="1" dirty="0">
                <a:solidFill>
                  <a:srgbClr val="C9962B"/>
                </a:solidFill>
                <a:latin typeface="EB Garamond"/>
                <a:cs typeface="Amiri"/>
              </a:rPr>
              <a:t>٦٥٠ سنة</a:t>
            </a:r>
            <a:endParaRPr lang="ar-EG" sz="3600" dirty="0">
              <a:latin typeface="EB Garamond"/>
              <a:cs typeface="Amiri"/>
            </a:endParaRPr>
          </a:p>
        </p:txBody>
      </p:sp>
      <p:sp>
        <p:nvSpPr>
          <p:cNvPr id="15" name="Text 13"/>
          <p:cNvSpPr txBox="1"/>
          <p:nvPr/>
        </p:nvSpPr>
        <p:spPr>
          <a:xfrm>
            <a:off x="4510735" y="3108960"/>
            <a:ext cx="3108960" cy="45720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منذ آخر كسوف كلي فوق الأقصر</a:t>
            </a:r>
            <a:endParaRPr lang="ar-EG" sz="1700" dirty="0">
              <a:latin typeface="EB Garamond"/>
              <a:cs typeface="Noto Naskh Arabic"/>
            </a:endParaRPr>
          </a:p>
        </p:txBody>
      </p:sp>
      <p:sp>
        <p:nvSpPr>
          <p:cNvPr id="16" name="Text 14"/>
          <p:cNvSpPr txBox="1"/>
          <p:nvPr/>
        </p:nvSpPr>
        <p:spPr>
          <a:xfrm>
            <a:off x="4510735" y="3566160"/>
            <a:ext cx="3108960" cy="1051560"/>
          </a:xfrm>
          <a:prstGeom prst="rect">
            <a:avLst/>
          </a:prstGeom>
          <a:noFill/>
          <a:ln/>
        </p:spPr>
        <p:txBody>
          <a:bodyPr wrap="square" lIns="0" tIns="0" rIns="0" bIns="0" rtlCol="0" anchor="t"/>
          <a:lstStyle/>
          <a:p>
            <a:pPr rtl="1" algn="r" indent="0" marL="0">
              <a:buNone/>
            </a:pPr>
            <a:r>
              <a:rPr lang="ar-EG" altLang="en-US" sz="1400" dirty="0">
                <a:solidFill>
                  <a:srgbClr val="D8C79C"/>
                </a:solidFill>
                <a:latin typeface="EB Garamond"/>
                <a:cs typeface="Noto Naskh Arabic"/>
              </a:rPr>
              <a:t>آخر كلية مرت بطيبة كانت في ١٠ يناير ١٣٧٧م تقريبًا، والقاهرة منذ ١٢٤١م</a:t>
            </a:r>
            <a:endParaRPr lang="ar-EG" sz="1400" dirty="0">
              <a:latin typeface="EB Garamond"/>
              <a:cs typeface="Noto Naskh Arabic"/>
            </a:endParaRPr>
          </a:p>
        </p:txBody>
      </p:sp>
      <p:sp>
        <p:nvSpPr>
          <p:cNvPr id="17" name="why-card-3"/>
          <p:cNvSpPr/>
          <p:nvPr/>
        </p:nvSpPr>
        <p:spPr>
          <a:xfrm>
            <a:off x="487375" y="1417320"/>
            <a:ext cx="3566160" cy="3291840"/>
          </a:xfrm>
          <a:prstGeom prst="rect">
            <a:avLst/>
          </a:prstGeom>
          <a:solidFill>
            <a:srgbClr val="161F2F"/>
          </a:solidFill>
          <a:ln w="9525">
            <a:solidFill>
              <a:srgbClr val="C9962B"/>
            </a:solidFill>
            <a:prstDash val="solid"/>
          </a:ln>
        </p:spPr>
      </p:sp>
      <p:sp>
        <p:nvSpPr>
          <p:cNvPr id="18" name="why-card-3-accent"/>
          <p:cNvSpPr/>
          <p:nvPr/>
        </p:nvSpPr>
        <p:spPr>
          <a:xfrm>
            <a:off x="3989527" y="1417320"/>
            <a:ext cx="64008" cy="3291840"/>
          </a:xfrm>
          <a:prstGeom prst="rect">
            <a:avLst/>
          </a:prstGeom>
          <a:solidFill>
            <a:srgbClr val="C9962B"/>
          </a:solidFill>
          <a:ln w="12700">
            <a:solidFill>
              <a:srgbClr val="C9962B"/>
            </a:solidFill>
            <a:prstDash val="solid"/>
          </a:ln>
        </p:spPr>
      </p:sp>
      <p:sp>
        <p:nvSpPr>
          <p:cNvPr id="19" name="why-disc-3"/>
          <p:cNvSpPr/>
          <p:nvPr/>
        </p:nvSpPr>
        <p:spPr>
          <a:xfrm>
            <a:off x="3139135" y="1645920"/>
            <a:ext cx="594360" cy="59436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20" name="Text 18"/>
          <p:cNvSpPr txBox="1"/>
          <p:nvPr/>
        </p:nvSpPr>
        <p:spPr>
          <a:xfrm>
            <a:off x="715975" y="2331720"/>
            <a:ext cx="3108960" cy="777240"/>
          </a:xfrm>
          <a:prstGeom prst="rect">
            <a:avLst/>
          </a:prstGeom>
          <a:noFill/>
          <a:ln/>
        </p:spPr>
        <p:txBody>
          <a:bodyPr wrap="square" lIns="0" tIns="0" rIns="0" bIns="0" rtlCol="0" anchor="ctr"/>
          <a:lstStyle/>
          <a:p>
            <a:pPr rtl="1" algn="r" indent="0" marL="0">
              <a:buNone/>
            </a:pPr>
            <a:r>
              <a:rPr lang="ar-EG" altLang="en-US" sz="3600" b="1" dirty="0">
                <a:solidFill>
                  <a:srgbClr val="C9962B"/>
                </a:solidFill>
                <a:latin typeface="EB Garamond"/>
                <a:cs typeface="Amiri"/>
              </a:rPr>
              <a:t>ملايين</a:t>
            </a:r>
            <a:endParaRPr lang="ar-EG" sz="3600" dirty="0">
              <a:latin typeface="EB Garamond"/>
              <a:cs typeface="Amiri"/>
            </a:endParaRPr>
          </a:p>
        </p:txBody>
      </p:sp>
      <p:sp>
        <p:nvSpPr>
          <p:cNvPr id="21" name="Text 19"/>
          <p:cNvSpPr txBox="1"/>
          <p:nvPr/>
        </p:nvSpPr>
        <p:spPr>
          <a:xfrm>
            <a:off x="715975" y="3108960"/>
            <a:ext cx="3108960" cy="45720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زائر متوقَّع في الصعيد</a:t>
            </a:r>
            <a:endParaRPr lang="ar-EG" sz="1700" dirty="0">
              <a:latin typeface="EB Garamond"/>
              <a:cs typeface="Noto Naskh Arabic"/>
            </a:endParaRPr>
          </a:p>
        </p:txBody>
      </p:sp>
      <p:sp>
        <p:nvSpPr>
          <p:cNvPr id="22" name="Text 20"/>
          <p:cNvSpPr txBox="1"/>
          <p:nvPr/>
        </p:nvSpPr>
        <p:spPr>
          <a:xfrm>
            <a:off x="715975" y="3566160"/>
            <a:ext cx="3108960" cy="1051560"/>
          </a:xfrm>
          <a:prstGeom prst="rect">
            <a:avLst/>
          </a:prstGeom>
          <a:noFill/>
          <a:ln/>
        </p:spPr>
        <p:txBody>
          <a:bodyPr wrap="square" lIns="0" tIns="0" rIns="0" bIns="0" rtlCol="0" anchor="t"/>
          <a:lstStyle/>
          <a:p>
            <a:pPr rtl="1" algn="r" indent="0" marL="0">
              <a:buNone/>
            </a:pPr>
            <a:r>
              <a:rPr lang="ar-EG" altLang="en-US" sz="1400" dirty="0">
                <a:solidFill>
                  <a:srgbClr val="D8C79C"/>
                </a:solidFill>
                <a:latin typeface="EB Garamond"/>
                <a:cs typeface="Noto Naskh Arabic"/>
              </a:rPr>
              <a:t>سيأتي الزوار من أجل ست دقائق؛ المرشد هو من يحوّلها إلى تجربة آمنة لا تُنسى</a:t>
            </a:r>
            <a:endParaRPr lang="ar-EG" sz="1400" dirty="0">
              <a:latin typeface="EB Garamond"/>
              <a:cs typeface="Noto Naskh Arabic"/>
            </a:endParaRPr>
          </a:p>
        </p:txBody>
      </p:sp>
      <p:sp>
        <p:nvSpPr>
          <p:cNvPr id="23" name="why-question"/>
          <p:cNvSpPr/>
          <p:nvPr/>
        </p:nvSpPr>
        <p:spPr>
          <a:xfrm>
            <a:off x="548640" y="4983480"/>
            <a:ext cx="11094415" cy="1051560"/>
          </a:xfrm>
          <a:prstGeom prst="rect">
            <a:avLst/>
          </a:prstGeom>
          <a:solidFill>
            <a:srgbClr val="1B3A6B"/>
          </a:solidFill>
          <a:ln w="9525">
            <a:solidFill>
              <a:srgbClr val="1B3A6B"/>
            </a:solidFill>
            <a:prstDash val="solid"/>
          </a:ln>
        </p:spPr>
      </p:sp>
      <p:sp>
        <p:nvSpPr>
          <p:cNvPr id="24" name="Text 22"/>
          <p:cNvSpPr txBox="1"/>
          <p:nvPr/>
        </p:nvSpPr>
        <p:spPr>
          <a:xfrm>
            <a:off x="868680" y="5029200"/>
            <a:ext cx="10454335" cy="960120"/>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السؤال الذي سيسمعه كل مرشد يوم الكسوف: </a:t>
            </a:r>
            <a:pPr rtl="1" algn="r" indent="0" marL="0">
              <a:buNone/>
            </a:pPr>
            <a:r>
              <a:rPr lang="ar-EG" altLang="en-US" sz="1700" dirty="0">
                <a:solidFill>
                  <a:srgbClr val="FAF3E0"/>
                </a:solidFill>
                <a:latin typeface="EB Garamond"/>
                <a:cs typeface="Noto Naskh Arabic"/>
              </a:rPr>
              <a:t>«متى أنزع النظارة؟ وهل أرى الكسوف كليًا من هنا؟» — هذه المحاضرة تعطيك الجواب لكل مدينة وموقع أثري.</a:t>
            </a:r>
            <a:endParaRPr lang="en-US" sz="17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a:t>
            </a:fld>
            <a:endParaRPr lang="en-US">
              <a:latin typeface="EB Garamond"/>
              <a:cs typeface="Noto Naskh Arab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box"/>
          <p:cNvSpPr/>
          <p:nvPr/>
        </p:nvSpPr>
        <p:spPr>
          <a:xfrm>
            <a:off x="7045452" y="182880"/>
            <a:ext cx="4597603" cy="274320"/>
          </a:xfrm>
          <a:prstGeom prst="rect">
            <a:avLst/>
          </a:prstGeom>
          <a:solidFill>
            <a:srgbClr val="1B3A6B"/>
          </a:solidFill>
          <a:ln w="12700">
            <a:solidFill>
              <a:srgbClr val="E8B84B"/>
            </a:solidFill>
            <a:prstDash val="solid"/>
          </a:ln>
        </p:spPr>
      </p:sp>
      <p:sp>
        <p:nvSpPr>
          <p:cNvPr id="3" name="kicker"/>
          <p:cNvSpPr txBox="1"/>
          <p:nvPr/>
        </p:nvSpPr>
        <p:spPr>
          <a:xfrm>
            <a:off x="7045452" y="182880"/>
            <a:ext cx="459760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LECTURE PLAN: THREE STAGES IN THREE HOURS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خطة المحاضرة: ثلاث مراحل في ثلاث ساعات</a:t>
            </a:r>
            <a:endParaRPr lang="ar-EG" sz="3000" dirty="0">
              <a:latin typeface="EB Garamond"/>
              <a:cs typeface="Amiri"/>
            </a:endParaRPr>
          </a:p>
        </p:txBody>
      </p:sp>
      <p:sp>
        <p:nvSpPr>
          <p:cNvPr id="5" name="stage-card-١"/>
          <p:cNvSpPr/>
          <p:nvPr/>
        </p:nvSpPr>
        <p:spPr>
          <a:xfrm>
            <a:off x="8122615" y="1417320"/>
            <a:ext cx="3520440" cy="4160520"/>
          </a:xfrm>
          <a:prstGeom prst="rect">
            <a:avLst/>
          </a:prstGeom>
          <a:solidFill>
            <a:srgbClr val="161F2F"/>
          </a:solidFill>
          <a:ln w="9525">
            <a:solidFill>
              <a:srgbClr val="C9962B"/>
            </a:solidFill>
            <a:prstDash val="solid"/>
          </a:ln>
        </p:spPr>
      </p:sp>
      <p:sp>
        <p:nvSpPr>
          <p:cNvPr id="6" name="stage-card-١-accent"/>
          <p:cNvSpPr/>
          <p:nvPr/>
        </p:nvSpPr>
        <p:spPr>
          <a:xfrm>
            <a:off x="11579047" y="1417320"/>
            <a:ext cx="64008" cy="4160520"/>
          </a:xfrm>
          <a:prstGeom prst="rect">
            <a:avLst/>
          </a:prstGeom>
          <a:solidFill>
            <a:srgbClr val="C9962B"/>
          </a:solidFill>
          <a:ln w="12700">
            <a:solidFill>
              <a:srgbClr val="C9962B"/>
            </a:solidFill>
            <a:prstDash val="solid"/>
          </a:ln>
        </p:spPr>
      </p:sp>
      <p:sp>
        <p:nvSpPr>
          <p:cNvPr id="7" name="stage-disc-١"/>
          <p:cNvSpPr/>
          <p:nvPr/>
        </p:nvSpPr>
        <p:spPr>
          <a:xfrm>
            <a:off x="10591495" y="1645920"/>
            <a:ext cx="777240" cy="77724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8" name="Text 6"/>
          <p:cNvSpPr txBox="1"/>
          <p:nvPr/>
        </p:nvSpPr>
        <p:spPr>
          <a:xfrm>
            <a:off x="10591495" y="1645920"/>
            <a:ext cx="777240" cy="77724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١</a:t>
            </a:r>
            <a:endParaRPr lang="en-US" sz="2600" dirty="0">
              <a:latin typeface="EB Garamond"/>
              <a:cs typeface="Amiri"/>
            </a:endParaRPr>
          </a:p>
        </p:txBody>
      </p:sp>
      <p:sp>
        <p:nvSpPr>
          <p:cNvPr id="9" name="Text 7"/>
          <p:cNvSpPr txBox="1"/>
          <p:nvPr/>
        </p:nvSpPr>
        <p:spPr>
          <a:xfrm>
            <a:off x="8351215" y="1645920"/>
            <a:ext cx="2148840" cy="384048"/>
          </a:xfrm>
          <a:prstGeom prst="rect">
            <a:avLst/>
          </a:prstGeom>
          <a:noFill/>
          <a:ln/>
        </p:spPr>
        <p:txBody>
          <a:bodyPr wrap="square" lIns="0" tIns="0" rIns="0" bIns="0" rtlCol="0" anchor="ctr"/>
          <a:lstStyle/>
          <a:p>
            <a:pPr rtl="1" algn="r" indent="0" marL="0">
              <a:buNone/>
            </a:pPr>
            <a:r>
              <a:rPr lang="ar-EG" altLang="en-US" sz="1800" b="1" dirty="0">
                <a:solidFill>
                  <a:srgbClr val="C9962B"/>
                </a:solidFill>
                <a:latin typeface="EB Garamond"/>
                <a:cs typeface="Noto Naskh Arabic"/>
              </a:rPr>
              <a:t>المرحلة الأولى</a:t>
            </a:r>
            <a:endParaRPr lang="ar-EG" sz="1800" dirty="0">
              <a:latin typeface="EB Garamond"/>
              <a:cs typeface="Noto Naskh Arabic"/>
            </a:endParaRPr>
          </a:p>
        </p:txBody>
      </p:sp>
      <p:sp>
        <p:nvSpPr>
          <p:cNvPr id="10" name="Text 8"/>
          <p:cNvSpPr txBox="1"/>
          <p:nvPr/>
        </p:nvSpPr>
        <p:spPr>
          <a:xfrm>
            <a:off x="8351215" y="2029968"/>
            <a:ext cx="2148840" cy="347472"/>
          </a:xfrm>
          <a:prstGeom prst="rect">
            <a:avLst/>
          </a:prstGeom>
          <a:noFill/>
          <a:ln/>
        </p:spPr>
        <p:txBody>
          <a:bodyPr wrap="square" lIns="0" tIns="0" rIns="0" bIns="0" rtlCol="0" anchor="ctr"/>
          <a:lstStyle/>
          <a:p>
            <a:pPr rtl="1" algn="r" indent="0" marL="0">
              <a:buNone/>
            </a:pPr>
            <a:r>
              <a:rPr lang="ar-EG" altLang="en-US" sz="1500" dirty="0">
                <a:solidFill>
                  <a:srgbClr val="9C8B6E"/>
                </a:solidFill>
                <a:latin typeface="EB Garamond"/>
                <a:cs typeface="Noto Naskh Arabic"/>
              </a:rPr>
              <a:t>٠:٠٠ – ٠:٥٠</a:t>
            </a:r>
            <a:endParaRPr lang="ar-EG" sz="1500" dirty="0">
              <a:latin typeface="EB Garamond"/>
              <a:cs typeface="Noto Naskh Arabic"/>
            </a:endParaRPr>
          </a:p>
        </p:txBody>
      </p:sp>
      <p:sp>
        <p:nvSpPr>
          <p:cNvPr id="11" name="Text 9"/>
          <p:cNvSpPr txBox="1"/>
          <p:nvPr/>
        </p:nvSpPr>
        <p:spPr>
          <a:xfrm>
            <a:off x="8351215" y="2560320"/>
            <a:ext cx="3063240" cy="777240"/>
          </a:xfrm>
          <a:prstGeom prst="rect">
            <a:avLst/>
          </a:prstGeom>
          <a:noFill/>
          <a:ln/>
        </p:spPr>
        <p:txBody>
          <a:bodyPr wrap="square" lIns="0" tIns="0" rIns="0" bIns="0" rtlCol="0" anchor="t"/>
          <a:lstStyle/>
          <a:p>
            <a:pPr rtl="1" algn="r" indent="0" marL="0">
              <a:buNone/>
            </a:pPr>
            <a:r>
              <a:rPr lang="ar-EG" altLang="en-US" sz="1800" b="1" dirty="0">
                <a:solidFill>
                  <a:srgbClr val="E8B84B"/>
                </a:solidFill>
                <a:latin typeface="EB Garamond"/>
                <a:cs typeface="Noto Naskh Arabic"/>
              </a:rPr>
              <a:t>تعريف الكسوف والخسوف وهندستهما</a:t>
            </a:r>
            <a:endParaRPr lang="ar-EG" sz="1800" dirty="0">
              <a:latin typeface="EB Garamond"/>
              <a:cs typeface="Noto Naskh Arabic"/>
            </a:endParaRPr>
          </a:p>
        </p:txBody>
      </p:sp>
      <p:sp>
        <p:nvSpPr>
          <p:cNvPr id="12" name="Text 10"/>
          <p:cNvSpPr txBox="1"/>
          <p:nvPr/>
        </p:nvSpPr>
        <p:spPr>
          <a:xfrm>
            <a:off x="8351215" y="3337560"/>
            <a:ext cx="3063240" cy="2148840"/>
          </a:xfrm>
          <a:prstGeom prst="rect">
            <a:avLst/>
          </a:prstGeom>
          <a:noFill/>
          <a:ln/>
        </p:spPr>
        <p:txBody>
          <a:bodyPr wrap="square" lIns="0" tIns="0" rIns="0" bIns="0" rtlCol="0" anchor="t"/>
          <a:lstStyle/>
          <a:p>
            <a:pPr rtl="1" algn="r" indent="0" marL="0">
              <a:buNone/>
            </a:pPr>
            <a:r>
              <a:rPr lang="ar-EG" altLang="en-US" sz="1400" dirty="0">
                <a:solidFill>
                  <a:srgbClr val="D8C79C"/>
                </a:solidFill>
                <a:latin typeface="EB Garamond"/>
                <a:cs typeface="Noto Naskh Arabic"/>
              </a:rPr>
              <a:t>الظل وأنواع الكسوف، الكسوف والخسوف، العقدتان والمواسم، التماسات الأربعة وظواهر الكلية، دورة ساروس، وكم يتكرر الكسوف في العالم وعلى المكان نفسه</a:t>
            </a:r>
            <a:endParaRPr lang="ar-EG" sz="1400" dirty="0">
              <a:latin typeface="EB Garamond"/>
              <a:cs typeface="Noto Naskh Arabic"/>
            </a:endParaRPr>
          </a:p>
        </p:txBody>
      </p:sp>
      <p:sp>
        <p:nvSpPr>
          <p:cNvPr id="13" name="stage-card-٢"/>
          <p:cNvSpPr/>
          <p:nvPr/>
        </p:nvSpPr>
        <p:spPr>
          <a:xfrm>
            <a:off x="4355287" y="1417320"/>
            <a:ext cx="3520440" cy="4160520"/>
          </a:xfrm>
          <a:prstGeom prst="rect">
            <a:avLst/>
          </a:prstGeom>
          <a:solidFill>
            <a:srgbClr val="161F2F"/>
          </a:solidFill>
          <a:ln w="9525">
            <a:solidFill>
              <a:srgbClr val="C9962B"/>
            </a:solidFill>
            <a:prstDash val="solid"/>
          </a:ln>
        </p:spPr>
      </p:sp>
      <p:sp>
        <p:nvSpPr>
          <p:cNvPr id="14" name="stage-card-٢-accent"/>
          <p:cNvSpPr/>
          <p:nvPr/>
        </p:nvSpPr>
        <p:spPr>
          <a:xfrm>
            <a:off x="7811719" y="1417320"/>
            <a:ext cx="64008" cy="4160520"/>
          </a:xfrm>
          <a:prstGeom prst="rect">
            <a:avLst/>
          </a:prstGeom>
          <a:solidFill>
            <a:srgbClr val="C9962B"/>
          </a:solidFill>
          <a:ln w="12700">
            <a:solidFill>
              <a:srgbClr val="C9962B"/>
            </a:solidFill>
            <a:prstDash val="solid"/>
          </a:ln>
        </p:spPr>
      </p:sp>
      <p:sp>
        <p:nvSpPr>
          <p:cNvPr id="15" name="stage-disc-٢"/>
          <p:cNvSpPr/>
          <p:nvPr/>
        </p:nvSpPr>
        <p:spPr>
          <a:xfrm>
            <a:off x="6824167" y="1645920"/>
            <a:ext cx="777240" cy="77724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16" name="Text 14"/>
          <p:cNvSpPr txBox="1"/>
          <p:nvPr/>
        </p:nvSpPr>
        <p:spPr>
          <a:xfrm>
            <a:off x="6824167" y="1645920"/>
            <a:ext cx="777240" cy="77724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٢</a:t>
            </a:r>
            <a:endParaRPr lang="en-US" sz="2600" dirty="0">
              <a:latin typeface="EB Garamond"/>
              <a:cs typeface="Amiri"/>
            </a:endParaRPr>
          </a:p>
        </p:txBody>
      </p:sp>
      <p:sp>
        <p:nvSpPr>
          <p:cNvPr id="17" name="Text 15"/>
          <p:cNvSpPr txBox="1"/>
          <p:nvPr/>
        </p:nvSpPr>
        <p:spPr>
          <a:xfrm>
            <a:off x="4583887" y="1645920"/>
            <a:ext cx="2148840" cy="384048"/>
          </a:xfrm>
          <a:prstGeom prst="rect">
            <a:avLst/>
          </a:prstGeom>
          <a:noFill/>
          <a:ln/>
        </p:spPr>
        <p:txBody>
          <a:bodyPr wrap="square" lIns="0" tIns="0" rIns="0" bIns="0" rtlCol="0" anchor="ctr"/>
          <a:lstStyle/>
          <a:p>
            <a:pPr rtl="1" algn="r" indent="0" marL="0">
              <a:buNone/>
            </a:pPr>
            <a:r>
              <a:rPr lang="ar-EG" altLang="en-US" sz="1800" b="1" dirty="0">
                <a:solidFill>
                  <a:srgbClr val="C9962B"/>
                </a:solidFill>
                <a:latin typeface="EB Garamond"/>
                <a:cs typeface="Noto Naskh Arabic"/>
              </a:rPr>
              <a:t>المرحلة الثانية</a:t>
            </a:r>
            <a:endParaRPr lang="ar-EG" sz="1800" dirty="0">
              <a:latin typeface="EB Garamond"/>
              <a:cs typeface="Noto Naskh Arabic"/>
            </a:endParaRPr>
          </a:p>
        </p:txBody>
      </p:sp>
      <p:sp>
        <p:nvSpPr>
          <p:cNvPr id="18" name="Text 16"/>
          <p:cNvSpPr txBox="1"/>
          <p:nvPr/>
        </p:nvSpPr>
        <p:spPr>
          <a:xfrm>
            <a:off x="4583887" y="2029968"/>
            <a:ext cx="2148840" cy="347472"/>
          </a:xfrm>
          <a:prstGeom prst="rect">
            <a:avLst/>
          </a:prstGeom>
          <a:noFill/>
          <a:ln/>
        </p:spPr>
        <p:txBody>
          <a:bodyPr wrap="square" lIns="0" tIns="0" rIns="0" bIns="0" rtlCol="0" anchor="ctr"/>
          <a:lstStyle/>
          <a:p>
            <a:pPr rtl="1" algn="r" indent="0" marL="0">
              <a:buNone/>
            </a:pPr>
            <a:r>
              <a:rPr lang="ar-EG" altLang="en-US" sz="1500" dirty="0">
                <a:solidFill>
                  <a:srgbClr val="9C8B6E"/>
                </a:solidFill>
                <a:latin typeface="EB Garamond"/>
                <a:cs typeface="Noto Naskh Arabic"/>
              </a:rPr>
              <a:t>١:٠٠ – ١:٥٠</a:t>
            </a:r>
            <a:endParaRPr lang="ar-EG" sz="1500" dirty="0">
              <a:latin typeface="EB Garamond"/>
              <a:cs typeface="Noto Naskh Arabic"/>
            </a:endParaRPr>
          </a:p>
        </p:txBody>
      </p:sp>
      <p:sp>
        <p:nvSpPr>
          <p:cNvPr id="19" name="Text 17"/>
          <p:cNvSpPr txBox="1"/>
          <p:nvPr/>
        </p:nvSpPr>
        <p:spPr>
          <a:xfrm>
            <a:off x="4583887" y="2560320"/>
            <a:ext cx="3063240" cy="777240"/>
          </a:xfrm>
          <a:prstGeom prst="rect">
            <a:avLst/>
          </a:prstGeom>
          <a:noFill/>
          <a:ln/>
        </p:spPr>
        <p:txBody>
          <a:bodyPr wrap="square" lIns="0" tIns="0" rIns="0" bIns="0" rtlCol="0" anchor="t"/>
          <a:lstStyle/>
          <a:p>
            <a:pPr rtl="1" algn="r" indent="0" marL="0">
              <a:buNone/>
            </a:pPr>
            <a:r>
              <a:rPr lang="ar-EG" altLang="en-US" sz="1800" b="1" dirty="0">
                <a:solidFill>
                  <a:srgbClr val="E8B84B"/>
                </a:solidFill>
                <a:latin typeface="EB Garamond"/>
                <a:cs typeface="Noto Naskh Arabic"/>
              </a:rPr>
              <a:t>الكسوف في تاريخ مصر والحضارة الإسلامية</a:t>
            </a:r>
            <a:endParaRPr lang="ar-EG" sz="1800" dirty="0">
              <a:latin typeface="EB Garamond"/>
              <a:cs typeface="Noto Naskh Arabic"/>
            </a:endParaRPr>
          </a:p>
        </p:txBody>
      </p:sp>
      <p:sp>
        <p:nvSpPr>
          <p:cNvPr id="20" name="Text 18"/>
          <p:cNvSpPr txBox="1"/>
          <p:nvPr/>
        </p:nvSpPr>
        <p:spPr>
          <a:xfrm>
            <a:off x="4583887" y="3337560"/>
            <a:ext cx="3063240" cy="2148840"/>
          </a:xfrm>
          <a:prstGeom prst="rect">
            <a:avLst/>
          </a:prstGeom>
          <a:noFill/>
          <a:ln/>
        </p:spPr>
        <p:txBody>
          <a:bodyPr wrap="square" lIns="0" tIns="0" rIns="0" bIns="0" rtlCol="0" anchor="t"/>
          <a:lstStyle/>
          <a:p>
            <a:pPr rtl="1" algn="r" indent="0" marL="0">
              <a:buNone/>
            </a:pPr>
            <a:r>
              <a:rPr lang="ar-EG" altLang="en-US" sz="1400" dirty="0">
                <a:solidFill>
                  <a:srgbClr val="D8C79C"/>
                </a:solidFill>
                <a:latin typeface="EB Garamond"/>
                <a:cs typeface="Noto Naskh Arabic"/>
              </a:rPr>
              <a:t>أ) الكسوفات التي حدثت في مصر: من رع وإخناتون ودندرة إلى القاهرة الفاطمية وسوهاج ١٨٨٢ والسلوم ٢٠٠٦</a:t>
            </a:r>
            <a:endParaRPr lang="ar-EG" sz="1400" dirty="0">
              <a:latin typeface="EB Garamond"/>
              <a:cs typeface="Noto Naskh Arabic"/>
            </a:endParaRPr>
          </a:p>
          <a:p>
            <a:pPr rtl="1" algn="r" indent="0" marL="0">
              <a:buNone/>
            </a:pPr>
            <a:r>
              <a:rPr lang="ar-EG" altLang="en-US" sz="1400" dirty="0">
                <a:solidFill>
                  <a:srgbClr val="D8C79C"/>
                </a:solidFill>
                <a:latin typeface="EB Garamond"/>
                <a:cs typeface="Noto Naskh Arabic"/>
              </a:rPr>
              <a:t>ب) الحديث النبوي وصلاة الكسوف وابن يونس وابن الهيثم</a:t>
            </a:r>
            <a:endParaRPr lang="ar-EG" sz="1400" dirty="0">
              <a:latin typeface="EB Garamond"/>
              <a:cs typeface="Noto Naskh Arabic"/>
            </a:endParaRPr>
          </a:p>
        </p:txBody>
      </p:sp>
      <p:sp>
        <p:nvSpPr>
          <p:cNvPr id="21" name="stage-card-٣"/>
          <p:cNvSpPr/>
          <p:nvPr/>
        </p:nvSpPr>
        <p:spPr>
          <a:xfrm>
            <a:off x="587959" y="1417320"/>
            <a:ext cx="3520440" cy="4160520"/>
          </a:xfrm>
          <a:prstGeom prst="rect">
            <a:avLst/>
          </a:prstGeom>
          <a:solidFill>
            <a:srgbClr val="161F2F"/>
          </a:solidFill>
          <a:ln w="9525">
            <a:solidFill>
              <a:srgbClr val="C9962B"/>
            </a:solidFill>
            <a:prstDash val="solid"/>
          </a:ln>
        </p:spPr>
      </p:sp>
      <p:sp>
        <p:nvSpPr>
          <p:cNvPr id="22" name="stage-card-٣-accent"/>
          <p:cNvSpPr/>
          <p:nvPr/>
        </p:nvSpPr>
        <p:spPr>
          <a:xfrm>
            <a:off x="4044391" y="1417320"/>
            <a:ext cx="64008" cy="4160520"/>
          </a:xfrm>
          <a:prstGeom prst="rect">
            <a:avLst/>
          </a:prstGeom>
          <a:solidFill>
            <a:srgbClr val="C9962B"/>
          </a:solidFill>
          <a:ln w="12700">
            <a:solidFill>
              <a:srgbClr val="C9962B"/>
            </a:solidFill>
            <a:prstDash val="solid"/>
          </a:ln>
        </p:spPr>
      </p:sp>
      <p:sp>
        <p:nvSpPr>
          <p:cNvPr id="23" name="stage-disc-٣"/>
          <p:cNvSpPr/>
          <p:nvPr/>
        </p:nvSpPr>
        <p:spPr>
          <a:xfrm>
            <a:off x="3056839" y="1645920"/>
            <a:ext cx="777240" cy="77724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24" name="Text 22"/>
          <p:cNvSpPr txBox="1"/>
          <p:nvPr/>
        </p:nvSpPr>
        <p:spPr>
          <a:xfrm>
            <a:off x="3056839" y="1645920"/>
            <a:ext cx="777240" cy="77724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٣</a:t>
            </a:r>
            <a:endParaRPr lang="en-US" sz="2600" dirty="0">
              <a:latin typeface="EB Garamond"/>
              <a:cs typeface="Amiri"/>
            </a:endParaRPr>
          </a:p>
        </p:txBody>
      </p:sp>
      <p:sp>
        <p:nvSpPr>
          <p:cNvPr id="25" name="Text 23"/>
          <p:cNvSpPr txBox="1"/>
          <p:nvPr/>
        </p:nvSpPr>
        <p:spPr>
          <a:xfrm>
            <a:off x="816559" y="1645920"/>
            <a:ext cx="2148840" cy="384048"/>
          </a:xfrm>
          <a:prstGeom prst="rect">
            <a:avLst/>
          </a:prstGeom>
          <a:noFill/>
          <a:ln/>
        </p:spPr>
        <p:txBody>
          <a:bodyPr wrap="square" lIns="0" tIns="0" rIns="0" bIns="0" rtlCol="0" anchor="ctr"/>
          <a:lstStyle/>
          <a:p>
            <a:pPr rtl="1" algn="r" indent="0" marL="0">
              <a:buNone/>
            </a:pPr>
            <a:r>
              <a:rPr lang="ar-EG" altLang="en-US" sz="1800" b="1" dirty="0">
                <a:solidFill>
                  <a:srgbClr val="C9962B"/>
                </a:solidFill>
                <a:latin typeface="EB Garamond"/>
                <a:cs typeface="Noto Naskh Arabic"/>
              </a:rPr>
              <a:t>المرحلة الثالثة</a:t>
            </a:r>
            <a:endParaRPr lang="ar-EG" sz="1800" dirty="0">
              <a:latin typeface="EB Garamond"/>
              <a:cs typeface="Noto Naskh Arabic"/>
            </a:endParaRPr>
          </a:p>
        </p:txBody>
      </p:sp>
      <p:sp>
        <p:nvSpPr>
          <p:cNvPr id="26" name="Text 24"/>
          <p:cNvSpPr txBox="1"/>
          <p:nvPr/>
        </p:nvSpPr>
        <p:spPr>
          <a:xfrm>
            <a:off x="816559" y="2029968"/>
            <a:ext cx="2148840" cy="347472"/>
          </a:xfrm>
          <a:prstGeom prst="rect">
            <a:avLst/>
          </a:prstGeom>
          <a:noFill/>
          <a:ln/>
        </p:spPr>
        <p:txBody>
          <a:bodyPr wrap="square" lIns="0" tIns="0" rIns="0" bIns="0" rtlCol="0" anchor="ctr"/>
          <a:lstStyle/>
          <a:p>
            <a:pPr rtl="1" algn="r" indent="0" marL="0">
              <a:buNone/>
            </a:pPr>
            <a:r>
              <a:rPr lang="ar-EG" altLang="en-US" sz="1500" dirty="0">
                <a:solidFill>
                  <a:srgbClr val="9C8B6E"/>
                </a:solidFill>
                <a:latin typeface="EB Garamond"/>
                <a:cs typeface="Noto Naskh Arabic"/>
              </a:rPr>
              <a:t>٢:٠٠ – ٣:٠٠</a:t>
            </a:r>
            <a:endParaRPr lang="ar-EG" sz="1500" dirty="0">
              <a:latin typeface="EB Garamond"/>
              <a:cs typeface="Noto Naskh Arabic"/>
            </a:endParaRPr>
          </a:p>
        </p:txBody>
      </p:sp>
      <p:sp>
        <p:nvSpPr>
          <p:cNvPr id="27" name="Text 25"/>
          <p:cNvSpPr txBox="1"/>
          <p:nvPr/>
        </p:nvSpPr>
        <p:spPr>
          <a:xfrm>
            <a:off x="816559" y="2560320"/>
            <a:ext cx="3063240" cy="777240"/>
          </a:xfrm>
          <a:prstGeom prst="rect">
            <a:avLst/>
          </a:prstGeom>
          <a:noFill/>
          <a:ln/>
        </p:spPr>
        <p:txBody>
          <a:bodyPr wrap="square" lIns="0" tIns="0" rIns="0" bIns="0" rtlCol="0" anchor="t"/>
          <a:lstStyle/>
          <a:p>
            <a:pPr rtl="1" algn="r" indent="0" marL="0">
              <a:buNone/>
            </a:pPr>
            <a:r>
              <a:rPr lang="ar-EG" altLang="en-US" sz="1800" b="1" dirty="0">
                <a:solidFill>
                  <a:srgbClr val="E8B84B"/>
                </a:solidFill>
                <a:latin typeface="EB Garamond"/>
                <a:cs typeface="Noto Naskh Arabic"/>
              </a:rPr>
              <a:t>كسوف ٢ أغسطس ٢٠٢٧: الرصد والتصوير</a:t>
            </a:r>
            <a:endParaRPr lang="ar-EG" sz="1800" dirty="0">
              <a:latin typeface="EB Garamond"/>
              <a:cs typeface="Noto Naskh Arabic"/>
            </a:endParaRPr>
          </a:p>
        </p:txBody>
      </p:sp>
      <p:sp>
        <p:nvSpPr>
          <p:cNvPr id="28" name="Text 26"/>
          <p:cNvSpPr txBox="1"/>
          <p:nvPr/>
        </p:nvSpPr>
        <p:spPr>
          <a:xfrm>
            <a:off x="816559" y="3337560"/>
            <a:ext cx="3063240" cy="2148840"/>
          </a:xfrm>
          <a:prstGeom prst="rect">
            <a:avLst/>
          </a:prstGeom>
          <a:noFill/>
          <a:ln/>
        </p:spPr>
        <p:txBody>
          <a:bodyPr wrap="square" lIns="0" tIns="0" rIns="0" bIns="0" rtlCol="0" anchor="t"/>
          <a:lstStyle/>
          <a:p>
            <a:pPr rtl="1" algn="r" indent="0" marL="0">
              <a:buNone/>
            </a:pPr>
            <a:r>
              <a:rPr lang="ar-EG" altLang="en-US" sz="1400" dirty="0">
                <a:solidFill>
                  <a:srgbClr val="D8C79C"/>
                </a:solidFill>
                <a:latin typeface="EB Garamond"/>
                <a:cs typeface="Noto Naskh Arabic"/>
              </a:rPr>
              <a:t>المسار ومواعيده في مدن مصر، مراحله كاملة، كيف يبدو في الأقصر وشكل الشمس في كل مرحلة، الرصد الآمن، التصوير بالهاتف والكاميرا، وخطة المرشد</a:t>
            </a:r>
            <a:endParaRPr lang="ar-EG" sz="1400" dirty="0">
              <a:latin typeface="EB Garamond"/>
              <a:cs typeface="Noto Naskh Arabic"/>
            </a:endParaRPr>
          </a:p>
        </p:txBody>
      </p:sp>
      <p:sp>
        <p:nvSpPr>
          <p:cNvPr id="29" name="Text 27"/>
          <p:cNvSpPr txBox="1"/>
          <p:nvPr/>
        </p:nvSpPr>
        <p:spPr>
          <a:xfrm>
            <a:off x="548640" y="5715000"/>
            <a:ext cx="11094415" cy="365760"/>
          </a:xfrm>
          <a:prstGeom prst="rect">
            <a:avLst/>
          </a:prstGeom>
          <a:noFill/>
          <a:ln/>
        </p:spPr>
        <p:txBody>
          <a:bodyPr wrap="square" lIns="0" tIns="0" rIns="0" bIns="0" rtlCol="0" anchor="ctr"/>
          <a:lstStyle/>
          <a:p>
            <a:pPr rtl="1" algn="r" indent="0" marL="0">
              <a:buNone/>
            </a:pPr>
            <a:r>
              <a:rPr lang="ar-EG" altLang="en-US" sz="1500" i="1" dirty="0">
                <a:solidFill>
                  <a:srgbClr val="E8B84B"/>
                </a:solidFill>
                <a:latin typeface="EB Garamond"/>
                <a:cs typeface="Noto Naskh Arabic"/>
              </a:rPr>
              <a:t>استراحتان من ١٠ دقائق بعد المرحلتين الأولى والثانية</a:t>
            </a:r>
            <a:endParaRPr lang="ar-EG" sz="15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a:t>
            </a:fld>
            <a:endParaRPr lang="en-US">
              <a:latin typeface="EB Garamond"/>
              <a:cs typeface="Noto Naskh Arabic"/>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orona-glow"/>
          <p:cNvSpPr/>
          <p:nvPr/>
        </p:nvSpPr>
        <p:spPr>
          <a:xfrm>
            <a:off x="914400" y="1417320"/>
            <a:ext cx="4023360" cy="4023360"/>
          </a:xfrm>
          <a:prstGeom prst="ellipse">
            <a:avLst/>
          </a:prstGeom>
          <a:solidFill>
            <a:srgbClr val="E8B84B">
              <a:alpha val="18000"/>
            </a:srgbClr>
          </a:solidFill>
          <a:ln w="12700">
            <a:solidFill>
              <a:srgbClr val="E8B84B"/>
            </a:solidFill>
            <a:prstDash val="solid"/>
          </a:ln>
        </p:spPr>
      </p:sp>
      <p:sp>
        <p:nvSpPr>
          <p:cNvPr id="3" name="corona-inner"/>
          <p:cNvSpPr/>
          <p:nvPr/>
        </p:nvSpPr>
        <p:spPr>
          <a:xfrm>
            <a:off x="1234440" y="1737360"/>
            <a:ext cx="3383280" cy="3383280"/>
          </a:xfrm>
          <a:prstGeom prst="ellipse">
            <a:avLst/>
          </a:prstGeom>
          <a:solidFill>
            <a:srgbClr val="E8B84B">
              <a:alpha val="40000"/>
            </a:srgbClr>
          </a:solidFill>
          <a:ln w="12700">
            <a:solidFill>
              <a:srgbClr val="E8B84B"/>
            </a:solidFill>
            <a:prstDash val="solid"/>
          </a:ln>
        </p:spPr>
      </p:sp>
      <p:sp>
        <p:nvSpPr>
          <p:cNvPr id="4" name="section-disc"/>
          <p:cNvSpPr/>
          <p:nvPr/>
        </p:nvSpPr>
        <p:spPr>
          <a:xfrm>
            <a:off x="1463040" y="1965960"/>
            <a:ext cx="2926080" cy="2926080"/>
          </a:xfrm>
          <a:prstGeom prst="ellipse">
            <a:avLst/>
          </a:prstGeom>
          <a:solidFill>
            <a:srgbClr val="130E07"/>
          </a:solidFill>
          <a:ln w="50800">
            <a:solidFill>
              <a:srgbClr val="E8B84B"/>
            </a:solidFill>
            <a:prstDash val="solid"/>
          </a:ln>
          <a:effectLst>
            <a:outerShdw sx="100000" sy="100000" kx="0" ky="0" algn="bl" rotWithShape="0" blurRad="101600" dist="50800" dir="16200000">
              <a:srgbClr val="E8B84B">
                <a:alpha val="35000"/>
              </a:srgbClr>
            </a:outerShdw>
          </a:effectLst>
        </p:spPr>
      </p:sp>
      <p:sp>
        <p:nvSpPr>
          <p:cNvPr id="5" name="Text 3"/>
          <p:cNvSpPr txBox="1"/>
          <p:nvPr/>
        </p:nvSpPr>
        <p:spPr>
          <a:xfrm>
            <a:off x="1463040" y="1965960"/>
            <a:ext cx="2926080" cy="2926080"/>
          </a:xfrm>
          <a:prstGeom prst="rect">
            <a:avLst/>
          </a:prstGeom>
          <a:noFill/>
          <a:ln/>
        </p:spPr>
        <p:txBody>
          <a:bodyPr wrap="square" lIns="0" tIns="0" rIns="0" bIns="0" rtlCol="0" anchor="ctr"/>
          <a:lstStyle/>
          <a:p>
            <a:pPr rtl="1" algn="ctr" indent="0" marL="0">
              <a:buNone/>
            </a:pPr>
            <a:r>
              <a:rPr lang="en-US" sz="7200" b="1" dirty="0">
                <a:solidFill>
                  <a:srgbClr val="E8B84B"/>
                </a:solidFill>
                <a:latin typeface="EB Garamond"/>
                <a:cs typeface="Amiri"/>
              </a:rPr>
              <a:t>١</a:t>
            </a:r>
            <a:endParaRPr lang="en-US" sz="7200" dirty="0">
              <a:latin typeface="EB Garamond"/>
              <a:cs typeface="Amiri"/>
            </a:endParaRPr>
          </a:p>
        </p:txBody>
      </p:sp>
      <p:sp>
        <p:nvSpPr>
          <p:cNvPr id="6" name="Text 4"/>
          <p:cNvSpPr txBox="1"/>
          <p:nvPr/>
        </p:nvSpPr>
        <p:spPr>
          <a:xfrm>
            <a:off x="5394960" y="1691640"/>
            <a:ext cx="6263640" cy="1828800"/>
          </a:xfrm>
          <a:prstGeom prst="rect">
            <a:avLst/>
          </a:prstGeom>
          <a:noFill/>
          <a:ln/>
        </p:spPr>
        <p:txBody>
          <a:bodyPr wrap="square" lIns="0" tIns="0" rIns="0" bIns="0" rtlCol="0" anchor="b"/>
          <a:lstStyle/>
          <a:p>
            <a:pPr rtl="1" algn="r" indent="0" marL="0">
              <a:buNone/>
            </a:pPr>
            <a:r>
              <a:rPr lang="ar-EG" altLang="en-US" sz="3400" b="1" dirty="0">
                <a:solidFill>
                  <a:srgbClr val="E8B84B"/>
                </a:solidFill>
                <a:latin typeface="EB Garamond"/>
                <a:cs typeface="Amiri"/>
              </a:rPr>
              <a:t>المرحلة الأولى: تعريف الكسوف والخسوف وهندستهما</a:t>
            </a:r>
            <a:endParaRPr lang="ar-EG" sz="3400" dirty="0">
              <a:latin typeface="EB Garamond"/>
              <a:cs typeface="Amiri"/>
            </a:endParaRPr>
          </a:p>
        </p:txBody>
      </p:sp>
      <p:sp>
        <p:nvSpPr>
          <p:cNvPr id="7" name="Text 5"/>
          <p:cNvSpPr txBox="1"/>
          <p:nvPr/>
        </p:nvSpPr>
        <p:spPr>
          <a:xfrm>
            <a:off x="5394960" y="3611880"/>
            <a:ext cx="6263640" cy="914400"/>
          </a:xfrm>
          <a:prstGeom prst="rect">
            <a:avLst/>
          </a:prstGeom>
          <a:noFill/>
          <a:ln/>
        </p:spPr>
        <p:txBody>
          <a:bodyPr wrap="square" lIns="0" tIns="0" rIns="0" bIns="0" rtlCol="0" anchor="t"/>
          <a:lstStyle/>
          <a:p>
            <a:pPr rtl="1" algn="r" indent="0" marL="0">
              <a:buNone/>
            </a:pPr>
            <a:r>
              <a:rPr lang="ar-EG" altLang="en-US" sz="1700" dirty="0">
                <a:solidFill>
                  <a:srgbClr val="F0E0B0"/>
                </a:solidFill>
                <a:latin typeface="EB Garamond"/>
                <a:cs typeface="Noto Naskh Arabic"/>
              </a:rPr>
              <a:t>الساعة الأولى (٠:٠٠ – ٠:٥٠): كيف يحدثان؟ وكم مرة يتكرران في العالم وعلى المكان نفسه؟</a:t>
            </a:r>
            <a:endParaRPr lang="ar-EG" sz="1700" dirty="0">
              <a:latin typeface="EB Garamond"/>
              <a:cs typeface="Noto Naskh Arabic"/>
            </a:endParaRPr>
          </a:p>
        </p:txBody>
      </p:sp>
      <p:sp>
        <p:nvSpPr>
          <p:cNvPr id="8" name="Text 6"/>
          <p:cNvSpPr txBox="1"/>
          <p:nvPr/>
        </p:nvSpPr>
        <p:spPr>
          <a:xfrm>
            <a:off x="5394960" y="4572000"/>
            <a:ext cx="6263640" cy="548640"/>
          </a:xfrm>
          <a:prstGeom prst="rect">
            <a:avLst/>
          </a:prstGeom>
          <a:noFill/>
          <a:ln/>
        </p:spPr>
        <p:txBody>
          <a:bodyPr wrap="square" lIns="0" tIns="0" rIns="0" bIns="0" rtlCol="0" anchor="ctr"/>
          <a:lstStyle/>
          <a:p>
            <a:pPr algn="r" indent="0" marL="0">
              <a:buNone/>
            </a:pPr>
            <a:r>
              <a:rPr lang="en-US" altLang="en-US" sz="1600" i="1" dirty="0">
                <a:solidFill>
                  <a:srgbClr val="E8B84B"/>
                </a:solidFill>
                <a:latin typeface="EB Garamond"/>
                <a:cs typeface="Noto Naskh Arabic"/>
              </a:rPr>
              <a:t>Stage 1 — Definitions and the geometry of eclipses</a:t>
            </a:r>
            <a:endParaRPr lang="en-US" sz="1600" dirty="0">
              <a:latin typeface="EB Garamond"/>
              <a:cs typeface="Noto Naskh Arabic"/>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box"/>
          <p:cNvSpPr/>
          <p:nvPr/>
        </p:nvSpPr>
        <p:spPr>
          <a:xfrm>
            <a:off x="5465369" y="182880"/>
            <a:ext cx="6177686" cy="274320"/>
          </a:xfrm>
          <a:prstGeom prst="rect">
            <a:avLst/>
          </a:prstGeom>
          <a:solidFill>
            <a:srgbClr val="1B3A6B"/>
          </a:solidFill>
          <a:ln w="12700">
            <a:solidFill>
              <a:srgbClr val="E8B84B"/>
            </a:solidFill>
            <a:prstDash val="solid"/>
          </a:ln>
        </p:spPr>
      </p:sp>
      <p:sp>
        <p:nvSpPr>
          <p:cNvPr id="3" name="kicker"/>
          <p:cNvSpPr txBox="1"/>
          <p:nvPr/>
        </p:nvSpPr>
        <p:spPr>
          <a:xfrm>
            <a:off x="5465369" y="182880"/>
            <a:ext cx="617768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A COSMIC COINCIDENCE: TWO DISCS OF THE SAME APPARENT SIZE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مصادفة كونية: قرصان بالحجم نفسه</a:t>
            </a:r>
            <a:endParaRPr lang="ar-EG" sz="3000" dirty="0">
              <a:latin typeface="EB Garamond"/>
              <a:cs typeface="Amiri"/>
            </a:endParaRPr>
          </a:p>
        </p:txBody>
      </p:sp>
      <p:pic>
        <p:nvPicPr>
          <p:cNvPr id="5" name="coincidence" descr="coincidence">    </p:cNvPr>
          <p:cNvPicPr>
            <a:picLocks noChangeAspect="1"/>
          </p:cNvPicPr>
          <p:nvPr/>
        </p:nvPicPr>
        <p:blipFill>
          <a:blip r:embed="rId1"/>
          <a:stretch>
            <a:fillRect/>
          </a:stretch>
        </p:blipFill>
        <p:spPr>
          <a:xfrm>
            <a:off x="548640" y="1843125"/>
            <a:ext cx="5897880" cy="3628951"/>
          </a:xfrm>
          <a:prstGeom prst="rect">
            <a:avLst/>
          </a:prstGeom>
        </p:spPr>
      </p:pic>
      <p:sp>
        <p:nvSpPr>
          <p:cNvPr id="6" name="Text 3"/>
          <p:cNvSpPr txBox="1"/>
          <p:nvPr/>
        </p:nvSpPr>
        <p:spPr>
          <a:xfrm>
            <a:off x="6766560" y="1325880"/>
            <a:ext cx="4876495" cy="822960"/>
          </a:xfrm>
          <a:prstGeom prst="rect">
            <a:avLst/>
          </a:prstGeom>
          <a:noFill/>
          <a:ln/>
        </p:spPr>
        <p:txBody>
          <a:bodyPr wrap="square" lIns="0" tIns="0" rIns="0" bIns="0" rtlCol="0" anchor="t"/>
          <a:lstStyle/>
          <a:p>
            <a:pPr rtl="1" algn="r" indent="0" marL="0">
              <a:buNone/>
            </a:pPr>
            <a:r>
              <a:rPr lang="ar-EG" altLang="en-US" sz="2000" b="1" dirty="0">
                <a:solidFill>
                  <a:srgbClr val="E8B84B"/>
                </a:solidFill>
                <a:latin typeface="EB Garamond"/>
                <a:cs typeface="Noto Naskh Arabic"/>
              </a:rPr>
              <a:t>لماذا يمكن أن يحدث كسوف كلي أصلًا؟</a:t>
            </a:r>
            <a:endParaRPr lang="ar-EG" sz="2000" dirty="0">
              <a:latin typeface="EB Garamond"/>
              <a:cs typeface="Noto Naskh Arabic"/>
            </a:endParaRPr>
          </a:p>
        </p:txBody>
      </p:sp>
      <p:sp>
        <p:nvSpPr>
          <p:cNvPr id="7" name="Text 4"/>
          <p:cNvSpPr txBox="1"/>
          <p:nvPr/>
        </p:nvSpPr>
        <p:spPr>
          <a:xfrm>
            <a:off x="6766560" y="2194560"/>
            <a:ext cx="4876495" cy="384048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٤٠٠ مرة: </a:t>
            </a:r>
            <a:pPr rtl="1" algn="r" indent="0" marL="0">
              <a:buNone/>
            </a:pPr>
            <a:r>
              <a:rPr lang="ar-EG" altLang="en-US" sz="1800" dirty="0">
                <a:solidFill>
                  <a:srgbClr val="F0E0B0"/>
                </a:solidFill>
                <a:latin typeface="EB Garamond"/>
                <a:cs typeface="Noto Naskh Arabic"/>
              </a:rPr>
              <a:t>قطر الشمس أكبر من قطر القمر بنحو ٤٠٠ مرة، وهي أبعد عنا بنحو ٤٠٠ مرة أيضًا — قطر زاوي نصف درجة (Angular diameter)</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النتيجة: </a:t>
            </a:r>
            <a:pPr rtl="1" algn="r" indent="0" marL="0">
              <a:buNone/>
            </a:pPr>
            <a:r>
              <a:rPr lang="ar-EG" altLang="en-US" sz="1800" dirty="0">
                <a:solidFill>
                  <a:srgbClr val="F0E0B0"/>
                </a:solidFill>
                <a:latin typeface="EB Garamond"/>
                <a:cs typeface="Noto Naskh Arabic"/>
              </a:rPr>
              <a:t>يبدو القرصان في السماء بالحجم نفسه تقريبًا: نحو نصف درجة</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القمر قريب — الحضيض (Perigee): </a:t>
            </a:r>
            <a:pPr rtl="1" algn="r" indent="0" marL="0">
              <a:buNone/>
            </a:pPr>
            <a:r>
              <a:rPr lang="ar-EG" altLang="en-US" sz="1800" dirty="0">
                <a:solidFill>
                  <a:srgbClr val="F0E0B0"/>
                </a:solidFill>
                <a:latin typeface="EB Garamond"/>
                <a:cs typeface="Noto Naskh Arabic"/>
              </a:rPr>
              <a:t>يبدو أكبر من الشمس فيحجبها كلها ← كسوف كلي (Total)</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القمر بعيد — الأوج (Apogee): </a:t>
            </a:r>
            <a:pPr rtl="1" algn="r" indent="0" marL="0">
              <a:buNone/>
            </a:pPr>
            <a:r>
              <a:rPr lang="ar-EG" altLang="en-US" sz="1800" dirty="0">
                <a:solidFill>
                  <a:srgbClr val="F0E0B0"/>
                </a:solidFill>
                <a:latin typeface="EB Garamond"/>
                <a:cs typeface="Noto Naskh Arabic"/>
              </a:rPr>
              <a:t>تبقى حلقة مضيئة حوله ← كسوف حلقي (Annular)</a:t>
            </a:r>
            <a:endParaRPr lang="ar-EG" sz="1800" dirty="0">
              <a:latin typeface="EB Garamond"/>
              <a:cs typeface="Noto Naskh Arabic"/>
            </a:endParaRPr>
          </a:p>
        </p:txBody>
      </p:sp>
      <p:sp>
        <p:nvSpPr>
          <p:cNvPr id="8" name="Text 5"/>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كتاب «الكسوف الكلي للشمس — ٢٠٢٧»، الشكل ١-١</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a:t>
            </a:fld>
            <a:endParaRPr lang="en-US">
              <a:latin typeface="EB Garamond"/>
              <a:cs typeface="Noto Naskh Arab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box"/>
          <p:cNvSpPr/>
          <p:nvPr/>
        </p:nvSpPr>
        <p:spPr>
          <a:xfrm>
            <a:off x="6551676" y="182880"/>
            <a:ext cx="5091379" cy="274320"/>
          </a:xfrm>
          <a:prstGeom prst="rect">
            <a:avLst/>
          </a:prstGeom>
          <a:solidFill>
            <a:srgbClr val="1B3A6B"/>
          </a:solidFill>
          <a:ln w="12700">
            <a:solidFill>
              <a:srgbClr val="E8B84B"/>
            </a:solidFill>
            <a:prstDash val="solid"/>
          </a:ln>
        </p:spPr>
      </p:sp>
      <p:sp>
        <p:nvSpPr>
          <p:cNvPr id="3" name="kicker"/>
          <p:cNvSpPr txBox="1"/>
          <p:nvPr/>
        </p:nvSpPr>
        <p:spPr>
          <a:xfrm>
            <a:off x="6551676" y="182880"/>
            <a:ext cx="5091379"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UMBRA, PENUMBRA AND THE TYPES OF SOLAR ECLIPSE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الظل الكامل وشبه الظل وأنواع الكسوف</a:t>
            </a:r>
            <a:endParaRPr lang="ar-EG" sz="3000" dirty="0">
              <a:latin typeface="EB Garamond"/>
              <a:cs typeface="Amiri"/>
            </a:endParaRPr>
          </a:p>
        </p:txBody>
      </p:sp>
      <p:pic>
        <p:nvPicPr>
          <p:cNvPr id="5" name="shadowGeom" descr="shadowGeom">    </p:cNvPr>
          <p:cNvPicPr>
            <a:picLocks noChangeAspect="1"/>
          </p:cNvPicPr>
          <p:nvPr/>
        </p:nvPicPr>
        <p:blipFill>
          <a:blip r:embed="rId1"/>
          <a:stretch>
            <a:fillRect/>
          </a:stretch>
        </p:blipFill>
        <p:spPr>
          <a:xfrm>
            <a:off x="548640" y="2086716"/>
            <a:ext cx="5897880" cy="3141768"/>
          </a:xfrm>
          <a:prstGeom prst="rect">
            <a:avLst/>
          </a:prstGeom>
        </p:spPr>
      </p:pic>
      <p:sp>
        <p:nvSpPr>
          <p:cNvPr id="6" name="Text 3"/>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F0E0B0"/>
                </a:solidFill>
                <a:latin typeface="EB Garamond"/>
                <a:cs typeface="Noto Naskh Arabic"/>
              </a:rPr>
              <a:t>الظل الكامل (Umbra): </a:t>
            </a:r>
            <a:pPr rtl="1" algn="r" indent="0" marL="0">
              <a:buNone/>
            </a:pPr>
            <a:r>
              <a:rPr lang="ar-EG" altLang="en-US" sz="1900" dirty="0">
                <a:solidFill>
                  <a:srgbClr val="F0E0B0"/>
                </a:solidFill>
                <a:latin typeface="EB Garamond"/>
                <a:cs typeface="Noto Naskh Arabic"/>
              </a:rPr>
              <a:t>لا يصله أي ضوء من قرص الشمس؛ من يقف فيه يرى كسوفًا كليًا</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شبه الظل (Penumbra): </a:t>
            </a:r>
            <a:pPr rtl="1" algn="r" indent="0" marL="0">
              <a:buNone/>
            </a:pPr>
            <a:r>
              <a:rPr lang="ar-EG" altLang="en-US" sz="1900" dirty="0">
                <a:solidFill>
                  <a:srgbClr val="F0E0B0"/>
                </a:solidFill>
                <a:latin typeface="EB Garamond"/>
                <a:cs typeface="Noto Naskh Arabic"/>
              </a:rPr>
              <a:t>يحجب جزءًا من القرص فقط؛ من يقف فيه يرى كسوفًا جزئيًا</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الظل المضاد (Antumbra): </a:t>
            </a:r>
            <a:pPr rtl="1" algn="r" indent="0" marL="0">
              <a:buNone/>
            </a:pPr>
            <a:r>
              <a:rPr lang="ar-EG" altLang="en-US" sz="1900" dirty="0">
                <a:solidFill>
                  <a:srgbClr val="F0E0B0"/>
                </a:solidFill>
                <a:latin typeface="EB Garamond"/>
                <a:cs typeface="Noto Naskh Arabic"/>
              </a:rPr>
              <a:t>إذا لم يبلغ رأس الظل الأرض نرى حلقة من نار: كسوف حلقي</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الهجين (Hybrid): </a:t>
            </a:r>
            <a:pPr rtl="1" algn="r" indent="0" marL="0">
              <a:buNone/>
            </a:pPr>
            <a:r>
              <a:rPr lang="ar-EG" altLang="en-US" sz="1900" dirty="0">
                <a:solidFill>
                  <a:srgbClr val="F0E0B0"/>
                </a:solidFill>
                <a:latin typeface="EB Garamond"/>
                <a:cs typeface="Noto Naskh Arabic"/>
              </a:rPr>
              <a:t>حلقي في جزء من المسار وكلي في جزء آخر، مثل كسوف ١٠٠٤م فوق القاهرة</a:t>
            </a:r>
            <a:endParaRPr lang="ar-EG" sz="19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٤-١ من الكتاب: مخروطا ظل القمر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a:t>
            </a:fld>
            <a:endParaRPr lang="en-US">
              <a:latin typeface="EB Garamond"/>
              <a:cs typeface="Noto Naskh Arabic"/>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box"/>
          <p:cNvSpPr/>
          <p:nvPr/>
        </p:nvSpPr>
        <p:spPr>
          <a:xfrm>
            <a:off x="8033004" y="182880"/>
            <a:ext cx="3610051" cy="274320"/>
          </a:xfrm>
          <a:prstGeom prst="rect">
            <a:avLst/>
          </a:prstGeom>
          <a:solidFill>
            <a:srgbClr val="1B3A6B"/>
          </a:solidFill>
          <a:ln w="12700">
            <a:solidFill>
              <a:srgbClr val="E8B84B"/>
            </a:solidFill>
            <a:prstDash val="solid"/>
          </a:ln>
        </p:spPr>
      </p:sp>
      <p:sp>
        <p:nvSpPr>
          <p:cNvPr id="3" name="kicker"/>
          <p:cNvSpPr txBox="1"/>
          <p:nvPr/>
        </p:nvSpPr>
        <p:spPr>
          <a:xfrm>
            <a:off x="8033004" y="182880"/>
            <a:ext cx="3610051"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SOLAR ECLIPSE VS. LUNAR ECLIPSE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الكسوف والخسوف: ما الفرق؟</a:t>
            </a:r>
            <a:endParaRPr lang="ar-EG" sz="3000" dirty="0">
              <a:latin typeface="EB Garamond"/>
              <a:cs typeface="Amiri"/>
            </a:endParaRPr>
          </a:p>
        </p:txBody>
      </p:sp>
      <p:sp>
        <p:nvSpPr>
          <p:cNvPr id="5" name="compare-0"/>
          <p:cNvSpPr/>
          <p:nvPr/>
        </p:nvSpPr>
        <p:spPr>
          <a:xfrm>
            <a:off x="6293815" y="1371600"/>
            <a:ext cx="5349240" cy="4617720"/>
          </a:xfrm>
          <a:prstGeom prst="rect">
            <a:avLst/>
          </a:prstGeom>
          <a:solidFill>
            <a:srgbClr val="161F2F"/>
          </a:solidFill>
          <a:ln w="9525">
            <a:solidFill>
              <a:srgbClr val="C9962B"/>
            </a:solidFill>
            <a:prstDash val="solid"/>
          </a:ln>
        </p:spPr>
      </p:sp>
      <p:sp>
        <p:nvSpPr>
          <p:cNvPr id="6" name="compare-0-accent"/>
          <p:cNvSpPr/>
          <p:nvPr/>
        </p:nvSpPr>
        <p:spPr>
          <a:xfrm>
            <a:off x="11579047" y="1371600"/>
            <a:ext cx="64008" cy="4617720"/>
          </a:xfrm>
          <a:prstGeom prst="rect">
            <a:avLst/>
          </a:prstGeom>
          <a:solidFill>
            <a:srgbClr val="C9962B"/>
          </a:solidFill>
          <a:ln w="12700">
            <a:solidFill>
              <a:srgbClr val="C9962B"/>
            </a:solidFill>
            <a:prstDash val="solid"/>
          </a:ln>
        </p:spPr>
      </p:sp>
      <p:sp>
        <p:nvSpPr>
          <p:cNvPr id="7" name="compare-icon-0"/>
          <p:cNvSpPr/>
          <p:nvPr/>
        </p:nvSpPr>
        <p:spPr>
          <a:xfrm>
            <a:off x="10774375" y="1627632"/>
            <a:ext cx="548640" cy="548640"/>
          </a:xfrm>
          <a:prstGeom prst="ellipse">
            <a:avLst/>
          </a:prstGeom>
          <a:solidFill>
            <a:srgbClr val="130E07"/>
          </a:solidFill>
          <a:ln w="31750">
            <a:solidFill>
              <a:srgbClr val="C9962B"/>
            </a:solidFill>
            <a:prstDash val="solid"/>
          </a:ln>
        </p:spPr>
      </p:sp>
      <p:sp>
        <p:nvSpPr>
          <p:cNvPr id="8" name="Text 6"/>
          <p:cNvSpPr txBox="1"/>
          <p:nvPr/>
        </p:nvSpPr>
        <p:spPr>
          <a:xfrm>
            <a:off x="6568135" y="1536192"/>
            <a:ext cx="4069080" cy="457200"/>
          </a:xfrm>
          <a:prstGeom prst="rect">
            <a:avLst/>
          </a:prstGeom>
          <a:noFill/>
          <a:ln/>
        </p:spPr>
        <p:txBody>
          <a:bodyPr wrap="square" lIns="0" tIns="0" rIns="0" bIns="0" rtlCol="0" anchor="ctr"/>
          <a:lstStyle/>
          <a:p>
            <a:pPr rtl="1" algn="r" indent="0" marL="0">
              <a:buNone/>
            </a:pPr>
            <a:r>
              <a:rPr lang="ar-EG" altLang="en-US" sz="2400" b="1" dirty="0">
                <a:solidFill>
                  <a:srgbClr val="C9962B"/>
                </a:solidFill>
                <a:latin typeface="EB Garamond"/>
                <a:cs typeface="Amiri"/>
              </a:rPr>
              <a:t>كسوف الشمس</a:t>
            </a:r>
            <a:endParaRPr lang="ar-EG" sz="2400" dirty="0">
              <a:latin typeface="EB Garamond"/>
              <a:cs typeface="Amiri"/>
            </a:endParaRPr>
          </a:p>
        </p:txBody>
      </p:sp>
      <p:sp>
        <p:nvSpPr>
          <p:cNvPr id="9" name="Text 7"/>
          <p:cNvSpPr txBox="1"/>
          <p:nvPr/>
        </p:nvSpPr>
        <p:spPr>
          <a:xfrm>
            <a:off x="6568135" y="1975104"/>
            <a:ext cx="4069080" cy="274320"/>
          </a:xfrm>
          <a:prstGeom prst="rect">
            <a:avLst/>
          </a:prstGeom>
          <a:noFill/>
          <a:ln/>
        </p:spPr>
        <p:txBody>
          <a:bodyPr wrap="square" lIns="0" tIns="0" rIns="0" bIns="0" rtlCol="0" anchor="ctr"/>
          <a:lstStyle/>
          <a:p>
            <a:pPr algn="r" indent="0" marL="0">
              <a:buNone/>
            </a:pPr>
            <a:r>
              <a:rPr lang="en-US" altLang="en-US" sz="1300" i="1" dirty="0">
                <a:solidFill>
                  <a:srgbClr val="9C8B6E"/>
                </a:solidFill>
                <a:latin typeface="EB Garamond"/>
                <a:cs typeface="Noto Naskh Arabic"/>
              </a:rPr>
              <a:t>Solar eclipse</a:t>
            </a:r>
            <a:endParaRPr lang="en-US" sz="1300" dirty="0">
              <a:latin typeface="EB Garamond"/>
              <a:cs typeface="Noto Naskh Arabic"/>
            </a:endParaRPr>
          </a:p>
        </p:txBody>
      </p:sp>
      <p:sp>
        <p:nvSpPr>
          <p:cNvPr id="10" name="Text 8"/>
          <p:cNvSpPr txBox="1"/>
          <p:nvPr/>
        </p:nvSpPr>
        <p:spPr>
          <a:xfrm>
            <a:off x="9951415" y="2377440"/>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الترتيب</a:t>
            </a:r>
            <a:endParaRPr lang="ar-EG" sz="1500" dirty="0">
              <a:latin typeface="EB Garamond"/>
              <a:cs typeface="Noto Naskh Arabic"/>
            </a:endParaRPr>
          </a:p>
        </p:txBody>
      </p:sp>
      <p:sp>
        <p:nvSpPr>
          <p:cNvPr id="11" name="Text 9"/>
          <p:cNvSpPr txBox="1"/>
          <p:nvPr/>
        </p:nvSpPr>
        <p:spPr>
          <a:xfrm>
            <a:off x="6568135" y="2377440"/>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الشمس ← القمر ← الأرض</a:t>
            </a:r>
            <a:endParaRPr lang="ar-EG" sz="1500" dirty="0">
              <a:latin typeface="EB Garamond"/>
              <a:cs typeface="Noto Naskh Arabic"/>
            </a:endParaRPr>
          </a:p>
        </p:txBody>
      </p:sp>
      <p:sp>
        <p:nvSpPr>
          <p:cNvPr id="12" name="Text 10"/>
          <p:cNvSpPr txBox="1"/>
          <p:nvPr/>
        </p:nvSpPr>
        <p:spPr>
          <a:xfrm>
            <a:off x="9951415" y="3090672"/>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متى؟</a:t>
            </a:r>
            <a:endParaRPr lang="ar-EG" sz="1500" dirty="0">
              <a:latin typeface="EB Garamond"/>
              <a:cs typeface="Noto Naskh Arabic"/>
            </a:endParaRPr>
          </a:p>
        </p:txBody>
      </p:sp>
      <p:sp>
        <p:nvSpPr>
          <p:cNvPr id="13" name="Text 11"/>
          <p:cNvSpPr txBox="1"/>
          <p:nvPr/>
        </p:nvSpPr>
        <p:spPr>
          <a:xfrm>
            <a:off x="6568135" y="3090672"/>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عند المحاق: آخر الشهر القمري (٢٨ أو ٢٩)</a:t>
            </a:r>
            <a:endParaRPr lang="ar-EG" sz="1500" dirty="0">
              <a:latin typeface="EB Garamond"/>
              <a:cs typeface="Noto Naskh Arabic"/>
            </a:endParaRPr>
          </a:p>
        </p:txBody>
      </p:sp>
      <p:sp>
        <p:nvSpPr>
          <p:cNvPr id="14" name="Text 12"/>
          <p:cNvSpPr txBox="1"/>
          <p:nvPr/>
        </p:nvSpPr>
        <p:spPr>
          <a:xfrm>
            <a:off x="9951415" y="3803904"/>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من يراه؟</a:t>
            </a:r>
            <a:endParaRPr lang="ar-EG" sz="1500" dirty="0">
              <a:latin typeface="EB Garamond"/>
              <a:cs typeface="Noto Naskh Arabic"/>
            </a:endParaRPr>
          </a:p>
        </p:txBody>
      </p:sp>
      <p:sp>
        <p:nvSpPr>
          <p:cNvPr id="15" name="Text 13"/>
          <p:cNvSpPr txBox="1"/>
          <p:nvPr/>
        </p:nvSpPr>
        <p:spPr>
          <a:xfrm>
            <a:off x="6568135" y="3803904"/>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شريط ضيق على الأرض (الكلي)، وما حوله جزئيًا</a:t>
            </a:r>
            <a:endParaRPr lang="ar-EG" sz="1500" dirty="0">
              <a:latin typeface="EB Garamond"/>
              <a:cs typeface="Noto Naskh Arabic"/>
            </a:endParaRPr>
          </a:p>
        </p:txBody>
      </p:sp>
      <p:sp>
        <p:nvSpPr>
          <p:cNvPr id="16" name="Text 14"/>
          <p:cNvSpPr txBox="1"/>
          <p:nvPr/>
        </p:nvSpPr>
        <p:spPr>
          <a:xfrm>
            <a:off x="9951415" y="4517136"/>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مدة الكلية</a:t>
            </a:r>
            <a:endParaRPr lang="ar-EG" sz="1500" dirty="0">
              <a:latin typeface="EB Garamond"/>
              <a:cs typeface="Noto Naskh Arabic"/>
            </a:endParaRPr>
          </a:p>
        </p:txBody>
      </p:sp>
      <p:sp>
        <p:nvSpPr>
          <p:cNvPr id="17" name="Text 15"/>
          <p:cNvSpPr txBox="1"/>
          <p:nvPr/>
        </p:nvSpPr>
        <p:spPr>
          <a:xfrm>
            <a:off x="6568135" y="4517136"/>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دقائق: أقصاها نحو ٧ دقائق ونصف</a:t>
            </a:r>
            <a:endParaRPr lang="ar-EG" sz="1500" dirty="0">
              <a:latin typeface="EB Garamond"/>
              <a:cs typeface="Noto Naskh Arabic"/>
            </a:endParaRPr>
          </a:p>
        </p:txBody>
      </p:sp>
      <p:sp>
        <p:nvSpPr>
          <p:cNvPr id="18" name="Text 16"/>
          <p:cNvSpPr txBox="1"/>
          <p:nvPr/>
        </p:nvSpPr>
        <p:spPr>
          <a:xfrm>
            <a:off x="9951415" y="5230368"/>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السلامة</a:t>
            </a:r>
            <a:endParaRPr lang="ar-EG" sz="1500" dirty="0">
              <a:latin typeface="EB Garamond"/>
              <a:cs typeface="Noto Naskh Arabic"/>
            </a:endParaRPr>
          </a:p>
        </p:txBody>
      </p:sp>
      <p:sp>
        <p:nvSpPr>
          <p:cNvPr id="19" name="Text 17"/>
          <p:cNvSpPr txBox="1"/>
          <p:nvPr/>
        </p:nvSpPr>
        <p:spPr>
          <a:xfrm>
            <a:off x="6568135" y="5230368"/>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لا يُنظر إليه إلا بنظارة معتمدة، إلا لحظة الكلية</a:t>
            </a:r>
            <a:endParaRPr lang="ar-EG" sz="1500" dirty="0">
              <a:latin typeface="EB Garamond"/>
              <a:cs typeface="Noto Naskh Arabic"/>
            </a:endParaRPr>
          </a:p>
        </p:txBody>
      </p:sp>
      <p:sp>
        <p:nvSpPr>
          <p:cNvPr id="20" name="compare-1"/>
          <p:cNvSpPr/>
          <p:nvPr/>
        </p:nvSpPr>
        <p:spPr>
          <a:xfrm>
            <a:off x="548640" y="1371600"/>
            <a:ext cx="5349240" cy="4617720"/>
          </a:xfrm>
          <a:prstGeom prst="rect">
            <a:avLst/>
          </a:prstGeom>
          <a:solidFill>
            <a:srgbClr val="161F2F"/>
          </a:solidFill>
          <a:ln w="9525">
            <a:solidFill>
              <a:srgbClr val="C9962B"/>
            </a:solidFill>
            <a:prstDash val="solid"/>
          </a:ln>
        </p:spPr>
      </p:sp>
      <p:sp>
        <p:nvSpPr>
          <p:cNvPr id="21" name="compare-1-accent"/>
          <p:cNvSpPr/>
          <p:nvPr/>
        </p:nvSpPr>
        <p:spPr>
          <a:xfrm>
            <a:off x="5833872" y="1371600"/>
            <a:ext cx="64008" cy="4617720"/>
          </a:xfrm>
          <a:prstGeom prst="rect">
            <a:avLst/>
          </a:prstGeom>
          <a:solidFill>
            <a:srgbClr val="C9962B"/>
          </a:solidFill>
          <a:ln w="12700">
            <a:solidFill>
              <a:srgbClr val="C9962B"/>
            </a:solidFill>
            <a:prstDash val="solid"/>
          </a:ln>
        </p:spPr>
      </p:sp>
      <p:sp>
        <p:nvSpPr>
          <p:cNvPr id="22" name="compare-icon-1"/>
          <p:cNvSpPr/>
          <p:nvPr/>
        </p:nvSpPr>
        <p:spPr>
          <a:xfrm>
            <a:off x="5029200" y="1627632"/>
            <a:ext cx="548640" cy="548640"/>
          </a:xfrm>
          <a:prstGeom prst="ellipse">
            <a:avLst/>
          </a:prstGeom>
          <a:solidFill>
            <a:srgbClr val="8B3A1A"/>
          </a:solidFill>
          <a:ln w="31750">
            <a:solidFill>
              <a:srgbClr val="E8B84B"/>
            </a:solidFill>
            <a:prstDash val="solid"/>
          </a:ln>
        </p:spPr>
      </p:sp>
      <p:sp>
        <p:nvSpPr>
          <p:cNvPr id="23" name="Text 21"/>
          <p:cNvSpPr txBox="1"/>
          <p:nvPr/>
        </p:nvSpPr>
        <p:spPr>
          <a:xfrm>
            <a:off x="822960" y="1536192"/>
            <a:ext cx="4069080" cy="457200"/>
          </a:xfrm>
          <a:prstGeom prst="rect">
            <a:avLst/>
          </a:prstGeom>
          <a:noFill/>
          <a:ln/>
        </p:spPr>
        <p:txBody>
          <a:bodyPr wrap="square" lIns="0" tIns="0" rIns="0" bIns="0" rtlCol="0" anchor="ctr"/>
          <a:lstStyle/>
          <a:p>
            <a:pPr rtl="1" algn="r" indent="0" marL="0">
              <a:buNone/>
            </a:pPr>
            <a:r>
              <a:rPr lang="ar-EG" altLang="en-US" sz="2400" b="1" dirty="0">
                <a:solidFill>
                  <a:srgbClr val="E8B84B"/>
                </a:solidFill>
                <a:latin typeface="EB Garamond"/>
                <a:cs typeface="Amiri"/>
              </a:rPr>
              <a:t>خسوف القمر</a:t>
            </a:r>
            <a:endParaRPr lang="ar-EG" sz="2400" dirty="0">
              <a:latin typeface="EB Garamond"/>
              <a:cs typeface="Amiri"/>
            </a:endParaRPr>
          </a:p>
        </p:txBody>
      </p:sp>
      <p:sp>
        <p:nvSpPr>
          <p:cNvPr id="24" name="Text 22"/>
          <p:cNvSpPr txBox="1"/>
          <p:nvPr/>
        </p:nvSpPr>
        <p:spPr>
          <a:xfrm>
            <a:off x="822960" y="1975104"/>
            <a:ext cx="4069080" cy="274320"/>
          </a:xfrm>
          <a:prstGeom prst="rect">
            <a:avLst/>
          </a:prstGeom>
          <a:noFill/>
          <a:ln/>
        </p:spPr>
        <p:txBody>
          <a:bodyPr wrap="square" lIns="0" tIns="0" rIns="0" bIns="0" rtlCol="0" anchor="ctr"/>
          <a:lstStyle/>
          <a:p>
            <a:pPr algn="r" indent="0" marL="0">
              <a:buNone/>
            </a:pPr>
            <a:r>
              <a:rPr lang="en-US" altLang="en-US" sz="1300" i="1" dirty="0">
                <a:solidFill>
                  <a:srgbClr val="9C8B6E"/>
                </a:solidFill>
                <a:latin typeface="EB Garamond"/>
                <a:cs typeface="Noto Naskh Arabic"/>
              </a:rPr>
              <a:t>Lunar eclipse</a:t>
            </a:r>
            <a:endParaRPr lang="en-US" sz="1300" dirty="0">
              <a:latin typeface="EB Garamond"/>
              <a:cs typeface="Noto Naskh Arabic"/>
            </a:endParaRPr>
          </a:p>
        </p:txBody>
      </p:sp>
      <p:sp>
        <p:nvSpPr>
          <p:cNvPr id="25" name="Text 23"/>
          <p:cNvSpPr txBox="1"/>
          <p:nvPr/>
        </p:nvSpPr>
        <p:spPr>
          <a:xfrm>
            <a:off x="4206240" y="2377440"/>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الترتيب</a:t>
            </a:r>
            <a:endParaRPr lang="ar-EG" sz="1500" dirty="0">
              <a:latin typeface="EB Garamond"/>
              <a:cs typeface="Noto Naskh Arabic"/>
            </a:endParaRPr>
          </a:p>
        </p:txBody>
      </p:sp>
      <p:sp>
        <p:nvSpPr>
          <p:cNvPr id="26" name="Text 24"/>
          <p:cNvSpPr txBox="1"/>
          <p:nvPr/>
        </p:nvSpPr>
        <p:spPr>
          <a:xfrm>
            <a:off x="822960" y="2377440"/>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الشمس ← الأرض ← القمر</a:t>
            </a:r>
            <a:endParaRPr lang="ar-EG" sz="1500" dirty="0">
              <a:latin typeface="EB Garamond"/>
              <a:cs typeface="Noto Naskh Arabic"/>
            </a:endParaRPr>
          </a:p>
        </p:txBody>
      </p:sp>
      <p:sp>
        <p:nvSpPr>
          <p:cNvPr id="27" name="Text 25"/>
          <p:cNvSpPr txBox="1"/>
          <p:nvPr/>
        </p:nvSpPr>
        <p:spPr>
          <a:xfrm>
            <a:off x="4206240" y="3090672"/>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متى؟</a:t>
            </a:r>
            <a:endParaRPr lang="ar-EG" sz="1500" dirty="0">
              <a:latin typeface="EB Garamond"/>
              <a:cs typeface="Noto Naskh Arabic"/>
            </a:endParaRPr>
          </a:p>
        </p:txBody>
      </p:sp>
      <p:sp>
        <p:nvSpPr>
          <p:cNvPr id="28" name="Text 26"/>
          <p:cNvSpPr txBox="1"/>
          <p:nvPr/>
        </p:nvSpPr>
        <p:spPr>
          <a:xfrm>
            <a:off x="822960" y="3090672"/>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عند البدر: منتصف الشهر القمري (١٤ أو ١٥)</a:t>
            </a:r>
            <a:endParaRPr lang="ar-EG" sz="1500" dirty="0">
              <a:latin typeface="EB Garamond"/>
              <a:cs typeface="Noto Naskh Arabic"/>
            </a:endParaRPr>
          </a:p>
        </p:txBody>
      </p:sp>
      <p:sp>
        <p:nvSpPr>
          <p:cNvPr id="29" name="Text 27"/>
          <p:cNvSpPr txBox="1"/>
          <p:nvPr/>
        </p:nvSpPr>
        <p:spPr>
          <a:xfrm>
            <a:off x="4206240" y="3803904"/>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من يراه؟</a:t>
            </a:r>
            <a:endParaRPr lang="ar-EG" sz="1500" dirty="0">
              <a:latin typeface="EB Garamond"/>
              <a:cs typeface="Noto Naskh Arabic"/>
            </a:endParaRPr>
          </a:p>
        </p:txBody>
      </p:sp>
      <p:sp>
        <p:nvSpPr>
          <p:cNvPr id="30" name="Text 28"/>
          <p:cNvSpPr txBox="1"/>
          <p:nvPr/>
        </p:nvSpPr>
        <p:spPr>
          <a:xfrm>
            <a:off x="822960" y="3803904"/>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كل من كان القمر فوق أفقه: نصف الكرة الأرضية</a:t>
            </a:r>
            <a:endParaRPr lang="ar-EG" sz="1500" dirty="0">
              <a:latin typeface="EB Garamond"/>
              <a:cs typeface="Noto Naskh Arabic"/>
            </a:endParaRPr>
          </a:p>
        </p:txBody>
      </p:sp>
      <p:sp>
        <p:nvSpPr>
          <p:cNvPr id="31" name="Text 29"/>
          <p:cNvSpPr txBox="1"/>
          <p:nvPr/>
        </p:nvSpPr>
        <p:spPr>
          <a:xfrm>
            <a:off x="4206240" y="4517136"/>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مدة الكلية</a:t>
            </a:r>
            <a:endParaRPr lang="ar-EG" sz="1500" dirty="0">
              <a:latin typeface="EB Garamond"/>
              <a:cs typeface="Noto Naskh Arabic"/>
            </a:endParaRPr>
          </a:p>
        </p:txBody>
      </p:sp>
      <p:sp>
        <p:nvSpPr>
          <p:cNvPr id="32" name="Text 30"/>
          <p:cNvSpPr txBox="1"/>
          <p:nvPr/>
        </p:nvSpPr>
        <p:spPr>
          <a:xfrm>
            <a:off x="822960" y="4517136"/>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قد تبلغ ساعة وأربعين دقيقة</a:t>
            </a:r>
            <a:endParaRPr lang="ar-EG" sz="1500" dirty="0">
              <a:latin typeface="EB Garamond"/>
              <a:cs typeface="Noto Naskh Arabic"/>
            </a:endParaRPr>
          </a:p>
        </p:txBody>
      </p:sp>
      <p:sp>
        <p:nvSpPr>
          <p:cNvPr id="33" name="Text 31"/>
          <p:cNvSpPr txBox="1"/>
          <p:nvPr/>
        </p:nvSpPr>
        <p:spPr>
          <a:xfrm>
            <a:off x="4206240" y="5230368"/>
            <a:ext cx="1417320" cy="59436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السلامة</a:t>
            </a:r>
            <a:endParaRPr lang="ar-EG" sz="1500" dirty="0">
              <a:latin typeface="EB Garamond"/>
              <a:cs typeface="Noto Naskh Arabic"/>
            </a:endParaRPr>
          </a:p>
        </p:txBody>
      </p:sp>
      <p:sp>
        <p:nvSpPr>
          <p:cNvPr id="34" name="Text 32"/>
          <p:cNvSpPr txBox="1"/>
          <p:nvPr/>
        </p:nvSpPr>
        <p:spPr>
          <a:xfrm>
            <a:off x="822960" y="5230368"/>
            <a:ext cx="3246120" cy="64008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آمن تمامًا بالعين المجردة، ويحمرّ القمر</a:t>
            </a:r>
            <a:endParaRPr lang="ar-EG" sz="15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7</a:t>
            </a:fld>
            <a:endParaRPr lang="en-US">
              <a:latin typeface="EB Garamond"/>
              <a:cs typeface="Noto Naskh Arabic"/>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box"/>
          <p:cNvSpPr/>
          <p:nvPr/>
        </p:nvSpPr>
        <p:spPr>
          <a:xfrm>
            <a:off x="3885286" y="182880"/>
            <a:ext cx="7757770" cy="274320"/>
          </a:xfrm>
          <a:prstGeom prst="rect">
            <a:avLst/>
          </a:prstGeom>
          <a:solidFill>
            <a:srgbClr val="1B3A6B"/>
          </a:solidFill>
          <a:ln w="12700">
            <a:solidFill>
              <a:srgbClr val="E8B84B"/>
            </a:solidFill>
            <a:prstDash val="solid"/>
          </a:ln>
        </p:spPr>
      </p:sp>
      <p:sp>
        <p:nvSpPr>
          <p:cNvPr id="3" name="kicker"/>
          <p:cNvSpPr txBox="1"/>
          <p:nvPr/>
        </p:nvSpPr>
        <p:spPr>
          <a:xfrm>
            <a:off x="3885286" y="182880"/>
            <a:ext cx="775777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WHY NOT EVERY MONTH? ORBITAL INCLINATION, LUNAR NODES AND ECLIPSE SEASONS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لماذا لا يحدث الكسوف كل شهر؟</a:t>
            </a:r>
            <a:endParaRPr lang="ar-EG" sz="3000" dirty="0">
              <a:latin typeface="EB Garamond"/>
              <a:cs typeface="Amiri"/>
            </a:endParaRPr>
          </a:p>
        </p:txBody>
      </p:sp>
      <p:pic>
        <p:nvPicPr>
          <p:cNvPr id="5" name="inclination" descr="inclination">    </p:cNvPr>
          <p:cNvPicPr>
            <a:picLocks noChangeAspect="1"/>
          </p:cNvPicPr>
          <p:nvPr/>
        </p:nvPicPr>
        <p:blipFill>
          <a:blip r:embed="rId1"/>
          <a:stretch>
            <a:fillRect/>
          </a:stretch>
        </p:blipFill>
        <p:spPr>
          <a:xfrm>
            <a:off x="548640" y="1787281"/>
            <a:ext cx="5897880" cy="3740637"/>
          </a:xfrm>
          <a:prstGeom prst="rect">
            <a:avLst/>
          </a:prstGeom>
        </p:spPr>
      </p:pic>
      <p:sp>
        <p:nvSpPr>
          <p:cNvPr id="6" name="Text 3"/>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700" b="1" dirty="0">
                <a:solidFill>
                  <a:srgbClr val="F0E0B0"/>
                </a:solidFill>
                <a:latin typeface="EB Garamond"/>
                <a:cs typeface="Noto Naskh Arabic"/>
              </a:rPr>
              <a:t>ميل المدار ٥° (Inclination): </a:t>
            </a:r>
            <a:pPr rtl="1" algn="r" indent="0" marL="0">
              <a:buNone/>
            </a:pPr>
            <a:r>
              <a:rPr lang="ar-EG" altLang="en-US" sz="1700" dirty="0">
                <a:solidFill>
                  <a:srgbClr val="F0E0B0"/>
                </a:solidFill>
                <a:latin typeface="EB Garamond"/>
                <a:cs typeface="Noto Naskh Arabic"/>
              </a:rPr>
              <a:t>مدار القمر مائل نحو خمس درجات على مدار الأرض، فيمر القمر في أغلب الشهور فوق الشمس أو تحتها</a:t>
            </a:r>
            <a:endParaRPr lang="ar-EG" sz="1700" dirty="0">
              <a:latin typeface="EB Garamond"/>
              <a:cs typeface="Noto Naskh Arabic"/>
            </a:endParaRPr>
          </a:p>
          <a:p>
            <a:pPr rtl="1" algn="r" marL="228600" indent="-228600">
              <a:spcAft>
                <a:spcPts val="800"/>
              </a:spcAft>
              <a:buSzPct val="100000"/>
              <a:buChar char="•"/>
            </a:pPr>
            <a:r>
              <a:rPr lang="ar-EG" altLang="en-US" sz="1700" b="1" dirty="0">
                <a:solidFill>
                  <a:srgbClr val="F0E0B0"/>
                </a:solidFill>
                <a:latin typeface="EB Garamond"/>
                <a:cs typeface="Noto Naskh Arabic"/>
              </a:rPr>
              <a:t>العقدتان (Lunar nodes): </a:t>
            </a:r>
            <a:pPr rtl="1" algn="r" indent="0" marL="0">
              <a:buNone/>
            </a:pPr>
            <a:r>
              <a:rPr lang="ar-EG" altLang="en-US" sz="1700" dirty="0">
                <a:solidFill>
                  <a:srgbClr val="F0E0B0"/>
                </a:solidFill>
                <a:latin typeface="EB Garamond"/>
                <a:cs typeface="Noto Naskh Arabic"/>
              </a:rPr>
              <a:t>لا يقع الكسوف إلا إذا وافق المحاقُ وجودَ القمر قرب إحدى نقطتي تقاطع المدارين</a:t>
            </a:r>
            <a:endParaRPr lang="ar-EG" sz="1700" dirty="0">
              <a:latin typeface="EB Garamond"/>
              <a:cs typeface="Noto Naskh Arabic"/>
            </a:endParaRPr>
          </a:p>
          <a:p>
            <a:pPr rtl="1" algn="r" marL="228600" indent="-228600">
              <a:spcAft>
                <a:spcPts val="800"/>
              </a:spcAft>
              <a:buSzPct val="100000"/>
              <a:buChar char="•"/>
            </a:pPr>
            <a:r>
              <a:rPr lang="ar-EG" altLang="en-US" sz="1700" b="1" dirty="0">
                <a:solidFill>
                  <a:srgbClr val="F0E0B0"/>
                </a:solidFill>
                <a:latin typeface="EB Garamond"/>
                <a:cs typeface="Noto Naskh Arabic"/>
              </a:rPr>
              <a:t>موسما الكسوف (Eclipse seasons): </a:t>
            </a:r>
            <a:pPr rtl="1" algn="r" indent="0" marL="0">
              <a:buNone/>
            </a:pPr>
            <a:r>
              <a:rPr lang="ar-EG" altLang="en-US" sz="1700" dirty="0">
                <a:solidFill>
                  <a:srgbClr val="F0E0B0"/>
                </a:solidFill>
                <a:latin typeface="EB Garamond"/>
                <a:cs typeface="Noto Naskh Arabic"/>
              </a:rPr>
              <a:t>مرتان كل عام تقريبًا؛ في ٢٠٢٧ موسم فبراير (كسوف حلقي) وموسم يوليو–أغسطس (كسوفنا الكلي)</a:t>
            </a:r>
            <a:endParaRPr lang="ar-EG" sz="1700" dirty="0">
              <a:latin typeface="EB Garamond"/>
              <a:cs typeface="Noto Naskh Arabic"/>
            </a:endParaRPr>
          </a:p>
          <a:p>
            <a:pPr rtl="1" algn="r" marL="228600" indent="-228600">
              <a:spcAft>
                <a:spcPts val="800"/>
              </a:spcAft>
              <a:buSzPct val="100000"/>
              <a:buChar char="•"/>
            </a:pPr>
            <a:r>
              <a:rPr lang="ar-EG" altLang="en-US" sz="1700" b="1" dirty="0">
                <a:solidFill>
                  <a:srgbClr val="F0E0B0"/>
                </a:solidFill>
                <a:latin typeface="EB Garamond"/>
                <a:cs typeface="Noto Naskh Arabic"/>
              </a:rPr>
              <a:t>في السنة: </a:t>
            </a:r>
            <a:pPr rtl="1" algn="r" indent="0" marL="0">
              <a:buNone/>
            </a:pPr>
            <a:r>
              <a:rPr lang="ar-EG" altLang="en-US" sz="1700" dirty="0">
                <a:solidFill>
                  <a:srgbClr val="F0E0B0"/>
                </a:solidFill>
                <a:latin typeface="EB Garamond"/>
                <a:cs typeface="Noto Naskh Arabic"/>
              </a:rPr>
              <a:t>كسوفان للشمس على الأقل وخمسة على الأكثر، ومجموع الكسوفات والخسوفات لا يزيد على سبعة</a:t>
            </a:r>
            <a:endParaRPr lang="ar-EG" sz="17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٧-١ من الكتاب: ميل مدار القمر وعقدتاه</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8</a:t>
            </a:fld>
            <a:endParaRPr lang="en-US">
              <a:latin typeface="EB Garamond"/>
              <a:cs typeface="Noto Naskh Arabic"/>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box"/>
          <p:cNvSpPr/>
          <p:nvPr/>
        </p:nvSpPr>
        <p:spPr>
          <a:xfrm>
            <a:off x="5959145" y="182880"/>
            <a:ext cx="5683910" cy="274320"/>
          </a:xfrm>
          <a:prstGeom prst="rect">
            <a:avLst/>
          </a:prstGeom>
          <a:solidFill>
            <a:srgbClr val="1B3A6B"/>
          </a:solidFill>
          <a:ln w="12700">
            <a:solidFill>
              <a:srgbClr val="E8B84B"/>
            </a:solidFill>
            <a:prstDash val="solid"/>
          </a:ln>
        </p:spPr>
      </p:sp>
      <p:sp>
        <p:nvSpPr>
          <p:cNvPr id="3" name="kicker"/>
          <p:cNvSpPr txBox="1"/>
          <p:nvPr/>
        </p:nvSpPr>
        <p:spPr>
          <a:xfrm>
            <a:off x="5959145" y="182880"/>
            <a:ext cx="568391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PHASES OF A TOTAL ECLIPSE: THE FOUR CONTACTS (C1–C4)</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مراحل الكسوف الكلي: التماسات الأربعة</a:t>
            </a:r>
            <a:endParaRPr lang="ar-EG" sz="3000" dirty="0">
              <a:latin typeface="EB Garamond"/>
              <a:cs typeface="Amiri"/>
            </a:endParaRPr>
          </a:p>
        </p:txBody>
      </p:sp>
      <p:pic>
        <p:nvPicPr>
          <p:cNvPr id="5" name="contacts" descr="contacts">    </p:cNvPr>
          <p:cNvPicPr>
            <a:picLocks noChangeAspect="1"/>
          </p:cNvPicPr>
          <p:nvPr/>
        </p:nvPicPr>
        <p:blipFill>
          <a:blip r:embed="rId1"/>
          <a:stretch>
            <a:fillRect/>
          </a:stretch>
        </p:blipFill>
        <p:spPr>
          <a:xfrm>
            <a:off x="548640" y="2529281"/>
            <a:ext cx="5897880" cy="2256638"/>
          </a:xfrm>
          <a:prstGeom prst="rect">
            <a:avLst/>
          </a:prstGeom>
        </p:spPr>
      </p:pic>
      <p:sp>
        <p:nvSpPr>
          <p:cNvPr id="6" name="Text 3"/>
          <p:cNvSpPr txBox="1"/>
          <p:nvPr/>
        </p:nvSpPr>
        <p:spPr>
          <a:xfrm>
            <a:off x="6766560" y="1325880"/>
            <a:ext cx="4876495" cy="822960"/>
          </a:xfrm>
          <a:prstGeom prst="rect">
            <a:avLst/>
          </a:prstGeom>
          <a:noFill/>
          <a:ln/>
        </p:spPr>
        <p:txBody>
          <a:bodyPr wrap="square" lIns="0" tIns="0" rIns="0" bIns="0" rtlCol="0" anchor="t"/>
          <a:lstStyle/>
          <a:p>
            <a:pPr rtl="1" algn="r" indent="0" marL="0">
              <a:buNone/>
            </a:pPr>
            <a:r>
              <a:rPr lang="ar-EG" altLang="en-US" sz="2000" b="1" dirty="0">
                <a:solidFill>
                  <a:srgbClr val="E8B84B"/>
                </a:solidFill>
                <a:latin typeface="EB Garamond"/>
                <a:cs typeface="Noto Naskh Arabic"/>
              </a:rPr>
              <a:t>مثال: الأقصر يوم ٢ أغسطس ٢٠٢٧</a:t>
            </a:r>
            <a:endParaRPr lang="ar-EG" sz="2000" dirty="0">
              <a:latin typeface="EB Garamond"/>
              <a:cs typeface="Noto Naskh Arabic"/>
            </a:endParaRPr>
          </a:p>
        </p:txBody>
      </p:sp>
      <p:sp>
        <p:nvSpPr>
          <p:cNvPr id="7" name="Text 4"/>
          <p:cNvSpPr txBox="1"/>
          <p:nvPr/>
        </p:nvSpPr>
        <p:spPr>
          <a:xfrm>
            <a:off x="6766560" y="2194560"/>
            <a:ext cx="4876495" cy="384048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F0E0B0"/>
                </a:solidFill>
                <a:latin typeface="EB Garamond"/>
                <a:cs typeface="Noto Naskh Arabic"/>
              </a:rPr>
              <a:t>التماس الأول C1 — First contact (١١:٤٠:٠٧): </a:t>
            </a:r>
            <a:pPr rtl="1" algn="r" indent="0" marL="0">
              <a:buNone/>
            </a:pPr>
            <a:r>
              <a:rPr lang="ar-EG" altLang="en-US" sz="1600" dirty="0">
                <a:solidFill>
                  <a:srgbClr val="F0E0B0"/>
                </a:solidFill>
                <a:latin typeface="EB Garamond"/>
                <a:cs typeface="Noto Naskh Arabic"/>
              </a:rPr>
              <a:t>القمر يلمس حافة الشمس — يبدأ الجزئي</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التماس الثاني C2 — Second contact (١٣:٠١:٥٨): </a:t>
            </a:r>
            <a:pPr rtl="1" algn="r" indent="0" marL="0">
              <a:buNone/>
            </a:pPr>
            <a:r>
              <a:rPr lang="ar-EG" altLang="en-US" sz="1600" dirty="0">
                <a:solidFill>
                  <a:srgbClr val="F0E0B0"/>
                </a:solidFill>
                <a:latin typeface="EB Garamond"/>
                <a:cs typeface="Noto Naskh Arabic"/>
              </a:rPr>
              <a:t>يكتمل الحجب — تبدأ الكلية وتُنزع النظارة</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الذروة — Maximum (١٣:٠٥:٠٨): </a:t>
            </a:r>
            <a:pPr rtl="1" algn="r" indent="0" marL="0">
              <a:buNone/>
            </a:pPr>
            <a:r>
              <a:rPr lang="ar-EG" altLang="en-US" sz="1600" dirty="0">
                <a:solidFill>
                  <a:srgbClr val="F0E0B0"/>
                </a:solidFill>
                <a:latin typeface="EB Garamond"/>
                <a:cs typeface="Noto Naskh Arabic"/>
              </a:rPr>
              <a:t>منتصف الكلية والشمس على ارتفاع ٨٢° تقريبًا</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التماس الثالث C3 — Third contact (١٣:٠٨:١٨): </a:t>
            </a:r>
            <a:pPr rtl="1" algn="r" indent="0" marL="0">
              <a:buNone/>
            </a:pPr>
            <a:r>
              <a:rPr lang="ar-EG" altLang="en-US" sz="1600" dirty="0">
                <a:solidFill>
                  <a:srgbClr val="F0E0B0"/>
                </a:solidFill>
                <a:latin typeface="EB Garamond"/>
                <a:cs typeface="Noto Naskh Arabic"/>
              </a:rPr>
              <a:t>يعود أول شعاع — تُلبس النظارة فورًا</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التماس الرابع C4 — Fourth contact (١٤:٢٦:٢٥): </a:t>
            </a:r>
            <a:pPr rtl="1" algn="r" indent="0" marL="0">
              <a:buNone/>
            </a:pPr>
            <a:r>
              <a:rPr lang="ar-EG" altLang="en-US" sz="1600" dirty="0">
                <a:solidFill>
                  <a:srgbClr val="F0E0B0"/>
                </a:solidFill>
                <a:latin typeface="EB Garamond"/>
                <a:cs typeface="Noto Naskh Arabic"/>
              </a:rPr>
              <a:t>ينفصل القرصان وينتهي الكسوف</a:t>
            </a:r>
            <a:endParaRPr lang="ar-EG" sz="1600" dirty="0">
              <a:latin typeface="EB Garamond"/>
              <a:cs typeface="Noto Naskh Arabic"/>
            </a:endParaRPr>
          </a:p>
        </p:txBody>
      </p:sp>
      <p:sp>
        <p:nvSpPr>
          <p:cNvPr id="8" name="Text 5"/>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١٠-١ من الكتاب؛ الأوقات بتوقيت مصر الصيفي (ت.ع +٣)</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9</a:t>
            </a:fld>
            <a:endParaRPr lang="en-US">
              <a:latin typeface="EB Garamond"/>
              <a:cs typeface="Noto Naskh Arabic"/>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box"/>
          <p:cNvSpPr/>
          <p:nvPr/>
        </p:nvSpPr>
        <p:spPr>
          <a:xfrm>
            <a:off x="7341718" y="182880"/>
            <a:ext cx="4301338" cy="274320"/>
          </a:xfrm>
          <a:prstGeom prst="rect">
            <a:avLst/>
          </a:prstGeom>
          <a:solidFill>
            <a:srgbClr val="1B3A6B"/>
          </a:solidFill>
          <a:ln w="12700">
            <a:solidFill>
              <a:srgbClr val="E8B84B"/>
            </a:solidFill>
            <a:prstDash val="solid"/>
          </a:ln>
        </p:spPr>
      </p:sp>
      <p:sp>
        <p:nvSpPr>
          <p:cNvPr id="3" name="kicker"/>
          <p:cNvSpPr txBox="1"/>
          <p:nvPr/>
        </p:nvSpPr>
        <p:spPr>
          <a:xfrm>
            <a:off x="7341718" y="182880"/>
            <a:ext cx="430133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WHAT VISITORS WILL SEE DURING TOTALITY</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ما سيراه الزوار خلال الكلية</a:t>
            </a:r>
            <a:endParaRPr lang="ar-EG" sz="3000" dirty="0">
              <a:latin typeface="EB Garamond"/>
              <a:cs typeface="Amiri"/>
            </a:endParaRPr>
          </a:p>
        </p:txBody>
      </p:sp>
      <p:sp>
        <p:nvSpPr>
          <p:cNvPr id="5" name="photo-card-0"/>
          <p:cNvSpPr/>
          <p:nvPr/>
        </p:nvSpPr>
        <p:spPr>
          <a:xfrm>
            <a:off x="9037015" y="1371600"/>
            <a:ext cx="2606040" cy="4389120"/>
          </a:xfrm>
          <a:prstGeom prst="rect">
            <a:avLst/>
          </a:prstGeom>
          <a:solidFill>
            <a:srgbClr val="24304A"/>
          </a:solidFill>
          <a:ln w="9525">
            <a:solidFill>
              <a:srgbClr val="2E3E5C"/>
            </a:solidFill>
            <a:prstDash val="solid"/>
          </a:ln>
        </p:spPr>
      </p:sp>
      <p:pic>
        <p:nvPicPr>
          <p:cNvPr id="6" name="photo-diamond" descr="الخاتم الماسي (Diamond ring)">    </p:cNvPr>
          <p:cNvPicPr>
            <a:picLocks noChangeAspect="1"/>
          </p:cNvPicPr>
          <p:nvPr/>
        </p:nvPicPr>
        <p:blipFill>
          <a:blip r:embed="rId1"/>
          <a:srcRect l="23176" r="23176" t="0" b="0"/>
          <a:stretch/>
        </p:blipFill>
        <p:spPr>
          <a:xfrm>
            <a:off x="9037015" y="1371600"/>
            <a:ext cx="2606040" cy="3291840"/>
          </a:xfrm>
          <a:prstGeom prst="rect">
            <a:avLst/>
          </a:prstGeom>
        </p:spPr>
      </p:pic>
      <p:sp>
        <p:nvSpPr>
          <p:cNvPr id="7" name="Text 4"/>
          <p:cNvSpPr txBox="1"/>
          <p:nvPr/>
        </p:nvSpPr>
        <p:spPr>
          <a:xfrm>
            <a:off x="917417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الخاتم الماسي</a:t>
            </a:r>
            <a:endParaRPr lang="ar-EG" sz="1700" dirty="0">
              <a:latin typeface="EB Garamond"/>
              <a:cs typeface="Noto Naskh Arabic"/>
            </a:endParaRPr>
          </a:p>
        </p:txBody>
      </p:sp>
      <p:sp>
        <p:nvSpPr>
          <p:cNvPr id="8" name="Text 5"/>
          <p:cNvSpPr txBox="1"/>
          <p:nvPr/>
        </p:nvSpPr>
        <p:spPr>
          <a:xfrm>
            <a:off x="917417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F0E0B0"/>
                </a:solidFill>
                <a:latin typeface="EB Garamond"/>
                <a:cs typeface="Noto Naskh Arabic"/>
              </a:rPr>
              <a:t>Diamond ring</a:t>
            </a:r>
            <a:endParaRPr lang="en-US" sz="1200" dirty="0">
              <a:latin typeface="EB Garamond"/>
              <a:cs typeface="Noto Naskh Arabic"/>
            </a:endParaRPr>
          </a:p>
        </p:txBody>
      </p:sp>
      <p:sp>
        <p:nvSpPr>
          <p:cNvPr id="9" name="Text 6"/>
          <p:cNvSpPr txBox="1"/>
          <p:nvPr/>
        </p:nvSpPr>
        <p:spPr>
          <a:xfrm>
            <a:off x="917417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F0E0B0"/>
                </a:solidFill>
                <a:latin typeface="EB Garamond"/>
                <a:cs typeface="Noto Naskh Arabic"/>
              </a:rPr>
              <a:t>لحظة قبل الكلية وبعدها مباشرة</a:t>
            </a:r>
            <a:endParaRPr lang="ar-EG" sz="1200" dirty="0">
              <a:latin typeface="EB Garamond"/>
              <a:cs typeface="Noto Naskh Arabic"/>
            </a:endParaRPr>
          </a:p>
        </p:txBody>
      </p:sp>
      <p:sp>
        <p:nvSpPr>
          <p:cNvPr id="10" name="photo-card-1"/>
          <p:cNvSpPr/>
          <p:nvPr/>
        </p:nvSpPr>
        <p:spPr>
          <a:xfrm>
            <a:off x="6248095" y="1371600"/>
            <a:ext cx="2606040" cy="4389120"/>
          </a:xfrm>
          <a:prstGeom prst="rect">
            <a:avLst/>
          </a:prstGeom>
          <a:solidFill>
            <a:srgbClr val="24304A"/>
          </a:solidFill>
          <a:ln w="9525">
            <a:solidFill>
              <a:srgbClr val="2E3E5C"/>
            </a:solidFill>
            <a:prstDash val="solid"/>
          </a:ln>
        </p:spPr>
      </p:sp>
      <p:pic>
        <p:nvPicPr>
          <p:cNvPr id="11" name="photo-beads" descr="حبات بيلي (Baily's beads)">    </p:cNvPr>
          <p:cNvPicPr>
            <a:picLocks noChangeAspect="1"/>
          </p:cNvPicPr>
          <p:nvPr/>
        </p:nvPicPr>
        <p:blipFill>
          <a:blip r:embed="rId2"/>
          <a:srcRect l="24317" r="24317" t="0" b="0"/>
          <a:stretch/>
        </p:blipFill>
        <p:spPr>
          <a:xfrm>
            <a:off x="6248095" y="1371600"/>
            <a:ext cx="2606040" cy="3291840"/>
          </a:xfrm>
          <a:prstGeom prst="rect">
            <a:avLst/>
          </a:prstGeom>
        </p:spPr>
      </p:pic>
      <p:sp>
        <p:nvSpPr>
          <p:cNvPr id="12" name="Text 8"/>
          <p:cNvSpPr txBox="1"/>
          <p:nvPr/>
        </p:nvSpPr>
        <p:spPr>
          <a:xfrm>
            <a:off x="638525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حبات بيلي</a:t>
            </a:r>
            <a:endParaRPr lang="ar-EG" sz="1700" dirty="0">
              <a:latin typeface="EB Garamond"/>
              <a:cs typeface="Noto Naskh Arabic"/>
            </a:endParaRPr>
          </a:p>
        </p:txBody>
      </p:sp>
      <p:sp>
        <p:nvSpPr>
          <p:cNvPr id="13" name="Text 9"/>
          <p:cNvSpPr txBox="1"/>
          <p:nvPr/>
        </p:nvSpPr>
        <p:spPr>
          <a:xfrm>
            <a:off x="638525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F0E0B0"/>
                </a:solidFill>
                <a:latin typeface="EB Garamond"/>
                <a:cs typeface="Noto Naskh Arabic"/>
              </a:rPr>
              <a:t>Baily's beads</a:t>
            </a:r>
            <a:endParaRPr lang="en-US" sz="1200" dirty="0">
              <a:latin typeface="EB Garamond"/>
              <a:cs typeface="Noto Naskh Arabic"/>
            </a:endParaRPr>
          </a:p>
        </p:txBody>
      </p:sp>
      <p:sp>
        <p:nvSpPr>
          <p:cNvPr id="14" name="Text 10"/>
          <p:cNvSpPr txBox="1"/>
          <p:nvPr/>
        </p:nvSpPr>
        <p:spPr>
          <a:xfrm>
            <a:off x="638525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F0E0B0"/>
                </a:solidFill>
                <a:latin typeface="EB Garamond"/>
                <a:cs typeface="Noto Naskh Arabic"/>
              </a:rPr>
              <a:t>ضوء الشمس عبر وديان حافة القمر</a:t>
            </a:r>
            <a:endParaRPr lang="ar-EG" sz="1200" dirty="0">
              <a:latin typeface="EB Garamond"/>
              <a:cs typeface="Noto Naskh Arabic"/>
            </a:endParaRPr>
          </a:p>
        </p:txBody>
      </p:sp>
      <p:sp>
        <p:nvSpPr>
          <p:cNvPr id="15" name="photo-card-2"/>
          <p:cNvSpPr/>
          <p:nvPr/>
        </p:nvSpPr>
        <p:spPr>
          <a:xfrm>
            <a:off x="3459175" y="1371600"/>
            <a:ext cx="2606040" cy="4389120"/>
          </a:xfrm>
          <a:prstGeom prst="rect">
            <a:avLst/>
          </a:prstGeom>
          <a:solidFill>
            <a:srgbClr val="24304A"/>
          </a:solidFill>
          <a:ln w="9525">
            <a:solidFill>
              <a:srgbClr val="2E3E5C"/>
            </a:solidFill>
            <a:prstDash val="solid"/>
          </a:ln>
        </p:spPr>
      </p:sp>
      <p:pic>
        <p:nvPicPr>
          <p:cNvPr id="16" name="photo-corona" descr="الهالة (Corona)">    </p:cNvPr>
          <p:cNvPicPr>
            <a:picLocks noChangeAspect="1"/>
          </p:cNvPicPr>
          <p:nvPr/>
        </p:nvPicPr>
        <p:blipFill>
          <a:blip r:embed="rId3"/>
          <a:srcRect l="18613" r="18613" t="0" b="0"/>
          <a:stretch/>
        </p:blipFill>
        <p:spPr>
          <a:xfrm>
            <a:off x="3459175" y="1371600"/>
            <a:ext cx="2606040" cy="3291840"/>
          </a:xfrm>
          <a:prstGeom prst="rect">
            <a:avLst/>
          </a:prstGeom>
        </p:spPr>
      </p:pic>
      <p:sp>
        <p:nvSpPr>
          <p:cNvPr id="17" name="Text 12"/>
          <p:cNvSpPr txBox="1"/>
          <p:nvPr/>
        </p:nvSpPr>
        <p:spPr>
          <a:xfrm>
            <a:off x="359633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الهالة</a:t>
            </a:r>
            <a:endParaRPr lang="ar-EG" sz="1700" dirty="0">
              <a:latin typeface="EB Garamond"/>
              <a:cs typeface="Noto Naskh Arabic"/>
            </a:endParaRPr>
          </a:p>
        </p:txBody>
      </p:sp>
      <p:sp>
        <p:nvSpPr>
          <p:cNvPr id="18" name="Text 13"/>
          <p:cNvSpPr txBox="1"/>
          <p:nvPr/>
        </p:nvSpPr>
        <p:spPr>
          <a:xfrm>
            <a:off x="359633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F0E0B0"/>
                </a:solidFill>
                <a:latin typeface="EB Garamond"/>
                <a:cs typeface="Noto Naskh Arabic"/>
              </a:rPr>
              <a:t>Corona</a:t>
            </a:r>
            <a:endParaRPr lang="en-US" sz="1200" dirty="0">
              <a:latin typeface="EB Garamond"/>
              <a:cs typeface="Noto Naskh Arabic"/>
            </a:endParaRPr>
          </a:p>
        </p:txBody>
      </p:sp>
      <p:sp>
        <p:nvSpPr>
          <p:cNvPr id="19" name="Text 14"/>
          <p:cNvSpPr txBox="1"/>
          <p:nvPr/>
        </p:nvSpPr>
        <p:spPr>
          <a:xfrm>
            <a:off x="359633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F0E0B0"/>
                </a:solidFill>
                <a:latin typeface="EB Garamond"/>
                <a:cs typeface="Noto Naskh Arabic"/>
              </a:rPr>
              <a:t>الغلاف الخارجي للشمس، لا يُرى إلا في الكلية</a:t>
            </a:r>
            <a:endParaRPr lang="ar-EG" sz="1200" dirty="0">
              <a:latin typeface="EB Garamond"/>
              <a:cs typeface="Noto Naskh Arabic"/>
            </a:endParaRPr>
          </a:p>
        </p:txBody>
      </p:sp>
      <p:sp>
        <p:nvSpPr>
          <p:cNvPr id="20" name="photo-card-3"/>
          <p:cNvSpPr/>
          <p:nvPr/>
        </p:nvSpPr>
        <p:spPr>
          <a:xfrm>
            <a:off x="670255" y="1371600"/>
            <a:ext cx="2606040" cy="4389120"/>
          </a:xfrm>
          <a:prstGeom prst="rect">
            <a:avLst/>
          </a:prstGeom>
          <a:solidFill>
            <a:srgbClr val="24304A"/>
          </a:solidFill>
          <a:ln w="9525">
            <a:solidFill>
              <a:srgbClr val="2E3E5C"/>
            </a:solidFill>
            <a:prstDash val="solid"/>
          </a:ln>
        </p:spPr>
      </p:sp>
      <p:pic>
        <p:nvPicPr>
          <p:cNvPr id="21" name="photo-prom" descr="الشواظ (Prominences)">    </p:cNvPr>
          <p:cNvPicPr>
            <a:picLocks noChangeAspect="1"/>
          </p:cNvPicPr>
          <p:nvPr/>
        </p:nvPicPr>
        <p:blipFill>
          <a:blip r:embed="rId4"/>
          <a:srcRect l="17284" r="17284" t="0" b="0"/>
          <a:stretch/>
        </p:blipFill>
        <p:spPr>
          <a:xfrm>
            <a:off x="670255" y="1371600"/>
            <a:ext cx="2606040" cy="3291840"/>
          </a:xfrm>
          <a:prstGeom prst="rect">
            <a:avLst/>
          </a:prstGeom>
        </p:spPr>
      </p:pic>
      <p:sp>
        <p:nvSpPr>
          <p:cNvPr id="22" name="Text 16"/>
          <p:cNvSpPr txBox="1"/>
          <p:nvPr/>
        </p:nvSpPr>
        <p:spPr>
          <a:xfrm>
            <a:off x="80741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E8B84B"/>
                </a:solidFill>
                <a:latin typeface="EB Garamond"/>
                <a:cs typeface="Noto Naskh Arabic"/>
              </a:rPr>
              <a:t>الشواظ</a:t>
            </a:r>
            <a:endParaRPr lang="ar-EG" sz="1700" dirty="0">
              <a:latin typeface="EB Garamond"/>
              <a:cs typeface="Noto Naskh Arabic"/>
            </a:endParaRPr>
          </a:p>
        </p:txBody>
      </p:sp>
      <p:sp>
        <p:nvSpPr>
          <p:cNvPr id="23" name="Text 17"/>
          <p:cNvSpPr txBox="1"/>
          <p:nvPr/>
        </p:nvSpPr>
        <p:spPr>
          <a:xfrm>
            <a:off x="80741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F0E0B0"/>
                </a:solidFill>
                <a:latin typeface="EB Garamond"/>
                <a:cs typeface="Noto Naskh Arabic"/>
              </a:rPr>
              <a:t>Prominences</a:t>
            </a:r>
            <a:endParaRPr lang="en-US" sz="1200" dirty="0">
              <a:latin typeface="EB Garamond"/>
              <a:cs typeface="Noto Naskh Arabic"/>
            </a:endParaRPr>
          </a:p>
        </p:txBody>
      </p:sp>
      <p:sp>
        <p:nvSpPr>
          <p:cNvPr id="24" name="Text 18"/>
          <p:cNvSpPr txBox="1"/>
          <p:nvPr/>
        </p:nvSpPr>
        <p:spPr>
          <a:xfrm>
            <a:off x="80741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F0E0B0"/>
                </a:solidFill>
                <a:latin typeface="EB Garamond"/>
                <a:cs typeface="Noto Naskh Arabic"/>
              </a:rPr>
              <a:t>ألسنة حمراء فوق الكروموسفير (Chromosphere) عند حافة القمر</a:t>
            </a:r>
            <a:endParaRPr lang="ar-EG" sz="1200" dirty="0">
              <a:latin typeface="EB Garamond"/>
              <a:cs typeface="Noto Naskh Arabic"/>
            </a:endParaRPr>
          </a:p>
        </p:txBody>
      </p:sp>
      <p:sp>
        <p:nvSpPr>
          <p:cNvPr id="25" name="Text 19"/>
          <p:cNvSpPr txBox="1"/>
          <p:nvPr/>
        </p:nvSpPr>
        <p:spPr>
          <a:xfrm>
            <a:off x="548640" y="5989320"/>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صور ناسا للاستخدام التعليمي: NASA/Aubrey Gemignani (الخاتم، الحبات، الهالة)، NASA/Keegan Barber (الشواظ)</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10</a:t>
            </a:fld>
            <a:endParaRPr lang="en-US">
              <a:latin typeface="EB Garamond"/>
              <a:cs typeface="Noto Naskh Arabic"/>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box"/>
          <p:cNvSpPr/>
          <p:nvPr/>
        </p:nvSpPr>
        <p:spPr>
          <a:xfrm>
            <a:off x="6452921" y="182880"/>
            <a:ext cx="5190134" cy="274320"/>
          </a:xfrm>
          <a:prstGeom prst="rect">
            <a:avLst/>
          </a:prstGeom>
          <a:solidFill>
            <a:srgbClr val="1B3A6B"/>
          </a:solidFill>
          <a:ln w="12700">
            <a:solidFill>
              <a:srgbClr val="E8B84B"/>
            </a:solidFill>
            <a:prstDash val="solid"/>
          </a:ln>
        </p:spPr>
      </p:sp>
      <p:sp>
        <p:nvSpPr>
          <p:cNvPr id="3" name="kicker"/>
          <p:cNvSpPr txBox="1"/>
          <p:nvPr/>
        </p:nvSpPr>
        <p:spPr>
          <a:xfrm>
            <a:off x="6452921" y="182880"/>
            <a:ext cx="519013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SAROS CYCLE: ECLIPSES REPEAT EVERY 18 YEARS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دورة ساروس: الكسوف يعود بعد ١٨ سنة</a:t>
            </a:r>
            <a:endParaRPr lang="ar-EG" sz="3000" dirty="0">
              <a:latin typeface="EB Garamond"/>
              <a:cs typeface="Amiri"/>
            </a:endParaRPr>
          </a:p>
        </p:txBody>
      </p:sp>
      <p:pic>
        <p:nvPicPr>
          <p:cNvPr id="5" name="saros" descr="saros">    </p:cNvPr>
          <p:cNvPicPr>
            <a:picLocks noChangeAspect="1"/>
          </p:cNvPicPr>
          <p:nvPr/>
        </p:nvPicPr>
        <p:blipFill>
          <a:blip r:embed="rId1"/>
          <a:stretch>
            <a:fillRect/>
          </a:stretch>
        </p:blipFill>
        <p:spPr>
          <a:xfrm>
            <a:off x="548640" y="1998196"/>
            <a:ext cx="5897880" cy="3318807"/>
          </a:xfrm>
          <a:prstGeom prst="rect">
            <a:avLst/>
          </a:prstGeom>
        </p:spPr>
      </p:pic>
      <p:sp>
        <p:nvSpPr>
          <p:cNvPr id="6" name="Text 3"/>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٦٥٨٥٫٣ يومًا (Saros = 223 synodic months): </a:t>
            </a:r>
            <a:pPr rtl="1" algn="r" indent="0" marL="0">
              <a:buNone/>
            </a:pPr>
            <a:r>
              <a:rPr lang="ar-EG" altLang="en-US" sz="1800" dirty="0">
                <a:solidFill>
                  <a:srgbClr val="F0E0B0"/>
                </a:solidFill>
                <a:latin typeface="EB Garamond"/>
                <a:cs typeface="Noto Naskh Arabic"/>
              </a:rPr>
              <a:t>١٨ سنة و١١ يومًا و٨ ساعات تقريبًا، تعود بعدها الشمس والقمر والعقدة إلى الوضع نفسه</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الثلث يوم: </a:t>
            </a:r>
            <a:pPr rtl="1" algn="r" indent="0" marL="0">
              <a:buNone/>
            </a:pPr>
            <a:r>
              <a:rPr lang="ar-EG" altLang="en-US" sz="1800" dirty="0">
                <a:solidFill>
                  <a:srgbClr val="F0E0B0"/>
                </a:solidFill>
                <a:latin typeface="EB Garamond"/>
                <a:cs typeface="Noto Naskh Arabic"/>
              </a:rPr>
              <a:t>بسبب الساعات الثماني يقع الكسوف التالي أبعد غربًا بنحو ١٢٠° طولًا</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٥٤ سنة وشهر: </a:t>
            </a:r>
            <a:pPr rtl="1" algn="r" indent="0" marL="0">
              <a:buNone/>
            </a:pPr>
            <a:r>
              <a:rPr lang="ar-EG" altLang="en-US" sz="1800" dirty="0">
                <a:solidFill>
                  <a:srgbClr val="F0E0B0"/>
                </a:solidFill>
                <a:latin typeface="EB Garamond"/>
                <a:cs typeface="Noto Naskh Arabic"/>
              </a:rPr>
              <a:t>بعد ثلاث دورات (Exeligmos) يعود الكسوف قريبًا من خط الطول نفسه</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سلسلة ساروس ١٣٦ (Saros 136): </a:t>
            </a:r>
            <a:pPr rtl="1" algn="r" indent="0" marL="0">
              <a:buNone/>
            </a:pPr>
            <a:r>
              <a:rPr lang="ar-EG" altLang="en-US" sz="1800" dirty="0">
                <a:solidFill>
                  <a:srgbClr val="F0E0B0"/>
                </a:solidFill>
                <a:latin typeface="EB Garamond"/>
                <a:cs typeface="Noto Naskh Arabic"/>
              </a:rPr>
              <a:t>كسوف ٢٠٢٧ من عائلة كسوف ٢٠ يونيو ١٩٥٥ أطول كسوف في القرن العشرين؛ والتالي ١٢ أغسطس ٢٠٤٥</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٢٢-١ من الكتاب: الأشهر الثلاثة المتوافقة في دورة ساروس</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11</a:t>
            </a:fld>
            <a:endParaRPr lang="en-US">
              <a:latin typeface="EB Garamond"/>
              <a:cs typeface="Noto Naskh Arabic"/>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box"/>
          <p:cNvSpPr/>
          <p:nvPr/>
        </p:nvSpPr>
        <p:spPr>
          <a:xfrm>
            <a:off x="6551676" y="182880"/>
            <a:ext cx="5091379" cy="274320"/>
          </a:xfrm>
          <a:prstGeom prst="rect">
            <a:avLst/>
          </a:prstGeom>
          <a:solidFill>
            <a:srgbClr val="1B3A6B"/>
          </a:solidFill>
          <a:ln w="12700">
            <a:solidFill>
              <a:srgbClr val="E8B84B"/>
            </a:solidFill>
            <a:prstDash val="solid"/>
          </a:ln>
        </p:spPr>
      </p:sp>
      <p:sp>
        <p:nvSpPr>
          <p:cNvPr id="3" name="kicker"/>
          <p:cNvSpPr txBox="1"/>
          <p:nvPr/>
        </p:nvSpPr>
        <p:spPr>
          <a:xfrm>
            <a:off x="6551676" y="182880"/>
            <a:ext cx="5091379"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SOLAR ECLIPSES WORLDWIDE IN NUMBERS, 1901–2050</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كسوف الشمس في العالم بالأرقام (١٩٠١–٢٠٥٠)</a:t>
            </a:r>
            <a:endParaRPr lang="ar-EG" sz="3000" dirty="0">
              <a:latin typeface="EB Garamond"/>
              <a:cs typeface="Amiri"/>
            </a:endParaRPr>
          </a:p>
        </p:txBody>
      </p:sp>
      <p:graphicFrame>
        <p:nvGraphicFramePr>
          <p:cNvPr id="5" name="chart-eclipse-types" descr=""/>
          <p:cNvGraphicFramePr/>
          <p:nvPr/>
        </p:nvGraphicFramePr>
        <p:xfrm>
          <a:off x="548640" y="1371600"/>
          <a:ext cx="6309360" cy="4572000"/>
        </p:xfrm>
        <a:graphic xmlns:a="http://schemas.openxmlformats.org/drawingml/2006/main">
          <a:graphicData uri="http://schemas.openxmlformats.org/drawingml/2006/chart">
            <c:chart xmlns:c="http://schemas.openxmlformats.org/drawingml/2006/chart" r:id="rId1"/>
          </a:graphicData>
        </a:graphic>
      </p:graphicFrame>
      <p:sp>
        <p:nvSpPr>
          <p:cNvPr id="6" name="stat-0"/>
          <p:cNvSpPr/>
          <p:nvPr/>
        </p:nvSpPr>
        <p:spPr>
          <a:xfrm>
            <a:off x="7223760" y="1417320"/>
            <a:ext cx="4419295" cy="1371600"/>
          </a:xfrm>
          <a:prstGeom prst="rect">
            <a:avLst/>
          </a:prstGeom>
          <a:solidFill>
            <a:srgbClr val="161F2F"/>
          </a:solidFill>
          <a:ln w="9525">
            <a:solidFill>
              <a:srgbClr val="C9962B"/>
            </a:solidFill>
            <a:prstDash val="solid"/>
          </a:ln>
        </p:spPr>
      </p:sp>
      <p:sp>
        <p:nvSpPr>
          <p:cNvPr id="7" name="stat-0-accent"/>
          <p:cNvSpPr/>
          <p:nvPr/>
        </p:nvSpPr>
        <p:spPr>
          <a:xfrm>
            <a:off x="11579047" y="1417320"/>
            <a:ext cx="64008" cy="1371600"/>
          </a:xfrm>
          <a:prstGeom prst="rect">
            <a:avLst/>
          </a:prstGeom>
          <a:solidFill>
            <a:srgbClr val="C9962B"/>
          </a:solidFill>
          <a:ln w="12700">
            <a:solidFill>
              <a:srgbClr val="C9962B"/>
            </a:solidFill>
            <a:prstDash val="solid"/>
          </a:ln>
        </p:spPr>
      </p:sp>
      <p:sp>
        <p:nvSpPr>
          <p:cNvPr id="8" name="Text 5"/>
          <p:cNvSpPr txBox="1"/>
          <p:nvPr/>
        </p:nvSpPr>
        <p:spPr>
          <a:xfrm>
            <a:off x="7406640" y="1527048"/>
            <a:ext cx="4053535" cy="685800"/>
          </a:xfrm>
          <a:prstGeom prst="rect">
            <a:avLst/>
          </a:prstGeom>
          <a:noFill/>
          <a:ln/>
        </p:spPr>
        <p:txBody>
          <a:bodyPr wrap="square" lIns="0" tIns="0" rIns="0" bIns="0" rtlCol="0" anchor="ctr"/>
          <a:lstStyle/>
          <a:p>
            <a:pPr rtl="1" algn="r" indent="0" marL="0">
              <a:buNone/>
            </a:pPr>
            <a:r>
              <a:rPr lang="ar-EG" altLang="en-US" sz="3000" b="1" dirty="0">
                <a:solidFill>
                  <a:srgbClr val="C9962B"/>
                </a:solidFill>
                <a:latin typeface="EB Garamond"/>
                <a:cs typeface="Amiri"/>
              </a:rPr>
              <a:t>≈ ٢٫٢</a:t>
            </a:r>
            <a:endParaRPr lang="ar-EG" sz="3000" dirty="0">
              <a:latin typeface="EB Garamond"/>
              <a:cs typeface="Amiri"/>
            </a:endParaRPr>
          </a:p>
        </p:txBody>
      </p:sp>
      <p:sp>
        <p:nvSpPr>
          <p:cNvPr id="9" name="Text 6"/>
          <p:cNvSpPr txBox="1"/>
          <p:nvPr/>
        </p:nvSpPr>
        <p:spPr>
          <a:xfrm>
            <a:off x="7406640" y="2194560"/>
            <a:ext cx="4053535" cy="457200"/>
          </a:xfrm>
          <a:prstGeom prst="rect">
            <a:avLst/>
          </a:prstGeom>
          <a:noFill/>
          <a:ln/>
        </p:spPr>
        <p:txBody>
          <a:bodyPr wrap="square" lIns="0" tIns="0" rIns="0" bIns="0" rtlCol="0" anchor="ctr"/>
          <a:lstStyle/>
          <a:p>
            <a:pPr rtl="1" algn="r" indent="0" marL="0">
              <a:buNone/>
            </a:pPr>
            <a:r>
              <a:rPr lang="ar-EG" altLang="en-US" sz="1500" dirty="0">
                <a:solidFill>
                  <a:srgbClr val="D8C79C"/>
                </a:solidFill>
                <a:latin typeface="EB Garamond"/>
                <a:cs typeface="Noto Naskh Arabic"/>
              </a:rPr>
              <a:t>كسوف للشمس كل سنة في المتوسط</a:t>
            </a:r>
            <a:endParaRPr lang="ar-EG" sz="1500" dirty="0">
              <a:latin typeface="EB Garamond"/>
              <a:cs typeface="Noto Naskh Arabic"/>
            </a:endParaRPr>
          </a:p>
        </p:txBody>
      </p:sp>
      <p:sp>
        <p:nvSpPr>
          <p:cNvPr id="10" name="stat-1"/>
          <p:cNvSpPr/>
          <p:nvPr/>
        </p:nvSpPr>
        <p:spPr>
          <a:xfrm>
            <a:off x="7223760" y="2953512"/>
            <a:ext cx="4419295" cy="1371600"/>
          </a:xfrm>
          <a:prstGeom prst="rect">
            <a:avLst/>
          </a:prstGeom>
          <a:solidFill>
            <a:srgbClr val="161F2F"/>
          </a:solidFill>
          <a:ln w="9525">
            <a:solidFill>
              <a:srgbClr val="C9962B"/>
            </a:solidFill>
            <a:prstDash val="solid"/>
          </a:ln>
        </p:spPr>
      </p:sp>
      <p:sp>
        <p:nvSpPr>
          <p:cNvPr id="11" name="stat-1-accent"/>
          <p:cNvSpPr/>
          <p:nvPr/>
        </p:nvSpPr>
        <p:spPr>
          <a:xfrm>
            <a:off x="11579047" y="2953512"/>
            <a:ext cx="64008" cy="1371600"/>
          </a:xfrm>
          <a:prstGeom prst="rect">
            <a:avLst/>
          </a:prstGeom>
          <a:solidFill>
            <a:srgbClr val="C9962B"/>
          </a:solidFill>
          <a:ln w="12700">
            <a:solidFill>
              <a:srgbClr val="C9962B"/>
            </a:solidFill>
            <a:prstDash val="solid"/>
          </a:ln>
        </p:spPr>
      </p:sp>
      <p:sp>
        <p:nvSpPr>
          <p:cNvPr id="12" name="Text 9"/>
          <p:cNvSpPr txBox="1"/>
          <p:nvPr/>
        </p:nvSpPr>
        <p:spPr>
          <a:xfrm>
            <a:off x="7406640" y="3063240"/>
            <a:ext cx="4053535" cy="685800"/>
          </a:xfrm>
          <a:prstGeom prst="rect">
            <a:avLst/>
          </a:prstGeom>
          <a:noFill/>
          <a:ln/>
        </p:spPr>
        <p:txBody>
          <a:bodyPr wrap="square" lIns="0" tIns="0" rIns="0" bIns="0" rtlCol="0" anchor="ctr"/>
          <a:lstStyle/>
          <a:p>
            <a:pPr rtl="1" algn="r" indent="0" marL="0">
              <a:buNone/>
            </a:pPr>
            <a:r>
              <a:rPr lang="ar-EG" altLang="en-US" sz="3000" b="1" dirty="0">
                <a:solidFill>
                  <a:srgbClr val="C9962B"/>
                </a:solidFill>
                <a:latin typeface="EB Garamond"/>
                <a:cs typeface="Amiri"/>
              </a:rPr>
              <a:t>كل ١٨ شهرًا</a:t>
            </a:r>
            <a:endParaRPr lang="ar-EG" sz="3000" dirty="0">
              <a:latin typeface="EB Garamond"/>
              <a:cs typeface="Amiri"/>
            </a:endParaRPr>
          </a:p>
        </p:txBody>
      </p:sp>
      <p:sp>
        <p:nvSpPr>
          <p:cNvPr id="13" name="Text 10"/>
          <p:cNvSpPr txBox="1"/>
          <p:nvPr/>
        </p:nvSpPr>
        <p:spPr>
          <a:xfrm>
            <a:off x="7406640" y="3730752"/>
            <a:ext cx="4053535" cy="457200"/>
          </a:xfrm>
          <a:prstGeom prst="rect">
            <a:avLst/>
          </a:prstGeom>
          <a:noFill/>
          <a:ln/>
        </p:spPr>
        <p:txBody>
          <a:bodyPr wrap="square" lIns="0" tIns="0" rIns="0" bIns="0" rtlCol="0" anchor="ctr"/>
          <a:lstStyle/>
          <a:p>
            <a:pPr rtl="1" algn="r" indent="0" marL="0">
              <a:buNone/>
            </a:pPr>
            <a:r>
              <a:rPr lang="ar-EG" altLang="en-US" sz="1500" dirty="0">
                <a:solidFill>
                  <a:srgbClr val="D8C79C"/>
                </a:solidFill>
                <a:latin typeface="EB Garamond"/>
                <a:cs typeface="Noto Naskh Arabic"/>
              </a:rPr>
              <a:t>يقع كسوف كلي في مكان ما على الأرض</a:t>
            </a:r>
            <a:endParaRPr lang="ar-EG" sz="1500" dirty="0">
              <a:latin typeface="EB Garamond"/>
              <a:cs typeface="Noto Naskh Arabic"/>
            </a:endParaRPr>
          </a:p>
        </p:txBody>
      </p:sp>
      <p:sp>
        <p:nvSpPr>
          <p:cNvPr id="14" name="stat-2"/>
          <p:cNvSpPr/>
          <p:nvPr/>
        </p:nvSpPr>
        <p:spPr>
          <a:xfrm>
            <a:off x="7223760" y="4489704"/>
            <a:ext cx="4419295" cy="1371600"/>
          </a:xfrm>
          <a:prstGeom prst="rect">
            <a:avLst/>
          </a:prstGeom>
          <a:solidFill>
            <a:srgbClr val="161F2F"/>
          </a:solidFill>
          <a:ln w="9525">
            <a:solidFill>
              <a:srgbClr val="C9962B"/>
            </a:solidFill>
            <a:prstDash val="solid"/>
          </a:ln>
        </p:spPr>
      </p:sp>
      <p:sp>
        <p:nvSpPr>
          <p:cNvPr id="15" name="stat-2-accent"/>
          <p:cNvSpPr/>
          <p:nvPr/>
        </p:nvSpPr>
        <p:spPr>
          <a:xfrm>
            <a:off x="11579047" y="4489704"/>
            <a:ext cx="64008" cy="1371600"/>
          </a:xfrm>
          <a:prstGeom prst="rect">
            <a:avLst/>
          </a:prstGeom>
          <a:solidFill>
            <a:srgbClr val="C9962B"/>
          </a:solidFill>
          <a:ln w="12700">
            <a:solidFill>
              <a:srgbClr val="C9962B"/>
            </a:solidFill>
            <a:prstDash val="solid"/>
          </a:ln>
        </p:spPr>
      </p:sp>
      <p:sp>
        <p:nvSpPr>
          <p:cNvPr id="16" name="Text 13"/>
          <p:cNvSpPr txBox="1"/>
          <p:nvPr/>
        </p:nvSpPr>
        <p:spPr>
          <a:xfrm>
            <a:off x="7406640" y="4599432"/>
            <a:ext cx="4053535" cy="685800"/>
          </a:xfrm>
          <a:prstGeom prst="rect">
            <a:avLst/>
          </a:prstGeom>
          <a:noFill/>
          <a:ln/>
        </p:spPr>
        <p:txBody>
          <a:bodyPr wrap="square" lIns="0" tIns="0" rIns="0" bIns="0" rtlCol="0" anchor="ctr"/>
          <a:lstStyle/>
          <a:p>
            <a:pPr rtl="1" algn="r" indent="0" marL="0">
              <a:buNone/>
            </a:pPr>
            <a:r>
              <a:rPr lang="ar-EG" altLang="en-US" sz="3000" b="1" dirty="0">
                <a:solidFill>
                  <a:srgbClr val="D9714E"/>
                </a:solidFill>
                <a:latin typeface="EB Garamond"/>
                <a:cs typeface="Amiri"/>
              </a:rPr>
              <a:t>≈ ٣٧٥ سنة</a:t>
            </a:r>
            <a:endParaRPr lang="ar-EG" sz="3000" dirty="0">
              <a:latin typeface="EB Garamond"/>
              <a:cs typeface="Amiri"/>
            </a:endParaRPr>
          </a:p>
        </p:txBody>
      </p:sp>
      <p:sp>
        <p:nvSpPr>
          <p:cNvPr id="17" name="Text 14"/>
          <p:cNvSpPr txBox="1"/>
          <p:nvPr/>
        </p:nvSpPr>
        <p:spPr>
          <a:xfrm>
            <a:off x="7406640" y="5266944"/>
            <a:ext cx="4053535" cy="457200"/>
          </a:xfrm>
          <a:prstGeom prst="rect">
            <a:avLst/>
          </a:prstGeom>
          <a:noFill/>
          <a:ln/>
        </p:spPr>
        <p:txBody>
          <a:bodyPr wrap="square" lIns="0" tIns="0" rIns="0" bIns="0" rtlCol="0" anchor="ctr"/>
          <a:lstStyle/>
          <a:p>
            <a:pPr rtl="1" algn="r" indent="0" marL="0">
              <a:buNone/>
            </a:pPr>
            <a:r>
              <a:rPr lang="ar-EG" altLang="en-US" sz="1500" dirty="0">
                <a:solidFill>
                  <a:srgbClr val="D8C79C"/>
                </a:solidFill>
                <a:latin typeface="EB Garamond"/>
                <a:cs typeface="Noto Naskh Arabic"/>
              </a:rPr>
              <a:t>متوسط عودة الكسوف الكلي إلى النقطة نفسها</a:t>
            </a:r>
            <a:endParaRPr lang="ar-EG" sz="1500" dirty="0">
              <a:latin typeface="EB Garamond"/>
              <a:cs typeface="Noto Naskh Arabic"/>
            </a:endParaRPr>
          </a:p>
        </p:txBody>
      </p:sp>
      <p:sp>
        <p:nvSpPr>
          <p:cNvPr id="18" name="Text 15"/>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المصدر: حسابات الكتاب من تقويم JPL DE421؛ ومتوسط العودة إلى النقطة نفسها تقدير جان ميوس (Meeus)</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12</a:t>
            </a:fld>
            <a:endParaRPr lang="en-US">
              <a:latin typeface="EB Garamond"/>
              <a:cs typeface="Noto Naskh Arabic"/>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box"/>
          <p:cNvSpPr/>
          <p:nvPr/>
        </p:nvSpPr>
        <p:spPr>
          <a:xfrm>
            <a:off x="4675327" y="182880"/>
            <a:ext cx="6967728" cy="274320"/>
          </a:xfrm>
          <a:prstGeom prst="rect">
            <a:avLst/>
          </a:prstGeom>
          <a:solidFill>
            <a:srgbClr val="1B3A6B"/>
          </a:solidFill>
          <a:ln w="12700">
            <a:solidFill>
              <a:srgbClr val="E8B84B"/>
            </a:solidFill>
            <a:prstDash val="solid"/>
          </a:ln>
        </p:spPr>
      </p:sp>
      <p:sp>
        <p:nvSpPr>
          <p:cNvPr id="3" name="kicker"/>
          <p:cNvSpPr txBox="1"/>
          <p:nvPr/>
        </p:nvSpPr>
        <p:spPr>
          <a:xfrm>
            <a:off x="4675327" y="182880"/>
            <a:ext cx="696772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LUNAR ECLIPSES: PERIODICITY AND UPCOMING ECLIPSES SEEN FROM CAIRO</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الخسوف: أكثر حظًّا لأهل المكان الواحد</a:t>
            </a:r>
            <a:endParaRPr lang="ar-EG" sz="3000" dirty="0">
              <a:latin typeface="EB Garamond"/>
              <a:cs typeface="Amiri"/>
            </a:endParaRPr>
          </a:p>
        </p:txBody>
      </p:sp>
      <p:sp>
        <p:nvSpPr>
          <p:cNvPr id="5" name="Text 3"/>
          <p:cNvSpPr txBox="1"/>
          <p:nvPr/>
        </p:nvSpPr>
        <p:spPr>
          <a:xfrm>
            <a:off x="6995160" y="1371600"/>
            <a:ext cx="4647895" cy="457200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F0E0B0"/>
                </a:solidFill>
                <a:latin typeface="EB Garamond"/>
                <a:cs typeface="Noto Naskh Arabic"/>
              </a:rPr>
              <a:t>نصف الأرض يراه (Night side): </a:t>
            </a:r>
            <a:pPr rtl="1" algn="r" indent="0" marL="0">
              <a:buNone/>
            </a:pPr>
            <a:r>
              <a:rPr lang="ar-EG" altLang="en-US" sz="1500" dirty="0">
                <a:solidFill>
                  <a:srgbClr val="F0E0B0"/>
                </a:solidFill>
                <a:latin typeface="EB Garamond"/>
                <a:cs typeface="Noto Naskh Arabic"/>
              </a:rPr>
              <a:t>كل من كان القمر فوق أفقه يرى الخسوف، فلا يحتاج إلى السفر</a:t>
            </a:r>
            <a:endParaRPr lang="ar-EG" sz="1500" dirty="0">
              <a:latin typeface="EB Garamond"/>
              <a:cs typeface="Noto Naskh Arabic"/>
            </a:endParaRPr>
          </a:p>
          <a:p>
            <a:pPr rtl="1" algn="r" marL="228600" indent="-228600">
              <a:spcAft>
                <a:spcPts val="800"/>
              </a:spcAft>
              <a:buSzPct val="100000"/>
              <a:buChar char="•"/>
            </a:pPr>
            <a:r>
              <a:rPr lang="ar-EG" altLang="en-US" sz="1500" b="1" dirty="0">
                <a:solidFill>
                  <a:srgbClr val="F0E0B0"/>
                </a:solidFill>
                <a:latin typeface="EB Garamond"/>
                <a:cs typeface="Noto Naskh Arabic"/>
              </a:rPr>
              <a:t>الخسوف الكلي (Total lunar eclipse): </a:t>
            </a:r>
            <a:pPr rtl="1" algn="r" indent="0" marL="0">
              <a:buNone/>
            </a:pPr>
            <a:r>
              <a:rPr lang="ar-EG" altLang="en-US" sz="1500" dirty="0">
                <a:solidFill>
                  <a:srgbClr val="F0E0B0"/>
                </a:solidFill>
                <a:latin typeface="EB Garamond"/>
                <a:cs typeface="Noto Naskh Arabic"/>
              </a:rPr>
              <a:t>يراه المكان الواحد مرة كل سنتين إلى ثلاث في المتوسط، مقابل قرون للكسوف الكلي</a:t>
            </a:r>
            <a:endParaRPr lang="ar-EG" sz="1500" dirty="0">
              <a:latin typeface="EB Garamond"/>
              <a:cs typeface="Noto Naskh Arabic"/>
            </a:endParaRPr>
          </a:p>
          <a:p>
            <a:pPr rtl="1" algn="r" marL="228600" indent="-228600">
              <a:spcAft>
                <a:spcPts val="800"/>
              </a:spcAft>
              <a:buSzPct val="100000"/>
              <a:buChar char="•"/>
            </a:pPr>
            <a:r>
              <a:rPr lang="ar-EG" altLang="en-US" sz="1500" b="1" dirty="0">
                <a:solidFill>
                  <a:srgbClr val="F0E0B0"/>
                </a:solidFill>
                <a:latin typeface="EB Garamond"/>
                <a:cs typeface="Noto Naskh Arabic"/>
              </a:rPr>
              <a:t>القمر الدموي (Blood Moon): </a:t>
            </a:r>
            <a:pPr rtl="1" algn="r" indent="0" marL="0">
              <a:buNone/>
            </a:pPr>
            <a:r>
              <a:rPr lang="ar-EG" altLang="en-US" sz="1500" dirty="0">
                <a:solidFill>
                  <a:srgbClr val="F0E0B0"/>
                </a:solidFill>
                <a:latin typeface="EB Garamond"/>
                <a:cs typeface="Noto Naskh Arabic"/>
              </a:rPr>
              <a:t>لا يختفي القمر في الكلية بل يحمرّ بضوء الشروق والغروب المنكسر في جو الأرض</a:t>
            </a:r>
            <a:endParaRPr lang="ar-EG" sz="1500" dirty="0">
              <a:latin typeface="EB Garamond"/>
              <a:cs typeface="Noto Naskh Arabic"/>
            </a:endParaRPr>
          </a:p>
          <a:p>
            <a:pPr rtl="1" algn="r" marL="228600" indent="-228600">
              <a:spcAft>
                <a:spcPts val="800"/>
              </a:spcAft>
              <a:buSzPct val="100000"/>
              <a:buChar char="•"/>
            </a:pPr>
            <a:r>
              <a:rPr lang="ar-EG" altLang="en-US" sz="1500" b="1" dirty="0">
                <a:solidFill>
                  <a:srgbClr val="F0E0B0"/>
                </a:solidFill>
                <a:latin typeface="EB Garamond"/>
                <a:cs typeface="Noto Naskh Arabic"/>
              </a:rPr>
              <a:t>تدريب للمرشد: </a:t>
            </a:r>
            <a:pPr rtl="1" algn="r" indent="0" marL="0">
              <a:buNone/>
            </a:pPr>
            <a:r>
              <a:rPr lang="ar-EG" altLang="en-US" sz="1500" dirty="0">
                <a:solidFill>
                  <a:srgbClr val="F0E0B0"/>
                </a:solidFill>
                <a:latin typeface="EB Garamond"/>
                <a:cs typeface="Noto Naskh Arabic"/>
              </a:rPr>
              <a:t>الخسوفان الكليان القادمان فوق مصر فرصة لتدريب المجموعات قبل كل موسم</a:t>
            </a:r>
            <a:endParaRPr lang="ar-EG" sz="1500" dirty="0">
              <a:latin typeface="EB Garamond"/>
              <a:cs typeface="Noto Naskh Arabic"/>
            </a:endParaRPr>
          </a:p>
        </p:txBody>
      </p:sp>
      <p:graphicFrame>
        <p:nvGraphicFramePr>
          <p:cNvPr id="14" name="lunar-table"/>
          <p:cNvGraphicFramePr>
            <a:graphicFrameLocks noGrp="1"/>
          </p:cNvGraphicFramePr>
          <p:nvPr>
            <p:extLst>
              <p:ext uri="{D42A27DB-BD31-4B8C-83A1-F6EECF244321}">
                <p14:modId xmlns:p14="http://schemas.microsoft.com/office/powerpoint/2010/main" val="1579011935"/>
              </p:ext>
            </p:extLst>
          </p:nvPr>
        </p:nvGraphicFramePr>
        <p:xfrm>
          <a:off x="548640" y="1417320"/>
          <a:ext cx="6172200" cy="914400"/>
        </p:xfrm>
        <a:graphic>
          <a:graphicData uri="http://schemas.openxmlformats.org/drawingml/2006/table">
            <a:tbl>
              <a:tblPr/>
              <a:tblGrid>
                <a:gridCol w="1234440"/>
                <a:gridCol w="822960"/>
                <a:gridCol w="1051560"/>
                <a:gridCol w="960120"/>
                <a:gridCol w="2103120"/>
              </a:tblGrid>
              <a:tr h="566928">
                <a:tc>
                  <a:txBody>
                    <a:bodyPr/>
                    <a:lstStyle/>
                    <a:p>
                      <a:pPr rtl="1" algn="ctr" indent="0" marL="0">
                        <a:buNone/>
                      </a:pPr>
                      <a:r>
                        <a:rPr lang="ar-EG" altLang="en-US" sz="1300" b="1" dirty="0">
                          <a:solidFill>
                            <a:srgbClr val="E8B84B"/>
                          </a:solidFill>
                          <a:latin typeface="EB Garamond"/>
                          <a:cs typeface="Noto Naskh Arabic"/>
                        </a:rPr>
                        <a:t>التاريخ</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300" b="1" dirty="0">
                          <a:solidFill>
                            <a:srgbClr val="E8B84B"/>
                          </a:solidFill>
                          <a:latin typeface="EB Garamond"/>
                          <a:cs typeface="Noto Naskh Arabic"/>
                        </a:rPr>
                        <a:t>النوع</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300" b="1" dirty="0">
                          <a:solidFill>
                            <a:srgbClr val="E8B84B"/>
                          </a:solidFill>
                          <a:latin typeface="EB Garamond"/>
                          <a:cs typeface="Noto Naskh Arabic"/>
                        </a:rPr>
                        <a:t>الذروة (القاهرة)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300" b="1" dirty="0">
                          <a:solidFill>
                            <a:srgbClr val="E8B84B"/>
                          </a:solidFill>
                          <a:latin typeface="EB Garamond"/>
                          <a:cs typeface="Noto Naskh Arabic"/>
                        </a:rPr>
                        <a:t>مدة الكلية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300" b="1" dirty="0">
                          <a:solidFill>
                            <a:srgbClr val="E8B84B"/>
                          </a:solidFill>
                          <a:latin typeface="EB Garamond"/>
                          <a:cs typeface="Noto Naskh Arabic"/>
                        </a:rPr>
                        <a:t>الرؤية من القاهرة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B3A6B"/>
                    </a:solidFill>
                  </a:tcPr>
                </a:tc>
              </a:tr>
              <a:tr h="566928">
                <a:tc>
                  <a:txBody>
                    <a:bodyPr/>
                    <a:lstStyle/>
                    <a:p>
                      <a:pPr rtl="1" algn="ctr" indent="0" marL="0">
                        <a:buNone/>
                      </a:pPr>
                      <a:r>
                        <a:rPr lang="ar-EG" altLang="en-US" sz="1300" b="1" dirty="0">
                          <a:solidFill>
                            <a:srgbClr val="E8B84B"/>
                          </a:solidFill>
                          <a:latin typeface="EB Garamond"/>
                          <a:cs typeface="Noto Naskh Arabic"/>
                        </a:rPr>
                        <a:t>٦ يوليو ٢٠٢٨</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جزئي صغير</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٢١:٢٠</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القمر فوق الأفق منذ أول المساء</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r>
              <a:tr h="566928">
                <a:tc>
                  <a:txBody>
                    <a:bodyPr/>
                    <a:lstStyle/>
                    <a:p>
                      <a:pPr rtl="1" algn="ctr" indent="0" marL="0">
                        <a:buNone/>
                      </a:pPr>
                      <a:r>
                        <a:rPr lang="ar-EG" altLang="en-US" sz="1300" b="1" dirty="0">
                          <a:solidFill>
                            <a:srgbClr val="E8B84B"/>
                          </a:solidFill>
                          <a:latin typeface="EB Garamond"/>
                          <a:cs typeface="Noto Naskh Arabic"/>
                        </a:rPr>
                        <a:t>٣١ ديسمبر ٢٠٢٨</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كلي</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١٨:٥٣</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٧٢ دقيقة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القمر منخفض في الشرق بعد الغروب</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r>
              <a:tr h="566928">
                <a:tc>
                  <a:txBody>
                    <a:bodyPr/>
                    <a:lstStyle/>
                    <a:p>
                      <a:pPr rtl="1" algn="ctr" indent="0" marL="0">
                        <a:buNone/>
                      </a:pPr>
                      <a:r>
                        <a:rPr lang="ar-EG" altLang="en-US" sz="1300" b="1" dirty="0">
                          <a:solidFill>
                            <a:srgbClr val="E8B84B"/>
                          </a:solidFill>
                          <a:latin typeface="EB Garamond"/>
                          <a:cs typeface="Noto Naskh Arabic"/>
                        </a:rPr>
                        <a:t>٢٦ يونيو ٢٠٢٩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كلي عميق</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٠٦:٢٢</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١٠٣ دقائق</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القمر تحت الأفق وقت الذروة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r>
              <a:tr h="566928">
                <a:tc>
                  <a:txBody>
                    <a:bodyPr/>
                    <a:lstStyle/>
                    <a:p>
                      <a:pPr rtl="1" algn="ctr" indent="0" marL="0">
                        <a:buNone/>
                      </a:pPr>
                      <a:r>
                        <a:rPr lang="ar-EG" altLang="en-US" sz="1300" b="1" dirty="0">
                          <a:solidFill>
                            <a:srgbClr val="E8B84B"/>
                          </a:solidFill>
                          <a:latin typeface="EB Garamond"/>
                          <a:cs typeface="Noto Naskh Arabic"/>
                        </a:rPr>
                        <a:t>٢٠/٢١ ديسمبر ٢٠٢٩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كلي</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٠٠:٤٣</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٥٥ دقيقة</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ممتاز: القمر قرب سمت الرأس</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r>
              <a:tr h="566928">
                <a:tc>
                  <a:txBody>
                    <a:bodyPr/>
                    <a:lstStyle/>
                    <a:p>
                      <a:pPr rtl="1" algn="ctr" indent="0" marL="0">
                        <a:buNone/>
                      </a:pPr>
                      <a:r>
                        <a:rPr lang="ar-EG" altLang="en-US" sz="1300" b="1" dirty="0">
                          <a:solidFill>
                            <a:srgbClr val="E8B84B"/>
                          </a:solidFill>
                          <a:latin typeface="EB Garamond"/>
                          <a:cs typeface="Noto Naskh Arabic"/>
                        </a:rPr>
                        <a:t>١٥ يونيو ٢٠٣٠</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جزئي</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٢١:٣٣</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300" dirty="0">
                          <a:solidFill>
                            <a:srgbClr val="F0E0B0"/>
                          </a:solidFill>
                          <a:latin typeface="EB Garamond"/>
                          <a:cs typeface="Noto Naskh Arabic"/>
                        </a:rPr>
                        <a:t>جيد بعد الغروب</a:t>
                      </a:r>
                      <a:endParaRPr lang="ar-EG" sz="1300" dirty="0">
                        <a:latin typeface="EB Garamond"/>
                        <a:cs typeface="Noto Naskh Arabic"/>
                      </a:endParaRPr>
                    </a:p>
                  </a:txBody>
                  <a:tcPr marL="91440" marR="91440" marT="45720" marB="45720" anchor="ctr">
                    <a:lnL w="9525" cap="flat" cmpd="sng" algn="ctr">
                      <a:solidFill>
                        <a:srgbClr val="6E5422"/>
                      </a:solidFill>
                      <a:prstDash val="solid"/>
                      <a:round/>
                      <a:headEnd type="none" w="med" len="med"/>
                      <a:tailEnd type="none" w="med" len="med"/>
                    </a:lnL>
                    <a:lnR w="9525" cap="flat" cmpd="sng" algn="ctr">
                      <a:solidFill>
                        <a:srgbClr val="6E5422"/>
                      </a:solidFill>
                      <a:prstDash val="solid"/>
                      <a:round/>
                      <a:headEnd type="none" w="med" len="med"/>
                      <a:tailEnd type="none" w="med" len="med"/>
                    </a:lnR>
                    <a:lnT w="9525" cap="flat" cmpd="sng" algn="ctr">
                      <a:solidFill>
                        <a:srgbClr val="6E5422"/>
                      </a:solidFill>
                      <a:prstDash val="solid"/>
                      <a:round/>
                      <a:headEnd type="none" w="med" len="med"/>
                      <a:tailEnd type="none" w="med" len="med"/>
                    </a:lnT>
                    <a:lnB w="9525" cap="flat" cmpd="sng" algn="ctr">
                      <a:solidFill>
                        <a:srgbClr val="6E5422"/>
                      </a:solidFill>
                      <a:prstDash val="solid"/>
                      <a:round/>
                      <a:headEnd type="none" w="med" len="med"/>
                      <a:tailEnd type="none" w="med" len="med"/>
                    </a:lnB>
                    <a:solidFill>
                      <a:srgbClr val="161F2F"/>
                    </a:solidFill>
                  </a:tcPr>
                </a:tc>
              </a:tr>
            </a:tbl>
          </a:graphicData>
        </a:graphic>
      </p:graphicFrame>
      <p:sp>
        <p:nvSpPr>
          <p:cNvPr id="7" name="Text 4"/>
          <p:cNvSpPr txBox="1"/>
          <p:nvPr/>
        </p:nvSpPr>
        <p:spPr>
          <a:xfrm>
            <a:off x="548640" y="5486400"/>
            <a:ext cx="6172200"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حسابات خاصة بهذه المحاضرة بأدوات الكتاب (DE421)؛ الأوقات بتوقيت القاهرة: شتاءً ت.ع+٢ وصيفًا ت.ع+٣ بافتراض استمرار التوقيت الصيفي</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13</a:t>
            </a:fld>
            <a:endParaRPr lang="en-US">
              <a:latin typeface="EB Garamond"/>
              <a:cs typeface="Noto Naskh Arabic"/>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break-sequence" descr="مراحل الكسوف، صورة ناسا">    </p:cNvPr>
          <p:cNvPicPr>
            <a:picLocks noChangeAspect="1"/>
          </p:cNvPicPr>
          <p:nvPr/>
        </p:nvPicPr>
        <p:blipFill>
          <a:blip r:embed="rId1"/>
          <a:stretch>
            <a:fillRect/>
          </a:stretch>
        </p:blipFill>
        <p:spPr>
          <a:xfrm>
            <a:off x="3561369" y="822960"/>
            <a:ext cx="5068957" cy="3291840"/>
          </a:xfrm>
          <a:prstGeom prst="rect">
            <a:avLst/>
          </a:prstGeom>
        </p:spPr>
      </p:pic>
      <p:sp>
        <p:nvSpPr>
          <p:cNvPr id="3" name="Text 0"/>
          <p:cNvSpPr txBox="1"/>
          <p:nvPr/>
        </p:nvSpPr>
        <p:spPr>
          <a:xfrm>
            <a:off x="548640" y="4389120"/>
            <a:ext cx="11094415" cy="731520"/>
          </a:xfrm>
          <a:prstGeom prst="rect">
            <a:avLst/>
          </a:prstGeom>
          <a:noFill/>
          <a:ln/>
        </p:spPr>
        <p:txBody>
          <a:bodyPr wrap="square" lIns="0" tIns="0" rIns="0" bIns="0" rtlCol="0" anchor="ctr"/>
          <a:lstStyle/>
          <a:p>
            <a:pPr rtl="1" algn="ctr" indent="0" marL="0">
              <a:buNone/>
            </a:pPr>
            <a:r>
              <a:rPr lang="en-US" sz="3600" b="1" dirty="0">
                <a:solidFill>
                  <a:srgbClr val="E8B84B"/>
                </a:solidFill>
                <a:latin typeface="EB Garamond"/>
                <a:cs typeface="Amiri"/>
              </a:rPr>
              <a:t>استراحة — ١٠ دقائق</a:t>
            </a:r>
            <a:endParaRPr lang="en-US" sz="3600" dirty="0">
              <a:latin typeface="EB Garamond"/>
              <a:cs typeface="Amiri"/>
            </a:endParaRPr>
          </a:p>
        </p:txBody>
      </p:sp>
      <p:sp>
        <p:nvSpPr>
          <p:cNvPr id="4" name="Text 1"/>
          <p:cNvSpPr txBox="1"/>
          <p:nvPr/>
        </p:nvSpPr>
        <p:spPr>
          <a:xfrm>
            <a:off x="548640" y="5074920"/>
            <a:ext cx="11094415" cy="365760"/>
          </a:xfrm>
          <a:prstGeom prst="rect">
            <a:avLst/>
          </a:prstGeom>
          <a:noFill/>
          <a:ln/>
        </p:spPr>
        <p:txBody>
          <a:bodyPr wrap="square" lIns="0" tIns="0" rIns="0" bIns="0" rtlCol="0" anchor="ctr"/>
          <a:lstStyle/>
          <a:p>
            <a:pPr algn="ctr" indent="0" marL="0">
              <a:buNone/>
            </a:pPr>
            <a:r>
              <a:rPr lang="en-US" sz="1600" i="1" dirty="0">
                <a:solidFill>
                  <a:srgbClr val="F0E0B0"/>
                </a:solidFill>
                <a:latin typeface="EB Garamond"/>
                <a:cs typeface="Noto Naskh Arabic"/>
              </a:rPr>
              <a:t>Break — 10 minutes</a:t>
            </a:r>
            <a:endParaRPr lang="en-US" sz="1600" dirty="0">
              <a:latin typeface="EB Garamond"/>
              <a:cs typeface="Noto Naskh Arabic"/>
            </a:endParaRPr>
          </a:p>
        </p:txBody>
      </p:sp>
      <p:sp>
        <p:nvSpPr>
          <p:cNvPr id="5" name="Text 2"/>
          <p:cNvSpPr txBox="1"/>
          <p:nvPr/>
        </p:nvSpPr>
        <p:spPr>
          <a:xfrm>
            <a:off x="548640" y="5577840"/>
            <a:ext cx="11094415" cy="457200"/>
          </a:xfrm>
          <a:prstGeom prst="rect">
            <a:avLst/>
          </a:prstGeom>
          <a:noFill/>
          <a:ln/>
        </p:spPr>
        <p:txBody>
          <a:bodyPr wrap="square" lIns="0" tIns="0" rIns="0" bIns="0" rtlCol="0" anchor="ctr"/>
          <a:lstStyle/>
          <a:p>
            <a:pPr rtl="1" algn="ctr" indent="0" marL="0">
              <a:buNone/>
            </a:pPr>
            <a:r>
              <a:rPr lang="en-US" sz="1800" dirty="0">
                <a:solidFill>
                  <a:srgbClr val="FAF3E0"/>
                </a:solidFill>
                <a:latin typeface="EB Garamond"/>
                <a:cs typeface="Noto Naskh Arabic"/>
              </a:rPr>
              <a:t>بعد الاستراحة: الكسوف في تاريخ مصر والحضارة الإسلامية</a:t>
            </a:r>
            <a:endParaRPr lang="en-US" sz="1800" dirty="0">
              <a:latin typeface="EB Garamond"/>
              <a:cs typeface="Noto Naskh Arabic"/>
            </a:endParaRPr>
          </a:p>
        </p:txBody>
      </p:sp>
      <p:sp>
        <p:nvSpPr>
          <p:cNvPr id="6" name="Text 3"/>
          <p:cNvSpPr txBox="1"/>
          <p:nvPr/>
        </p:nvSpPr>
        <p:spPr>
          <a:xfrm>
            <a:off x="548640" y="6355080"/>
            <a:ext cx="11094415" cy="274320"/>
          </a:xfrm>
          <a:prstGeom prst="rect">
            <a:avLst/>
          </a:prstGeom>
          <a:noFill/>
          <a:ln/>
        </p:spPr>
        <p:txBody>
          <a:bodyPr wrap="square" lIns="0" tIns="0" rIns="0" bIns="0" rtlCol="0" anchor="ctr"/>
          <a:lstStyle/>
          <a:p>
            <a:pPr rtl="1" algn="ctr" indent="0" marL="0">
              <a:buNone/>
            </a:pPr>
            <a:r>
              <a:rPr lang="en-US" sz="1000" dirty="0">
                <a:solidFill>
                  <a:srgbClr val="9C8B6E"/>
                </a:solidFill>
                <a:latin typeface="EB Garamond"/>
                <a:cs typeface="Noto Naskh Arabic"/>
              </a:rPr>
              <a:t>صورة: مراحل كسوف ٢٠٢٤ — ناسا (NASA/Aubrey Gemignani)</a:t>
            </a:r>
            <a:endParaRPr lang="en-US" sz="1000" dirty="0">
              <a:latin typeface="EB Garamond"/>
              <a:cs typeface="Noto Naskh Arabic"/>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orona-glow"/>
          <p:cNvSpPr/>
          <p:nvPr/>
        </p:nvSpPr>
        <p:spPr>
          <a:xfrm>
            <a:off x="914400" y="1417320"/>
            <a:ext cx="4023360" cy="4023360"/>
          </a:xfrm>
          <a:prstGeom prst="ellipse">
            <a:avLst/>
          </a:prstGeom>
          <a:solidFill>
            <a:srgbClr val="E8B84B">
              <a:alpha val="18000"/>
            </a:srgbClr>
          </a:solidFill>
          <a:ln w="12700">
            <a:solidFill>
              <a:srgbClr val="E8B84B"/>
            </a:solidFill>
            <a:prstDash val="solid"/>
          </a:ln>
        </p:spPr>
      </p:sp>
      <p:sp>
        <p:nvSpPr>
          <p:cNvPr id="3" name="corona-inner"/>
          <p:cNvSpPr/>
          <p:nvPr/>
        </p:nvSpPr>
        <p:spPr>
          <a:xfrm>
            <a:off x="1234440" y="1737360"/>
            <a:ext cx="3383280" cy="3383280"/>
          </a:xfrm>
          <a:prstGeom prst="ellipse">
            <a:avLst/>
          </a:prstGeom>
          <a:solidFill>
            <a:srgbClr val="E8B84B">
              <a:alpha val="40000"/>
            </a:srgbClr>
          </a:solidFill>
          <a:ln w="12700">
            <a:solidFill>
              <a:srgbClr val="E8B84B"/>
            </a:solidFill>
            <a:prstDash val="solid"/>
          </a:ln>
        </p:spPr>
      </p:sp>
      <p:sp>
        <p:nvSpPr>
          <p:cNvPr id="4" name="section-disc"/>
          <p:cNvSpPr/>
          <p:nvPr/>
        </p:nvSpPr>
        <p:spPr>
          <a:xfrm>
            <a:off x="1463040" y="1965960"/>
            <a:ext cx="2926080" cy="2926080"/>
          </a:xfrm>
          <a:prstGeom prst="ellipse">
            <a:avLst/>
          </a:prstGeom>
          <a:solidFill>
            <a:srgbClr val="130E07"/>
          </a:solidFill>
          <a:ln w="50800">
            <a:solidFill>
              <a:srgbClr val="E8B84B"/>
            </a:solidFill>
            <a:prstDash val="solid"/>
          </a:ln>
          <a:effectLst>
            <a:outerShdw sx="100000" sy="100000" kx="0" ky="0" algn="bl" rotWithShape="0" blurRad="101600" dist="50800" dir="16200000">
              <a:srgbClr val="E8B84B">
                <a:alpha val="35000"/>
              </a:srgbClr>
            </a:outerShdw>
          </a:effectLst>
        </p:spPr>
      </p:sp>
      <p:sp>
        <p:nvSpPr>
          <p:cNvPr id="5" name="Text 3"/>
          <p:cNvSpPr txBox="1"/>
          <p:nvPr/>
        </p:nvSpPr>
        <p:spPr>
          <a:xfrm>
            <a:off x="1463040" y="1965960"/>
            <a:ext cx="2926080" cy="2926080"/>
          </a:xfrm>
          <a:prstGeom prst="rect">
            <a:avLst/>
          </a:prstGeom>
          <a:noFill/>
          <a:ln/>
        </p:spPr>
        <p:txBody>
          <a:bodyPr wrap="square" lIns="0" tIns="0" rIns="0" bIns="0" rtlCol="0" anchor="ctr"/>
          <a:lstStyle/>
          <a:p>
            <a:pPr rtl="1" algn="ctr" indent="0" marL="0">
              <a:buNone/>
            </a:pPr>
            <a:r>
              <a:rPr lang="en-US" sz="7200" b="1" dirty="0">
                <a:solidFill>
                  <a:srgbClr val="E8B84B"/>
                </a:solidFill>
                <a:latin typeface="EB Garamond"/>
                <a:cs typeface="Amiri"/>
              </a:rPr>
              <a:t>٢</a:t>
            </a:r>
            <a:endParaRPr lang="en-US" sz="7200" dirty="0">
              <a:latin typeface="EB Garamond"/>
              <a:cs typeface="Amiri"/>
            </a:endParaRPr>
          </a:p>
        </p:txBody>
      </p:sp>
      <p:sp>
        <p:nvSpPr>
          <p:cNvPr id="6" name="Text 4"/>
          <p:cNvSpPr txBox="1"/>
          <p:nvPr/>
        </p:nvSpPr>
        <p:spPr>
          <a:xfrm>
            <a:off x="5394960" y="1691640"/>
            <a:ext cx="6263640" cy="1828800"/>
          </a:xfrm>
          <a:prstGeom prst="rect">
            <a:avLst/>
          </a:prstGeom>
          <a:noFill/>
          <a:ln/>
        </p:spPr>
        <p:txBody>
          <a:bodyPr wrap="square" lIns="0" tIns="0" rIns="0" bIns="0" rtlCol="0" anchor="b"/>
          <a:lstStyle/>
          <a:p>
            <a:pPr rtl="1" algn="r" indent="0" marL="0">
              <a:buNone/>
            </a:pPr>
            <a:r>
              <a:rPr lang="ar-EG" altLang="en-US" sz="3400" b="1" dirty="0">
                <a:solidFill>
                  <a:srgbClr val="E8B84B"/>
                </a:solidFill>
                <a:latin typeface="EB Garamond"/>
                <a:cs typeface="Amiri"/>
              </a:rPr>
              <a:t>المرحلة الثانية: الكسوف في تاريخ مصر والحضارة الإسلامية</a:t>
            </a:r>
            <a:endParaRPr lang="ar-EG" sz="3400" dirty="0">
              <a:latin typeface="EB Garamond"/>
              <a:cs typeface="Amiri"/>
            </a:endParaRPr>
          </a:p>
        </p:txBody>
      </p:sp>
      <p:sp>
        <p:nvSpPr>
          <p:cNvPr id="7" name="Text 5"/>
          <p:cNvSpPr txBox="1"/>
          <p:nvPr/>
        </p:nvSpPr>
        <p:spPr>
          <a:xfrm>
            <a:off x="5394960" y="3611880"/>
            <a:ext cx="6263640" cy="914400"/>
          </a:xfrm>
          <a:prstGeom prst="rect">
            <a:avLst/>
          </a:prstGeom>
          <a:noFill/>
          <a:ln/>
        </p:spPr>
        <p:txBody>
          <a:bodyPr wrap="square" lIns="0" tIns="0" rIns="0" bIns="0" rtlCol="0" anchor="t"/>
          <a:lstStyle/>
          <a:p>
            <a:pPr rtl="1" algn="r" indent="0" marL="0">
              <a:buNone/>
            </a:pPr>
            <a:r>
              <a:rPr lang="ar-EG" altLang="en-US" sz="1700" dirty="0">
                <a:solidFill>
                  <a:srgbClr val="F0E0B0"/>
                </a:solidFill>
                <a:latin typeface="EB Garamond"/>
                <a:cs typeface="Noto Naskh Arabic"/>
              </a:rPr>
              <a:t>الساعة الثانية (١:٠٠ – ١:٥٠): من رع وإخناتون إلى ابن يونس، ومن الحديث النبوي إلى صلاة الكسوف</a:t>
            </a:r>
            <a:endParaRPr lang="ar-EG" sz="1700" dirty="0">
              <a:latin typeface="EB Garamond"/>
              <a:cs typeface="Noto Naskh Arabic"/>
            </a:endParaRPr>
          </a:p>
        </p:txBody>
      </p:sp>
      <p:sp>
        <p:nvSpPr>
          <p:cNvPr id="8" name="Text 6"/>
          <p:cNvSpPr txBox="1"/>
          <p:nvPr/>
        </p:nvSpPr>
        <p:spPr>
          <a:xfrm>
            <a:off x="5394960" y="4572000"/>
            <a:ext cx="6263640" cy="548640"/>
          </a:xfrm>
          <a:prstGeom prst="rect">
            <a:avLst/>
          </a:prstGeom>
          <a:noFill/>
          <a:ln/>
        </p:spPr>
        <p:txBody>
          <a:bodyPr wrap="square" lIns="0" tIns="0" rIns="0" bIns="0" rtlCol="0" anchor="ctr"/>
          <a:lstStyle/>
          <a:p>
            <a:pPr algn="r" indent="0" marL="0">
              <a:buNone/>
            </a:pPr>
            <a:r>
              <a:rPr lang="en-US" altLang="en-US" sz="1600" i="1" dirty="0">
                <a:solidFill>
                  <a:srgbClr val="E8B84B"/>
                </a:solidFill>
                <a:latin typeface="EB Garamond"/>
                <a:cs typeface="Noto Naskh Arabic"/>
              </a:rPr>
              <a:t>Stage 2 — Eclipses in Egypt's history and in Islamic civilization</a:t>
            </a:r>
            <a:endParaRPr lang="en-US" sz="1600" dirty="0">
              <a:latin typeface="EB Garamond"/>
              <a:cs typeface="Noto Naskh Arabic"/>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٢-أ</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الكسوفات التي حدثت في مصر</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Eclipses that happened over Egypt</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من الأسطورة وسجلات العالم القديم إلى إخناتون ودندرة، فالقاهرة الفاطمية، فبعثات سوهاج والسلوم</a:t>
            </a:r>
            <a:endParaRPr lang="ar-EG" sz="1600" dirty="0">
              <a:latin typeface="EB Garamond"/>
              <a:cs typeface="Noto Naskh Arabic"/>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box"/>
          <p:cNvSpPr/>
          <p:nvPr/>
        </p:nvSpPr>
        <p:spPr>
          <a:xfrm>
            <a:off x="7539228" y="182880"/>
            <a:ext cx="4103827" cy="274320"/>
          </a:xfrm>
          <a:prstGeom prst="rect">
            <a:avLst/>
          </a:prstGeom>
          <a:solidFill>
            <a:srgbClr val="1B3A6B"/>
          </a:solidFill>
          <a:ln w="12700">
            <a:solidFill>
              <a:srgbClr val="E8B84B"/>
            </a:solidFill>
            <a:prstDash val="solid"/>
          </a:ln>
        </p:spPr>
      </p:sp>
      <p:sp>
        <p:nvSpPr>
          <p:cNvPr id="3" name="kicker"/>
          <p:cNvSpPr txBox="1"/>
          <p:nvPr/>
        </p:nvSpPr>
        <p:spPr>
          <a:xfrm>
            <a:off x="7539228" y="182880"/>
            <a:ext cx="410382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ECLIPSE RECORDS OF THE ANCIENT WORLD</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سجلات الكسوف في العالم القديم</a:t>
            </a:r>
            <a:endParaRPr lang="ar-EG" sz="3000" dirty="0">
              <a:latin typeface="EB Garamond"/>
              <a:cs typeface="Amiri"/>
            </a:endParaRPr>
          </a:p>
        </p:txBody>
      </p:sp>
      <p:pic>
        <p:nvPicPr>
          <p:cNvPr id="5" name="ancientRecords" descr="ancientRecords">    </p:cNvPr>
          <p:cNvPicPr>
            <a:picLocks noChangeAspect="1"/>
          </p:cNvPicPr>
          <p:nvPr/>
        </p:nvPicPr>
        <p:blipFill>
          <a:blip r:embed="rId1"/>
          <a:stretch>
            <a:fillRect/>
          </a:stretch>
        </p:blipFill>
        <p:spPr>
          <a:xfrm>
            <a:off x="563860" y="1325880"/>
            <a:ext cx="5547401" cy="4663440"/>
          </a:xfrm>
          <a:prstGeom prst="rect">
            <a:avLst/>
          </a:prstGeom>
        </p:spPr>
      </p:pic>
      <p:sp>
        <p:nvSpPr>
          <p:cNvPr id="6" name="Text 3"/>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الصين: </a:t>
            </a:r>
            <a:pPr rtl="1" algn="r" indent="0" marL="0">
              <a:buNone/>
            </a:pPr>
            <a:r>
              <a:rPr lang="ar-EG" altLang="en-US" sz="1800" dirty="0">
                <a:solidFill>
                  <a:srgbClr val="F0E0B0"/>
                </a:solidFill>
                <a:latin typeface="EB Garamond"/>
                <a:cs typeface="Noto Naskh Arabic"/>
              </a:rPr>
              <a:t>عظام العرافة (Oracle bones) زمن أسرة شانغ نحو ١٢٠٠ ق.م، وقصة الفلكيين «هسي وهو»</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أوغاريت: </a:t>
            </a:r>
            <a:pPr rtl="1" algn="r" indent="0" marL="0">
              <a:buNone/>
            </a:pPr>
            <a:r>
              <a:rPr lang="ar-EG" altLang="en-US" sz="1800" dirty="0">
                <a:solidFill>
                  <a:srgbClr val="F0E0B0"/>
                </a:solidFill>
                <a:latin typeface="EB Garamond"/>
                <a:cs typeface="Noto Naskh Arabic"/>
              </a:rPr>
              <a:t>لوح طيني يصف اختفاء الشمس نهارًا، يُربط بكسوف نحو ١٢٢٣ ق.م (والتاريخ مختلف فيه)</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آشور: </a:t>
            </a:r>
            <a:pPr rtl="1" algn="r" indent="0" marL="0">
              <a:buNone/>
            </a:pPr>
            <a:r>
              <a:rPr lang="ar-EG" altLang="en-US" sz="1800" dirty="0">
                <a:solidFill>
                  <a:srgbClr val="F0E0B0"/>
                </a:solidFill>
                <a:latin typeface="EB Garamond"/>
                <a:cs typeface="Noto Naskh Arabic"/>
              </a:rPr>
              <a:t>كسوف ١٥ يونيو ٧٦٣ ق.م في «سجلات الأعوام» (Eponym chronicle): مرتكز تأريخ الشرق القديم</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الإغريق: </a:t>
            </a:r>
            <a:pPr rtl="1" algn="r" indent="0" marL="0">
              <a:buNone/>
            </a:pPr>
            <a:r>
              <a:rPr lang="ar-EG" altLang="en-US" sz="1800" dirty="0">
                <a:solidFill>
                  <a:srgbClr val="F0E0B0"/>
                </a:solidFill>
                <a:latin typeface="EB Garamond"/>
                <a:cs typeface="Noto Naskh Arabic"/>
              </a:rPr>
              <a:t>كسوف ٢٨ مايو ٥٨٥ ق.م أوقف معركة الميديين والليديين، ونُسب التنبؤ به إلى طاليس</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بابل: </a:t>
            </a:r>
            <a:pPr rtl="1" algn="r" indent="0" marL="0">
              <a:buNone/>
            </a:pPr>
            <a:r>
              <a:rPr lang="ar-EG" altLang="en-US" sz="1800" dirty="0">
                <a:solidFill>
                  <a:srgbClr val="F0E0B0"/>
                </a:solidFill>
                <a:latin typeface="EB Garamond"/>
                <a:cs typeface="Noto Naskh Arabic"/>
              </a:rPr>
              <a:t>رصد الكهنة الكسوفات قرونًا فاكتشفوا تكرارها كل ١٨ سنة (ساروس)</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١٣-٢ من الكتاب: أشهر سجلات الكسوف المكتوبة في العالم القديم</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17</a:t>
            </a:fld>
            <a:endParaRPr lang="en-US">
              <a:latin typeface="EB Garamond"/>
              <a:cs typeface="Noto Naskh Arabic"/>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box"/>
          <p:cNvSpPr/>
          <p:nvPr/>
        </p:nvSpPr>
        <p:spPr>
          <a:xfrm>
            <a:off x="5465369" y="182880"/>
            <a:ext cx="6177686" cy="274320"/>
          </a:xfrm>
          <a:prstGeom prst="rect">
            <a:avLst/>
          </a:prstGeom>
          <a:solidFill>
            <a:srgbClr val="1B3A6B"/>
          </a:solidFill>
          <a:ln w="12700">
            <a:solidFill>
              <a:srgbClr val="E8B84B"/>
            </a:solidFill>
            <a:prstDash val="solid"/>
          </a:ln>
        </p:spPr>
      </p:sp>
      <p:sp>
        <p:nvSpPr>
          <p:cNvPr id="3" name="kicker"/>
          <p:cNvSpPr txBox="1"/>
          <p:nvPr/>
        </p:nvSpPr>
        <p:spPr>
          <a:xfrm>
            <a:off x="5465369" y="182880"/>
            <a:ext cx="617768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RA AND APOPHIS: THE SERPENT THAT TRIES TO SWALLOW THE SUN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رع وأبوفيس: الثعبان الذي يحاول ابتلاع الشمس</a:t>
            </a:r>
            <a:endParaRPr lang="ar-EG" sz="3000" dirty="0">
              <a:latin typeface="EB Garamond"/>
              <a:cs typeface="Amiri"/>
            </a:endParaRPr>
          </a:p>
        </p:txBody>
      </p:sp>
      <p:pic>
        <p:nvPicPr>
          <p:cNvPr id="5" name="raApophis" descr="raApophis">    </p:cNvPr>
          <p:cNvPicPr>
            <a:picLocks noChangeAspect="1"/>
          </p:cNvPicPr>
          <p:nvPr/>
        </p:nvPicPr>
        <p:blipFill>
          <a:blip r:embed="rId1"/>
          <a:stretch>
            <a:fillRect/>
          </a:stretch>
        </p:blipFill>
        <p:spPr>
          <a:xfrm>
            <a:off x="845550" y="1325880"/>
            <a:ext cx="5304060" cy="4663440"/>
          </a:xfrm>
          <a:prstGeom prst="rect">
            <a:avLst/>
          </a:prstGeom>
        </p:spPr>
      </p:pic>
      <p:sp>
        <p:nvSpPr>
          <p:cNvPr id="6" name="Text 3"/>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الأسطورة: </a:t>
            </a:r>
            <a:pPr rtl="1" algn="r" indent="0" marL="0">
              <a:buNone/>
            </a:pPr>
            <a:r>
              <a:rPr lang="ar-EG" altLang="en-US" sz="2000" dirty="0">
                <a:solidFill>
                  <a:srgbClr val="F0E0B0"/>
                </a:solidFill>
                <a:latin typeface="EB Garamond"/>
                <a:cs typeface="Noto Naskh Arabic"/>
              </a:rPr>
              <a:t>يبحر رع في قاربه كل ليلة عبر العالم السفلي، ويحاول الثعبان أبوفيس ابتلاعه</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قراءة محتملة: </a:t>
            </a:r>
            <a:pPr rtl="1" algn="r" indent="0" marL="0">
              <a:buNone/>
            </a:pPr>
            <a:r>
              <a:rPr lang="ar-EG" altLang="en-US" sz="2000" dirty="0">
                <a:solidFill>
                  <a:srgbClr val="F0E0B0"/>
                </a:solidFill>
                <a:latin typeface="EB Garamond"/>
                <a:cs typeface="Noto Naskh Arabic"/>
              </a:rPr>
              <a:t>يربط بعض الباحثين الأسطورة بالظواهر التي تحجب الشمس كالكسوف والعواصف</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للمرشد: </a:t>
            </a:r>
            <a:pPr rtl="1" algn="r" indent="0" marL="0">
              <a:buNone/>
            </a:pPr>
            <a:r>
              <a:rPr lang="ar-EG" altLang="en-US" sz="2000" dirty="0">
                <a:solidFill>
                  <a:srgbClr val="F0E0B0"/>
                </a:solidFill>
                <a:latin typeface="EB Garamond"/>
                <a:cs typeface="Noto Naskh Arabic"/>
              </a:rPr>
              <a:t>استعملها مدخلًا للحكاية، مع التنبيه إلى أن الربط بالكسوف تفسير حديث لا نص صريح</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٢-٣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18</a:t>
            </a:fld>
            <a:endParaRPr lang="en-US">
              <a:latin typeface="EB Garamond"/>
              <a:cs typeface="Noto Naskh Arabic"/>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icker-box"/>
          <p:cNvSpPr/>
          <p:nvPr/>
        </p:nvSpPr>
        <p:spPr>
          <a:xfrm>
            <a:off x="5267858" y="182880"/>
            <a:ext cx="6375197" cy="274320"/>
          </a:xfrm>
          <a:prstGeom prst="rect">
            <a:avLst/>
          </a:prstGeom>
          <a:solidFill>
            <a:srgbClr val="1B3A6B"/>
          </a:solidFill>
          <a:ln w="12700">
            <a:solidFill>
              <a:srgbClr val="E8B84B"/>
            </a:solidFill>
            <a:prstDash val="solid"/>
          </a:ln>
        </p:spPr>
      </p:sp>
      <p:sp>
        <p:nvSpPr>
          <p:cNvPr id="3" name="kicker"/>
          <p:cNvSpPr txBox="1"/>
          <p:nvPr/>
        </p:nvSpPr>
        <p:spPr>
          <a:xfrm>
            <a:off x="5267858" y="182880"/>
            <a:ext cx="637519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TOTAL ECLIPSE OF 14 MAY 1338 BC OVER AMARNA (AKHETATEN)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كسوف ١٤ مايو ١٣٣٨ ق.م فوق تل العمارنة</a:t>
            </a:r>
            <a:endParaRPr lang="ar-EG" sz="3000" dirty="0">
              <a:latin typeface="EB Garamond"/>
              <a:cs typeface="Amiri"/>
            </a:endParaRPr>
          </a:p>
        </p:txBody>
      </p:sp>
      <p:pic>
        <p:nvPicPr>
          <p:cNvPr id="5" name="akhenaten" descr="akhenaten">    </p:cNvPr>
          <p:cNvPicPr>
            <a:picLocks noChangeAspect="1"/>
          </p:cNvPicPr>
          <p:nvPr/>
        </p:nvPicPr>
        <p:blipFill>
          <a:blip r:embed="rId1"/>
          <a:stretch>
            <a:fillRect/>
          </a:stretch>
        </p:blipFill>
        <p:spPr>
          <a:xfrm>
            <a:off x="1244775" y="1325880"/>
            <a:ext cx="4185571" cy="4663440"/>
          </a:xfrm>
          <a:prstGeom prst="rect">
            <a:avLst/>
          </a:prstGeom>
        </p:spPr>
      </p:pic>
      <p:sp>
        <p:nvSpPr>
          <p:cNvPr id="6" name="Text 3"/>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الحساب (Retrocalculation): </a:t>
            </a:r>
            <a:pPr rtl="1" algn="r" indent="0" marL="0">
              <a:buNone/>
            </a:pPr>
            <a:r>
              <a:rPr lang="ar-EG" altLang="en-US" sz="2000" dirty="0">
                <a:solidFill>
                  <a:srgbClr val="F0E0B0"/>
                </a:solidFill>
                <a:latin typeface="EB Garamond"/>
                <a:cs typeface="Noto Naskh Arabic"/>
              </a:rPr>
              <a:t>كسوف كلي مرّ ظله فوق أخت-آتون (تل العمارنة) بعد الظهر بقليل، والشمس على ارتفاع ٥٧°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المدة: </a:t>
            </a:r>
            <a:pPr rtl="1" algn="r" indent="0" marL="0">
              <a:buNone/>
            </a:pPr>
            <a:r>
              <a:rPr lang="ar-EG" altLang="en-US" sz="2000" dirty="0">
                <a:solidFill>
                  <a:srgbClr val="F0E0B0"/>
                </a:solidFill>
                <a:latin typeface="EB Garamond"/>
                <a:cs typeface="Noto Naskh Arabic"/>
              </a:rPr>
              <a:t>نحو ٥ دقائق ونصف في العمارنة بحساب الكتاب</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عدم اليقين (ΔT, Delta T): </a:t>
            </a:r>
            <a:pPr rtl="1" algn="r" indent="0" marL="0">
              <a:buNone/>
            </a:pPr>
            <a:r>
              <a:rPr lang="ar-EG" altLang="en-US" sz="2000" dirty="0">
                <a:solidFill>
                  <a:srgbClr val="F0E0B0"/>
                </a:solidFill>
                <a:latin typeface="EB Garamond"/>
                <a:cs typeface="Noto Naskh Arabic"/>
              </a:rPr>
              <a:t>خطأ في فرق التوقيت بنحو ٨٠٠ ثانية يجعل المدة بين ٤ د ٤٧ ث و٦ د ١٣ ث، وتبقى العمارنة داخل الكلية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تنبيه: </a:t>
            </a:r>
            <a:pPr rtl="1" algn="r" indent="0" marL="0">
              <a:buNone/>
            </a:pPr>
            <a:r>
              <a:rPr lang="ar-EG" altLang="en-US" sz="2000" dirty="0">
                <a:solidFill>
                  <a:srgbClr val="F0E0B0"/>
                </a:solidFill>
                <a:latin typeface="EB Garamond"/>
                <a:cs typeface="Noto Naskh Arabic"/>
              </a:rPr>
              <a:t>لا يوجد نص مصري قديم معروف يؤرخه؛ ربطه بسنة بعينها من حكم إخناتون اجتهاد</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حساب الكتاب (ERFA + ΔT)، بالتقويم اليولياني</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19</a:t>
            </a:fld>
            <a:endParaRPr lang="en-US">
              <a:latin typeface="EB Garamond"/>
              <a:cs typeface="Noto Naskh Arabic"/>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box"/>
          <p:cNvSpPr/>
          <p:nvPr/>
        </p:nvSpPr>
        <p:spPr>
          <a:xfrm>
            <a:off x="4872838" y="182880"/>
            <a:ext cx="6770218" cy="274320"/>
          </a:xfrm>
          <a:prstGeom prst="rect">
            <a:avLst/>
          </a:prstGeom>
          <a:solidFill>
            <a:srgbClr val="1B3A6B"/>
          </a:solidFill>
          <a:ln w="12700">
            <a:solidFill>
              <a:srgbClr val="E8B84B"/>
            </a:solidFill>
            <a:prstDash val="solid"/>
          </a:ln>
        </p:spPr>
      </p:sp>
      <p:sp>
        <p:nvSpPr>
          <p:cNvPr id="3" name="kicker"/>
          <p:cNvSpPr txBox="1"/>
          <p:nvPr/>
        </p:nvSpPr>
        <p:spPr>
          <a:xfrm>
            <a:off x="4872838" y="182880"/>
            <a:ext cx="677021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DENDERA ZODIAC: A SOLAR AND A LUNAR ECLIPSE CARVED IN STONE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سقف دندرة: كسوف وخسوف منقوشان في الحجر</a:t>
            </a:r>
            <a:endParaRPr lang="ar-EG" sz="3000" dirty="0">
              <a:latin typeface="EB Garamond"/>
              <a:cs typeface="Amiri"/>
            </a:endParaRPr>
          </a:p>
        </p:txBody>
      </p:sp>
      <p:pic>
        <p:nvPicPr>
          <p:cNvPr id="5" name="dendera" descr="dendera">    </p:cNvPr>
          <p:cNvPicPr>
            <a:picLocks noChangeAspect="1"/>
          </p:cNvPicPr>
          <p:nvPr/>
        </p:nvPicPr>
        <p:blipFill>
          <a:blip r:embed="rId1"/>
          <a:stretch>
            <a:fillRect/>
          </a:stretch>
        </p:blipFill>
        <p:spPr>
          <a:xfrm>
            <a:off x="636244" y="1325880"/>
            <a:ext cx="5676952" cy="4663440"/>
          </a:xfrm>
          <a:prstGeom prst="rect">
            <a:avLst/>
          </a:prstGeom>
        </p:spPr>
      </p:pic>
      <p:sp>
        <p:nvSpPr>
          <p:cNvPr id="6" name="Text 3"/>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F0E0B0"/>
                </a:solidFill>
                <a:latin typeface="EB Garamond"/>
                <a:cs typeface="Noto Naskh Arabic"/>
              </a:rPr>
              <a:t>السقف الدائري (Dendera zodiac): </a:t>
            </a:r>
            <a:pPr rtl="1" algn="r" indent="0" marL="0">
              <a:buNone/>
            </a:pPr>
            <a:r>
              <a:rPr lang="ar-EG" altLang="en-US" sz="1900" dirty="0">
                <a:solidFill>
                  <a:srgbClr val="F0E0B0"/>
                </a:solidFill>
                <a:latin typeface="EB Garamond"/>
                <a:cs typeface="Noto Naskh Arabic"/>
              </a:rPr>
              <a:t>بطلمي من نحو ٥٠ ق.م، نُقل إلى باريس سنة ١٨٢١ وهو اليوم في اللوفر، وفي المعبد نسخة مصبوبة</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قرص الكسوف: </a:t>
            </a:r>
            <a:pPr rtl="1" algn="r" indent="0" marL="0">
              <a:buNone/>
            </a:pPr>
            <a:r>
              <a:rPr lang="ar-EG" altLang="en-US" sz="1900" dirty="0">
                <a:solidFill>
                  <a:srgbClr val="F0E0B0"/>
                </a:solidFill>
                <a:latin typeface="EB Garamond"/>
                <a:cs typeface="Noto Naskh Arabic"/>
              </a:rPr>
              <a:t>إيزيس تمسك قردًا من ذيله ← كسوف ٧ مارس ٥١ ق.م (حلقي، رآه أهل دندرة جزئيًا ١٧٪ عصرًا)</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قرص الخسوف: </a:t>
            </a:r>
            <a:pPr rtl="1" algn="r" indent="0" marL="0">
              <a:buNone/>
            </a:pPr>
            <a:r>
              <a:rPr lang="ar-EG" altLang="en-US" sz="1900" dirty="0">
                <a:solidFill>
                  <a:srgbClr val="F0E0B0"/>
                </a:solidFill>
                <a:latin typeface="EB Garamond"/>
                <a:cs typeface="Noto Naskh Arabic"/>
              </a:rPr>
              <a:t>عين حورس ← خسوف كلي للقمر ٢٥ سبتمبر ٥٢ ق.م (قدر ١٫٨١)</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٢٠٢٧: </a:t>
            </a:r>
            <a:pPr rtl="1" algn="r" indent="0" marL="0">
              <a:buNone/>
            </a:pPr>
            <a:r>
              <a:rPr lang="ar-EG" altLang="en-US" sz="1900" dirty="0">
                <a:solidFill>
                  <a:srgbClr val="F0E0B0"/>
                </a:solidFill>
                <a:latin typeface="EB Garamond"/>
                <a:cs typeface="Noto Naskh Arabic"/>
              </a:rPr>
              <a:t>الكلية في دندرة ٦ دقائق و١٤ ثانية</a:t>
            </a:r>
            <a:endParaRPr lang="ar-EG" sz="19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٥-٣ من الكتاب (محسوب)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20</a:t>
            </a:fld>
            <a:endParaRPr lang="en-US">
              <a:latin typeface="EB Garamond"/>
              <a:cs typeface="Noto Naskh Arabic"/>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box"/>
          <p:cNvSpPr/>
          <p:nvPr/>
        </p:nvSpPr>
        <p:spPr>
          <a:xfrm>
            <a:off x="5662879" y="182880"/>
            <a:ext cx="5980176" cy="274320"/>
          </a:xfrm>
          <a:prstGeom prst="rect">
            <a:avLst/>
          </a:prstGeom>
          <a:solidFill>
            <a:srgbClr val="1B3A6B"/>
          </a:solidFill>
          <a:ln w="12700">
            <a:solidFill>
              <a:srgbClr val="E8B84B"/>
            </a:solidFill>
            <a:prstDash val="solid"/>
          </a:ln>
        </p:spPr>
      </p:sp>
      <p:sp>
        <p:nvSpPr>
          <p:cNvPr id="3" name="kicker"/>
          <p:cNvSpPr txBox="1"/>
          <p:nvPr/>
        </p:nvSpPr>
        <p:spPr>
          <a:xfrm>
            <a:off x="5662879" y="182880"/>
            <a:ext cx="598017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TWO SOLAR ECLIPSES OVER FATIMID CAIRO (993 AND 1004 CE)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كسوفان فوق القاهرة الفاطمية</a:t>
            </a:r>
            <a:endParaRPr lang="ar-EG" sz="3000" dirty="0">
              <a:latin typeface="EB Garamond"/>
              <a:cs typeface="Amiri"/>
            </a:endParaRPr>
          </a:p>
        </p:txBody>
      </p:sp>
      <p:pic>
        <p:nvPicPr>
          <p:cNvPr id="5" name="e993" descr="e993">    </p:cNvPr>
          <p:cNvPicPr>
            <a:picLocks noChangeAspect="1"/>
          </p:cNvPicPr>
          <p:nvPr/>
        </p:nvPicPr>
        <p:blipFill>
          <a:blip r:embed="rId1"/>
          <a:stretch>
            <a:fillRect/>
          </a:stretch>
        </p:blipFill>
        <p:spPr>
          <a:xfrm>
            <a:off x="6904441" y="1325880"/>
            <a:ext cx="4204798" cy="3931920"/>
          </a:xfrm>
          <a:prstGeom prst="rect">
            <a:avLst/>
          </a:prstGeom>
        </p:spPr>
      </p:pic>
      <p:pic>
        <p:nvPicPr>
          <p:cNvPr id="6" name="e1004" descr="e1004">    </p:cNvPr>
          <p:cNvPicPr>
            <a:picLocks noChangeAspect="1"/>
          </p:cNvPicPr>
          <p:nvPr/>
        </p:nvPicPr>
        <p:blipFill>
          <a:blip r:embed="rId2"/>
          <a:stretch>
            <a:fillRect/>
          </a:stretch>
        </p:blipFill>
        <p:spPr>
          <a:xfrm>
            <a:off x="1275710" y="1325880"/>
            <a:ext cx="3849380" cy="3931920"/>
          </a:xfrm>
          <a:prstGeom prst="rect">
            <a:avLst/>
          </a:prstGeom>
        </p:spPr>
      </p:pic>
      <p:sp>
        <p:nvSpPr>
          <p:cNvPr id="7" name="Text 3"/>
          <p:cNvSpPr txBox="1"/>
          <p:nvPr/>
        </p:nvSpPr>
        <p:spPr>
          <a:xfrm>
            <a:off x="6355080" y="5349240"/>
            <a:ext cx="5303520" cy="685800"/>
          </a:xfrm>
          <a:prstGeom prst="rect">
            <a:avLst/>
          </a:prstGeom>
          <a:noFill/>
          <a:ln/>
        </p:spPr>
        <p:txBody>
          <a:bodyPr wrap="square" lIns="0" tIns="0" rIns="0" bIns="0" rtlCol="0" anchor="t"/>
          <a:lstStyle/>
          <a:p>
            <a:pPr rtl="1" algn="r" indent="0" marL="0">
              <a:buNone/>
            </a:pPr>
            <a:r>
              <a:rPr lang="ar-EG" altLang="en-US" sz="1400" b="1" dirty="0">
                <a:solidFill>
                  <a:srgbClr val="E8B84B"/>
                </a:solidFill>
                <a:latin typeface="EB Garamond"/>
                <a:cs typeface="Noto Naskh Arabic"/>
              </a:rPr>
              <a:t>٢٠ أغسطس ٩٩٣م (٢٩ جمادى الآخرة ٣٨٣هـ): </a:t>
            </a:r>
            <a:pPr rtl="1" algn="r" indent="0" marL="0">
              <a:buNone/>
            </a:pPr>
            <a:r>
              <a:rPr lang="ar-EG" altLang="en-US" sz="1400" dirty="0">
                <a:solidFill>
                  <a:srgbClr val="F0E0B0"/>
                </a:solidFill>
                <a:latin typeface="EB Garamond"/>
                <a:cs typeface="Noto Naskh Arabic"/>
              </a:rPr>
              <a:t>كسوف كلي مرّ ظله قبالة الساحل الشمالي، وبلغ في القاهرة ٩٦٪ ضحى</a:t>
            </a:r>
            <a:endParaRPr lang="en-US" sz="1400" dirty="0">
              <a:latin typeface="EB Garamond"/>
              <a:cs typeface="Noto Naskh Arabic"/>
            </a:endParaRPr>
          </a:p>
        </p:txBody>
      </p:sp>
      <p:sp>
        <p:nvSpPr>
          <p:cNvPr id="8" name="Text 4"/>
          <p:cNvSpPr txBox="1"/>
          <p:nvPr/>
        </p:nvSpPr>
        <p:spPr>
          <a:xfrm>
            <a:off x="548640" y="5349240"/>
            <a:ext cx="5303520" cy="685800"/>
          </a:xfrm>
          <a:prstGeom prst="rect">
            <a:avLst/>
          </a:prstGeom>
          <a:noFill/>
          <a:ln/>
        </p:spPr>
        <p:txBody>
          <a:bodyPr wrap="square" lIns="0" tIns="0" rIns="0" bIns="0" rtlCol="0" anchor="t"/>
          <a:lstStyle/>
          <a:p>
            <a:pPr rtl="1" algn="r" indent="0" marL="0">
              <a:buNone/>
            </a:pPr>
            <a:r>
              <a:rPr lang="ar-EG" altLang="en-US" sz="1400" b="1" dirty="0">
                <a:solidFill>
                  <a:srgbClr val="E8B84B"/>
                </a:solidFill>
                <a:latin typeface="EB Garamond"/>
                <a:cs typeface="Noto Naskh Arabic"/>
              </a:rPr>
              <a:t>٢٤ يناير ١٠٠٤م (٢٩ ربيع الأول ٣٩٤هـ): </a:t>
            </a:r>
            <a:pPr rtl="1" algn="r" indent="0" marL="0">
              <a:buNone/>
            </a:pPr>
            <a:r>
              <a:rPr lang="ar-EG" altLang="en-US" sz="1400" dirty="0">
                <a:solidFill>
                  <a:srgbClr val="F0E0B0"/>
                </a:solidFill>
                <a:latin typeface="EB Garamond"/>
                <a:cs typeface="Noto Naskh Arabic"/>
              </a:rPr>
              <a:t>كسوف هجين، غربت فيه الشمس على القاهرة مكسوفة ٩٧٪ خلف الأهرام</a:t>
            </a:r>
            <a:endParaRPr lang="en-US" sz="14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21</a:t>
            </a:fld>
            <a:endParaRPr lang="en-US">
              <a:latin typeface="EB Garamond"/>
              <a:cs typeface="Noto Naskh Arabic"/>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box"/>
          <p:cNvSpPr/>
          <p:nvPr/>
        </p:nvSpPr>
        <p:spPr>
          <a:xfrm>
            <a:off x="5070348" y="182880"/>
            <a:ext cx="6572707" cy="274320"/>
          </a:xfrm>
          <a:prstGeom prst="rect">
            <a:avLst/>
          </a:prstGeom>
          <a:solidFill>
            <a:srgbClr val="1B3A6B"/>
          </a:solidFill>
          <a:ln w="12700">
            <a:solidFill>
              <a:srgbClr val="E8B84B"/>
            </a:solidFill>
            <a:prstDash val="solid"/>
          </a:ln>
        </p:spPr>
      </p:sp>
      <p:sp>
        <p:nvSpPr>
          <p:cNvPr id="3" name="kicker"/>
          <p:cNvSpPr txBox="1"/>
          <p:nvPr/>
        </p:nvSpPr>
        <p:spPr>
          <a:xfrm>
            <a:off x="5070348" y="182880"/>
            <a:ext cx="657270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TOTAL LUNAR ECLIPSE OF 1 MARCH 1002: EARTH'S ROUND SHADOW</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خسوف ١ مارس ١٠٠٢م: ظل الأرض المستدير</a:t>
            </a:r>
            <a:endParaRPr lang="ar-EG" sz="3000" dirty="0">
              <a:latin typeface="EB Garamond"/>
              <a:cs typeface="Amiri"/>
            </a:endParaRPr>
          </a:p>
        </p:txBody>
      </p:sp>
      <p:pic>
        <p:nvPicPr>
          <p:cNvPr id="5" name="lunarCairo" descr="lunarCairo">    </p:cNvPr>
          <p:cNvPicPr>
            <a:picLocks noChangeAspect="1"/>
          </p:cNvPicPr>
          <p:nvPr/>
        </p:nvPicPr>
        <p:blipFill>
          <a:blip r:embed="rId1"/>
          <a:stretch>
            <a:fillRect/>
          </a:stretch>
        </p:blipFill>
        <p:spPr>
          <a:xfrm>
            <a:off x="548640" y="1681600"/>
            <a:ext cx="6035040" cy="3952000"/>
          </a:xfrm>
          <a:prstGeom prst="rect">
            <a:avLst/>
          </a:prstGeom>
        </p:spPr>
      </p:pic>
      <p:sp>
        <p:nvSpPr>
          <p:cNvPr id="6" name="Text 3"/>
          <p:cNvSpPr txBox="1"/>
          <p:nvPr/>
        </p:nvSpPr>
        <p:spPr>
          <a:xfrm>
            <a:off x="6903720" y="1371600"/>
            <a:ext cx="47393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700" b="1" dirty="0">
                <a:solidFill>
                  <a:srgbClr val="F0E0B0"/>
                </a:solidFill>
                <a:latin typeface="EB Garamond"/>
                <a:cs typeface="Noto Naskh Arabic"/>
              </a:rPr>
              <a:t>الحدث: </a:t>
            </a:r>
            <a:pPr rtl="1" algn="r" indent="0" marL="0">
              <a:buNone/>
            </a:pPr>
            <a:r>
              <a:rPr lang="ar-EG" altLang="en-US" sz="1700" dirty="0">
                <a:solidFill>
                  <a:srgbClr val="F0E0B0"/>
                </a:solidFill>
                <a:latin typeface="EB Garamond"/>
                <a:cs typeface="Noto Naskh Arabic"/>
              </a:rPr>
              <a:t>خسوف كلي للقمر ليلة ١٤ ربيع الآخر ٣٩٢هـ، يُرى كاملًا من القاهرة</a:t>
            </a:r>
            <a:endParaRPr lang="ar-EG" sz="1700" dirty="0">
              <a:latin typeface="EB Garamond"/>
              <a:cs typeface="Noto Naskh Arabic"/>
            </a:endParaRPr>
          </a:p>
          <a:p>
            <a:pPr rtl="1" algn="r" marL="228600" indent="-228600">
              <a:spcAft>
                <a:spcPts val="800"/>
              </a:spcAft>
              <a:buSzPct val="100000"/>
              <a:buChar char="•"/>
            </a:pPr>
            <a:r>
              <a:rPr lang="ar-EG" altLang="en-US" sz="1700" b="1" dirty="0">
                <a:solidFill>
                  <a:srgbClr val="F0E0B0"/>
                </a:solidFill>
                <a:latin typeface="EB Garamond"/>
                <a:cs typeface="Noto Naskh Arabic"/>
              </a:rPr>
              <a:t>الدرس — ظل الأرض (Earth's umbra): </a:t>
            </a:r>
            <a:pPr rtl="1" algn="r" indent="0" marL="0">
              <a:buNone/>
            </a:pPr>
            <a:r>
              <a:rPr lang="ar-EG" altLang="en-US" sz="1700" dirty="0">
                <a:solidFill>
                  <a:srgbClr val="F0E0B0"/>
                </a:solidFill>
                <a:latin typeface="EB Garamond"/>
                <a:cs typeface="Noto Naskh Arabic"/>
              </a:rPr>
              <a:t>حافة ظل الأرض على القمر مستديرة دائمًا، والجسم الوحيد الذي يلقي ظلًا مستديرًا من كل جهة هو الكرة</a:t>
            </a:r>
            <a:endParaRPr lang="ar-EG" sz="1700" dirty="0">
              <a:latin typeface="EB Garamond"/>
              <a:cs typeface="Noto Naskh Arabic"/>
            </a:endParaRPr>
          </a:p>
          <a:p>
            <a:pPr rtl="1" algn="r" marL="228600" indent="-228600">
              <a:spcAft>
                <a:spcPts val="800"/>
              </a:spcAft>
              <a:buSzPct val="100000"/>
              <a:buChar char="•"/>
            </a:pPr>
            <a:r>
              <a:rPr lang="ar-EG" altLang="en-US" sz="1700" b="1" dirty="0">
                <a:solidFill>
                  <a:srgbClr val="F0E0B0"/>
                </a:solidFill>
                <a:latin typeface="EB Garamond"/>
                <a:cs typeface="Noto Naskh Arabic"/>
              </a:rPr>
              <a:t>لماذا يحمرّ؟ </a:t>
            </a:r>
            <a:pPr rtl="1" algn="r" indent="0" marL="0">
              <a:buNone/>
            </a:pPr>
            <a:r>
              <a:rPr lang="ar-EG" altLang="en-US" sz="1700" dirty="0">
                <a:solidFill>
                  <a:srgbClr val="F0E0B0"/>
                </a:solidFill>
                <a:latin typeface="EB Garamond"/>
                <a:cs typeface="Noto Naskh Arabic"/>
              </a:rPr>
              <a:t>ضوء الشمس ينكسر في الغلاف الجوي للأرض فيصل أحمره إلى القمر، كضوء الشروق والغروب</a:t>
            </a:r>
            <a:endParaRPr lang="ar-EG" sz="1700" dirty="0">
              <a:latin typeface="EB Garamond"/>
              <a:cs typeface="Noto Naskh Arabic"/>
            </a:endParaRPr>
          </a:p>
          <a:p>
            <a:pPr rtl="1" algn="r" marL="228600" indent="-228600">
              <a:spcAft>
                <a:spcPts val="800"/>
              </a:spcAft>
              <a:buSzPct val="100000"/>
              <a:buChar char="•"/>
            </a:pPr>
            <a:r>
              <a:rPr lang="ar-EG" altLang="en-US" sz="1700" b="1" dirty="0">
                <a:solidFill>
                  <a:srgbClr val="F0E0B0"/>
                </a:solidFill>
                <a:latin typeface="EB Garamond"/>
                <a:cs typeface="Noto Naskh Arabic"/>
              </a:rPr>
              <a:t>أرصاد ابن يونس: </a:t>
            </a:r>
            <a:pPr rtl="1" algn="r" indent="0" marL="0">
              <a:buNone/>
            </a:pPr>
            <a:r>
              <a:rPr lang="ar-EG" altLang="en-US" sz="1700" dirty="0">
                <a:solidFill>
                  <a:srgbClr val="F0E0B0"/>
                </a:solidFill>
                <a:latin typeface="EB Garamond"/>
                <a:cs typeface="Noto Naskh Arabic"/>
              </a:rPr>
              <a:t>خسوفا ٦ نوفمبر ٩٧٩م (ربيع الآخر ٣٦٩هـ) و٢٢ أبريل ٩٨١م (شوال ٣٧٠هـ)، جزئيان</a:t>
            </a:r>
            <a:endParaRPr lang="ar-EG" sz="17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حساب الكتاب: خسوفات القمر كما تُرى من القاهرة الفاطمية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22</a:t>
            </a:fld>
            <a:endParaRPr lang="en-US">
              <a:latin typeface="EB Garamond"/>
              <a:cs typeface="Noto Naskh Arabic"/>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box"/>
          <p:cNvSpPr/>
          <p:nvPr/>
        </p:nvSpPr>
        <p:spPr>
          <a:xfrm>
            <a:off x="7539228" y="182880"/>
            <a:ext cx="4103827" cy="274320"/>
          </a:xfrm>
          <a:prstGeom prst="rect">
            <a:avLst/>
          </a:prstGeom>
          <a:solidFill>
            <a:srgbClr val="1B3A6B"/>
          </a:solidFill>
          <a:ln w="12700">
            <a:solidFill>
              <a:srgbClr val="E8B84B"/>
            </a:solidFill>
            <a:prstDash val="solid"/>
          </a:ln>
        </p:spPr>
      </p:sp>
      <p:sp>
        <p:nvSpPr>
          <p:cNvPr id="3" name="kicker"/>
          <p:cNvSpPr txBox="1"/>
          <p:nvPr/>
        </p:nvSpPr>
        <p:spPr>
          <a:xfrm>
            <a:off x="7539228" y="182880"/>
            <a:ext cx="410382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MODERN EGYPT AND ECLIPSE EXPEDITIONS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مصر الحديثة وبعثات الكسوف</a:t>
            </a:r>
            <a:endParaRPr lang="ar-EG" sz="3000" dirty="0">
              <a:latin typeface="EB Garamond"/>
              <a:cs typeface="Amiri"/>
            </a:endParaRPr>
          </a:p>
        </p:txBody>
      </p:sp>
      <p:pic>
        <p:nvPicPr>
          <p:cNvPr id="5" name="sohag1882" descr="sohag1882">    </p:cNvPr>
          <p:cNvPicPr>
            <a:picLocks noChangeAspect="1"/>
          </p:cNvPicPr>
          <p:nvPr/>
        </p:nvPicPr>
        <p:blipFill>
          <a:blip r:embed="rId1"/>
          <a:stretch>
            <a:fillRect/>
          </a:stretch>
        </p:blipFill>
        <p:spPr>
          <a:xfrm>
            <a:off x="1574289" y="1325880"/>
            <a:ext cx="3846582" cy="4663440"/>
          </a:xfrm>
          <a:prstGeom prst="rect">
            <a:avLst/>
          </a:prstGeom>
        </p:spPr>
      </p:pic>
      <p:sp>
        <p:nvSpPr>
          <p:cNvPr id="6" name="Text 3"/>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سوهاج ١٨٨٢: </a:t>
            </a:r>
            <a:pPr rtl="1" algn="r" indent="0" marL="0">
              <a:buNone/>
            </a:pPr>
            <a:r>
              <a:rPr lang="ar-EG" altLang="en-US" sz="2000" dirty="0">
                <a:solidFill>
                  <a:srgbClr val="F0E0B0"/>
                </a:solidFill>
                <a:latin typeface="EB Garamond"/>
                <a:cs typeface="Noto Naskh Arabic"/>
              </a:rPr>
              <a:t>بعثات أوروبية ترصد الكلية فتكشف مذنبًا قرب الشمس لم يُرَ قبلها ولا بعدها، سُمّي «مذنب توفيق»</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أسوان ١٩٠٥: </a:t>
            </a:r>
            <a:pPr rtl="1" algn="r" indent="0" marL="0">
              <a:buNone/>
            </a:pPr>
            <a:r>
              <a:rPr lang="ar-EG" altLang="en-US" sz="2000" dirty="0">
                <a:solidFill>
                  <a:srgbClr val="F0E0B0"/>
                </a:solidFill>
                <a:latin typeface="EB Garamond"/>
                <a:cs typeface="Noto Naskh Arabic"/>
              </a:rPr>
              <a:t>آخر كسوف كلي فوق أسوان (٣٠ أغسطس)</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السلوم ٢٠٠٦: </a:t>
            </a:r>
            <a:pPr rtl="1" algn="r" indent="0" marL="0">
              <a:buNone/>
            </a:pPr>
            <a:r>
              <a:rPr lang="ar-EG" altLang="en-US" sz="2000" dirty="0">
                <a:solidFill>
                  <a:srgbClr val="F0E0B0"/>
                </a:solidFill>
                <a:latin typeface="EB Garamond"/>
                <a:cs typeface="Noto Naskh Arabic"/>
              </a:rPr>
              <a:t>كسوف ٢٩ مارس الكلي جمع الآلاف في الصحراء الغربية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٢٠٢٧: </a:t>
            </a:r>
            <a:pPr rtl="1" algn="r" indent="0" marL="0">
              <a:buNone/>
            </a:pPr>
            <a:r>
              <a:rPr lang="ar-EG" altLang="en-US" sz="2000" dirty="0">
                <a:solidFill>
                  <a:srgbClr val="F0E0B0"/>
                </a:solidFill>
                <a:latin typeface="EB Garamond"/>
                <a:cs typeface="Noto Naskh Arabic"/>
              </a:rPr>
              <a:t>أطول وأوسع من ٢٠٠٦، ويمر بقلب مصر السياحية</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١٥-٣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23</a:t>
            </a:fld>
            <a:endParaRPr lang="en-US">
              <a:latin typeface="EB Garamond"/>
              <a:cs typeface="Noto Naskh Arabic"/>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box"/>
          <p:cNvSpPr/>
          <p:nvPr/>
        </p:nvSpPr>
        <p:spPr>
          <a:xfrm>
            <a:off x="4872838" y="182880"/>
            <a:ext cx="6770218" cy="274320"/>
          </a:xfrm>
          <a:prstGeom prst="rect">
            <a:avLst/>
          </a:prstGeom>
          <a:solidFill>
            <a:srgbClr val="1B3A6B"/>
          </a:solidFill>
          <a:ln w="12700">
            <a:solidFill>
              <a:srgbClr val="E8B84B"/>
            </a:solidFill>
            <a:prstDash val="solid"/>
          </a:ln>
        </p:spPr>
      </p:sp>
      <p:sp>
        <p:nvSpPr>
          <p:cNvPr id="3" name="kicker"/>
          <p:cNvSpPr txBox="1"/>
          <p:nvPr/>
        </p:nvSpPr>
        <p:spPr>
          <a:xfrm>
            <a:off x="4872838" y="182880"/>
            <a:ext cx="677021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ECLIPSES THAT MADE SCIENCE: HELIUM (1868) AND RELATIVITY (1919)</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كسوفات صنعت العلم</a:t>
            </a:r>
            <a:endParaRPr lang="ar-EG" sz="3000" dirty="0">
              <a:latin typeface="EB Garamond"/>
              <a:cs typeface="Amiri"/>
            </a:endParaRPr>
          </a:p>
        </p:txBody>
      </p:sp>
      <p:pic>
        <p:nvPicPr>
          <p:cNvPr id="5" name="eddington" descr="eddington">    </p:cNvPr>
          <p:cNvPicPr>
            <a:picLocks noChangeAspect="1"/>
          </p:cNvPicPr>
          <p:nvPr/>
        </p:nvPicPr>
        <p:blipFill>
          <a:blip r:embed="rId1"/>
          <a:stretch>
            <a:fillRect/>
          </a:stretch>
        </p:blipFill>
        <p:spPr>
          <a:xfrm>
            <a:off x="548640" y="1845745"/>
            <a:ext cx="5852160" cy="3623710"/>
          </a:xfrm>
          <a:prstGeom prst="rect">
            <a:avLst/>
          </a:prstGeom>
        </p:spPr>
      </p:pic>
      <p:sp>
        <p:nvSpPr>
          <p:cNvPr id="6" name="Text 3"/>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F0E0B0"/>
                </a:solidFill>
                <a:latin typeface="EB Garamond"/>
                <a:cs typeface="Noto Naskh Arabic"/>
              </a:rPr>
              <a:t>١٧١٥ — هالي (Halley): </a:t>
            </a:r>
            <a:pPr rtl="1" algn="r" indent="0" marL="0">
              <a:buNone/>
            </a:pPr>
            <a:r>
              <a:rPr lang="ar-EG" altLang="en-US" sz="1600" dirty="0">
                <a:solidFill>
                  <a:srgbClr val="F0E0B0"/>
                </a:solidFill>
                <a:latin typeface="EB Garamond"/>
                <a:cs typeface="Noto Naskh Arabic"/>
              </a:rPr>
              <a:t>أول خريطة تتنبأ بمسار الظل فوق إنجلترا، وجاء التنبؤ قريبًا جدًا من الواقع</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١٨٥١ — أول صورة: </a:t>
            </a:r>
            <a:pPr rtl="1" algn="r" indent="0" marL="0">
              <a:buNone/>
            </a:pPr>
            <a:r>
              <a:rPr lang="ar-EG" altLang="en-US" sz="1600" dirty="0">
                <a:solidFill>
                  <a:srgbClr val="F0E0B0"/>
                </a:solidFill>
                <a:latin typeface="EB Garamond"/>
                <a:cs typeface="Noto Naskh Arabic"/>
              </a:rPr>
              <a:t>التقط بيركوفسكي في كونيغسبرغ أول صورة فوتوغرافية ناجحة للكلية</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١٨٦٨ — الهيليوم (Helium): </a:t>
            </a:r>
            <a:pPr rtl="1" algn="r" indent="0" marL="0">
              <a:buNone/>
            </a:pPr>
            <a:r>
              <a:rPr lang="ar-EG" altLang="en-US" sz="1600" dirty="0">
                <a:solidFill>
                  <a:srgbClr val="F0E0B0"/>
                </a:solidFill>
                <a:latin typeface="EB Garamond"/>
                <a:cs typeface="Noto Naskh Arabic"/>
              </a:rPr>
              <a:t>خط أصفر في طيف الشواظ (Spectrum) كشف عنصرًا جديدًا سُمّي باسم الشمس</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١٩١٩ — أينشتاين: </a:t>
            </a:r>
            <a:pPr rtl="1" algn="r" indent="0" marL="0">
              <a:buNone/>
            </a:pPr>
            <a:r>
              <a:rPr lang="ar-EG" altLang="en-US" sz="1600" dirty="0">
                <a:solidFill>
                  <a:srgbClr val="F0E0B0"/>
                </a:solidFill>
                <a:latin typeface="EB Garamond"/>
                <a:cs typeface="Noto Naskh Arabic"/>
              </a:rPr>
              <a:t>بعثتا إدنغتون قاستا انحناء ضوء النجوم قرب الشمس (١٫٧٥″)، فأيّدتا النسبية العامة (General relativity)</a:t>
            </a:r>
            <a:endParaRPr lang="ar-EG" sz="1600" dirty="0">
              <a:latin typeface="EB Garamond"/>
              <a:cs typeface="Noto Naskh Arabic"/>
            </a:endParaRPr>
          </a:p>
          <a:p>
            <a:pPr rtl="1" algn="r" marL="228600" indent="-228600">
              <a:spcAft>
                <a:spcPts val="800"/>
              </a:spcAft>
              <a:buSzPct val="100000"/>
              <a:buChar char="•"/>
            </a:pPr>
            <a:r>
              <a:rPr lang="ar-EG" altLang="en-US" sz="1600" b="1" dirty="0">
                <a:solidFill>
                  <a:srgbClr val="F0E0B0"/>
                </a:solidFill>
                <a:latin typeface="EB Garamond"/>
                <a:cs typeface="Noto Naskh Arabic"/>
              </a:rPr>
              <a:t>١٩٧٣ — الكونكورد: </a:t>
            </a:r>
            <a:pPr rtl="1" algn="r" indent="0" marL="0">
              <a:buNone/>
            </a:pPr>
            <a:r>
              <a:rPr lang="ar-EG" altLang="en-US" sz="1600" dirty="0">
                <a:solidFill>
                  <a:srgbClr val="F0E0B0"/>
                </a:solidFill>
                <a:latin typeface="EB Garamond"/>
                <a:cs typeface="Noto Naskh Arabic"/>
              </a:rPr>
              <a:t>طائرة طاردت الظل ٧٤ دقيقة من الكلية فوق الصحراء الكبرى</a:t>
            </a:r>
            <a:endParaRPr lang="ar-EG" sz="16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١٠-٢ من الكتاب: تجربة إدنغتون ١٩١٩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24</a:t>
            </a:fld>
            <a:endParaRPr lang="en-US">
              <a:latin typeface="EB Garamond"/>
              <a:cs typeface="Noto Naskh Arabic"/>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box"/>
          <p:cNvSpPr/>
          <p:nvPr/>
        </p:nvSpPr>
        <p:spPr>
          <a:xfrm>
            <a:off x="4477817" y="182880"/>
            <a:ext cx="7165238" cy="274320"/>
          </a:xfrm>
          <a:prstGeom prst="rect">
            <a:avLst/>
          </a:prstGeom>
          <a:solidFill>
            <a:srgbClr val="1B3A6B"/>
          </a:solidFill>
          <a:ln w="12700">
            <a:solidFill>
              <a:srgbClr val="E8B84B"/>
            </a:solidFill>
            <a:prstDash val="solid"/>
          </a:ln>
        </p:spPr>
      </p:sp>
      <p:sp>
        <p:nvSpPr>
          <p:cNvPr id="3" name="kicker"/>
          <p:cNvSpPr txBox="1"/>
          <p:nvPr/>
        </p:nvSpPr>
        <p:spPr>
          <a:xfrm>
            <a:off x="4477817" y="182880"/>
            <a:ext cx="716523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RECURRENCE AT ONE PLACE: WHEN DID EGYPT'S CITIES LAST SEE TOTALITY?</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على المكان نفسه: متى رأت مدن مصر الكسوف الكلي؟</a:t>
            </a:r>
            <a:endParaRPr lang="ar-EG" sz="3000" dirty="0">
              <a:latin typeface="EB Garamond"/>
              <a:cs typeface="Amiri"/>
            </a:endParaRPr>
          </a:p>
        </p:txBody>
      </p:sp>
      <p:pic>
        <p:nvPicPr>
          <p:cNvPr id="5" name="lastTotal" descr="lastTotal">    </p:cNvPr>
          <p:cNvPicPr>
            <a:picLocks noChangeAspect="1"/>
          </p:cNvPicPr>
          <p:nvPr/>
        </p:nvPicPr>
        <p:blipFill>
          <a:blip r:embed="rId1"/>
          <a:stretch>
            <a:fillRect/>
          </a:stretch>
        </p:blipFill>
        <p:spPr>
          <a:xfrm>
            <a:off x="548640" y="1786390"/>
            <a:ext cx="6126480" cy="3742420"/>
          </a:xfrm>
          <a:prstGeom prst="rect">
            <a:avLst/>
          </a:prstGeom>
        </p:spPr>
      </p:pic>
      <p:sp>
        <p:nvSpPr>
          <p:cNvPr id="6" name="Text 3"/>
          <p:cNvSpPr txBox="1"/>
          <p:nvPr/>
        </p:nvSpPr>
        <p:spPr>
          <a:xfrm>
            <a:off x="6995160" y="1371600"/>
            <a:ext cx="46478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القاهرة والإسكندرية: </a:t>
            </a:r>
            <a:pPr rtl="1" algn="r" indent="0" marL="0">
              <a:buNone/>
            </a:pPr>
            <a:r>
              <a:rPr lang="ar-EG" altLang="en-US" sz="2000" dirty="0">
                <a:solidFill>
                  <a:srgbClr val="F0E0B0"/>
                </a:solidFill>
                <a:latin typeface="EB Garamond"/>
                <a:cs typeface="Noto Naskh Arabic"/>
              </a:rPr>
              <a:t>آخر كلية في ٦ أكتوبر ١٢٤١م — وفي ٢٠٢٧ جزئي فقط</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الأقصر: </a:t>
            </a:r>
            <a:pPr rtl="1" algn="r" indent="0" marL="0">
              <a:buNone/>
            </a:pPr>
            <a:r>
              <a:rPr lang="ar-EG" altLang="en-US" sz="2000" dirty="0">
                <a:solidFill>
                  <a:srgbClr val="F0E0B0"/>
                </a:solidFill>
                <a:latin typeface="EB Garamond"/>
                <a:cs typeface="Noto Naskh Arabic"/>
              </a:rPr>
              <a:t>آخر كلية في ١٠ يناير ١٣٧٧م — ثم ٢ أغسطس ٢٠٢٧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أسوان: </a:t>
            </a:r>
            <a:pPr rtl="1" algn="r" indent="0" marL="0">
              <a:buNone/>
            </a:pPr>
            <a:r>
              <a:rPr lang="ar-EG" altLang="en-US" sz="2000" dirty="0">
                <a:solidFill>
                  <a:srgbClr val="F0E0B0"/>
                </a:solidFill>
                <a:latin typeface="EB Garamond"/>
                <a:cs typeface="Noto Naskh Arabic"/>
              </a:rPr>
              <a:t>آخر كلية في ٣٠ أغسطس ١٩٠٥ — وفي ٢٠٢٧ جزئي ٩٩٫٨٪</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السلوم: </a:t>
            </a:r>
            <a:pPr rtl="1" algn="r" indent="0" marL="0">
              <a:buNone/>
            </a:pPr>
            <a:r>
              <a:rPr lang="ar-EG" altLang="en-US" sz="2000" dirty="0">
                <a:solidFill>
                  <a:srgbClr val="F0E0B0"/>
                </a:solidFill>
                <a:latin typeface="EB Garamond"/>
                <a:cs typeface="Noto Naskh Arabic"/>
              </a:rPr>
              <a:t>رأت الكلية في ٢٩ مارس ٢٠٠٦ (٤ دقائق تقريبًا)</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٢٣-٣ من الكتاب (محسوب: ERFA قبل ١٩٠٠ وDE421 بعدها)</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25</a:t>
            </a:fld>
            <a:endParaRPr lang="en-US">
              <a:latin typeface="EB Garamond"/>
              <a:cs typeface="Noto Naskh Arabic"/>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٢-ب</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الكسوف والخسوف في الحضارة الإسلامية</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Eclipses in Islamic civilization</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من حديث «لا ينكسفان لموت أحد» وصلاة الكسوف إلى أرصاد ابن يونس وابن الهيثم في القاهرة</a:t>
            </a:r>
            <a:endParaRPr lang="ar-EG" sz="1600" dirty="0">
              <a:latin typeface="EB Garamond"/>
              <a:cs typeface="Noto Naskh Arabic"/>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box"/>
          <p:cNvSpPr/>
          <p:nvPr/>
        </p:nvSpPr>
        <p:spPr>
          <a:xfrm>
            <a:off x="3786530" y="182880"/>
            <a:ext cx="7856525" cy="274320"/>
          </a:xfrm>
          <a:prstGeom prst="rect">
            <a:avLst/>
          </a:prstGeom>
          <a:solidFill>
            <a:srgbClr val="1B3A6B"/>
          </a:solidFill>
          <a:ln w="12700">
            <a:solidFill>
              <a:srgbClr val="E8B84B"/>
            </a:solidFill>
            <a:prstDash val="solid"/>
          </a:ln>
        </p:spPr>
      </p:sp>
      <p:sp>
        <p:nvSpPr>
          <p:cNvPr id="3" name="kicker"/>
          <p:cNvSpPr txBox="1"/>
          <p:nvPr/>
        </p:nvSpPr>
        <p:spPr>
          <a:xfrm>
            <a:off x="3786530" y="182880"/>
            <a:ext cx="7856525"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“THEY ARE NOT ECLIPSED FOR ANYONE'S DEATH OR LIFE” — THE ECLIPSE OF 632 CE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«لا ينكسفان لموت أحد ولا لحياته»</a:t>
            </a:r>
            <a:endParaRPr lang="ar-EG" sz="3000" dirty="0">
              <a:latin typeface="EB Garamond"/>
              <a:cs typeface="Amiri"/>
            </a:endParaRPr>
          </a:p>
        </p:txBody>
      </p:sp>
      <p:sp>
        <p:nvSpPr>
          <p:cNvPr id="5" name="hadith-card"/>
          <p:cNvSpPr/>
          <p:nvPr/>
        </p:nvSpPr>
        <p:spPr>
          <a:xfrm>
            <a:off x="4892040" y="1371600"/>
            <a:ext cx="6751015" cy="2788920"/>
          </a:xfrm>
          <a:prstGeom prst="rect">
            <a:avLst/>
          </a:prstGeom>
          <a:solidFill>
            <a:srgbClr val="1B3A6B"/>
          </a:solidFill>
          <a:ln w="9525">
            <a:solidFill>
              <a:srgbClr val="1B3A6B"/>
            </a:solidFill>
            <a:prstDash val="solid"/>
          </a:ln>
        </p:spPr>
      </p:sp>
      <p:sp>
        <p:nvSpPr>
          <p:cNvPr id="6" name="Text 4"/>
          <p:cNvSpPr txBox="1"/>
          <p:nvPr/>
        </p:nvSpPr>
        <p:spPr>
          <a:xfrm>
            <a:off x="5166360" y="1508760"/>
            <a:ext cx="6202375" cy="2514600"/>
          </a:xfrm>
          <a:prstGeom prst="rect">
            <a:avLst/>
          </a:prstGeom>
          <a:noFill/>
          <a:ln/>
        </p:spPr>
        <p:txBody>
          <a:bodyPr wrap="square" lIns="0" tIns="0" rIns="0" bIns="0" rtlCol="0" anchor="ctr"/>
          <a:lstStyle/>
          <a:p>
            <a:pPr rtl="1" algn="r" indent="0" marL="0">
              <a:spcAft>
                <a:spcPts val="1000"/>
              </a:spcAft>
              <a:buNone/>
            </a:pPr>
            <a:r>
              <a:rPr lang="ar-EG" altLang="en-US" sz="2100" dirty="0">
                <a:solidFill>
                  <a:srgbClr val="FAF3E0"/>
                </a:solidFill>
                <a:latin typeface="EB Garamond"/>
                <a:cs typeface="Noto Naskh Arabic"/>
              </a:rPr>
              <a:t>«إِنَّ الشَّمْسَ وَالْقَمَرَ آيَتَانِ مِنْ آيَاتِ اللَّهِ، لَا يَنْكَسِفَانِ لِمَوْتِ أَحَدٍ وَلَا لِحَيَاتِهِ، فَإِذَا رَأَيْتُمْ ذَلِكَ فَادْعُوا اللَّهَ وَكَبِّرُوا وَصَلُّوا وَتَصَدَّقُوا»</a:t>
            </a:r>
            <a:endParaRPr lang="en-US" sz="2100" dirty="0">
              <a:latin typeface="EB Garamond"/>
              <a:cs typeface="Noto Naskh Arabic"/>
            </a:endParaRPr>
          </a:p>
          <a:p>
            <a:pPr rtl="1" algn="r" indent="0" marL="0">
              <a:spcAft>
                <a:spcPts val="1000"/>
              </a:spcAft>
              <a:buNone/>
            </a:pPr>
            <a:r>
              <a:rPr lang="ar-EG" altLang="en-US" sz="1400" dirty="0">
                <a:solidFill>
                  <a:srgbClr val="E8B84B"/>
                </a:solidFill>
                <a:latin typeface="EB Garamond"/>
                <a:cs typeface="Noto Naskh Arabic"/>
              </a:rPr>
              <a:t>صحيح البخاري، من حديث عائشة رضي الله عنها</a:t>
            </a:r>
            <a:endParaRPr lang="en-US" sz="2100" dirty="0">
              <a:latin typeface="EB Garamond"/>
              <a:cs typeface="Noto Naskh Arabic"/>
            </a:endParaRPr>
          </a:p>
        </p:txBody>
      </p:sp>
      <p:sp>
        <p:nvSpPr>
          <p:cNvPr id="7" name="Text 5"/>
          <p:cNvSpPr txBox="1"/>
          <p:nvPr/>
        </p:nvSpPr>
        <p:spPr>
          <a:xfrm>
            <a:off x="4892040" y="4343400"/>
            <a:ext cx="6751015" cy="1691640"/>
          </a:xfrm>
          <a:prstGeom prst="rect">
            <a:avLst/>
          </a:prstGeom>
          <a:noFill/>
          <a:ln/>
        </p:spPr>
        <p:txBody>
          <a:bodyPr wrap="square" lIns="0" tIns="0" rIns="0" bIns="0" rtlCol="0" anchor="t"/>
          <a:lstStyle/>
          <a:p>
            <a:pPr rtl="1" algn="r" marL="228600" indent="-228600">
              <a:spcAft>
                <a:spcPts val="1000"/>
              </a:spcAft>
              <a:buSzPct val="100000"/>
              <a:buChar char="•"/>
            </a:pPr>
            <a:r>
              <a:rPr lang="ar-EG" altLang="en-US" sz="1600" b="1" dirty="0">
                <a:solidFill>
                  <a:srgbClr val="F0E0B0"/>
                </a:solidFill>
                <a:latin typeface="EB Garamond"/>
                <a:cs typeface="Noto Naskh Arabic"/>
              </a:rPr>
              <a:t>المناسبة: </a:t>
            </a:r>
            <a:pPr rtl="1" algn="r" indent="0" marL="0">
              <a:buNone/>
            </a:pPr>
            <a:r>
              <a:rPr lang="ar-EG" altLang="en-US" sz="1600" dirty="0">
                <a:solidFill>
                  <a:srgbClr val="F0E0B0"/>
                </a:solidFill>
                <a:latin typeface="EB Garamond"/>
                <a:cs typeface="Noto Naskh Arabic"/>
              </a:rPr>
              <a:t>انكسفت الشمس يوم مات إبراهيم ابن النبي ﷺ، فقال الناس: انكسفت لموته</a:t>
            </a:r>
            <a:endParaRPr lang="ar-EG" sz="1600" dirty="0">
              <a:latin typeface="EB Garamond"/>
              <a:cs typeface="Noto Naskh Arabic"/>
            </a:endParaRPr>
          </a:p>
          <a:p>
            <a:pPr rtl="1" algn="r" marL="228600" indent="-228600">
              <a:spcAft>
                <a:spcPts val="1000"/>
              </a:spcAft>
              <a:buSzPct val="100000"/>
              <a:buChar char="•"/>
            </a:pPr>
            <a:r>
              <a:rPr lang="ar-EG" altLang="en-US" sz="1600" b="1" dirty="0">
                <a:solidFill>
                  <a:srgbClr val="F0E0B0"/>
                </a:solidFill>
                <a:latin typeface="EB Garamond"/>
                <a:cs typeface="Noto Naskh Arabic"/>
              </a:rPr>
              <a:t>الرسالة: </a:t>
            </a:r>
            <a:pPr rtl="1" algn="r" indent="0" marL="0">
              <a:buNone/>
            </a:pPr>
            <a:r>
              <a:rPr lang="ar-EG" altLang="en-US" sz="1600" dirty="0">
                <a:solidFill>
                  <a:srgbClr val="F0E0B0"/>
                </a:solidFill>
                <a:latin typeface="EB Garamond"/>
                <a:cs typeface="Noto Naskh Arabic"/>
              </a:rPr>
              <a:t>قطع الصلة بين الكسوف وأحداث البشر — موقف علمي سابق لعصره</a:t>
            </a:r>
            <a:endParaRPr lang="ar-EG" sz="1600" dirty="0">
              <a:latin typeface="EB Garamond"/>
              <a:cs typeface="Noto Naskh Arabic"/>
            </a:endParaRPr>
          </a:p>
          <a:p>
            <a:pPr rtl="1" algn="r" marL="228600" indent="-228600">
              <a:spcAft>
                <a:spcPts val="1000"/>
              </a:spcAft>
              <a:buSzPct val="100000"/>
              <a:buChar char="•"/>
            </a:pPr>
            <a:r>
              <a:rPr lang="ar-EG" altLang="en-US" sz="1600" b="1" dirty="0">
                <a:solidFill>
                  <a:srgbClr val="F0E0B0"/>
                </a:solidFill>
                <a:latin typeface="EB Garamond"/>
                <a:cs typeface="Noto Naskh Arabic"/>
              </a:rPr>
              <a:t>للمرشد: </a:t>
            </a:r>
            <a:pPr rtl="1" algn="r" indent="0" marL="0">
              <a:buNone/>
            </a:pPr>
            <a:r>
              <a:rPr lang="ar-EG" altLang="en-US" sz="1600" dirty="0">
                <a:solidFill>
                  <a:srgbClr val="F0E0B0"/>
                </a:solidFill>
                <a:latin typeface="EB Garamond"/>
                <a:cs typeface="Noto Naskh Arabic"/>
              </a:rPr>
              <a:t>جواب جاهز لكل سؤال عن «نحس» الكسوف أو تأثيره في المصائر</a:t>
            </a:r>
            <a:endParaRPr lang="ar-EG" sz="1600" dirty="0">
              <a:latin typeface="EB Garamond"/>
              <a:cs typeface="Noto Naskh Arabic"/>
            </a:endParaRPr>
          </a:p>
        </p:txBody>
      </p:sp>
      <p:sp>
        <p:nvSpPr>
          <p:cNvPr id="8" name="calc-632"/>
          <p:cNvSpPr/>
          <p:nvPr/>
        </p:nvSpPr>
        <p:spPr>
          <a:xfrm>
            <a:off x="548640" y="1371600"/>
            <a:ext cx="4114800" cy="4663440"/>
          </a:xfrm>
          <a:prstGeom prst="rect">
            <a:avLst/>
          </a:prstGeom>
          <a:solidFill>
            <a:srgbClr val="161F2F"/>
          </a:solidFill>
          <a:ln w="9525">
            <a:solidFill>
              <a:srgbClr val="C9962B"/>
            </a:solidFill>
            <a:prstDash val="solid"/>
          </a:ln>
        </p:spPr>
      </p:sp>
      <p:sp>
        <p:nvSpPr>
          <p:cNvPr id="9" name="calc-632-accent"/>
          <p:cNvSpPr/>
          <p:nvPr/>
        </p:nvSpPr>
        <p:spPr>
          <a:xfrm>
            <a:off x="4599432" y="1371600"/>
            <a:ext cx="64008" cy="4663440"/>
          </a:xfrm>
          <a:prstGeom prst="rect">
            <a:avLst/>
          </a:prstGeom>
          <a:solidFill>
            <a:srgbClr val="C9962B"/>
          </a:solidFill>
          <a:ln w="12700">
            <a:solidFill>
              <a:srgbClr val="C9962B"/>
            </a:solidFill>
            <a:prstDash val="solid"/>
          </a:ln>
        </p:spPr>
      </p:sp>
      <p:sp>
        <p:nvSpPr>
          <p:cNvPr id="10" name="calc-disc"/>
          <p:cNvSpPr/>
          <p:nvPr/>
        </p:nvSpPr>
        <p:spPr>
          <a:xfrm>
            <a:off x="3794760" y="1572768"/>
            <a:ext cx="640080" cy="64008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11" name="Text 9"/>
          <p:cNvSpPr txBox="1"/>
          <p:nvPr/>
        </p:nvSpPr>
        <p:spPr>
          <a:xfrm>
            <a:off x="777240" y="1600200"/>
            <a:ext cx="2926080" cy="548640"/>
          </a:xfrm>
          <a:prstGeom prst="rect">
            <a:avLst/>
          </a:prstGeom>
          <a:noFill/>
          <a:ln/>
        </p:spPr>
        <p:txBody>
          <a:bodyPr wrap="square" lIns="0" tIns="0" rIns="0" bIns="0" rtlCol="0" anchor="ctr"/>
          <a:lstStyle/>
          <a:p>
            <a:pPr rtl="1" algn="r" indent="0" marL="0">
              <a:buNone/>
            </a:pPr>
            <a:r>
              <a:rPr lang="ar-EG" altLang="en-US" sz="1900" b="1" dirty="0">
                <a:solidFill>
                  <a:srgbClr val="E8B84B"/>
                </a:solidFill>
                <a:latin typeface="EB Garamond"/>
                <a:cs typeface="Noto Naskh Arabic"/>
              </a:rPr>
              <a:t>ماذا يقول الحساب؟</a:t>
            </a:r>
            <a:endParaRPr lang="ar-EG" sz="1900" dirty="0">
              <a:latin typeface="EB Garamond"/>
              <a:cs typeface="Noto Naskh Arabic"/>
            </a:endParaRPr>
          </a:p>
        </p:txBody>
      </p:sp>
      <p:sp>
        <p:nvSpPr>
          <p:cNvPr id="12" name="Text 10"/>
          <p:cNvSpPr txBox="1"/>
          <p:nvPr/>
        </p:nvSpPr>
        <p:spPr>
          <a:xfrm>
            <a:off x="777240" y="237744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التاريخ</a:t>
            </a:r>
            <a:endParaRPr lang="ar-EG" sz="1300" dirty="0">
              <a:latin typeface="EB Garamond"/>
              <a:cs typeface="Noto Naskh Arabic"/>
            </a:endParaRPr>
          </a:p>
        </p:txBody>
      </p:sp>
      <p:sp>
        <p:nvSpPr>
          <p:cNvPr id="13" name="Text 11"/>
          <p:cNvSpPr txBox="1"/>
          <p:nvPr/>
        </p:nvSpPr>
        <p:spPr>
          <a:xfrm>
            <a:off x="777240" y="2679192"/>
            <a:ext cx="3657600" cy="50292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٢٧ يناير ٦٣٢م (أواخر شوال ١٠هـ)</a:t>
            </a:r>
            <a:endParaRPr lang="ar-EG" sz="1500" dirty="0">
              <a:latin typeface="EB Garamond"/>
              <a:cs typeface="Noto Naskh Arabic"/>
            </a:endParaRPr>
          </a:p>
        </p:txBody>
      </p:sp>
      <p:sp>
        <p:nvSpPr>
          <p:cNvPr id="14" name="Text 12"/>
          <p:cNvSpPr txBox="1"/>
          <p:nvPr/>
        </p:nvSpPr>
        <p:spPr>
          <a:xfrm>
            <a:off x="777240" y="324612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النوع</a:t>
            </a:r>
            <a:endParaRPr lang="ar-EG" sz="1300" dirty="0">
              <a:latin typeface="EB Garamond"/>
              <a:cs typeface="Noto Naskh Arabic"/>
            </a:endParaRPr>
          </a:p>
        </p:txBody>
      </p:sp>
      <p:sp>
        <p:nvSpPr>
          <p:cNvPr id="15" name="Text 13"/>
          <p:cNvSpPr txBox="1"/>
          <p:nvPr/>
        </p:nvSpPr>
        <p:spPr>
          <a:xfrm>
            <a:off x="777240" y="3547872"/>
            <a:ext cx="3657600" cy="50292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كسوف حلقي مرّ مساره جنوب الجزيرة</a:t>
            </a:r>
            <a:endParaRPr lang="ar-EG" sz="1500" dirty="0">
              <a:latin typeface="EB Garamond"/>
              <a:cs typeface="Noto Naskh Arabic"/>
            </a:endParaRPr>
          </a:p>
        </p:txBody>
      </p:sp>
      <p:sp>
        <p:nvSpPr>
          <p:cNvPr id="16" name="Text 14"/>
          <p:cNvSpPr txBox="1"/>
          <p:nvPr/>
        </p:nvSpPr>
        <p:spPr>
          <a:xfrm>
            <a:off x="777240" y="411480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في المدينة</a:t>
            </a:r>
            <a:endParaRPr lang="ar-EG" sz="1300" dirty="0">
              <a:latin typeface="EB Garamond"/>
              <a:cs typeface="Noto Naskh Arabic"/>
            </a:endParaRPr>
          </a:p>
        </p:txBody>
      </p:sp>
      <p:sp>
        <p:nvSpPr>
          <p:cNvPr id="17" name="Text 15"/>
          <p:cNvSpPr txBox="1"/>
          <p:nvPr/>
        </p:nvSpPr>
        <p:spPr>
          <a:xfrm>
            <a:off x="777240" y="4416552"/>
            <a:ext cx="3657600" cy="50292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جزئي، حُجب نحو ٧٧٪ من قرص الشمس</a:t>
            </a:r>
            <a:endParaRPr lang="ar-EG" sz="1500" dirty="0">
              <a:latin typeface="EB Garamond"/>
              <a:cs typeface="Noto Naskh Arabic"/>
            </a:endParaRPr>
          </a:p>
        </p:txBody>
      </p:sp>
      <p:sp>
        <p:nvSpPr>
          <p:cNvPr id="18" name="Text 16"/>
          <p:cNvSpPr txBox="1"/>
          <p:nvPr/>
        </p:nvSpPr>
        <p:spPr>
          <a:xfrm>
            <a:off x="777240" y="498348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الوقت</a:t>
            </a:r>
            <a:endParaRPr lang="ar-EG" sz="1300" dirty="0">
              <a:latin typeface="EB Garamond"/>
              <a:cs typeface="Noto Naskh Arabic"/>
            </a:endParaRPr>
          </a:p>
        </p:txBody>
      </p:sp>
      <p:sp>
        <p:nvSpPr>
          <p:cNvPr id="19" name="Text 17"/>
          <p:cNvSpPr txBox="1"/>
          <p:nvPr/>
        </p:nvSpPr>
        <p:spPr>
          <a:xfrm>
            <a:off x="777240" y="5285232"/>
            <a:ext cx="3657600" cy="502920"/>
          </a:xfrm>
          <a:prstGeom prst="rect">
            <a:avLst/>
          </a:prstGeom>
          <a:noFill/>
          <a:ln/>
        </p:spPr>
        <p:txBody>
          <a:bodyPr wrap="square" lIns="0" tIns="0" rIns="0" bIns="0" rtlCol="0" anchor="t"/>
          <a:lstStyle/>
          <a:p>
            <a:pPr rtl="1" algn="r" indent="0" marL="0">
              <a:buNone/>
            </a:pPr>
            <a:r>
              <a:rPr lang="ar-EG" altLang="en-US" sz="1500" dirty="0">
                <a:solidFill>
                  <a:srgbClr val="F0E0B0"/>
                </a:solidFill>
                <a:latin typeface="EB Garamond"/>
                <a:cs typeface="Noto Naskh Arabic"/>
              </a:rPr>
              <a:t>ضحى، نحو الثامنة صباحًا بالتوقيت المحلي</a:t>
            </a:r>
            <a:endParaRPr lang="ar-EG" sz="1500" dirty="0">
              <a:latin typeface="EB Garamond"/>
              <a:cs typeface="Noto Naskh Arabic"/>
            </a:endParaRPr>
          </a:p>
        </p:txBody>
      </p:sp>
      <p:sp>
        <p:nvSpPr>
          <p:cNvPr id="20" name="Text 18"/>
          <p:cNvSpPr txBox="1"/>
          <p:nvPr/>
        </p:nvSpPr>
        <p:spPr>
          <a:xfrm>
            <a:off x="548640" y="6053328"/>
            <a:ext cx="4114800"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حساب خاص بالمحاضرة (ERFA + ΔT لإسبيناك ومييس)، تقريبي لبعد العهد</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27</a:t>
            </a:fld>
            <a:endParaRPr lang="en-US">
              <a:latin typeface="EB Garamond"/>
              <a:cs typeface="Noto Naskh Arabic"/>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box"/>
          <p:cNvSpPr/>
          <p:nvPr/>
        </p:nvSpPr>
        <p:spPr>
          <a:xfrm>
            <a:off x="4675327" y="182880"/>
            <a:ext cx="6967728" cy="274320"/>
          </a:xfrm>
          <a:prstGeom prst="rect">
            <a:avLst/>
          </a:prstGeom>
          <a:solidFill>
            <a:srgbClr val="1B3A6B"/>
          </a:solidFill>
          <a:ln w="12700">
            <a:solidFill>
              <a:srgbClr val="E8B84B"/>
            </a:solidFill>
            <a:prstDash val="solid"/>
          </a:ln>
        </p:spPr>
      </p:sp>
      <p:sp>
        <p:nvSpPr>
          <p:cNvPr id="3" name="kicker"/>
          <p:cNvSpPr txBox="1"/>
          <p:nvPr/>
        </p:nvSpPr>
        <p:spPr>
          <a:xfrm>
            <a:off x="4675327" y="182880"/>
            <a:ext cx="696772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ECLIPSE PRAYER (SALAT AL-KUSUF) AND DHUHR TIME ON ECLIPSE DAY</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صلاة الكسوف والخسوف — ووقت الظهر يوم ٢٠٢٧</a:t>
            </a:r>
            <a:endParaRPr lang="ar-EG" sz="3000" dirty="0">
              <a:latin typeface="EB Garamond"/>
              <a:cs typeface="Amiri"/>
            </a:endParaRPr>
          </a:p>
        </p:txBody>
      </p:sp>
      <p:sp>
        <p:nvSpPr>
          <p:cNvPr id="5" name="prayer-0"/>
          <p:cNvSpPr/>
          <p:nvPr/>
        </p:nvSpPr>
        <p:spPr>
          <a:xfrm>
            <a:off x="5623560" y="1371600"/>
            <a:ext cx="6019495" cy="914400"/>
          </a:xfrm>
          <a:prstGeom prst="rect">
            <a:avLst/>
          </a:prstGeom>
          <a:solidFill>
            <a:srgbClr val="161F2F"/>
          </a:solidFill>
          <a:ln w="9525">
            <a:solidFill>
              <a:srgbClr val="C9962B"/>
            </a:solidFill>
            <a:prstDash val="solid"/>
          </a:ln>
        </p:spPr>
      </p:sp>
      <p:sp>
        <p:nvSpPr>
          <p:cNvPr id="6" name="prayer-0-accent"/>
          <p:cNvSpPr/>
          <p:nvPr/>
        </p:nvSpPr>
        <p:spPr>
          <a:xfrm>
            <a:off x="11579047" y="1371600"/>
            <a:ext cx="64008" cy="914400"/>
          </a:xfrm>
          <a:prstGeom prst="rect">
            <a:avLst/>
          </a:prstGeom>
          <a:solidFill>
            <a:srgbClr val="C9962B"/>
          </a:solidFill>
          <a:ln w="12700">
            <a:solidFill>
              <a:srgbClr val="C9962B"/>
            </a:solidFill>
            <a:prstDash val="solid"/>
          </a:ln>
        </p:spPr>
      </p:sp>
      <p:sp>
        <p:nvSpPr>
          <p:cNvPr id="7" name="Text 5"/>
          <p:cNvSpPr txBox="1"/>
          <p:nvPr/>
        </p:nvSpPr>
        <p:spPr>
          <a:xfrm>
            <a:off x="9905695" y="1463040"/>
            <a:ext cx="1554480" cy="731520"/>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سنة مؤكدة</a:t>
            </a:r>
            <a:endParaRPr lang="ar-EG" sz="1600" dirty="0">
              <a:latin typeface="EB Garamond"/>
              <a:cs typeface="Noto Naskh Arabic"/>
            </a:endParaRPr>
          </a:p>
        </p:txBody>
      </p:sp>
      <p:sp>
        <p:nvSpPr>
          <p:cNvPr id="8" name="Text 6"/>
          <p:cNvSpPr txBox="1"/>
          <p:nvPr/>
        </p:nvSpPr>
        <p:spPr>
          <a:xfrm>
            <a:off x="5806440" y="1444752"/>
            <a:ext cx="4007815" cy="77724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صلاة جماعة في المسجد عند حدوث الكسوف أو الخسوف، ووقتها من بدئه حتى ينجلي</a:t>
            </a:r>
            <a:endParaRPr lang="ar-EG" sz="1400" dirty="0">
              <a:latin typeface="EB Garamond"/>
              <a:cs typeface="Noto Naskh Arabic"/>
            </a:endParaRPr>
          </a:p>
        </p:txBody>
      </p:sp>
      <p:sp>
        <p:nvSpPr>
          <p:cNvPr id="9" name="prayer-1"/>
          <p:cNvSpPr/>
          <p:nvPr/>
        </p:nvSpPr>
        <p:spPr>
          <a:xfrm>
            <a:off x="5623560" y="2395728"/>
            <a:ext cx="6019495" cy="914400"/>
          </a:xfrm>
          <a:prstGeom prst="rect">
            <a:avLst/>
          </a:prstGeom>
          <a:solidFill>
            <a:srgbClr val="161F2F"/>
          </a:solidFill>
          <a:ln w="9525">
            <a:solidFill>
              <a:srgbClr val="C9962B"/>
            </a:solidFill>
            <a:prstDash val="solid"/>
          </a:ln>
        </p:spPr>
      </p:sp>
      <p:sp>
        <p:nvSpPr>
          <p:cNvPr id="10" name="prayer-1-accent"/>
          <p:cNvSpPr/>
          <p:nvPr/>
        </p:nvSpPr>
        <p:spPr>
          <a:xfrm>
            <a:off x="11579047" y="2395728"/>
            <a:ext cx="64008" cy="914400"/>
          </a:xfrm>
          <a:prstGeom prst="rect">
            <a:avLst/>
          </a:prstGeom>
          <a:solidFill>
            <a:srgbClr val="C9962B"/>
          </a:solidFill>
          <a:ln w="12700">
            <a:solidFill>
              <a:srgbClr val="C9962B"/>
            </a:solidFill>
            <a:prstDash val="solid"/>
          </a:ln>
        </p:spPr>
      </p:sp>
      <p:sp>
        <p:nvSpPr>
          <p:cNvPr id="11" name="Text 9"/>
          <p:cNvSpPr txBox="1"/>
          <p:nvPr/>
        </p:nvSpPr>
        <p:spPr>
          <a:xfrm>
            <a:off x="9905695" y="2487168"/>
            <a:ext cx="1554480" cy="731520"/>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صفتها</a:t>
            </a:r>
            <a:endParaRPr lang="ar-EG" sz="1600" dirty="0">
              <a:latin typeface="EB Garamond"/>
              <a:cs typeface="Noto Naskh Arabic"/>
            </a:endParaRPr>
          </a:p>
        </p:txBody>
      </p:sp>
      <p:sp>
        <p:nvSpPr>
          <p:cNvPr id="12" name="Text 10"/>
          <p:cNvSpPr txBox="1"/>
          <p:nvPr/>
        </p:nvSpPr>
        <p:spPr>
          <a:xfrm>
            <a:off x="5806440" y="2468880"/>
            <a:ext cx="4007815" cy="77724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ركعتان، في كل ركعة قيامان وركوعان عند الجمهور، مع إطالة القراءة</a:t>
            </a:r>
            <a:endParaRPr lang="ar-EG" sz="1400" dirty="0">
              <a:latin typeface="EB Garamond"/>
              <a:cs typeface="Noto Naskh Arabic"/>
            </a:endParaRPr>
          </a:p>
        </p:txBody>
      </p:sp>
      <p:sp>
        <p:nvSpPr>
          <p:cNvPr id="13" name="prayer-2"/>
          <p:cNvSpPr/>
          <p:nvPr/>
        </p:nvSpPr>
        <p:spPr>
          <a:xfrm>
            <a:off x="5623560" y="3419856"/>
            <a:ext cx="6019495" cy="914400"/>
          </a:xfrm>
          <a:prstGeom prst="rect">
            <a:avLst/>
          </a:prstGeom>
          <a:solidFill>
            <a:srgbClr val="161F2F"/>
          </a:solidFill>
          <a:ln w="9525">
            <a:solidFill>
              <a:srgbClr val="C9962B"/>
            </a:solidFill>
            <a:prstDash val="solid"/>
          </a:ln>
        </p:spPr>
      </p:sp>
      <p:sp>
        <p:nvSpPr>
          <p:cNvPr id="14" name="prayer-2-accent"/>
          <p:cNvSpPr/>
          <p:nvPr/>
        </p:nvSpPr>
        <p:spPr>
          <a:xfrm>
            <a:off x="11579047" y="3419856"/>
            <a:ext cx="64008" cy="914400"/>
          </a:xfrm>
          <a:prstGeom prst="rect">
            <a:avLst/>
          </a:prstGeom>
          <a:solidFill>
            <a:srgbClr val="C9962B"/>
          </a:solidFill>
          <a:ln w="12700">
            <a:solidFill>
              <a:srgbClr val="C9962B"/>
            </a:solidFill>
            <a:prstDash val="solid"/>
          </a:ln>
        </p:spPr>
      </p:sp>
      <p:sp>
        <p:nvSpPr>
          <p:cNvPr id="15" name="Text 13"/>
          <p:cNvSpPr txBox="1"/>
          <p:nvPr/>
        </p:nvSpPr>
        <p:spPr>
          <a:xfrm>
            <a:off x="9905695" y="3511296"/>
            <a:ext cx="1554480" cy="731520"/>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مع الصلاة</a:t>
            </a:r>
            <a:endParaRPr lang="ar-EG" sz="1600" dirty="0">
              <a:latin typeface="EB Garamond"/>
              <a:cs typeface="Noto Naskh Arabic"/>
            </a:endParaRPr>
          </a:p>
        </p:txBody>
      </p:sp>
      <p:sp>
        <p:nvSpPr>
          <p:cNvPr id="16" name="Text 14"/>
          <p:cNvSpPr txBox="1"/>
          <p:nvPr/>
        </p:nvSpPr>
        <p:spPr>
          <a:xfrm>
            <a:off x="5806440" y="3493008"/>
            <a:ext cx="4007815" cy="77724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الدعاء والتكبير والصدقة، وخطبة يُذكَّر فيها الناس، كما في الحديث</a:t>
            </a:r>
            <a:endParaRPr lang="ar-EG" sz="1400" dirty="0">
              <a:latin typeface="EB Garamond"/>
              <a:cs typeface="Noto Naskh Arabic"/>
            </a:endParaRPr>
          </a:p>
        </p:txBody>
      </p:sp>
      <p:sp>
        <p:nvSpPr>
          <p:cNvPr id="17" name="prayer-3"/>
          <p:cNvSpPr/>
          <p:nvPr/>
        </p:nvSpPr>
        <p:spPr>
          <a:xfrm>
            <a:off x="5623560" y="4443984"/>
            <a:ext cx="6019495" cy="914400"/>
          </a:xfrm>
          <a:prstGeom prst="rect">
            <a:avLst/>
          </a:prstGeom>
          <a:solidFill>
            <a:srgbClr val="161F2F"/>
          </a:solidFill>
          <a:ln w="9525">
            <a:solidFill>
              <a:srgbClr val="C9962B"/>
            </a:solidFill>
            <a:prstDash val="solid"/>
          </a:ln>
        </p:spPr>
      </p:sp>
      <p:sp>
        <p:nvSpPr>
          <p:cNvPr id="18" name="prayer-3-accent"/>
          <p:cNvSpPr/>
          <p:nvPr/>
        </p:nvSpPr>
        <p:spPr>
          <a:xfrm>
            <a:off x="11579047" y="4443984"/>
            <a:ext cx="64008" cy="914400"/>
          </a:xfrm>
          <a:prstGeom prst="rect">
            <a:avLst/>
          </a:prstGeom>
          <a:solidFill>
            <a:srgbClr val="C9962B"/>
          </a:solidFill>
          <a:ln w="12700">
            <a:solidFill>
              <a:srgbClr val="C9962B"/>
            </a:solidFill>
            <a:prstDash val="solid"/>
          </a:ln>
        </p:spPr>
      </p:sp>
      <p:sp>
        <p:nvSpPr>
          <p:cNvPr id="19" name="Text 17"/>
          <p:cNvSpPr txBox="1"/>
          <p:nvPr/>
        </p:nvSpPr>
        <p:spPr>
          <a:xfrm>
            <a:off x="9905695" y="4535424"/>
            <a:ext cx="1554480" cy="731520"/>
          </a:xfrm>
          <a:prstGeom prst="rect">
            <a:avLst/>
          </a:prstGeom>
          <a:noFill/>
          <a:ln/>
        </p:spPr>
        <p:txBody>
          <a:bodyPr wrap="square" lIns="0" tIns="0" rIns="0" bIns="0" rtlCol="0" anchor="ctr"/>
          <a:lstStyle/>
          <a:p>
            <a:pPr rtl="1" algn="r" indent="0" marL="0">
              <a:buNone/>
            </a:pPr>
            <a:r>
              <a:rPr lang="ar-EG" altLang="en-US" sz="1600" b="1" dirty="0">
                <a:solidFill>
                  <a:srgbClr val="E8B84B"/>
                </a:solidFill>
                <a:latin typeface="EB Garamond"/>
                <a:cs typeface="Noto Naskh Arabic"/>
              </a:rPr>
              <a:t>المصطلح</a:t>
            </a:r>
            <a:endParaRPr lang="ar-EG" sz="1600" dirty="0">
              <a:latin typeface="EB Garamond"/>
              <a:cs typeface="Noto Naskh Arabic"/>
            </a:endParaRPr>
          </a:p>
        </p:txBody>
      </p:sp>
      <p:sp>
        <p:nvSpPr>
          <p:cNvPr id="20" name="Text 18"/>
          <p:cNvSpPr txBox="1"/>
          <p:nvPr/>
        </p:nvSpPr>
        <p:spPr>
          <a:xfrm>
            <a:off x="5806440" y="4517136"/>
            <a:ext cx="4007815" cy="77724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يُستعمل اللفظان في اللغة للنيّرين، واشتهر: الكسوف للشمس والخسوف للقمر «وَخَسَفَ الْقَمَرُ» (القيامة: ٨)</a:t>
            </a:r>
            <a:endParaRPr lang="ar-EG" sz="1400" dirty="0">
              <a:latin typeface="EB Garamond"/>
              <a:cs typeface="Noto Naskh Arabic"/>
            </a:endParaRPr>
          </a:p>
        </p:txBody>
      </p:sp>
      <p:sp>
        <p:nvSpPr>
          <p:cNvPr id="21" name="dhuhr-card"/>
          <p:cNvSpPr/>
          <p:nvPr/>
        </p:nvSpPr>
        <p:spPr>
          <a:xfrm>
            <a:off x="548640" y="1371600"/>
            <a:ext cx="4800600" cy="3977640"/>
          </a:xfrm>
          <a:prstGeom prst="rect">
            <a:avLst/>
          </a:prstGeom>
          <a:solidFill>
            <a:srgbClr val="1B3A6B"/>
          </a:solidFill>
          <a:ln w="9525">
            <a:solidFill>
              <a:srgbClr val="1B3A6B"/>
            </a:solidFill>
            <a:prstDash val="solid"/>
          </a:ln>
        </p:spPr>
      </p:sp>
      <p:sp>
        <p:nvSpPr>
          <p:cNvPr id="22" name="Text 20"/>
          <p:cNvSpPr txBox="1"/>
          <p:nvPr/>
        </p:nvSpPr>
        <p:spPr>
          <a:xfrm>
            <a:off x="822960" y="1554480"/>
            <a:ext cx="4251960" cy="502920"/>
          </a:xfrm>
          <a:prstGeom prst="rect">
            <a:avLst/>
          </a:prstGeom>
          <a:noFill/>
          <a:ln/>
        </p:spPr>
        <p:txBody>
          <a:bodyPr wrap="square" lIns="0" tIns="0" rIns="0" bIns="0" rtlCol="0" anchor="ctr"/>
          <a:lstStyle/>
          <a:p>
            <a:pPr rtl="1" algn="r" indent="0" marL="0">
              <a:buNone/>
            </a:pPr>
            <a:r>
              <a:rPr lang="ar-EG" altLang="en-US" sz="1800" b="1" dirty="0">
                <a:solidFill>
                  <a:srgbClr val="E8B84B"/>
                </a:solidFill>
                <a:latin typeface="EB Garamond"/>
                <a:cs typeface="Noto Naskh Arabic"/>
              </a:rPr>
              <a:t>انتبه: الكلية بعد أذان الظهر بدقائق</a:t>
            </a:r>
            <a:endParaRPr lang="ar-EG" sz="1800" dirty="0">
              <a:latin typeface="EB Garamond"/>
              <a:cs typeface="Noto Naskh Arabic"/>
            </a:endParaRPr>
          </a:p>
        </p:txBody>
      </p:sp>
      <p:sp>
        <p:nvSpPr>
          <p:cNvPr id="23" name="Text 21"/>
          <p:cNvSpPr txBox="1"/>
          <p:nvPr/>
        </p:nvSpPr>
        <p:spPr>
          <a:xfrm>
            <a:off x="3657600" y="2194560"/>
            <a:ext cx="1417320" cy="457200"/>
          </a:xfrm>
          <a:prstGeom prst="rect">
            <a:avLst/>
          </a:prstGeom>
          <a:noFill/>
          <a:ln/>
        </p:spPr>
        <p:txBody>
          <a:bodyPr wrap="square" lIns="0" tIns="0" rIns="0" bIns="0" rtlCol="0" anchor="ctr"/>
          <a:lstStyle/>
          <a:p>
            <a:pPr rtl="1" algn="ctr" indent="0" marL="0">
              <a:buNone/>
            </a:pPr>
            <a:r>
              <a:rPr lang="en-US" sz="1300" b="1" dirty="0">
                <a:solidFill>
                  <a:srgbClr val="9C8B6E"/>
                </a:solidFill>
                <a:latin typeface="EB Garamond"/>
                <a:cs typeface="Noto Naskh Arabic"/>
              </a:rPr>
              <a:t>المدينة</a:t>
            </a:r>
            <a:endParaRPr lang="en-US" sz="1300" dirty="0">
              <a:latin typeface="EB Garamond"/>
              <a:cs typeface="Noto Naskh Arabic"/>
            </a:endParaRPr>
          </a:p>
        </p:txBody>
      </p:sp>
      <p:sp>
        <p:nvSpPr>
          <p:cNvPr id="24" name="Text 22"/>
          <p:cNvSpPr txBox="1"/>
          <p:nvPr/>
        </p:nvSpPr>
        <p:spPr>
          <a:xfrm>
            <a:off x="2240280" y="2194560"/>
            <a:ext cx="1417320" cy="457200"/>
          </a:xfrm>
          <a:prstGeom prst="rect">
            <a:avLst/>
          </a:prstGeom>
          <a:noFill/>
          <a:ln/>
        </p:spPr>
        <p:txBody>
          <a:bodyPr wrap="square" lIns="0" tIns="0" rIns="0" bIns="0" rtlCol="0" anchor="ctr"/>
          <a:lstStyle/>
          <a:p>
            <a:pPr rtl="1" algn="ctr" indent="0" marL="0">
              <a:buNone/>
            </a:pPr>
            <a:r>
              <a:rPr lang="en-US" sz="1300" b="1" dirty="0">
                <a:solidFill>
                  <a:srgbClr val="9C8B6E"/>
                </a:solidFill>
                <a:latin typeface="EB Garamond"/>
                <a:cs typeface="Noto Naskh Arabic"/>
              </a:rPr>
              <a:t>الزوال</a:t>
            </a:r>
            <a:endParaRPr lang="en-US" sz="1300" dirty="0">
              <a:latin typeface="EB Garamond"/>
              <a:cs typeface="Noto Naskh Arabic"/>
            </a:endParaRPr>
          </a:p>
        </p:txBody>
      </p:sp>
      <p:sp>
        <p:nvSpPr>
          <p:cNvPr id="25" name="Text 23"/>
          <p:cNvSpPr txBox="1"/>
          <p:nvPr/>
        </p:nvSpPr>
        <p:spPr>
          <a:xfrm>
            <a:off x="822960" y="2194560"/>
            <a:ext cx="1417320" cy="457200"/>
          </a:xfrm>
          <a:prstGeom prst="rect">
            <a:avLst/>
          </a:prstGeom>
          <a:noFill/>
          <a:ln/>
        </p:spPr>
        <p:txBody>
          <a:bodyPr wrap="square" lIns="0" tIns="0" rIns="0" bIns="0" rtlCol="0" anchor="ctr"/>
          <a:lstStyle/>
          <a:p>
            <a:pPr rtl="1" algn="ctr" indent="0" marL="0">
              <a:buNone/>
            </a:pPr>
            <a:r>
              <a:rPr lang="en-US" sz="1300" b="1" dirty="0">
                <a:solidFill>
                  <a:srgbClr val="9C8B6E"/>
                </a:solidFill>
                <a:latin typeface="EB Garamond"/>
                <a:cs typeface="Noto Naskh Arabic"/>
              </a:rPr>
              <a:t>بداية الكلية</a:t>
            </a:r>
            <a:endParaRPr lang="en-US" sz="1300" dirty="0">
              <a:latin typeface="EB Garamond"/>
              <a:cs typeface="Noto Naskh Arabic"/>
            </a:endParaRPr>
          </a:p>
        </p:txBody>
      </p:sp>
      <p:sp>
        <p:nvSpPr>
          <p:cNvPr id="26" name="Text 24"/>
          <p:cNvSpPr txBox="1"/>
          <p:nvPr/>
        </p:nvSpPr>
        <p:spPr>
          <a:xfrm>
            <a:off x="3657600" y="274320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EB Garamond"/>
                <a:cs typeface="Noto Naskh Arabic"/>
              </a:rPr>
              <a:t>الأقصر</a:t>
            </a:r>
            <a:endParaRPr lang="en-US" sz="1500" dirty="0">
              <a:latin typeface="EB Garamond"/>
              <a:cs typeface="Noto Naskh Arabic"/>
            </a:endParaRPr>
          </a:p>
        </p:txBody>
      </p:sp>
      <p:sp>
        <p:nvSpPr>
          <p:cNvPr id="27" name="Text 25"/>
          <p:cNvSpPr txBox="1"/>
          <p:nvPr/>
        </p:nvSpPr>
        <p:spPr>
          <a:xfrm>
            <a:off x="2240280" y="274320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latin typeface="EB Garamond"/>
                <a:cs typeface="Noto Naskh Arabic"/>
              </a:rPr>
              <a:t>١٢:٥٦</a:t>
            </a:r>
            <a:endParaRPr lang="en-US" sz="1500" dirty="0">
              <a:latin typeface="EB Garamond"/>
              <a:cs typeface="Noto Naskh Arabic"/>
            </a:endParaRPr>
          </a:p>
        </p:txBody>
      </p:sp>
      <p:sp>
        <p:nvSpPr>
          <p:cNvPr id="28" name="Text 26"/>
          <p:cNvSpPr txBox="1"/>
          <p:nvPr/>
        </p:nvSpPr>
        <p:spPr>
          <a:xfrm>
            <a:off x="822960" y="2743200"/>
            <a:ext cx="1417320" cy="457200"/>
          </a:xfrm>
          <a:prstGeom prst="rect">
            <a:avLst/>
          </a:prstGeom>
          <a:noFill/>
          <a:ln/>
        </p:spPr>
        <p:txBody>
          <a:bodyPr wrap="square" lIns="0" tIns="0" rIns="0" bIns="0" rtlCol="0" anchor="ctr"/>
          <a:lstStyle/>
          <a:p>
            <a:pPr rtl="1" algn="ctr" indent="0" marL="0">
              <a:buNone/>
            </a:pPr>
            <a:r>
              <a:rPr lang="en-US" sz="1500" dirty="0">
                <a:solidFill>
                  <a:srgbClr val="E8B84B"/>
                </a:solidFill>
                <a:latin typeface="EB Garamond"/>
                <a:cs typeface="Noto Naskh Arabic"/>
              </a:rPr>
              <a:t>١٣:٠١:٥٨</a:t>
            </a:r>
            <a:endParaRPr lang="en-US" sz="1500" dirty="0">
              <a:latin typeface="EB Garamond"/>
              <a:cs typeface="Noto Naskh Arabic"/>
            </a:endParaRPr>
          </a:p>
        </p:txBody>
      </p:sp>
      <p:sp>
        <p:nvSpPr>
          <p:cNvPr id="29" name="Text 27"/>
          <p:cNvSpPr txBox="1"/>
          <p:nvPr/>
        </p:nvSpPr>
        <p:spPr>
          <a:xfrm>
            <a:off x="3657600" y="329184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EB Garamond"/>
                <a:cs typeface="Noto Naskh Arabic"/>
              </a:rPr>
              <a:t>سوهاج</a:t>
            </a:r>
            <a:endParaRPr lang="en-US" sz="1500" dirty="0">
              <a:latin typeface="EB Garamond"/>
              <a:cs typeface="Noto Naskh Arabic"/>
            </a:endParaRPr>
          </a:p>
        </p:txBody>
      </p:sp>
      <p:sp>
        <p:nvSpPr>
          <p:cNvPr id="30" name="Text 28"/>
          <p:cNvSpPr txBox="1"/>
          <p:nvPr/>
        </p:nvSpPr>
        <p:spPr>
          <a:xfrm>
            <a:off x="2240280" y="329184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latin typeface="EB Garamond"/>
                <a:cs typeface="Noto Naskh Arabic"/>
              </a:rPr>
              <a:t>١٢:٥٩</a:t>
            </a:r>
            <a:endParaRPr lang="en-US" sz="1500" dirty="0">
              <a:latin typeface="EB Garamond"/>
              <a:cs typeface="Noto Naskh Arabic"/>
            </a:endParaRPr>
          </a:p>
        </p:txBody>
      </p:sp>
      <p:sp>
        <p:nvSpPr>
          <p:cNvPr id="31" name="Text 29"/>
          <p:cNvSpPr txBox="1"/>
          <p:nvPr/>
        </p:nvSpPr>
        <p:spPr>
          <a:xfrm>
            <a:off x="822960" y="3291840"/>
            <a:ext cx="1417320" cy="457200"/>
          </a:xfrm>
          <a:prstGeom prst="rect">
            <a:avLst/>
          </a:prstGeom>
          <a:noFill/>
          <a:ln/>
        </p:spPr>
        <p:txBody>
          <a:bodyPr wrap="square" lIns="0" tIns="0" rIns="0" bIns="0" rtlCol="0" anchor="ctr"/>
          <a:lstStyle/>
          <a:p>
            <a:pPr rtl="1" algn="ctr" indent="0" marL="0">
              <a:buNone/>
            </a:pPr>
            <a:r>
              <a:rPr lang="en-US" sz="1500" dirty="0">
                <a:solidFill>
                  <a:srgbClr val="E8B84B"/>
                </a:solidFill>
                <a:latin typeface="EB Garamond"/>
                <a:cs typeface="Noto Naskh Arabic"/>
              </a:rPr>
              <a:t>١٢:٥٨:٣٨</a:t>
            </a:r>
            <a:endParaRPr lang="en-US" sz="1500" dirty="0">
              <a:latin typeface="EB Garamond"/>
              <a:cs typeface="Noto Naskh Arabic"/>
            </a:endParaRPr>
          </a:p>
        </p:txBody>
      </p:sp>
      <p:sp>
        <p:nvSpPr>
          <p:cNvPr id="32" name="Text 30"/>
          <p:cNvSpPr txBox="1"/>
          <p:nvPr/>
        </p:nvSpPr>
        <p:spPr>
          <a:xfrm>
            <a:off x="3657600" y="384048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EB Garamond"/>
                <a:cs typeface="Noto Naskh Arabic"/>
              </a:rPr>
              <a:t>أسوان</a:t>
            </a:r>
            <a:endParaRPr lang="en-US" sz="1500" dirty="0">
              <a:latin typeface="EB Garamond"/>
              <a:cs typeface="Noto Naskh Arabic"/>
            </a:endParaRPr>
          </a:p>
        </p:txBody>
      </p:sp>
      <p:sp>
        <p:nvSpPr>
          <p:cNvPr id="33" name="Text 31"/>
          <p:cNvSpPr txBox="1"/>
          <p:nvPr/>
        </p:nvSpPr>
        <p:spPr>
          <a:xfrm>
            <a:off x="2240280" y="384048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latin typeface="EB Garamond"/>
                <a:cs typeface="Noto Naskh Arabic"/>
              </a:rPr>
              <a:t>١٢:٥٥</a:t>
            </a:r>
            <a:endParaRPr lang="en-US" sz="1500" dirty="0">
              <a:latin typeface="EB Garamond"/>
              <a:cs typeface="Noto Naskh Arabic"/>
            </a:endParaRPr>
          </a:p>
        </p:txBody>
      </p:sp>
      <p:sp>
        <p:nvSpPr>
          <p:cNvPr id="34" name="Text 32"/>
          <p:cNvSpPr txBox="1"/>
          <p:nvPr/>
        </p:nvSpPr>
        <p:spPr>
          <a:xfrm>
            <a:off x="822960" y="3840480"/>
            <a:ext cx="1417320" cy="457200"/>
          </a:xfrm>
          <a:prstGeom prst="rect">
            <a:avLst/>
          </a:prstGeom>
          <a:noFill/>
          <a:ln/>
        </p:spPr>
        <p:txBody>
          <a:bodyPr wrap="square" lIns="0" tIns="0" rIns="0" bIns="0" rtlCol="0" anchor="ctr"/>
          <a:lstStyle/>
          <a:p>
            <a:pPr rtl="1" algn="ctr" indent="0" marL="0">
              <a:buNone/>
            </a:pPr>
            <a:r>
              <a:rPr lang="en-US" sz="1500" dirty="0">
                <a:solidFill>
                  <a:srgbClr val="E8B84B"/>
                </a:solidFill>
                <a:latin typeface="EB Garamond"/>
                <a:cs typeface="Noto Naskh Arabic"/>
              </a:rPr>
              <a:t>جزئي ٩٩٫٨٪</a:t>
            </a:r>
            <a:endParaRPr lang="en-US" sz="1500" dirty="0">
              <a:latin typeface="EB Garamond"/>
              <a:cs typeface="Noto Naskh Arabic"/>
            </a:endParaRPr>
          </a:p>
        </p:txBody>
      </p:sp>
      <p:sp>
        <p:nvSpPr>
          <p:cNvPr id="35" name="Text 33"/>
          <p:cNvSpPr txBox="1"/>
          <p:nvPr/>
        </p:nvSpPr>
        <p:spPr>
          <a:xfrm>
            <a:off x="3657600" y="438912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EB Garamond"/>
                <a:cs typeface="Noto Naskh Arabic"/>
              </a:rPr>
              <a:t>القاهرة</a:t>
            </a:r>
            <a:endParaRPr lang="en-US" sz="1500" dirty="0">
              <a:latin typeface="EB Garamond"/>
              <a:cs typeface="Noto Naskh Arabic"/>
            </a:endParaRPr>
          </a:p>
        </p:txBody>
      </p:sp>
      <p:sp>
        <p:nvSpPr>
          <p:cNvPr id="36" name="Text 34"/>
          <p:cNvSpPr txBox="1"/>
          <p:nvPr/>
        </p:nvSpPr>
        <p:spPr>
          <a:xfrm>
            <a:off x="2240280" y="438912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latin typeface="EB Garamond"/>
                <a:cs typeface="Noto Naskh Arabic"/>
              </a:rPr>
              <a:t>١٣:٠١</a:t>
            </a:r>
            <a:endParaRPr lang="en-US" sz="1500" dirty="0">
              <a:latin typeface="EB Garamond"/>
              <a:cs typeface="Noto Naskh Arabic"/>
            </a:endParaRPr>
          </a:p>
        </p:txBody>
      </p:sp>
      <p:sp>
        <p:nvSpPr>
          <p:cNvPr id="37" name="Text 35"/>
          <p:cNvSpPr txBox="1"/>
          <p:nvPr/>
        </p:nvSpPr>
        <p:spPr>
          <a:xfrm>
            <a:off x="822960" y="4389120"/>
            <a:ext cx="1417320" cy="457200"/>
          </a:xfrm>
          <a:prstGeom prst="rect">
            <a:avLst/>
          </a:prstGeom>
          <a:noFill/>
          <a:ln/>
        </p:spPr>
        <p:txBody>
          <a:bodyPr wrap="square" lIns="0" tIns="0" rIns="0" bIns="0" rtlCol="0" anchor="ctr"/>
          <a:lstStyle/>
          <a:p>
            <a:pPr rtl="1" algn="ctr" indent="0" marL="0">
              <a:buNone/>
            </a:pPr>
            <a:r>
              <a:rPr lang="en-US" sz="1500" dirty="0">
                <a:solidFill>
                  <a:srgbClr val="E8B84B"/>
                </a:solidFill>
                <a:latin typeface="EB Garamond"/>
                <a:cs typeface="Noto Naskh Arabic"/>
              </a:rPr>
              <a:t>جزئي ٩٤٫٨٪</a:t>
            </a:r>
            <a:endParaRPr lang="en-US" sz="1500" dirty="0">
              <a:latin typeface="EB Garamond"/>
              <a:cs typeface="Noto Naskh Arabic"/>
            </a:endParaRPr>
          </a:p>
        </p:txBody>
      </p:sp>
      <p:sp>
        <p:nvSpPr>
          <p:cNvPr id="38" name="Text 36"/>
          <p:cNvSpPr txBox="1"/>
          <p:nvPr/>
        </p:nvSpPr>
        <p:spPr>
          <a:xfrm>
            <a:off x="822960" y="4709160"/>
            <a:ext cx="4251960" cy="548640"/>
          </a:xfrm>
          <a:prstGeom prst="rect">
            <a:avLst/>
          </a:prstGeom>
          <a:noFill/>
          <a:ln/>
        </p:spPr>
        <p:txBody>
          <a:bodyPr wrap="square" lIns="0" tIns="0" rIns="0" bIns="0" rtlCol="0" anchor="ctr"/>
          <a:lstStyle/>
          <a:p>
            <a:pPr rtl="1" algn="r" indent="0" marL="0">
              <a:buNone/>
            </a:pPr>
            <a:r>
              <a:rPr lang="ar-EG" altLang="en-US" sz="1200" dirty="0">
                <a:solidFill>
                  <a:srgbClr val="F0E0B0"/>
                </a:solidFill>
                <a:latin typeface="EB Garamond"/>
                <a:cs typeface="Noto Naskh Arabic"/>
              </a:rPr>
              <a:t>الزوال (منتصف النهار الشمسي) محسوب لهذه المحاضرة، ويُرفع الأذان بعده بدقائق.</a:t>
            </a:r>
            <a:endParaRPr lang="ar-EG" sz="1200" dirty="0">
              <a:latin typeface="EB Garamond"/>
              <a:cs typeface="Noto Naskh Arabic"/>
            </a:endParaRPr>
          </a:p>
        </p:txBody>
      </p:sp>
      <p:sp>
        <p:nvSpPr>
          <p:cNvPr id="39" name="Text 37"/>
          <p:cNvSpPr txBox="1"/>
          <p:nvPr/>
        </p:nvSpPr>
        <p:spPr>
          <a:xfrm>
            <a:off x="548640" y="5486400"/>
            <a:ext cx="11094415" cy="457200"/>
          </a:xfrm>
          <a:prstGeom prst="rect">
            <a:avLst/>
          </a:prstGeom>
          <a:noFill/>
          <a:ln/>
        </p:spPr>
        <p:txBody>
          <a:bodyPr wrap="square" lIns="0" tIns="0" rIns="0" bIns="0" rtlCol="0" anchor="ctr"/>
          <a:lstStyle/>
          <a:p>
            <a:pPr rtl="1" algn="r" indent="0" marL="0">
              <a:buNone/>
            </a:pPr>
            <a:r>
              <a:rPr lang="ar-EG" altLang="en-US" sz="1500" b="1" dirty="0">
                <a:solidFill>
                  <a:srgbClr val="E8B84B"/>
                </a:solidFill>
                <a:latin typeface="EB Garamond"/>
                <a:cs typeface="Noto Naskh Arabic"/>
              </a:rPr>
              <a:t>الإثنين ٢ أغسطس ٢٠٢٧ = ٢٨ أو ٢٩ صفر ١٤٤٩هـ (آخر الشهر، كما في كل كسوف)</a:t>
            </a:r>
            <a:endParaRPr lang="ar-EG" sz="15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28</a:t>
            </a:fld>
            <a:endParaRPr lang="en-US">
              <a:latin typeface="EB Garamond"/>
              <a:cs typeface="Noto Naskh Arabic"/>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icker-box"/>
          <p:cNvSpPr/>
          <p:nvPr/>
        </p:nvSpPr>
        <p:spPr>
          <a:xfrm>
            <a:off x="5860390" y="182880"/>
            <a:ext cx="5782666" cy="274320"/>
          </a:xfrm>
          <a:prstGeom prst="rect">
            <a:avLst/>
          </a:prstGeom>
          <a:solidFill>
            <a:srgbClr val="1B3A6B"/>
          </a:solidFill>
          <a:ln w="12700">
            <a:solidFill>
              <a:srgbClr val="E8B84B"/>
            </a:solidFill>
            <a:prstDash val="solid"/>
          </a:ln>
        </p:spPr>
      </p:sp>
      <p:sp>
        <p:nvSpPr>
          <p:cNvPr id="3" name="kicker"/>
          <p:cNvSpPr txBox="1"/>
          <p:nvPr/>
        </p:nvSpPr>
        <p:spPr>
          <a:xfrm>
            <a:off x="5860390" y="182880"/>
            <a:ext cx="578266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MUSLIM ASTRONOMERS WHO OBSERVED AND COMPUTED ECLIPSES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علماء مسلمون رصدوا الكسوف وحسبوه</a:t>
            </a:r>
            <a:endParaRPr lang="ar-EG" sz="3000" dirty="0">
              <a:latin typeface="EB Garamond"/>
              <a:cs typeface="Amiri"/>
            </a:endParaRPr>
          </a:p>
        </p:txBody>
      </p:sp>
      <p:sp>
        <p:nvSpPr>
          <p:cNvPr id="5" name="scholar-0"/>
          <p:cNvSpPr/>
          <p:nvPr/>
        </p:nvSpPr>
        <p:spPr>
          <a:xfrm>
            <a:off x="6293815" y="1371600"/>
            <a:ext cx="5349240" cy="2148840"/>
          </a:xfrm>
          <a:prstGeom prst="rect">
            <a:avLst/>
          </a:prstGeom>
          <a:solidFill>
            <a:srgbClr val="161F2F"/>
          </a:solidFill>
          <a:ln w="9525">
            <a:solidFill>
              <a:srgbClr val="C9962B"/>
            </a:solidFill>
            <a:prstDash val="solid"/>
          </a:ln>
        </p:spPr>
      </p:sp>
      <p:sp>
        <p:nvSpPr>
          <p:cNvPr id="6" name="scholar-0-accent"/>
          <p:cNvSpPr/>
          <p:nvPr/>
        </p:nvSpPr>
        <p:spPr>
          <a:xfrm>
            <a:off x="11579047" y="1371600"/>
            <a:ext cx="64008" cy="2148840"/>
          </a:xfrm>
          <a:prstGeom prst="rect">
            <a:avLst/>
          </a:prstGeom>
          <a:solidFill>
            <a:srgbClr val="C9962B"/>
          </a:solidFill>
          <a:ln w="12700">
            <a:solidFill>
              <a:srgbClr val="C9962B"/>
            </a:solidFill>
            <a:prstDash val="solid"/>
          </a:ln>
        </p:spPr>
      </p:sp>
      <p:sp>
        <p:nvSpPr>
          <p:cNvPr id="7" name="scholar-disc-0"/>
          <p:cNvSpPr/>
          <p:nvPr/>
        </p:nvSpPr>
        <p:spPr>
          <a:xfrm>
            <a:off x="10728655" y="1600200"/>
            <a:ext cx="640080" cy="64008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8" name="Text 6"/>
          <p:cNvSpPr txBox="1"/>
          <p:nvPr/>
        </p:nvSpPr>
        <p:spPr>
          <a:xfrm>
            <a:off x="6522415" y="155448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E8B84B"/>
                </a:solidFill>
                <a:latin typeface="EB Garamond"/>
                <a:cs typeface="Noto Naskh Arabic"/>
              </a:rPr>
              <a:t>البتّاني</a:t>
            </a:r>
            <a:endParaRPr lang="ar-EG" sz="2100" dirty="0">
              <a:latin typeface="EB Garamond"/>
              <a:cs typeface="Noto Naskh Arabic"/>
            </a:endParaRPr>
          </a:p>
        </p:txBody>
      </p:sp>
      <p:sp>
        <p:nvSpPr>
          <p:cNvPr id="9" name="Text 7"/>
          <p:cNvSpPr txBox="1"/>
          <p:nvPr/>
        </p:nvSpPr>
        <p:spPr>
          <a:xfrm>
            <a:off x="6522415" y="199339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الرقة (ت ٣١٧هـ/٩٢٩م)</a:t>
            </a:r>
            <a:endParaRPr lang="ar-EG" sz="1300" dirty="0">
              <a:latin typeface="EB Garamond"/>
              <a:cs typeface="Noto Naskh Arabic"/>
            </a:endParaRPr>
          </a:p>
        </p:txBody>
      </p:sp>
      <p:sp>
        <p:nvSpPr>
          <p:cNvPr id="10" name="Text 8"/>
          <p:cNvSpPr txBox="1"/>
          <p:nvPr/>
        </p:nvSpPr>
        <p:spPr>
          <a:xfrm>
            <a:off x="6522415" y="2377440"/>
            <a:ext cx="4892040" cy="10515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أرصاد مؤرخة للكسوف والخسوف؛ لاحظ تغير القطر الظاهري للشمس والقمر فقال بإمكان الكسوف الحلقي</a:t>
            </a:r>
            <a:endParaRPr lang="ar-EG" sz="1400" dirty="0">
              <a:latin typeface="EB Garamond"/>
              <a:cs typeface="Noto Naskh Arabic"/>
            </a:endParaRPr>
          </a:p>
        </p:txBody>
      </p:sp>
      <p:sp>
        <p:nvSpPr>
          <p:cNvPr id="11" name="scholar-1"/>
          <p:cNvSpPr/>
          <p:nvPr/>
        </p:nvSpPr>
        <p:spPr>
          <a:xfrm>
            <a:off x="548640" y="1371600"/>
            <a:ext cx="5349240" cy="2148840"/>
          </a:xfrm>
          <a:prstGeom prst="rect">
            <a:avLst/>
          </a:prstGeom>
          <a:solidFill>
            <a:srgbClr val="161F2F"/>
          </a:solidFill>
          <a:ln w="9525">
            <a:solidFill>
              <a:srgbClr val="C9962B"/>
            </a:solidFill>
            <a:prstDash val="solid"/>
          </a:ln>
        </p:spPr>
      </p:sp>
      <p:sp>
        <p:nvSpPr>
          <p:cNvPr id="12" name="scholar-1-accent"/>
          <p:cNvSpPr/>
          <p:nvPr/>
        </p:nvSpPr>
        <p:spPr>
          <a:xfrm>
            <a:off x="5833872" y="1371600"/>
            <a:ext cx="64008" cy="2148840"/>
          </a:xfrm>
          <a:prstGeom prst="rect">
            <a:avLst/>
          </a:prstGeom>
          <a:solidFill>
            <a:srgbClr val="C9962B"/>
          </a:solidFill>
          <a:ln w="12700">
            <a:solidFill>
              <a:srgbClr val="C9962B"/>
            </a:solidFill>
            <a:prstDash val="solid"/>
          </a:ln>
        </p:spPr>
      </p:sp>
      <p:sp>
        <p:nvSpPr>
          <p:cNvPr id="13" name="scholar-disc-1"/>
          <p:cNvSpPr/>
          <p:nvPr/>
        </p:nvSpPr>
        <p:spPr>
          <a:xfrm>
            <a:off x="4983480" y="1600200"/>
            <a:ext cx="640080" cy="64008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14" name="Text 12"/>
          <p:cNvSpPr txBox="1"/>
          <p:nvPr/>
        </p:nvSpPr>
        <p:spPr>
          <a:xfrm>
            <a:off x="777240" y="155448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E8B84B"/>
                </a:solidFill>
                <a:latin typeface="EB Garamond"/>
                <a:cs typeface="Noto Naskh Arabic"/>
              </a:rPr>
              <a:t>ابن يونس</a:t>
            </a:r>
            <a:endParaRPr lang="ar-EG" sz="2100" dirty="0">
              <a:latin typeface="EB Garamond"/>
              <a:cs typeface="Noto Naskh Arabic"/>
            </a:endParaRPr>
          </a:p>
        </p:txBody>
      </p:sp>
      <p:sp>
        <p:nvSpPr>
          <p:cNvPr id="15" name="Text 13"/>
          <p:cNvSpPr txBox="1"/>
          <p:nvPr/>
        </p:nvSpPr>
        <p:spPr>
          <a:xfrm>
            <a:off x="777240" y="199339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القاهرة (ت ٣٩٩هـ/١٠٠٩م)</a:t>
            </a:r>
            <a:endParaRPr lang="ar-EG" sz="1300" dirty="0">
              <a:latin typeface="EB Garamond"/>
              <a:cs typeface="Noto Naskh Arabic"/>
            </a:endParaRPr>
          </a:p>
        </p:txBody>
      </p:sp>
      <p:sp>
        <p:nvSpPr>
          <p:cNvPr id="16" name="Text 14"/>
          <p:cNvSpPr txBox="1"/>
          <p:nvPr/>
        </p:nvSpPr>
        <p:spPr>
          <a:xfrm>
            <a:off x="777240" y="2377440"/>
            <a:ext cx="4892040" cy="10515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«الزيج الحاكمي الكبير» في ٨١ بابًا وأكثر من مئة رصدة مؤرخة؛ أرصاده للكسوف تُستعمل اليوم لقياس تباطؤ دوران الأرض</a:t>
            </a:r>
            <a:endParaRPr lang="ar-EG" sz="1400" dirty="0">
              <a:latin typeface="EB Garamond"/>
              <a:cs typeface="Noto Naskh Arabic"/>
            </a:endParaRPr>
          </a:p>
        </p:txBody>
      </p:sp>
      <p:sp>
        <p:nvSpPr>
          <p:cNvPr id="17" name="scholar-2"/>
          <p:cNvSpPr/>
          <p:nvPr/>
        </p:nvSpPr>
        <p:spPr>
          <a:xfrm>
            <a:off x="6293815" y="3749040"/>
            <a:ext cx="5349240" cy="2148840"/>
          </a:xfrm>
          <a:prstGeom prst="rect">
            <a:avLst/>
          </a:prstGeom>
          <a:solidFill>
            <a:srgbClr val="161F2F"/>
          </a:solidFill>
          <a:ln w="9525">
            <a:solidFill>
              <a:srgbClr val="C9962B"/>
            </a:solidFill>
            <a:prstDash val="solid"/>
          </a:ln>
        </p:spPr>
      </p:sp>
      <p:sp>
        <p:nvSpPr>
          <p:cNvPr id="18" name="scholar-2-accent"/>
          <p:cNvSpPr/>
          <p:nvPr/>
        </p:nvSpPr>
        <p:spPr>
          <a:xfrm>
            <a:off x="11579047" y="3749040"/>
            <a:ext cx="64008" cy="2148840"/>
          </a:xfrm>
          <a:prstGeom prst="rect">
            <a:avLst/>
          </a:prstGeom>
          <a:solidFill>
            <a:srgbClr val="C9962B"/>
          </a:solidFill>
          <a:ln w="12700">
            <a:solidFill>
              <a:srgbClr val="C9962B"/>
            </a:solidFill>
            <a:prstDash val="solid"/>
          </a:ln>
        </p:spPr>
      </p:sp>
      <p:sp>
        <p:nvSpPr>
          <p:cNvPr id="19" name="scholar-disc-2"/>
          <p:cNvSpPr/>
          <p:nvPr/>
        </p:nvSpPr>
        <p:spPr>
          <a:xfrm>
            <a:off x="10728655" y="3977640"/>
            <a:ext cx="640080" cy="64008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20" name="Text 18"/>
          <p:cNvSpPr txBox="1"/>
          <p:nvPr/>
        </p:nvSpPr>
        <p:spPr>
          <a:xfrm>
            <a:off x="6522415" y="393192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E8B84B"/>
                </a:solidFill>
                <a:latin typeface="EB Garamond"/>
                <a:cs typeface="Noto Naskh Arabic"/>
              </a:rPr>
              <a:t>ابن الهيثم</a:t>
            </a:r>
            <a:endParaRPr lang="ar-EG" sz="2100" dirty="0">
              <a:latin typeface="EB Garamond"/>
              <a:cs typeface="Noto Naskh Arabic"/>
            </a:endParaRPr>
          </a:p>
        </p:txBody>
      </p:sp>
      <p:sp>
        <p:nvSpPr>
          <p:cNvPr id="21" name="Text 19"/>
          <p:cNvSpPr txBox="1"/>
          <p:nvPr/>
        </p:nvSpPr>
        <p:spPr>
          <a:xfrm>
            <a:off x="6522415" y="437083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البصرة والقاهرة (ت نحو ١٠٤٠م)</a:t>
            </a:r>
            <a:endParaRPr lang="ar-EG" sz="1300" dirty="0">
              <a:latin typeface="EB Garamond"/>
              <a:cs typeface="Noto Naskh Arabic"/>
            </a:endParaRPr>
          </a:p>
        </p:txBody>
      </p:sp>
      <p:sp>
        <p:nvSpPr>
          <p:cNvPr id="22" name="Text 20"/>
          <p:cNvSpPr txBox="1"/>
          <p:nvPr/>
        </p:nvSpPr>
        <p:spPr>
          <a:xfrm>
            <a:off x="6522415" y="4754880"/>
            <a:ext cx="4892040" cy="10515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«مقالة في صورة الكسوف»: درس صورة الشمس المكسوفة عبر ثقب في الحجرة المظلمة — أصل كاميرا الثقب الآمنة</a:t>
            </a:r>
            <a:endParaRPr lang="ar-EG" sz="1400" dirty="0">
              <a:latin typeface="EB Garamond"/>
              <a:cs typeface="Noto Naskh Arabic"/>
            </a:endParaRPr>
          </a:p>
        </p:txBody>
      </p:sp>
      <p:sp>
        <p:nvSpPr>
          <p:cNvPr id="23" name="scholar-3"/>
          <p:cNvSpPr/>
          <p:nvPr/>
        </p:nvSpPr>
        <p:spPr>
          <a:xfrm>
            <a:off x="548640" y="3749040"/>
            <a:ext cx="5349240" cy="2148840"/>
          </a:xfrm>
          <a:prstGeom prst="rect">
            <a:avLst/>
          </a:prstGeom>
          <a:solidFill>
            <a:srgbClr val="161F2F"/>
          </a:solidFill>
          <a:ln w="9525">
            <a:solidFill>
              <a:srgbClr val="C9962B"/>
            </a:solidFill>
            <a:prstDash val="solid"/>
          </a:ln>
        </p:spPr>
      </p:sp>
      <p:sp>
        <p:nvSpPr>
          <p:cNvPr id="24" name="scholar-3-accent"/>
          <p:cNvSpPr/>
          <p:nvPr/>
        </p:nvSpPr>
        <p:spPr>
          <a:xfrm>
            <a:off x="5833872" y="3749040"/>
            <a:ext cx="64008" cy="2148840"/>
          </a:xfrm>
          <a:prstGeom prst="rect">
            <a:avLst/>
          </a:prstGeom>
          <a:solidFill>
            <a:srgbClr val="C9962B"/>
          </a:solidFill>
          <a:ln w="12700">
            <a:solidFill>
              <a:srgbClr val="C9962B"/>
            </a:solidFill>
            <a:prstDash val="solid"/>
          </a:ln>
        </p:spPr>
      </p:sp>
      <p:sp>
        <p:nvSpPr>
          <p:cNvPr id="25" name="scholar-disc-3"/>
          <p:cNvSpPr/>
          <p:nvPr/>
        </p:nvSpPr>
        <p:spPr>
          <a:xfrm>
            <a:off x="4983480" y="3977640"/>
            <a:ext cx="640080" cy="640080"/>
          </a:xfrm>
          <a:prstGeom prst="ellipse">
            <a:avLst/>
          </a:prstGeom>
          <a:solidFill>
            <a:srgbClr val="130E07"/>
          </a:solidFill>
          <a:ln w="25400">
            <a:solidFill>
              <a:srgbClr val="E8B84B"/>
            </a:solidFill>
            <a:prstDash val="solid"/>
          </a:ln>
          <a:effectLst>
            <a:outerShdw sx="100000" sy="100000" kx="0" ky="0" algn="bl" rotWithShape="0" blurRad="101600" dist="50800" dir="16200000">
              <a:srgbClr val="E8B84B">
                <a:alpha val="35000"/>
              </a:srgbClr>
            </a:outerShdw>
          </a:effectLst>
        </p:spPr>
      </p:sp>
      <p:sp>
        <p:nvSpPr>
          <p:cNvPr id="26" name="Text 24"/>
          <p:cNvSpPr txBox="1"/>
          <p:nvPr/>
        </p:nvSpPr>
        <p:spPr>
          <a:xfrm>
            <a:off x="777240" y="393192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E8B84B"/>
                </a:solidFill>
                <a:latin typeface="EB Garamond"/>
                <a:cs typeface="Noto Naskh Arabic"/>
              </a:rPr>
              <a:t>البيروني</a:t>
            </a:r>
            <a:endParaRPr lang="ar-EG" sz="2100" dirty="0">
              <a:latin typeface="EB Garamond"/>
              <a:cs typeface="Noto Naskh Arabic"/>
            </a:endParaRPr>
          </a:p>
        </p:txBody>
      </p:sp>
      <p:sp>
        <p:nvSpPr>
          <p:cNvPr id="27" name="Text 25"/>
          <p:cNvSpPr txBox="1"/>
          <p:nvPr/>
        </p:nvSpPr>
        <p:spPr>
          <a:xfrm>
            <a:off x="777240" y="437083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C9962B"/>
                </a:solidFill>
                <a:latin typeface="EB Garamond"/>
                <a:cs typeface="Noto Naskh Arabic"/>
              </a:rPr>
              <a:t>خوارزم وغزنة (ت ٤٤٠هـ/١٠٤٨م)</a:t>
            </a:r>
            <a:endParaRPr lang="ar-EG" sz="1300" dirty="0">
              <a:latin typeface="EB Garamond"/>
              <a:cs typeface="Noto Naskh Arabic"/>
            </a:endParaRPr>
          </a:p>
        </p:txBody>
      </p:sp>
      <p:sp>
        <p:nvSpPr>
          <p:cNvPr id="28" name="Text 26"/>
          <p:cNvSpPr txBox="1"/>
          <p:nvPr/>
        </p:nvSpPr>
        <p:spPr>
          <a:xfrm>
            <a:off x="777240" y="4754880"/>
            <a:ext cx="4892040" cy="10515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أرصاد دقيقة للكسوف، ونبّه إلى خطر النظر المباشر إلى الشمس وفضّل رصد صورتها في الماء</a:t>
            </a:r>
            <a:endParaRPr lang="ar-EG" sz="14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29</a:t>
            </a:fld>
            <a:endParaRPr lang="en-US">
              <a:latin typeface="EB Garamond"/>
              <a:cs typeface="Noto Naskh Arabic"/>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box"/>
          <p:cNvSpPr/>
          <p:nvPr/>
        </p:nvSpPr>
        <p:spPr>
          <a:xfrm>
            <a:off x="6354166" y="182880"/>
            <a:ext cx="5288890" cy="274320"/>
          </a:xfrm>
          <a:prstGeom prst="rect">
            <a:avLst/>
          </a:prstGeom>
          <a:solidFill>
            <a:srgbClr val="1B3A6B"/>
          </a:solidFill>
          <a:ln w="12700">
            <a:solidFill>
              <a:srgbClr val="E8B84B"/>
            </a:solidFill>
            <a:prstDash val="solid"/>
          </a:ln>
        </p:spPr>
      </p:sp>
      <p:sp>
        <p:nvSpPr>
          <p:cNvPr id="3" name="kicker"/>
          <p:cNvSpPr txBox="1"/>
          <p:nvPr/>
        </p:nvSpPr>
        <p:spPr>
          <a:xfrm>
            <a:off x="6354166" y="182880"/>
            <a:ext cx="528889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HOW IBN YUNUS OBSERVED ECLIPSES IN FATIMID CAIRO</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كيف رصد ابن يونس الكسوف في القاهرة؟</a:t>
            </a:r>
            <a:endParaRPr lang="ar-EG" sz="3000" dirty="0">
              <a:latin typeface="EB Garamond"/>
              <a:cs typeface="Amiri"/>
            </a:endParaRPr>
          </a:p>
        </p:txBody>
      </p:sp>
      <p:pic>
        <p:nvPicPr>
          <p:cNvPr id="5" name="ibnYunus" descr="ibnYunus">    </p:cNvPr>
          <p:cNvPicPr>
            <a:picLocks noChangeAspect="1"/>
          </p:cNvPicPr>
          <p:nvPr/>
        </p:nvPicPr>
        <p:blipFill>
          <a:blip r:embed="rId1"/>
          <a:stretch>
            <a:fillRect/>
          </a:stretch>
        </p:blipFill>
        <p:spPr>
          <a:xfrm>
            <a:off x="1053878" y="1325880"/>
            <a:ext cx="4475924" cy="4663440"/>
          </a:xfrm>
          <a:prstGeom prst="rect">
            <a:avLst/>
          </a:prstGeom>
        </p:spPr>
      </p:pic>
      <p:sp>
        <p:nvSpPr>
          <p:cNvPr id="6" name="Text 3"/>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F0E0B0"/>
                </a:solidFill>
                <a:latin typeface="EB Garamond"/>
                <a:cs typeface="Noto Naskh Arabic"/>
              </a:rPr>
              <a:t>طست الماء (Water basin): </a:t>
            </a:r>
            <a:pPr rtl="1" algn="r" indent="0" marL="0">
              <a:buNone/>
            </a:pPr>
            <a:r>
              <a:rPr lang="ar-EG" altLang="en-US" sz="1900" dirty="0">
                <a:solidFill>
                  <a:srgbClr val="F0E0B0"/>
                </a:solidFill>
                <a:latin typeface="EB Garamond"/>
                <a:cs typeface="Noto Naskh Arabic"/>
              </a:rPr>
              <a:t>يُنظر إلى صورة الشمس في طست نحاس مملوء ماءً، لا إليها مباشرة</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الأصابع (Digits): </a:t>
            </a:r>
            <a:pPr rtl="1" algn="r" indent="0" marL="0">
              <a:buNone/>
            </a:pPr>
            <a:r>
              <a:rPr lang="ar-EG" altLang="en-US" sz="1900" dirty="0">
                <a:solidFill>
                  <a:srgbClr val="F0E0B0"/>
                </a:solidFill>
                <a:latin typeface="EB Garamond"/>
                <a:cs typeface="Noto Naskh Arabic"/>
              </a:rPr>
              <a:t>يُقاس المنكسف بالأصابع: اثنا عشر إصبعًا لقطر القرص كله</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التوقيت: </a:t>
            </a:r>
            <a:pPr rtl="1" algn="r" indent="0" marL="0">
              <a:buNone/>
            </a:pPr>
            <a:r>
              <a:rPr lang="ar-EG" altLang="en-US" sz="1900" dirty="0">
                <a:solidFill>
                  <a:srgbClr val="F0E0B0"/>
                </a:solidFill>
                <a:latin typeface="EB Garamond"/>
                <a:cs typeface="Noto Naskh Arabic"/>
              </a:rPr>
              <a:t>بارتفاع الشمس بظل شاخص، أو بارتفاع نجم معلوم كالسماك الرامح ليلًا</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التأريخ مرتين: </a:t>
            </a:r>
            <a:pPr rtl="1" algn="r" indent="0" marL="0">
              <a:buNone/>
            </a:pPr>
            <a:r>
              <a:rPr lang="ar-EG" altLang="en-US" sz="1900" dirty="0">
                <a:solidFill>
                  <a:srgbClr val="F0E0B0"/>
                </a:solidFill>
                <a:latin typeface="EB Garamond"/>
                <a:cs typeface="Noto Naskh Arabic"/>
              </a:rPr>
              <a:t>بالهجري وبسنيّ يزدجرد الفارسية التي لا كبيس فيها</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الأمانة: </a:t>
            </a:r>
            <a:pPr rtl="1" algn="r" indent="0" marL="0">
              <a:buNone/>
            </a:pPr>
            <a:r>
              <a:rPr lang="ar-EG" altLang="en-US" sz="1900" dirty="0">
                <a:solidFill>
                  <a:srgbClr val="F0E0B0"/>
                </a:solidFill>
                <a:latin typeface="EB Garamond"/>
                <a:cs typeface="Noto Naskh Arabic"/>
              </a:rPr>
              <a:t>«وكانت أصابع الكسوف مساوية لما أوجبه الحساب»، ويثبت خطأه ثم تصحيحه</a:t>
            </a:r>
            <a:endParaRPr lang="ar-EG" sz="19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٧-٣ من الكتاب؛ «الزيج الحاكمي الكبير»، نشرة كوسان دي برسفال (باريس ١٨٠٤)</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30</a:t>
            </a:fld>
            <a:endParaRPr lang="en-US">
              <a:latin typeface="EB Garamond"/>
              <a:cs typeface="Noto Naskh Arabic"/>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box"/>
          <p:cNvSpPr/>
          <p:nvPr/>
        </p:nvSpPr>
        <p:spPr>
          <a:xfrm>
            <a:off x="4477817" y="182880"/>
            <a:ext cx="7165238" cy="274320"/>
          </a:xfrm>
          <a:prstGeom prst="rect">
            <a:avLst/>
          </a:prstGeom>
          <a:solidFill>
            <a:srgbClr val="1B3A6B"/>
          </a:solidFill>
          <a:ln w="12700">
            <a:solidFill>
              <a:srgbClr val="E8B84B"/>
            </a:solidFill>
            <a:prstDash val="solid"/>
          </a:ln>
        </p:spPr>
      </p:sp>
      <p:sp>
        <p:nvSpPr>
          <p:cNvPr id="3" name="kicker"/>
          <p:cNvSpPr txBox="1"/>
          <p:nvPr/>
        </p:nvSpPr>
        <p:spPr>
          <a:xfrm>
            <a:off x="4477817" y="182880"/>
            <a:ext cx="716523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FROM IBN AL-HAYTHAM TO TREE CRESCENTS: THE CAMERA OBSCURA / PINHOLE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من ابن الهيثم إلى أهلّة الأشجار: الرصد عبر الثقب</a:t>
            </a:r>
            <a:endParaRPr lang="ar-EG" sz="3000" dirty="0">
              <a:latin typeface="EB Garamond"/>
              <a:cs typeface="Amiri"/>
            </a:endParaRPr>
          </a:p>
        </p:txBody>
      </p:sp>
      <p:pic>
        <p:nvPicPr>
          <p:cNvPr id="5" name="haytham" descr="haytham">    </p:cNvPr>
          <p:cNvPicPr>
            <a:picLocks noChangeAspect="1"/>
          </p:cNvPicPr>
          <p:nvPr/>
        </p:nvPicPr>
        <p:blipFill>
          <a:blip r:embed="rId1"/>
          <a:stretch>
            <a:fillRect/>
          </a:stretch>
        </p:blipFill>
        <p:spPr>
          <a:xfrm>
            <a:off x="548640" y="1626357"/>
            <a:ext cx="5897880" cy="4062487"/>
          </a:xfrm>
          <a:prstGeom prst="rect">
            <a:avLst/>
          </a:prstGeom>
        </p:spPr>
      </p:pic>
      <p:sp>
        <p:nvSpPr>
          <p:cNvPr id="6" name="Text 3"/>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F0E0B0"/>
                </a:solidFill>
                <a:latin typeface="EB Garamond"/>
                <a:cs typeface="Noto Naskh Arabic"/>
              </a:rPr>
              <a:t>المبدأ — الحجرة المظلمة (Camera obscura): </a:t>
            </a:r>
            <a:pPr rtl="1" algn="r" indent="0" marL="0">
              <a:buNone/>
            </a:pPr>
            <a:r>
              <a:rPr lang="ar-EG" altLang="en-US" sz="1900" dirty="0">
                <a:solidFill>
                  <a:srgbClr val="F0E0B0"/>
                </a:solidFill>
                <a:latin typeface="EB Garamond"/>
                <a:cs typeface="Noto Naskh Arabic"/>
              </a:rPr>
              <a:t>ثقب صغير في جدار حجرة مظلمة يرسم على الحائط المقابل صورة مقلوبة للشمس المكسوفة</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ابن الهيثم: </a:t>
            </a:r>
            <a:pPr rtl="1" algn="r" indent="0" marL="0">
              <a:buNone/>
            </a:pPr>
            <a:r>
              <a:rPr lang="ar-EG" altLang="en-US" sz="1900" dirty="0">
                <a:solidFill>
                  <a:srgbClr val="F0E0B0"/>
                </a:solidFill>
                <a:latin typeface="EB Garamond"/>
                <a:cs typeface="Noto Naskh Arabic"/>
              </a:rPr>
              <a:t>لاحظ أن صورة الكسوف تحتفظ بشكل الهلال مهما كان شكل الثقب إذا صغر</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اليوم — كاميرا الثقب (Pinhole): </a:t>
            </a:r>
            <a:pPr rtl="1" algn="r" indent="0" marL="0">
              <a:buNone/>
            </a:pPr>
            <a:r>
              <a:rPr lang="ar-EG" altLang="en-US" sz="1900" dirty="0">
                <a:solidFill>
                  <a:srgbClr val="F0E0B0"/>
                </a:solidFill>
                <a:latin typeface="EB Garamond"/>
                <a:cs typeface="Noto Naskh Arabic"/>
              </a:rPr>
              <a:t>مصفاة المطبخ أو أوراق الشجر ترسم عشرات الأهلّة على الأرض أثناء الجزئي</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للمرشد: </a:t>
            </a:r>
            <a:pPr rtl="1" algn="r" indent="0" marL="0">
              <a:buNone/>
            </a:pPr>
            <a:r>
              <a:rPr lang="ar-EG" altLang="en-US" sz="1900" dirty="0">
                <a:solidFill>
                  <a:srgbClr val="F0E0B0"/>
                </a:solidFill>
                <a:latin typeface="EB Garamond"/>
                <a:cs typeface="Noto Naskh Arabic"/>
              </a:rPr>
              <a:t>نشاط آمن لكل الأعمار في الساعة الأولى من الكسوف</a:t>
            </a:r>
            <a:endParaRPr lang="ar-EG" sz="19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٦-٣ من الكتاب: مبدأ الحجرة المظلمة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31</a:t>
            </a:fld>
            <a:endParaRPr lang="en-US">
              <a:latin typeface="EB Garamond"/>
              <a:cs typeface="Noto Naskh Arabic"/>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box"/>
          <p:cNvSpPr/>
          <p:nvPr/>
        </p:nvSpPr>
        <p:spPr>
          <a:xfrm>
            <a:off x="5465369" y="182880"/>
            <a:ext cx="6177686" cy="274320"/>
          </a:xfrm>
          <a:prstGeom prst="rect">
            <a:avLst/>
          </a:prstGeom>
          <a:solidFill>
            <a:srgbClr val="1B3A6B"/>
          </a:solidFill>
          <a:ln w="12700">
            <a:solidFill>
              <a:srgbClr val="E8B84B"/>
            </a:solidFill>
            <a:prstDash val="solid"/>
          </a:ln>
        </p:spPr>
      </p:sp>
      <p:sp>
        <p:nvSpPr>
          <p:cNvPr id="3" name="kicker"/>
          <p:cNvSpPr txBox="1"/>
          <p:nvPr/>
        </p:nvSpPr>
        <p:spPr>
          <a:xfrm>
            <a:off x="5465369" y="182880"/>
            <a:ext cx="617768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DELTA T: ANCIENT RECORDS MEASURE EARTH'S SLOWING ROTATION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فرق التوقيت ΔT: السجلات القديمة تقيس دوران الأرض</a:t>
            </a:r>
            <a:endParaRPr lang="ar-EG" sz="3000" dirty="0">
              <a:latin typeface="EB Garamond"/>
              <a:cs typeface="Amiri"/>
            </a:endParaRPr>
          </a:p>
        </p:txBody>
      </p:sp>
      <p:pic>
        <p:nvPicPr>
          <p:cNvPr id="5" name="deltaT" descr="deltaT">    </p:cNvPr>
          <p:cNvPicPr>
            <a:picLocks noChangeAspect="1"/>
          </p:cNvPicPr>
          <p:nvPr/>
        </p:nvPicPr>
        <p:blipFill>
          <a:blip r:embed="rId1"/>
          <a:stretch>
            <a:fillRect/>
          </a:stretch>
        </p:blipFill>
        <p:spPr>
          <a:xfrm>
            <a:off x="548640" y="1847256"/>
            <a:ext cx="5852160" cy="3620688"/>
          </a:xfrm>
          <a:prstGeom prst="rect">
            <a:avLst/>
          </a:prstGeom>
        </p:spPr>
      </p:pic>
      <p:sp>
        <p:nvSpPr>
          <p:cNvPr id="6" name="Text 3"/>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الفكرة: </a:t>
            </a:r>
            <a:pPr rtl="1" algn="r" indent="0" marL="0">
              <a:buNone/>
            </a:pPr>
            <a:r>
              <a:rPr lang="ar-EG" altLang="en-US" sz="1800" dirty="0">
                <a:solidFill>
                  <a:srgbClr val="F0E0B0"/>
                </a:solidFill>
                <a:latin typeface="EB Garamond"/>
                <a:cs typeface="Noto Naskh Arabic"/>
              </a:rPr>
              <a:t>دوران الأرض يتباطأ ببطء بفعل المد والجزر، فيتراكم فرق بين الزمن المنتظم وزمن الدوران</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المقدار: </a:t>
            </a:r>
            <a:pPr rtl="1" algn="r" indent="0" marL="0">
              <a:buNone/>
            </a:pPr>
            <a:r>
              <a:rPr lang="ar-EG" altLang="en-US" sz="1800" dirty="0">
                <a:solidFill>
                  <a:srgbClr val="F0E0B0"/>
                </a:solidFill>
                <a:latin typeface="EB Garamond"/>
                <a:cs typeface="Noto Naskh Arabic"/>
              </a:rPr>
              <a:t>نحو ست ساعات في القرن الثامن قبل الميلاد</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الأثر: </a:t>
            </a:r>
            <a:pPr rtl="1" algn="r" indent="0" marL="0">
              <a:buNone/>
            </a:pPr>
            <a:r>
              <a:rPr lang="ar-EG" altLang="en-US" sz="1800" dirty="0">
                <a:solidFill>
                  <a:srgbClr val="F0E0B0"/>
                </a:solidFill>
                <a:latin typeface="EB Garamond"/>
                <a:cs typeface="Noto Naskh Arabic"/>
              </a:rPr>
              <a:t>الأرض تدور ١٥° كل ساعة، فخطأ ساعة واحدة يزيح مسار الكسوف القديم نحو ١٥° طولًا</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القيمة الأثرية: </a:t>
            </a:r>
            <a:pPr rtl="1" algn="r" indent="0" marL="0">
              <a:buNone/>
            </a:pPr>
            <a:r>
              <a:rPr lang="ar-EG" altLang="en-US" sz="1800" dirty="0">
                <a:solidFill>
                  <a:srgbClr val="F0E0B0"/>
                </a:solidFill>
                <a:latin typeface="EB Garamond"/>
                <a:cs typeface="Noto Naskh Arabic"/>
              </a:rPr>
              <a:t>مقارنة الكسوف المدوَّن (في بابل والصين وزيج ابن يونس) بالحساب هي أدق مقياس لـ ΔT</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١٤-٢ من الكتاب: منحنى ΔT عبر ثلاثة آلاف عام (محسوب)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32</a:t>
            </a:fld>
            <a:endParaRPr lang="en-US">
              <a:latin typeface="EB Garamond"/>
              <a:cs typeface="Noto Naskh Arabic"/>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break-sequence" descr="مراحل الكسوف، صورة ناسا">    </p:cNvPr>
          <p:cNvPicPr>
            <a:picLocks noChangeAspect="1"/>
          </p:cNvPicPr>
          <p:nvPr/>
        </p:nvPicPr>
        <p:blipFill>
          <a:blip r:embed="rId1"/>
          <a:stretch>
            <a:fillRect/>
          </a:stretch>
        </p:blipFill>
        <p:spPr>
          <a:xfrm>
            <a:off x="3561369" y="822960"/>
            <a:ext cx="5068957" cy="3291840"/>
          </a:xfrm>
          <a:prstGeom prst="rect">
            <a:avLst/>
          </a:prstGeom>
        </p:spPr>
      </p:pic>
      <p:sp>
        <p:nvSpPr>
          <p:cNvPr id="3" name="Text 0"/>
          <p:cNvSpPr txBox="1"/>
          <p:nvPr/>
        </p:nvSpPr>
        <p:spPr>
          <a:xfrm>
            <a:off x="548640" y="4389120"/>
            <a:ext cx="11094415" cy="731520"/>
          </a:xfrm>
          <a:prstGeom prst="rect">
            <a:avLst/>
          </a:prstGeom>
          <a:noFill/>
          <a:ln/>
        </p:spPr>
        <p:txBody>
          <a:bodyPr wrap="square" lIns="0" tIns="0" rIns="0" bIns="0" rtlCol="0" anchor="ctr"/>
          <a:lstStyle/>
          <a:p>
            <a:pPr rtl="1" algn="ctr" indent="0" marL="0">
              <a:buNone/>
            </a:pPr>
            <a:r>
              <a:rPr lang="en-US" sz="3600" b="1" dirty="0">
                <a:solidFill>
                  <a:srgbClr val="E8B84B"/>
                </a:solidFill>
                <a:latin typeface="EB Garamond"/>
                <a:cs typeface="Amiri"/>
              </a:rPr>
              <a:t>استراحة — ١٠ دقائق</a:t>
            </a:r>
            <a:endParaRPr lang="en-US" sz="3600" dirty="0">
              <a:latin typeface="EB Garamond"/>
              <a:cs typeface="Amiri"/>
            </a:endParaRPr>
          </a:p>
        </p:txBody>
      </p:sp>
      <p:sp>
        <p:nvSpPr>
          <p:cNvPr id="4" name="Text 1"/>
          <p:cNvSpPr txBox="1"/>
          <p:nvPr/>
        </p:nvSpPr>
        <p:spPr>
          <a:xfrm>
            <a:off x="548640" y="5074920"/>
            <a:ext cx="11094415" cy="365760"/>
          </a:xfrm>
          <a:prstGeom prst="rect">
            <a:avLst/>
          </a:prstGeom>
          <a:noFill/>
          <a:ln/>
        </p:spPr>
        <p:txBody>
          <a:bodyPr wrap="square" lIns="0" tIns="0" rIns="0" bIns="0" rtlCol="0" anchor="ctr"/>
          <a:lstStyle/>
          <a:p>
            <a:pPr algn="ctr" indent="0" marL="0">
              <a:buNone/>
            </a:pPr>
            <a:r>
              <a:rPr lang="en-US" sz="1600" i="1" dirty="0">
                <a:solidFill>
                  <a:srgbClr val="F0E0B0"/>
                </a:solidFill>
                <a:latin typeface="EB Garamond"/>
                <a:cs typeface="Noto Naskh Arabic"/>
              </a:rPr>
              <a:t>Break — 10 minutes</a:t>
            </a:r>
            <a:endParaRPr lang="en-US" sz="1600" dirty="0">
              <a:latin typeface="EB Garamond"/>
              <a:cs typeface="Noto Naskh Arabic"/>
            </a:endParaRPr>
          </a:p>
        </p:txBody>
      </p:sp>
      <p:sp>
        <p:nvSpPr>
          <p:cNvPr id="5" name="Text 2"/>
          <p:cNvSpPr txBox="1"/>
          <p:nvPr/>
        </p:nvSpPr>
        <p:spPr>
          <a:xfrm>
            <a:off x="548640" y="5577840"/>
            <a:ext cx="11094415" cy="457200"/>
          </a:xfrm>
          <a:prstGeom prst="rect">
            <a:avLst/>
          </a:prstGeom>
          <a:noFill/>
          <a:ln/>
        </p:spPr>
        <p:txBody>
          <a:bodyPr wrap="square" lIns="0" tIns="0" rIns="0" bIns="0" rtlCol="0" anchor="ctr"/>
          <a:lstStyle/>
          <a:p>
            <a:pPr rtl="1" algn="ctr" indent="0" marL="0">
              <a:buNone/>
            </a:pPr>
            <a:r>
              <a:rPr lang="en-US" sz="1800" dirty="0">
                <a:solidFill>
                  <a:srgbClr val="FAF3E0"/>
                </a:solidFill>
                <a:latin typeface="EB Garamond"/>
                <a:cs typeface="Noto Naskh Arabic"/>
              </a:rPr>
              <a:t>بعد الاستراحة: كسوف ٢ أغسطس ٢٠٢٧: الرصد والتصوير</a:t>
            </a:r>
            <a:endParaRPr lang="en-US" sz="1800" dirty="0">
              <a:latin typeface="EB Garamond"/>
              <a:cs typeface="Noto Naskh Arabic"/>
            </a:endParaRPr>
          </a:p>
        </p:txBody>
      </p:sp>
      <p:sp>
        <p:nvSpPr>
          <p:cNvPr id="6" name="Text 3"/>
          <p:cNvSpPr txBox="1"/>
          <p:nvPr/>
        </p:nvSpPr>
        <p:spPr>
          <a:xfrm>
            <a:off x="548640" y="6355080"/>
            <a:ext cx="11094415" cy="274320"/>
          </a:xfrm>
          <a:prstGeom prst="rect">
            <a:avLst/>
          </a:prstGeom>
          <a:noFill/>
          <a:ln/>
        </p:spPr>
        <p:txBody>
          <a:bodyPr wrap="square" lIns="0" tIns="0" rIns="0" bIns="0" rtlCol="0" anchor="ctr"/>
          <a:lstStyle/>
          <a:p>
            <a:pPr rtl="1" algn="ctr" indent="0" marL="0">
              <a:buNone/>
            </a:pPr>
            <a:r>
              <a:rPr lang="en-US" sz="1000" dirty="0">
                <a:solidFill>
                  <a:srgbClr val="9C8B6E"/>
                </a:solidFill>
                <a:latin typeface="EB Garamond"/>
                <a:cs typeface="Noto Naskh Arabic"/>
              </a:rPr>
              <a:t>صورة: مراحل كسوف ٢٠٢٤ — ناسا (NASA/Aubrey Gemignani)</a:t>
            </a:r>
            <a:endParaRPr lang="en-US" sz="1000" dirty="0">
              <a:latin typeface="EB Garamond"/>
              <a:cs typeface="Noto Naskh Arabic"/>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corona-glow"/>
          <p:cNvSpPr/>
          <p:nvPr/>
        </p:nvSpPr>
        <p:spPr>
          <a:xfrm>
            <a:off x="914400" y="1417320"/>
            <a:ext cx="4023360" cy="4023360"/>
          </a:xfrm>
          <a:prstGeom prst="ellipse">
            <a:avLst/>
          </a:prstGeom>
          <a:solidFill>
            <a:srgbClr val="E8B84B">
              <a:alpha val="18000"/>
            </a:srgbClr>
          </a:solidFill>
          <a:ln w="12700">
            <a:solidFill>
              <a:srgbClr val="E8B84B"/>
            </a:solidFill>
            <a:prstDash val="solid"/>
          </a:ln>
        </p:spPr>
      </p:sp>
      <p:sp>
        <p:nvSpPr>
          <p:cNvPr id="3" name="corona-inner"/>
          <p:cNvSpPr/>
          <p:nvPr/>
        </p:nvSpPr>
        <p:spPr>
          <a:xfrm>
            <a:off x="1234440" y="1737360"/>
            <a:ext cx="3383280" cy="3383280"/>
          </a:xfrm>
          <a:prstGeom prst="ellipse">
            <a:avLst/>
          </a:prstGeom>
          <a:solidFill>
            <a:srgbClr val="E8B84B">
              <a:alpha val="40000"/>
            </a:srgbClr>
          </a:solidFill>
          <a:ln w="12700">
            <a:solidFill>
              <a:srgbClr val="E8B84B"/>
            </a:solidFill>
            <a:prstDash val="solid"/>
          </a:ln>
        </p:spPr>
      </p:sp>
      <p:sp>
        <p:nvSpPr>
          <p:cNvPr id="4" name="section-disc"/>
          <p:cNvSpPr/>
          <p:nvPr/>
        </p:nvSpPr>
        <p:spPr>
          <a:xfrm>
            <a:off x="1463040" y="1965960"/>
            <a:ext cx="2926080" cy="2926080"/>
          </a:xfrm>
          <a:prstGeom prst="ellipse">
            <a:avLst/>
          </a:prstGeom>
          <a:solidFill>
            <a:srgbClr val="130E07"/>
          </a:solidFill>
          <a:ln w="50800">
            <a:solidFill>
              <a:srgbClr val="E8B84B"/>
            </a:solidFill>
            <a:prstDash val="solid"/>
          </a:ln>
          <a:effectLst>
            <a:outerShdw sx="100000" sy="100000" kx="0" ky="0" algn="bl" rotWithShape="0" blurRad="101600" dist="50800" dir="16200000">
              <a:srgbClr val="E8B84B">
                <a:alpha val="35000"/>
              </a:srgbClr>
            </a:outerShdw>
          </a:effectLst>
        </p:spPr>
      </p:sp>
      <p:sp>
        <p:nvSpPr>
          <p:cNvPr id="5" name="Text 3"/>
          <p:cNvSpPr txBox="1"/>
          <p:nvPr/>
        </p:nvSpPr>
        <p:spPr>
          <a:xfrm>
            <a:off x="1463040" y="1965960"/>
            <a:ext cx="2926080" cy="2926080"/>
          </a:xfrm>
          <a:prstGeom prst="rect">
            <a:avLst/>
          </a:prstGeom>
          <a:noFill/>
          <a:ln/>
        </p:spPr>
        <p:txBody>
          <a:bodyPr wrap="square" lIns="0" tIns="0" rIns="0" bIns="0" rtlCol="0" anchor="ctr"/>
          <a:lstStyle/>
          <a:p>
            <a:pPr rtl="1" algn="ctr" indent="0" marL="0">
              <a:buNone/>
            </a:pPr>
            <a:r>
              <a:rPr lang="en-US" sz="7200" b="1" dirty="0">
                <a:solidFill>
                  <a:srgbClr val="E8B84B"/>
                </a:solidFill>
                <a:latin typeface="EB Garamond"/>
                <a:cs typeface="Amiri"/>
              </a:rPr>
              <a:t>٣</a:t>
            </a:r>
            <a:endParaRPr lang="en-US" sz="7200" dirty="0">
              <a:latin typeface="EB Garamond"/>
              <a:cs typeface="Amiri"/>
            </a:endParaRPr>
          </a:p>
        </p:txBody>
      </p:sp>
      <p:sp>
        <p:nvSpPr>
          <p:cNvPr id="6" name="Text 4"/>
          <p:cNvSpPr txBox="1"/>
          <p:nvPr/>
        </p:nvSpPr>
        <p:spPr>
          <a:xfrm>
            <a:off x="5394960" y="1691640"/>
            <a:ext cx="6263640" cy="1828800"/>
          </a:xfrm>
          <a:prstGeom prst="rect">
            <a:avLst/>
          </a:prstGeom>
          <a:noFill/>
          <a:ln/>
        </p:spPr>
        <p:txBody>
          <a:bodyPr wrap="square" lIns="0" tIns="0" rIns="0" bIns="0" rtlCol="0" anchor="b"/>
          <a:lstStyle/>
          <a:p>
            <a:pPr rtl="1" algn="r" indent="0" marL="0">
              <a:buNone/>
            </a:pPr>
            <a:r>
              <a:rPr lang="ar-EG" altLang="en-US" sz="3400" b="1" dirty="0">
                <a:solidFill>
                  <a:srgbClr val="E8B84B"/>
                </a:solidFill>
                <a:latin typeface="EB Garamond"/>
                <a:cs typeface="Amiri"/>
              </a:rPr>
              <a:t>المرحلة الثالثة: كسوف ٢ أغسطس ٢٠٢٧</a:t>
            </a:r>
            <a:endParaRPr lang="ar-EG" sz="3400" dirty="0">
              <a:latin typeface="EB Garamond"/>
              <a:cs typeface="Amiri"/>
            </a:endParaRPr>
          </a:p>
        </p:txBody>
      </p:sp>
      <p:sp>
        <p:nvSpPr>
          <p:cNvPr id="7" name="Text 5"/>
          <p:cNvSpPr txBox="1"/>
          <p:nvPr/>
        </p:nvSpPr>
        <p:spPr>
          <a:xfrm>
            <a:off x="5394960" y="3611880"/>
            <a:ext cx="6263640" cy="914400"/>
          </a:xfrm>
          <a:prstGeom prst="rect">
            <a:avLst/>
          </a:prstGeom>
          <a:noFill/>
          <a:ln/>
        </p:spPr>
        <p:txBody>
          <a:bodyPr wrap="square" lIns="0" tIns="0" rIns="0" bIns="0" rtlCol="0" anchor="t"/>
          <a:lstStyle/>
          <a:p>
            <a:pPr rtl="1" algn="r" indent="0" marL="0">
              <a:buNone/>
            </a:pPr>
            <a:r>
              <a:rPr lang="ar-EG" altLang="en-US" sz="1700" dirty="0">
                <a:solidFill>
                  <a:srgbClr val="F0E0B0"/>
                </a:solidFill>
                <a:latin typeface="EB Garamond"/>
                <a:cs typeface="Noto Naskh Arabic"/>
              </a:rPr>
              <a:t>الساعة الثالثة (٢:٠٠ – ٣:٠٠): المسار والمواعيد في مصر، المراحل كاملة، شكله في الأقصر، الرصد الآمن والتصوير</a:t>
            </a:r>
            <a:endParaRPr lang="ar-EG" sz="1700" dirty="0">
              <a:latin typeface="EB Garamond"/>
              <a:cs typeface="Noto Naskh Arabic"/>
            </a:endParaRPr>
          </a:p>
        </p:txBody>
      </p:sp>
      <p:sp>
        <p:nvSpPr>
          <p:cNvPr id="8" name="Text 6"/>
          <p:cNvSpPr txBox="1"/>
          <p:nvPr/>
        </p:nvSpPr>
        <p:spPr>
          <a:xfrm>
            <a:off x="5394960" y="4572000"/>
            <a:ext cx="6263640" cy="548640"/>
          </a:xfrm>
          <a:prstGeom prst="rect">
            <a:avLst/>
          </a:prstGeom>
          <a:noFill/>
          <a:ln/>
        </p:spPr>
        <p:txBody>
          <a:bodyPr wrap="square" lIns="0" tIns="0" rIns="0" bIns="0" rtlCol="0" anchor="ctr"/>
          <a:lstStyle/>
          <a:p>
            <a:pPr algn="r" indent="0" marL="0">
              <a:buNone/>
            </a:pPr>
            <a:r>
              <a:rPr lang="en-US" altLang="en-US" sz="1600" i="1" dirty="0">
                <a:solidFill>
                  <a:srgbClr val="E8B84B"/>
                </a:solidFill>
                <a:latin typeface="EB Garamond"/>
                <a:cs typeface="Noto Naskh Arabic"/>
              </a:rPr>
              <a:t>Stage 3 — The 2 August 2027 eclipse: timing, observing, photographing</a:t>
            </a:r>
            <a:endParaRPr lang="en-US" sz="1600" dirty="0">
              <a:latin typeface="EB Garamond"/>
              <a:cs typeface="Noto Naskh Arabic"/>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٣-أ</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المسار ومواعيده في مصر</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The path and the times across Egypt</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من الأطلسي إلى المحيط الهندي، ثم مدينة مدينة داخل المسار وخارجه</a:t>
            </a:r>
            <a:endParaRPr lang="ar-EG" sz="1600" dirty="0">
              <a:latin typeface="EB Garamond"/>
              <a:cs typeface="Noto Naskh Arabic"/>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box"/>
          <p:cNvSpPr/>
          <p:nvPr/>
        </p:nvSpPr>
        <p:spPr>
          <a:xfrm>
            <a:off x="7242962" y="182880"/>
            <a:ext cx="4400093" cy="274320"/>
          </a:xfrm>
          <a:prstGeom prst="rect">
            <a:avLst/>
          </a:prstGeom>
          <a:solidFill>
            <a:srgbClr val="1B3A6B"/>
          </a:solidFill>
          <a:ln w="12700">
            <a:solidFill>
              <a:srgbClr val="E8B84B"/>
            </a:solidFill>
            <a:prstDash val="solid"/>
          </a:ln>
        </p:spPr>
      </p:sp>
      <p:sp>
        <p:nvSpPr>
          <p:cNvPr id="3" name="kicker"/>
          <p:cNvSpPr txBox="1"/>
          <p:nvPr/>
        </p:nvSpPr>
        <p:spPr>
          <a:xfrm>
            <a:off x="7242962" y="182880"/>
            <a:ext cx="440009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ECLIPSE OF 2 AUGUST 2027 IN NUMBERS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الحدث بالأرقام</a:t>
            </a:r>
            <a:endParaRPr lang="ar-EG" sz="3000" dirty="0">
              <a:latin typeface="EB Garamond"/>
              <a:cs typeface="Amiri"/>
            </a:endParaRPr>
          </a:p>
        </p:txBody>
      </p:sp>
      <p:sp>
        <p:nvSpPr>
          <p:cNvPr id="5" name="num-0"/>
          <p:cNvSpPr/>
          <p:nvPr/>
        </p:nvSpPr>
        <p:spPr>
          <a:xfrm>
            <a:off x="8122615" y="1371600"/>
            <a:ext cx="3520440" cy="2240280"/>
          </a:xfrm>
          <a:prstGeom prst="roundRect">
            <a:avLst>
              <a:gd name="adj" fmla="val 4898"/>
            </a:avLst>
          </a:prstGeom>
          <a:solidFill>
            <a:srgbClr val="24304A"/>
          </a:solidFill>
          <a:ln w="9525">
            <a:solidFill>
              <a:srgbClr val="2E3E5C"/>
            </a:solidFill>
            <a:prstDash val="solid"/>
          </a:ln>
        </p:spPr>
      </p:sp>
      <p:sp>
        <p:nvSpPr>
          <p:cNvPr id="6" name="Text 4"/>
          <p:cNvSpPr txBox="1"/>
          <p:nvPr/>
        </p:nvSpPr>
        <p:spPr>
          <a:xfrm>
            <a:off x="8396935" y="164592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E8B84B"/>
                </a:solidFill>
                <a:latin typeface="EB Garamond"/>
                <a:cs typeface="Amiri"/>
              </a:rPr>
              <a:t>٦ د ٢٣ ث</a:t>
            </a:r>
            <a:endParaRPr lang="ar-EG" sz="4000" dirty="0">
              <a:latin typeface="EB Garamond"/>
              <a:cs typeface="Amiri"/>
            </a:endParaRPr>
          </a:p>
        </p:txBody>
      </p:sp>
      <p:sp>
        <p:nvSpPr>
          <p:cNvPr id="7" name="Text 5"/>
          <p:cNvSpPr txBox="1"/>
          <p:nvPr/>
        </p:nvSpPr>
        <p:spPr>
          <a:xfrm>
            <a:off x="8396935" y="256032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AF3E0"/>
                </a:solidFill>
                <a:latin typeface="EB Garamond"/>
                <a:cs typeface="Noto Naskh Arabic"/>
              </a:rPr>
              <a:t>أطول مدة للكلية (Max. duration)</a:t>
            </a:r>
            <a:endParaRPr lang="ar-EG" sz="1500" dirty="0">
              <a:latin typeface="EB Garamond"/>
              <a:cs typeface="Noto Naskh Arabic"/>
            </a:endParaRPr>
          </a:p>
        </p:txBody>
      </p:sp>
      <p:sp>
        <p:nvSpPr>
          <p:cNvPr id="8" name="Text 6"/>
          <p:cNvSpPr txBox="1"/>
          <p:nvPr/>
        </p:nvSpPr>
        <p:spPr>
          <a:xfrm>
            <a:off x="8396935" y="3017520"/>
            <a:ext cx="2971800" cy="41148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غرب طهطا بمحافظة سوهاج</a:t>
            </a:r>
            <a:endParaRPr lang="ar-EG" sz="1400" dirty="0">
              <a:latin typeface="EB Garamond"/>
              <a:cs typeface="Noto Naskh Arabic"/>
            </a:endParaRPr>
          </a:p>
        </p:txBody>
      </p:sp>
      <p:sp>
        <p:nvSpPr>
          <p:cNvPr id="9" name="num-1"/>
          <p:cNvSpPr/>
          <p:nvPr/>
        </p:nvSpPr>
        <p:spPr>
          <a:xfrm>
            <a:off x="4373575" y="1371600"/>
            <a:ext cx="3520440" cy="2240280"/>
          </a:xfrm>
          <a:prstGeom prst="roundRect">
            <a:avLst>
              <a:gd name="adj" fmla="val 4898"/>
            </a:avLst>
          </a:prstGeom>
          <a:solidFill>
            <a:srgbClr val="24304A"/>
          </a:solidFill>
          <a:ln w="9525">
            <a:solidFill>
              <a:srgbClr val="2E3E5C"/>
            </a:solidFill>
            <a:prstDash val="solid"/>
          </a:ln>
        </p:spPr>
      </p:sp>
      <p:sp>
        <p:nvSpPr>
          <p:cNvPr id="10" name="Text 8"/>
          <p:cNvSpPr txBox="1"/>
          <p:nvPr/>
        </p:nvSpPr>
        <p:spPr>
          <a:xfrm>
            <a:off x="4647895" y="164592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E8B84B"/>
                </a:solidFill>
                <a:latin typeface="EB Garamond"/>
                <a:cs typeface="Amiri"/>
              </a:rPr>
              <a:t>٢٥٩ كم</a:t>
            </a:r>
            <a:endParaRPr lang="ar-EG" sz="4000" dirty="0">
              <a:latin typeface="EB Garamond"/>
              <a:cs typeface="Amiri"/>
            </a:endParaRPr>
          </a:p>
        </p:txBody>
      </p:sp>
      <p:sp>
        <p:nvSpPr>
          <p:cNvPr id="11" name="Text 9"/>
          <p:cNvSpPr txBox="1"/>
          <p:nvPr/>
        </p:nvSpPr>
        <p:spPr>
          <a:xfrm>
            <a:off x="4647895" y="256032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AF3E0"/>
                </a:solidFill>
                <a:latin typeface="EB Garamond"/>
                <a:cs typeface="Noto Naskh Arabic"/>
              </a:rPr>
              <a:t>أقصى عرض للمسار (Path width)</a:t>
            </a:r>
            <a:endParaRPr lang="ar-EG" sz="1500" dirty="0">
              <a:latin typeface="EB Garamond"/>
              <a:cs typeface="Noto Naskh Arabic"/>
            </a:endParaRPr>
          </a:p>
        </p:txBody>
      </p:sp>
      <p:sp>
        <p:nvSpPr>
          <p:cNvPr id="12" name="Text 10"/>
          <p:cNvSpPr txBox="1"/>
          <p:nvPr/>
        </p:nvSpPr>
        <p:spPr>
          <a:xfrm>
            <a:off x="4647895" y="3017520"/>
            <a:ext cx="2971800" cy="41148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قرب خط عرض ٢٢° شمالًا</a:t>
            </a:r>
            <a:endParaRPr lang="ar-EG" sz="1400" dirty="0">
              <a:latin typeface="EB Garamond"/>
              <a:cs typeface="Noto Naskh Arabic"/>
            </a:endParaRPr>
          </a:p>
        </p:txBody>
      </p:sp>
      <p:sp>
        <p:nvSpPr>
          <p:cNvPr id="13" name="num-2"/>
          <p:cNvSpPr/>
          <p:nvPr/>
        </p:nvSpPr>
        <p:spPr>
          <a:xfrm>
            <a:off x="624535" y="1371600"/>
            <a:ext cx="3520440" cy="2240280"/>
          </a:xfrm>
          <a:prstGeom prst="roundRect">
            <a:avLst>
              <a:gd name="adj" fmla="val 4898"/>
            </a:avLst>
          </a:prstGeom>
          <a:solidFill>
            <a:srgbClr val="24304A"/>
          </a:solidFill>
          <a:ln w="9525">
            <a:solidFill>
              <a:srgbClr val="2E3E5C"/>
            </a:solidFill>
            <a:prstDash val="solid"/>
          </a:ln>
        </p:spPr>
      </p:sp>
      <p:sp>
        <p:nvSpPr>
          <p:cNvPr id="14" name="Text 12"/>
          <p:cNvSpPr txBox="1"/>
          <p:nvPr/>
        </p:nvSpPr>
        <p:spPr>
          <a:xfrm>
            <a:off x="898855" y="164592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E8B84B"/>
                </a:solidFill>
                <a:latin typeface="EB Garamond"/>
                <a:cs typeface="Amiri"/>
              </a:rPr>
              <a:t>١١ دولة</a:t>
            </a:r>
            <a:endParaRPr lang="ar-EG" sz="4000" dirty="0">
              <a:latin typeface="EB Garamond"/>
              <a:cs typeface="Amiri"/>
            </a:endParaRPr>
          </a:p>
        </p:txBody>
      </p:sp>
      <p:sp>
        <p:nvSpPr>
          <p:cNvPr id="15" name="Text 13"/>
          <p:cNvSpPr txBox="1"/>
          <p:nvPr/>
        </p:nvSpPr>
        <p:spPr>
          <a:xfrm>
            <a:off x="898855" y="256032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AF3E0"/>
                </a:solidFill>
                <a:latin typeface="EB Garamond"/>
                <a:cs typeface="Noto Naskh Arabic"/>
              </a:rPr>
              <a:t>يمر بها مسار الكلية</a:t>
            </a:r>
            <a:endParaRPr lang="ar-EG" sz="1500" dirty="0">
              <a:latin typeface="EB Garamond"/>
              <a:cs typeface="Noto Naskh Arabic"/>
            </a:endParaRPr>
          </a:p>
        </p:txBody>
      </p:sp>
      <p:sp>
        <p:nvSpPr>
          <p:cNvPr id="16" name="Text 14"/>
          <p:cNvSpPr txBox="1"/>
          <p:nvPr/>
        </p:nvSpPr>
        <p:spPr>
          <a:xfrm>
            <a:off x="898855" y="3017520"/>
            <a:ext cx="2971800" cy="41148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من إسبانيا إلى الصومال</a:t>
            </a:r>
            <a:endParaRPr lang="ar-EG" sz="1400" dirty="0">
              <a:latin typeface="EB Garamond"/>
              <a:cs typeface="Noto Naskh Arabic"/>
            </a:endParaRPr>
          </a:p>
        </p:txBody>
      </p:sp>
      <p:sp>
        <p:nvSpPr>
          <p:cNvPr id="17" name="num-3"/>
          <p:cNvSpPr/>
          <p:nvPr/>
        </p:nvSpPr>
        <p:spPr>
          <a:xfrm>
            <a:off x="8122615" y="3840480"/>
            <a:ext cx="3520440" cy="2240280"/>
          </a:xfrm>
          <a:prstGeom prst="roundRect">
            <a:avLst>
              <a:gd name="adj" fmla="val 4898"/>
            </a:avLst>
          </a:prstGeom>
          <a:solidFill>
            <a:srgbClr val="24304A"/>
          </a:solidFill>
          <a:ln w="9525">
            <a:solidFill>
              <a:srgbClr val="2E3E5C"/>
            </a:solidFill>
            <a:prstDash val="solid"/>
          </a:ln>
        </p:spPr>
      </p:sp>
      <p:sp>
        <p:nvSpPr>
          <p:cNvPr id="18" name="Text 16"/>
          <p:cNvSpPr txBox="1"/>
          <p:nvPr/>
        </p:nvSpPr>
        <p:spPr>
          <a:xfrm>
            <a:off x="8396935" y="411480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E8B84B"/>
                </a:solidFill>
                <a:latin typeface="EB Garamond"/>
                <a:cs typeface="Amiri"/>
              </a:rPr>
              <a:t>٨١°</a:t>
            </a:r>
            <a:endParaRPr lang="ar-EG" sz="4000" dirty="0">
              <a:latin typeface="EB Garamond"/>
              <a:cs typeface="Amiri"/>
            </a:endParaRPr>
          </a:p>
        </p:txBody>
      </p:sp>
      <p:sp>
        <p:nvSpPr>
          <p:cNvPr id="19" name="Text 17"/>
          <p:cNvSpPr txBox="1"/>
          <p:nvPr/>
        </p:nvSpPr>
        <p:spPr>
          <a:xfrm>
            <a:off x="8396935" y="502920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AF3E0"/>
                </a:solidFill>
                <a:latin typeface="EB Garamond"/>
                <a:cs typeface="Noto Naskh Arabic"/>
              </a:rPr>
              <a:t>ارتفاع الشمس (Sun altitude)</a:t>
            </a:r>
            <a:endParaRPr lang="ar-EG" sz="1500" dirty="0">
              <a:latin typeface="EB Garamond"/>
              <a:cs typeface="Noto Naskh Arabic"/>
            </a:endParaRPr>
          </a:p>
        </p:txBody>
      </p:sp>
      <p:sp>
        <p:nvSpPr>
          <p:cNvPr id="20" name="Text 18"/>
          <p:cNvSpPr txBox="1"/>
          <p:nvPr/>
        </p:nvSpPr>
        <p:spPr>
          <a:xfrm>
            <a:off x="8396935" y="5486400"/>
            <a:ext cx="2971800" cy="41148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الشمس شبه عمودية فوق الرأس</a:t>
            </a:r>
            <a:endParaRPr lang="ar-EG" sz="1400" dirty="0">
              <a:latin typeface="EB Garamond"/>
              <a:cs typeface="Noto Naskh Arabic"/>
            </a:endParaRPr>
          </a:p>
        </p:txBody>
      </p:sp>
      <p:sp>
        <p:nvSpPr>
          <p:cNvPr id="21" name="num-4"/>
          <p:cNvSpPr/>
          <p:nvPr/>
        </p:nvSpPr>
        <p:spPr>
          <a:xfrm>
            <a:off x="4373575" y="3840480"/>
            <a:ext cx="3520440" cy="2240280"/>
          </a:xfrm>
          <a:prstGeom prst="roundRect">
            <a:avLst>
              <a:gd name="adj" fmla="val 4898"/>
            </a:avLst>
          </a:prstGeom>
          <a:solidFill>
            <a:srgbClr val="24304A"/>
          </a:solidFill>
          <a:ln w="9525">
            <a:solidFill>
              <a:srgbClr val="2E3E5C"/>
            </a:solidFill>
            <a:prstDash val="solid"/>
          </a:ln>
        </p:spPr>
      </p:sp>
      <p:sp>
        <p:nvSpPr>
          <p:cNvPr id="22" name="Text 20"/>
          <p:cNvSpPr txBox="1"/>
          <p:nvPr/>
        </p:nvSpPr>
        <p:spPr>
          <a:xfrm>
            <a:off x="4647895" y="411480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E8B84B"/>
                </a:solidFill>
                <a:latin typeface="EB Garamond"/>
                <a:cs typeface="Amiri"/>
              </a:rPr>
              <a:t>١٫٠٣٩</a:t>
            </a:r>
            <a:endParaRPr lang="ar-EG" sz="4000" dirty="0">
              <a:latin typeface="EB Garamond"/>
              <a:cs typeface="Amiri"/>
            </a:endParaRPr>
          </a:p>
        </p:txBody>
      </p:sp>
      <p:sp>
        <p:nvSpPr>
          <p:cNvPr id="23" name="Text 21"/>
          <p:cNvSpPr txBox="1"/>
          <p:nvPr/>
        </p:nvSpPr>
        <p:spPr>
          <a:xfrm>
            <a:off x="4647895" y="502920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AF3E0"/>
                </a:solidFill>
                <a:latin typeface="EB Garamond"/>
                <a:cs typeface="Noto Naskh Arabic"/>
              </a:rPr>
              <a:t>قدر الكسوف (Magnitude)</a:t>
            </a:r>
            <a:endParaRPr lang="ar-EG" sz="1500" dirty="0">
              <a:latin typeface="EB Garamond"/>
              <a:cs typeface="Noto Naskh Arabic"/>
            </a:endParaRPr>
          </a:p>
        </p:txBody>
      </p:sp>
      <p:sp>
        <p:nvSpPr>
          <p:cNvPr id="24" name="Text 22"/>
          <p:cNvSpPr txBox="1"/>
          <p:nvPr/>
        </p:nvSpPr>
        <p:spPr>
          <a:xfrm>
            <a:off x="4647895" y="5486400"/>
            <a:ext cx="2971800" cy="41148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القمر أكبر ظاهريًا من الشمس بنحو ٤٪</a:t>
            </a:r>
            <a:endParaRPr lang="ar-EG" sz="1400" dirty="0">
              <a:latin typeface="EB Garamond"/>
              <a:cs typeface="Noto Naskh Arabic"/>
            </a:endParaRPr>
          </a:p>
        </p:txBody>
      </p:sp>
      <p:sp>
        <p:nvSpPr>
          <p:cNvPr id="25" name="num-5"/>
          <p:cNvSpPr/>
          <p:nvPr/>
        </p:nvSpPr>
        <p:spPr>
          <a:xfrm>
            <a:off x="624535" y="3840480"/>
            <a:ext cx="3520440" cy="2240280"/>
          </a:xfrm>
          <a:prstGeom prst="roundRect">
            <a:avLst>
              <a:gd name="adj" fmla="val 4898"/>
            </a:avLst>
          </a:prstGeom>
          <a:solidFill>
            <a:srgbClr val="24304A"/>
          </a:solidFill>
          <a:ln w="9525">
            <a:solidFill>
              <a:srgbClr val="2E3E5C"/>
            </a:solidFill>
            <a:prstDash val="solid"/>
          </a:ln>
        </p:spPr>
      </p:sp>
      <p:sp>
        <p:nvSpPr>
          <p:cNvPr id="26" name="Text 24"/>
          <p:cNvSpPr txBox="1"/>
          <p:nvPr/>
        </p:nvSpPr>
        <p:spPr>
          <a:xfrm>
            <a:off x="898855" y="411480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E8B84B"/>
                </a:solidFill>
                <a:latin typeface="EB Garamond"/>
                <a:cs typeface="Amiri"/>
              </a:rPr>
              <a:t>٣ س ٢٣ د</a:t>
            </a:r>
            <a:endParaRPr lang="ar-EG" sz="4000" dirty="0">
              <a:latin typeface="EB Garamond"/>
              <a:cs typeface="Amiri"/>
            </a:endParaRPr>
          </a:p>
        </p:txBody>
      </p:sp>
      <p:sp>
        <p:nvSpPr>
          <p:cNvPr id="27" name="Text 25"/>
          <p:cNvSpPr txBox="1"/>
          <p:nvPr/>
        </p:nvSpPr>
        <p:spPr>
          <a:xfrm>
            <a:off x="898855" y="502920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AF3E0"/>
                </a:solidFill>
                <a:latin typeface="EB Garamond"/>
                <a:cs typeface="Noto Naskh Arabic"/>
              </a:rPr>
              <a:t>عمر الظل على الأرض</a:t>
            </a:r>
            <a:endParaRPr lang="ar-EG" sz="1500" dirty="0">
              <a:latin typeface="EB Garamond"/>
              <a:cs typeface="Noto Naskh Arabic"/>
            </a:endParaRPr>
          </a:p>
        </p:txBody>
      </p:sp>
      <p:sp>
        <p:nvSpPr>
          <p:cNvPr id="28" name="Text 26"/>
          <p:cNvSpPr txBox="1"/>
          <p:nvPr/>
        </p:nvSpPr>
        <p:spPr>
          <a:xfrm>
            <a:off x="898855" y="5486400"/>
            <a:ext cx="2971800" cy="411480"/>
          </a:xfrm>
          <a:prstGeom prst="rect">
            <a:avLst/>
          </a:prstGeom>
          <a:noFill/>
          <a:ln/>
        </p:spPr>
        <p:txBody>
          <a:bodyPr wrap="square" lIns="0" tIns="0" rIns="0" bIns="0" rtlCol="0" anchor="ctr"/>
          <a:lstStyle/>
          <a:p>
            <a:pPr rtl="1" algn="r" indent="0" marL="0">
              <a:buNone/>
            </a:pPr>
            <a:r>
              <a:rPr lang="ar-EG" altLang="en-US" sz="1400" dirty="0">
                <a:solidFill>
                  <a:srgbClr val="F0E0B0"/>
                </a:solidFill>
                <a:latin typeface="EB Garamond"/>
                <a:cs typeface="Noto Naskh Arabic"/>
              </a:rPr>
              <a:t>من ١١:٢٥ إلى ١٤:٤٨ بتوقيت مصر</a:t>
            </a:r>
            <a:endParaRPr lang="ar-EG" sz="14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36</a:t>
            </a:fld>
            <a:endParaRPr lang="en-US">
              <a:latin typeface="EB Garamond"/>
              <a:cs typeface="Noto Naskh Arabic"/>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box"/>
          <p:cNvSpPr/>
          <p:nvPr/>
        </p:nvSpPr>
        <p:spPr>
          <a:xfrm>
            <a:off x="5662879" y="182880"/>
            <a:ext cx="5980176" cy="274320"/>
          </a:xfrm>
          <a:prstGeom prst="rect">
            <a:avLst/>
          </a:prstGeom>
          <a:solidFill>
            <a:srgbClr val="1B3A6B"/>
          </a:solidFill>
          <a:ln w="12700">
            <a:solidFill>
              <a:srgbClr val="E8B84B"/>
            </a:solidFill>
            <a:prstDash val="solid"/>
          </a:ln>
        </p:spPr>
      </p:sp>
      <p:sp>
        <p:nvSpPr>
          <p:cNvPr id="3" name="kicker"/>
          <p:cNvSpPr txBox="1"/>
          <p:nvPr/>
        </p:nvSpPr>
        <p:spPr>
          <a:xfrm>
            <a:off x="5662879" y="182880"/>
            <a:ext cx="598017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PATH OF TOTALITY: FROM THE ATLANTIC TO THE INDIAN OCEAN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المسار من الأطلسي إلى المحيط الهندي</a:t>
            </a:r>
            <a:endParaRPr lang="ar-EG" sz="3000" dirty="0">
              <a:latin typeface="EB Garamond"/>
              <a:cs typeface="Amiri"/>
            </a:endParaRPr>
          </a:p>
        </p:txBody>
      </p:sp>
      <p:pic>
        <p:nvPicPr>
          <p:cNvPr id="5" name="regional" descr="regional">    </p:cNvPr>
          <p:cNvPicPr>
            <a:picLocks noChangeAspect="1"/>
          </p:cNvPicPr>
          <p:nvPr/>
        </p:nvPicPr>
        <p:blipFill>
          <a:blip r:embed="rId1"/>
          <a:stretch>
            <a:fillRect/>
          </a:stretch>
        </p:blipFill>
        <p:spPr>
          <a:xfrm>
            <a:off x="623258" y="1325880"/>
            <a:ext cx="6525883" cy="4663440"/>
          </a:xfrm>
          <a:prstGeom prst="rect">
            <a:avLst/>
          </a:prstGeom>
        </p:spPr>
      </p:pic>
      <p:sp>
        <p:nvSpPr>
          <p:cNvPr id="6" name="Text 3"/>
          <p:cNvSpPr txBox="1"/>
          <p:nvPr/>
        </p:nvSpPr>
        <p:spPr>
          <a:xfrm>
            <a:off x="7543800" y="1371600"/>
            <a:ext cx="409925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البداية: </a:t>
            </a:r>
            <a:pPr rtl="1" algn="r" indent="0" marL="0">
              <a:buNone/>
            </a:pPr>
            <a:r>
              <a:rPr lang="ar-EG" altLang="en-US" sz="2000" dirty="0">
                <a:solidFill>
                  <a:srgbClr val="F0E0B0"/>
                </a:solidFill>
                <a:latin typeface="EB Garamond"/>
                <a:cs typeface="Noto Naskh Arabic"/>
              </a:rPr>
              <a:t>فجرًا في المحيط الأطلسي، ثم مضيق جبل طارق وجنوب إسبانيا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شمال أفريقيا: </a:t>
            </a:r>
            <a:pPr rtl="1" algn="r" indent="0" marL="0">
              <a:buNone/>
            </a:pPr>
            <a:r>
              <a:rPr lang="ar-EG" altLang="en-US" sz="2000" dirty="0">
                <a:solidFill>
                  <a:srgbClr val="F0E0B0"/>
                </a:solidFill>
                <a:latin typeface="EB Garamond"/>
                <a:cs typeface="Noto Naskh Arabic"/>
              </a:rPr>
              <a:t>شمال المغرب والجزائر وتونس وليبيا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الذروة: </a:t>
            </a:r>
            <a:pPr rtl="1" algn="r" indent="0" marL="0">
              <a:buNone/>
            </a:pPr>
            <a:r>
              <a:rPr lang="ar-EG" altLang="en-US" sz="2000" dirty="0">
                <a:solidFill>
                  <a:srgbClr val="F0E0B0"/>
                </a:solidFill>
                <a:latin typeface="EB Garamond"/>
                <a:cs typeface="Noto Naskh Arabic"/>
              </a:rPr>
              <a:t>فوق صعيد مصر قرب الظهر</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النهاية: </a:t>
            </a:r>
            <a:pPr rtl="1" algn="r" indent="0" marL="0">
              <a:buNone/>
            </a:pPr>
            <a:r>
              <a:rPr lang="ar-EG" altLang="en-US" sz="2000" dirty="0">
                <a:solidFill>
                  <a:srgbClr val="F0E0B0"/>
                </a:solidFill>
                <a:latin typeface="EB Garamond"/>
                <a:cs typeface="Noto Naskh Arabic"/>
              </a:rPr>
              <a:t>السعودية واليمن والصومال، ثم المحيط الهندي</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خريطة ٢ من أطلس الكتاب (بالعربية، محسوبة)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37</a:t>
            </a:fld>
            <a:endParaRPr lang="en-US">
              <a:latin typeface="EB Garamond"/>
              <a:cs typeface="Noto Naskh Arabic"/>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box"/>
          <p:cNvSpPr/>
          <p:nvPr/>
        </p:nvSpPr>
        <p:spPr>
          <a:xfrm>
            <a:off x="8033004" y="182880"/>
            <a:ext cx="3610051" cy="274320"/>
          </a:xfrm>
          <a:prstGeom prst="rect">
            <a:avLst/>
          </a:prstGeom>
          <a:solidFill>
            <a:srgbClr val="1B3A6B"/>
          </a:solidFill>
          <a:ln w="12700">
            <a:solidFill>
              <a:srgbClr val="E8B84B"/>
            </a:solidFill>
            <a:prstDash val="solid"/>
          </a:ln>
        </p:spPr>
      </p:sp>
      <p:sp>
        <p:nvSpPr>
          <p:cNvPr id="3" name="kicker"/>
          <p:cNvSpPr txBox="1"/>
          <p:nvPr/>
        </p:nvSpPr>
        <p:spPr>
          <a:xfrm>
            <a:off x="8033004" y="182880"/>
            <a:ext cx="3610051"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MOON'S UMBRA CROSSING EGYPT</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رحلة الظل فوق مصر</a:t>
            </a:r>
            <a:endParaRPr lang="ar-EG" sz="3000" dirty="0">
              <a:latin typeface="EB Garamond"/>
              <a:cs typeface="Amiri"/>
            </a:endParaRPr>
          </a:p>
        </p:txBody>
      </p:sp>
      <p:pic>
        <p:nvPicPr>
          <p:cNvPr id="5" name="snapshots" descr="snapshots">    </p:cNvPr>
          <p:cNvPicPr>
            <a:picLocks noChangeAspect="1"/>
          </p:cNvPicPr>
          <p:nvPr/>
        </p:nvPicPr>
        <p:blipFill>
          <a:blip r:embed="rId1"/>
          <a:stretch>
            <a:fillRect/>
          </a:stretch>
        </p:blipFill>
        <p:spPr>
          <a:xfrm>
            <a:off x="833434" y="1325880"/>
            <a:ext cx="5008252" cy="4663440"/>
          </a:xfrm>
          <a:prstGeom prst="rect">
            <a:avLst/>
          </a:prstGeom>
        </p:spPr>
      </p:pic>
      <p:sp>
        <p:nvSpPr>
          <p:cNvPr id="6" name="Text 3"/>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١٢:٤٢: </a:t>
            </a:r>
            <a:pPr rtl="1" algn="r" indent="0" marL="0">
              <a:buNone/>
            </a:pPr>
            <a:r>
              <a:rPr lang="ar-EG" altLang="en-US" sz="2000" dirty="0">
                <a:solidFill>
                  <a:srgbClr val="F0E0B0"/>
                </a:solidFill>
                <a:latin typeface="EB Garamond"/>
                <a:cs typeface="Noto Naskh Arabic"/>
              </a:rPr>
              <a:t>يدخل الظل الكامل مصر من الغرب، فتبدأ الكلية في سيوة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١٢:٥٠: </a:t>
            </a:r>
            <a:pPr rtl="1" algn="r" indent="0" marL="0">
              <a:buNone/>
            </a:pPr>
            <a:r>
              <a:rPr lang="ar-EG" altLang="en-US" sz="2000" dirty="0">
                <a:solidFill>
                  <a:srgbClr val="F0E0B0"/>
                </a:solidFill>
                <a:latin typeface="EB Garamond"/>
                <a:cs typeface="Noto Naskh Arabic"/>
              </a:rPr>
              <a:t>الواحات البحرية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١٢:٥٧–١٣:٠٢: </a:t>
            </a:r>
            <a:pPr rtl="1" algn="r" indent="0" marL="0">
              <a:buNone/>
            </a:pPr>
            <a:r>
              <a:rPr lang="ar-EG" altLang="en-US" sz="2000" dirty="0">
                <a:solidFill>
                  <a:srgbClr val="F0E0B0"/>
                </a:solidFill>
                <a:latin typeface="EB Garamond"/>
                <a:cs typeface="Noto Naskh Arabic"/>
              </a:rPr>
              <a:t>المنيا وأسيوط وسوهاج والأقصر</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١٣:٠٦: </a:t>
            </a:r>
            <a:pPr rtl="1" algn="r" indent="0" marL="0">
              <a:buNone/>
            </a:pPr>
            <a:r>
              <a:rPr lang="ar-EG" altLang="en-US" sz="2000" dirty="0">
                <a:solidFill>
                  <a:srgbClr val="F0E0B0"/>
                </a:solidFill>
                <a:latin typeface="EB Garamond"/>
                <a:cs typeface="Noto Naskh Arabic"/>
              </a:rPr>
              <a:t>القصير على البحر الأحمر</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١٣:١٧: </a:t>
            </a:r>
            <a:pPr rtl="1" algn="r" indent="0" marL="0">
              <a:buNone/>
            </a:pPr>
            <a:r>
              <a:rPr lang="ar-EG" altLang="en-US" sz="2000" dirty="0">
                <a:solidFill>
                  <a:srgbClr val="F0E0B0"/>
                </a:solidFill>
                <a:latin typeface="EB Garamond"/>
                <a:cs typeface="Noto Naskh Arabic"/>
              </a:rPr>
              <a:t>آخر الكلية في برنيس، ثم يعبر الظل البحر الأحمر إلى السعودية</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٤-٤ من الكتاب: مواقع الظل كل ربع ساعة (محسوبة)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38</a:t>
            </a:fld>
            <a:endParaRPr lang="en-US">
              <a:latin typeface="EB Garamond"/>
              <a:cs typeface="Noto Naskh Arabic"/>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kicker-box"/>
          <p:cNvSpPr/>
          <p:nvPr/>
        </p:nvSpPr>
        <p:spPr>
          <a:xfrm>
            <a:off x="8428025" y="182880"/>
            <a:ext cx="3215030" cy="274320"/>
          </a:xfrm>
          <a:prstGeom prst="rect">
            <a:avLst/>
          </a:prstGeom>
          <a:solidFill>
            <a:srgbClr val="1B3A6B"/>
          </a:solidFill>
          <a:ln w="12700">
            <a:solidFill>
              <a:srgbClr val="E8B84B"/>
            </a:solidFill>
            <a:prstDash val="solid"/>
          </a:ln>
        </p:spPr>
      </p:sp>
      <p:sp>
        <p:nvSpPr>
          <p:cNvPr id="3" name="kicker"/>
          <p:cNvSpPr txBox="1"/>
          <p:nvPr/>
        </p:nvSpPr>
        <p:spPr>
          <a:xfrm>
            <a:off x="8428025" y="182880"/>
            <a:ext cx="321503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PATH OF TOTALITY OVER EGYPT</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مسار الكلية فوق مصر</a:t>
            </a:r>
            <a:endParaRPr lang="ar-EG" sz="3000" dirty="0">
              <a:latin typeface="EB Garamond"/>
              <a:cs typeface="Amiri"/>
            </a:endParaRPr>
          </a:p>
        </p:txBody>
      </p:sp>
      <p:pic>
        <p:nvPicPr>
          <p:cNvPr id="5" name="egypt" descr="egypt">    </p:cNvPr>
          <p:cNvPicPr>
            <a:picLocks noChangeAspect="1"/>
          </p:cNvPicPr>
          <p:nvPr/>
        </p:nvPicPr>
        <p:blipFill>
          <a:blip r:embed="rId1"/>
          <a:stretch>
            <a:fillRect/>
          </a:stretch>
        </p:blipFill>
        <p:spPr>
          <a:xfrm>
            <a:off x="1597470" y="1234440"/>
            <a:ext cx="5491860" cy="4846320"/>
          </a:xfrm>
          <a:prstGeom prst="rect">
            <a:avLst/>
          </a:prstGeom>
        </p:spPr>
      </p:pic>
      <p:sp>
        <p:nvSpPr>
          <p:cNvPr id="6" name="Text 3"/>
          <p:cNvSpPr txBox="1"/>
          <p:nvPr/>
        </p:nvSpPr>
        <p:spPr>
          <a:xfrm>
            <a:off x="8366760" y="1325880"/>
            <a:ext cx="3276295" cy="4709160"/>
          </a:xfrm>
          <a:prstGeom prst="rect">
            <a:avLst/>
          </a:prstGeom>
          <a:noFill/>
          <a:ln/>
        </p:spPr>
        <p:txBody>
          <a:bodyPr wrap="square" lIns="0" tIns="0" rIns="0" bIns="0" rtlCol="0" anchor="t"/>
          <a:lstStyle/>
          <a:p>
            <a:pPr rtl="1" algn="r" marL="228600" indent="-228600">
              <a:spcAft>
                <a:spcPts val="1000"/>
              </a:spcAft>
              <a:buSzPct val="100000"/>
              <a:buChar char="•"/>
            </a:pPr>
            <a:r>
              <a:rPr lang="ar-EG" altLang="en-US" sz="1500" b="1" dirty="0">
                <a:solidFill>
                  <a:srgbClr val="F0E0B0"/>
                </a:solidFill>
                <a:latin typeface="EB Garamond"/>
                <a:cs typeface="Noto Naskh Arabic"/>
              </a:rPr>
              <a:t>داخل المسار (Path of totality): </a:t>
            </a:r>
            <a:pPr rtl="1" algn="r" indent="0" marL="0">
              <a:buNone/>
            </a:pPr>
            <a:r>
              <a:rPr lang="ar-EG" altLang="en-US" sz="1500" dirty="0">
                <a:solidFill>
                  <a:srgbClr val="F0E0B0"/>
                </a:solidFill>
                <a:latin typeface="EB Garamond"/>
                <a:cs typeface="Noto Naskh Arabic"/>
              </a:rPr>
              <a:t>سيوة، الواحات البحرية، المنيا، أسيوط، سوهاج، قنا، الأقصر، إدفو، كوم أمبو، القصير، مرسى علم، برنيس</a:t>
            </a:r>
            <a:endParaRPr lang="ar-EG" sz="1500" dirty="0">
              <a:latin typeface="EB Garamond"/>
              <a:cs typeface="Noto Naskh Arabic"/>
            </a:endParaRPr>
          </a:p>
          <a:p>
            <a:pPr rtl="1" algn="r" marL="228600" indent="-228600">
              <a:spcAft>
                <a:spcPts val="1000"/>
              </a:spcAft>
              <a:buSzPct val="100000"/>
              <a:buChar char="•"/>
            </a:pPr>
            <a:r>
              <a:rPr lang="ar-EG" altLang="en-US" sz="1500" b="1" dirty="0">
                <a:solidFill>
                  <a:srgbClr val="F0E0B0"/>
                </a:solidFill>
                <a:latin typeface="EB Garamond"/>
                <a:cs typeface="Noto Naskh Arabic"/>
              </a:rPr>
              <a:t>على الحافة: </a:t>
            </a:r>
            <a:pPr rtl="1" algn="r" indent="0" marL="0">
              <a:buNone/>
            </a:pPr>
            <a:r>
              <a:rPr lang="ar-EG" altLang="en-US" sz="1500" dirty="0">
                <a:solidFill>
                  <a:srgbClr val="F0E0B0"/>
                </a:solidFill>
                <a:latin typeface="EB Garamond"/>
                <a:cs typeface="Noto Naskh Arabic"/>
              </a:rPr>
              <a:t>أسوان ٩٩٫٨٪ والخارجة ٩٩٫٥٪ وسفاجا ٩٩٫٦٪ — جزئي رغم القرب</a:t>
            </a:r>
            <a:endParaRPr lang="ar-EG" sz="1500" dirty="0">
              <a:latin typeface="EB Garamond"/>
              <a:cs typeface="Noto Naskh Arabic"/>
            </a:endParaRPr>
          </a:p>
          <a:p>
            <a:pPr rtl="1" algn="r" marL="228600" indent="-228600">
              <a:spcAft>
                <a:spcPts val="1000"/>
              </a:spcAft>
              <a:buSzPct val="100000"/>
              <a:buChar char="•"/>
            </a:pPr>
            <a:r>
              <a:rPr lang="ar-EG" altLang="en-US" sz="1500" b="1" dirty="0">
                <a:solidFill>
                  <a:srgbClr val="F0E0B0"/>
                </a:solidFill>
                <a:latin typeface="EB Garamond"/>
                <a:cs typeface="Noto Naskh Arabic"/>
              </a:rPr>
              <a:t>خارجه: </a:t>
            </a:r>
            <a:pPr rtl="1" algn="r" indent="0" marL="0">
              <a:buNone/>
            </a:pPr>
            <a:r>
              <a:rPr lang="ar-EG" altLang="en-US" sz="1500" dirty="0">
                <a:solidFill>
                  <a:srgbClr val="F0E0B0"/>
                </a:solidFill>
                <a:latin typeface="EB Garamond"/>
                <a:cs typeface="Noto Naskh Arabic"/>
              </a:rPr>
              <a:t>القاهرة ٩٤٫٨٪ والإسكندرية ٩٣٫٤٪ والغردقة ٩٨٫٦٪</a:t>
            </a:r>
            <a:endParaRPr lang="ar-EG" sz="1500" dirty="0">
              <a:latin typeface="EB Garamond"/>
              <a:cs typeface="Noto Naskh Arabic"/>
            </a:endParaRPr>
          </a:p>
          <a:p>
            <a:pPr rtl="1" algn="r" marL="228600" indent="-228600">
              <a:spcAft>
                <a:spcPts val="1000"/>
              </a:spcAft>
              <a:buSzPct val="100000"/>
              <a:buChar char="•"/>
            </a:pPr>
            <a:r>
              <a:rPr lang="ar-EG" altLang="en-US" sz="1500" b="1" dirty="0">
                <a:solidFill>
                  <a:srgbClr val="F0E0B0"/>
                </a:solidFill>
                <a:latin typeface="EB Garamond"/>
                <a:cs typeface="Noto Naskh Arabic"/>
              </a:rPr>
              <a:t>النجمة: </a:t>
            </a:r>
            <a:pPr rtl="1" algn="r" indent="0" marL="0">
              <a:buNone/>
            </a:pPr>
            <a:r>
              <a:rPr lang="ar-EG" altLang="en-US" sz="1500" dirty="0">
                <a:solidFill>
                  <a:srgbClr val="F0E0B0"/>
                </a:solidFill>
                <a:latin typeface="EB Garamond"/>
                <a:cs typeface="Noto Naskh Arabic"/>
              </a:rPr>
              <a:t>نقطة أطول مدة (Greatest duration)؛ والمعيّن: نقطة أعظم كسوف (Greatest eclipse)</a:t>
            </a:r>
            <a:endParaRPr lang="ar-EG" sz="15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39</a:t>
            </a:fld>
            <a:endParaRPr lang="en-US">
              <a:latin typeface="EB Garamond"/>
              <a:cs typeface="Noto Naskh Arabic"/>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kicker-box"/>
          <p:cNvSpPr/>
          <p:nvPr/>
        </p:nvSpPr>
        <p:spPr>
          <a:xfrm>
            <a:off x="7341718" y="182880"/>
            <a:ext cx="4301338" cy="274320"/>
          </a:xfrm>
          <a:prstGeom prst="rect">
            <a:avLst/>
          </a:prstGeom>
          <a:solidFill>
            <a:srgbClr val="1B3A6B"/>
          </a:solidFill>
          <a:ln w="12700">
            <a:solidFill>
              <a:srgbClr val="E8B84B"/>
            </a:solidFill>
            <a:prstDash val="solid"/>
          </a:ln>
        </p:spPr>
      </p:sp>
      <p:sp>
        <p:nvSpPr>
          <p:cNvPr id="3" name="kicker"/>
          <p:cNvSpPr txBox="1"/>
          <p:nvPr/>
        </p:nvSpPr>
        <p:spPr>
          <a:xfrm>
            <a:off x="7341718" y="182880"/>
            <a:ext cx="4301338"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GREATEST DURATION VS. GREATEST ECLIPSE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أطول مدة أم أعظم كسوف؟</a:t>
            </a:r>
            <a:endParaRPr lang="ar-EG" sz="3000" dirty="0">
              <a:latin typeface="EB Garamond"/>
              <a:cs typeface="Amiri"/>
            </a:endParaRPr>
          </a:p>
        </p:txBody>
      </p:sp>
      <p:pic>
        <p:nvPicPr>
          <p:cNvPr id="5" name="longest" descr="longest">    </p:cNvPr>
          <p:cNvPicPr>
            <a:picLocks noChangeAspect="1"/>
          </p:cNvPicPr>
          <p:nvPr/>
        </p:nvPicPr>
        <p:blipFill>
          <a:blip r:embed="rId1"/>
          <a:stretch>
            <a:fillRect/>
          </a:stretch>
        </p:blipFill>
        <p:spPr>
          <a:xfrm>
            <a:off x="629034" y="1325880"/>
            <a:ext cx="5234172" cy="4663440"/>
          </a:xfrm>
          <a:prstGeom prst="rect">
            <a:avLst/>
          </a:prstGeom>
        </p:spPr>
      </p:pic>
      <p:sp>
        <p:nvSpPr>
          <p:cNvPr id="6" name="Text 3"/>
          <p:cNvSpPr txBox="1"/>
          <p:nvPr/>
        </p:nvSpPr>
        <p:spPr>
          <a:xfrm>
            <a:off x="6263640" y="1371600"/>
            <a:ext cx="53794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أطول مدة (Greatest duration): </a:t>
            </a:r>
            <a:pPr rtl="1" algn="r" indent="0" marL="0">
              <a:buNone/>
            </a:pPr>
            <a:r>
              <a:rPr lang="ar-EG" altLang="en-US" sz="1800" dirty="0">
                <a:solidFill>
                  <a:srgbClr val="F0E0B0"/>
                </a:solidFill>
                <a:latin typeface="EB Garamond"/>
                <a:cs typeface="Noto Naskh Arabic"/>
              </a:rPr>
              <a:t>٦ د ٢٣٫٢ ث عند ٢٦°٤٨٫٨′ ش و٣١°٠٨٫٠′ ق، في الصحراء نحو ٣٦ كم غرب طهطا، الساعة ١٣:٠٠:٢١</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أعظم كسوف (Greatest eclipse): </a:t>
            </a:r>
            <a:pPr rtl="1" algn="r" indent="0" marL="0">
              <a:buNone/>
            </a:pPr>
            <a:r>
              <a:rPr lang="ar-EG" altLang="en-US" sz="1800" dirty="0">
                <a:solidFill>
                  <a:srgbClr val="F0E0B0"/>
                </a:solidFill>
                <a:latin typeface="EB Garamond"/>
                <a:cs typeface="Noto Naskh Arabic"/>
              </a:rPr>
              <a:t>أقرب مرور لمحور الظل من مركز الأرض، عند ٢٥°٣٠٫٤′ ش و٣٣°١٠٫٨′ ق، نحو ٦٠ كم شرق الأقصر، الساعة ١٣:٠٦:٣٤ ومدته ٦ د ٢٢٫٧ ث</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المدن: </a:t>
            </a:r>
            <a:pPr rtl="1" algn="r" indent="0" marL="0">
              <a:buNone/>
            </a:pPr>
            <a:r>
              <a:rPr lang="ar-EG" altLang="en-US" sz="1800" dirty="0">
                <a:solidFill>
                  <a:srgbClr val="F0E0B0"/>
                </a:solidFill>
                <a:latin typeface="EB Garamond"/>
                <a:cs typeface="Noto Naskh Arabic"/>
              </a:rPr>
              <a:t>نجع حمادي وسوهاج ٦ د ٢٢ ث، أبيدوس وقوص ٦ د ٢١ ث، الأقصر وبرنيس ٦ د ٢٠ ث</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الخلاصة: </a:t>
            </a:r>
            <a:pPr rtl="1" algn="r" indent="0" marL="0">
              <a:buNone/>
            </a:pPr>
            <a:r>
              <a:rPr lang="ar-EG" altLang="en-US" sz="1800" dirty="0">
                <a:solidFill>
                  <a:srgbClr val="F0E0B0"/>
                </a:solidFill>
                <a:latin typeface="EB Garamond"/>
                <a:cs typeface="Noto Naskh Arabic"/>
              </a:rPr>
              <a:t>الفرق ثوانٍ لا يدركها الراصد؛ الأهم سماء صافية وأفق مفتوح قرب خط المركز</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٢٤-٤ من الكتاب (محسوب)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40</a:t>
            </a:fld>
            <a:endParaRPr lang="en-US">
              <a:latin typeface="EB Garamond"/>
              <a:cs typeface="Noto Naskh Arabic"/>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kicker-box"/>
          <p:cNvSpPr/>
          <p:nvPr/>
        </p:nvSpPr>
        <p:spPr>
          <a:xfrm>
            <a:off x="4576572" y="182880"/>
            <a:ext cx="7066483" cy="274320"/>
          </a:xfrm>
          <a:prstGeom prst="rect">
            <a:avLst/>
          </a:prstGeom>
          <a:solidFill>
            <a:srgbClr val="1B3A6B"/>
          </a:solidFill>
          <a:ln w="12700">
            <a:solidFill>
              <a:srgbClr val="E8B84B"/>
            </a:solidFill>
            <a:prstDash val="solid"/>
          </a:ln>
        </p:spPr>
      </p:sp>
      <p:sp>
        <p:nvSpPr>
          <p:cNvPr id="3" name="kicker"/>
          <p:cNvSpPr txBox="1"/>
          <p:nvPr/>
        </p:nvSpPr>
        <p:spPr>
          <a:xfrm>
            <a:off x="4576572" y="182880"/>
            <a:ext cx="706648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TOTALITY TIMES IN CITIES INSIDE THE PATH (EGYPT SUMMER TIME, UT+3)</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مواعيد الكلية في مدن المسار</a:t>
            </a:r>
            <a:endParaRPr lang="ar-EG" sz="3000" dirty="0">
              <a:latin typeface="EB Garamond"/>
              <a:cs typeface="Amiri"/>
            </a:endParaRPr>
          </a:p>
        </p:txBody>
      </p:sp>
      <p:graphicFrame>
        <p:nvGraphicFramePr>
          <p:cNvPr id="42" name="totality-table-1"/>
          <p:cNvGraphicFramePr>
            <a:graphicFrameLocks noGrp="1"/>
          </p:cNvGraphicFramePr>
          <p:nvPr>
            <p:extLst>
              <p:ext uri="{D42A27DB-BD31-4B8C-83A1-F6EECF244321}">
                <p14:modId xmlns:p14="http://schemas.microsoft.com/office/powerpoint/2010/main" val="1579011935"/>
              </p:ext>
            </p:extLst>
          </p:nvPr>
        </p:nvGraphicFramePr>
        <p:xfrm>
          <a:off x="6172200" y="1371600"/>
          <a:ext cx="5440680" cy="914400"/>
        </p:xfrm>
        <a:graphic>
          <a:graphicData uri="http://schemas.openxmlformats.org/drawingml/2006/table">
            <a:tbl>
              <a:tblPr/>
              <a:tblGrid>
                <a:gridCol w="1188720"/>
                <a:gridCol w="1325880"/>
                <a:gridCol w="1325880"/>
                <a:gridCol w="1600200"/>
              </a:tblGrid>
              <a:tr h="475488">
                <a:tc>
                  <a:txBody>
                    <a:bodyPr/>
                    <a:lstStyle/>
                    <a:p>
                      <a:pPr rtl="1" algn="ctr" indent="0" marL="0">
                        <a:buNone/>
                      </a:pPr>
                      <a:r>
                        <a:rPr lang="ar-EG" altLang="en-US" sz="1500" b="1" dirty="0">
                          <a:solidFill>
                            <a:srgbClr val="E8B84B"/>
                          </a:solidFill>
                          <a:latin typeface="EB Garamond"/>
                          <a:cs typeface="Noto Naskh Arabic"/>
                        </a:rPr>
                        <a:t>المدة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500" b="1" dirty="0">
                          <a:solidFill>
                            <a:srgbClr val="E8B84B"/>
                          </a:solidFill>
                          <a:latin typeface="EB Garamond"/>
                          <a:cs typeface="Noto Naskh Arabic"/>
                        </a:rPr>
                        <a:t>نهاية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500" b="1" dirty="0">
                          <a:solidFill>
                            <a:srgbClr val="E8B84B"/>
                          </a:solidFill>
                          <a:latin typeface="EB Garamond"/>
                          <a:cs typeface="Noto Naskh Arabic"/>
                        </a:rPr>
                        <a:t>بداية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500" b="1" dirty="0">
                          <a:solidFill>
                            <a:srgbClr val="E8B84B"/>
                          </a:solidFill>
                          <a:latin typeface="EB Garamond"/>
                          <a:cs typeface="Noto Naskh Arabic"/>
                        </a:rPr>
                        <a:t>المدينة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475488">
                <a:tc>
                  <a:txBody>
                    <a:bodyPr/>
                    <a:lstStyle/>
                    <a:p>
                      <a:pPr rtl="1" algn="ctr" indent="0" marL="0">
                        <a:buNone/>
                      </a:pPr>
                      <a:r>
                        <a:rPr lang="ar-EG" altLang="en-US" sz="1500" b="1" dirty="0">
                          <a:solidFill>
                            <a:srgbClr val="E8B84B"/>
                          </a:solidFill>
                          <a:latin typeface="EB Garamond"/>
                          <a:cs typeface="Noto Naskh Arabic"/>
                        </a:rPr>
                        <a:t>٦ د ٢٢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١٣:٠٦:٥٦</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١٣:٠٠:٣٣</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نجع حمادي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٦ د ٢٢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١٣:٠٥:٠٠</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١٢:٥٨:٣٨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سوهاج</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ctr" indent="0" marL="0">
                        <a:buNone/>
                      </a:pPr>
                      <a:r>
                        <a:rPr lang="ar-EG" altLang="en-US" sz="1500" b="1" dirty="0">
                          <a:solidFill>
                            <a:srgbClr val="E8B84B"/>
                          </a:solidFill>
                          <a:latin typeface="EB Garamond"/>
                          <a:cs typeface="Noto Naskh Arabic"/>
                        </a:rPr>
                        <a:t>٦ د ٢١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١٣:٠٦:٠٢</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١٢:٥٩:٤١</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أبيدوس (البلينا)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٦ د ٢٠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١٣:٠٨:١٨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١٣:٠١:٥٨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الأقصر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ctr" indent="0" marL="0">
                        <a:buNone/>
                      </a:pPr>
                      <a:r>
                        <a:rPr lang="ar-EG" altLang="en-US" sz="1500" b="1" dirty="0">
                          <a:solidFill>
                            <a:srgbClr val="E8B84B"/>
                          </a:solidFill>
                          <a:latin typeface="EB Garamond"/>
                          <a:cs typeface="Noto Naskh Arabic"/>
                        </a:rPr>
                        <a:t>٦ د ٢٠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١٣:١٦:٥٤</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١٣:١٠:٣٤</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برنيس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٦ د ١٧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١٢:٥٦:٢٨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١٢:٥٠:١٠</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الباويطي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ctr" indent="0" marL="0">
                        <a:buNone/>
                      </a:pPr>
                      <a:r>
                        <a:rPr lang="ar-EG" altLang="en-US" sz="1500" b="1" dirty="0">
                          <a:solidFill>
                            <a:srgbClr val="E8B84B"/>
                          </a:solidFill>
                          <a:latin typeface="EB Garamond"/>
                          <a:cs typeface="Noto Naskh Arabic"/>
                        </a:rPr>
                        <a:t>٦ د ١٤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١٣:٠٧:٣٥</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١٣:٠١:٢١</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دندرة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٦ د ١١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١٣:٠٧:٣٨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١٣:٠١:٢٧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قنا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graphicFrame>
        <p:nvGraphicFramePr>
          <p:cNvPr id="83" name="totality-table-2"/>
          <p:cNvGraphicFramePr>
            <a:graphicFrameLocks noGrp="1"/>
          </p:cNvGraphicFramePr>
          <p:nvPr>
            <p:extLst>
              <p:ext uri="{D42A27DB-BD31-4B8C-83A1-F6EECF244321}">
                <p14:modId xmlns:p14="http://schemas.microsoft.com/office/powerpoint/2010/main" val="1579011935"/>
              </p:ext>
            </p:extLst>
          </p:nvPr>
        </p:nvGraphicFramePr>
        <p:xfrm>
          <a:off x="548640" y="1371600"/>
          <a:ext cx="5440680" cy="914400"/>
        </p:xfrm>
        <a:graphic>
          <a:graphicData uri="http://schemas.openxmlformats.org/drawingml/2006/table">
            <a:tbl>
              <a:tblPr/>
              <a:tblGrid>
                <a:gridCol w="1188720"/>
                <a:gridCol w="1325880"/>
                <a:gridCol w="1325880"/>
                <a:gridCol w="1600200"/>
              </a:tblGrid>
              <a:tr h="475488">
                <a:tc>
                  <a:txBody>
                    <a:bodyPr/>
                    <a:lstStyle/>
                    <a:p>
                      <a:pPr rtl="1" algn="ctr" indent="0" marL="0">
                        <a:buNone/>
                      </a:pPr>
                      <a:r>
                        <a:rPr lang="ar-EG" altLang="en-US" sz="1500" b="1" dirty="0">
                          <a:solidFill>
                            <a:srgbClr val="E8B84B"/>
                          </a:solidFill>
                          <a:latin typeface="EB Garamond"/>
                          <a:cs typeface="Noto Naskh Arabic"/>
                        </a:rPr>
                        <a:t>المدة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500" b="1" dirty="0">
                          <a:solidFill>
                            <a:srgbClr val="E8B84B"/>
                          </a:solidFill>
                          <a:latin typeface="EB Garamond"/>
                          <a:cs typeface="Noto Naskh Arabic"/>
                        </a:rPr>
                        <a:t>نهاية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500" b="1" dirty="0">
                          <a:solidFill>
                            <a:srgbClr val="E8B84B"/>
                          </a:solidFill>
                          <a:latin typeface="EB Garamond"/>
                          <a:cs typeface="Noto Naskh Arabic"/>
                        </a:rPr>
                        <a:t>بداية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500" b="1" dirty="0">
                          <a:solidFill>
                            <a:srgbClr val="E8B84B"/>
                          </a:solidFill>
                          <a:latin typeface="EB Garamond"/>
                          <a:cs typeface="Noto Naskh Arabic"/>
                        </a:rPr>
                        <a:t>المدينة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475488">
                <a:tc>
                  <a:txBody>
                    <a:bodyPr/>
                    <a:lstStyle/>
                    <a:p>
                      <a:pPr rtl="1" algn="ctr" indent="0" marL="0">
                        <a:buNone/>
                      </a:pPr>
                      <a:r>
                        <a:rPr lang="ar-EG" altLang="en-US" sz="1500" b="1" dirty="0">
                          <a:solidFill>
                            <a:srgbClr val="E8B84B"/>
                          </a:solidFill>
                          <a:latin typeface="EB Garamond"/>
                          <a:cs typeface="Noto Naskh Arabic"/>
                        </a:rPr>
                        <a:t>٦ د ٠٧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١٣:٠٢:٥٣</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١٢:٥٦:٤٦</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أسيوط</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٥ د ٤٤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١٣:٠٨:٢٨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١٣:٠٢:٤٣</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إسنا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ctr" indent="0" marL="0">
                        <a:buNone/>
                      </a:pPr>
                      <a:r>
                        <a:rPr lang="ar-EG" altLang="en-US" sz="1500" b="1" dirty="0">
                          <a:solidFill>
                            <a:srgbClr val="E8B84B"/>
                          </a:solidFill>
                          <a:latin typeface="EB Garamond"/>
                          <a:cs typeface="Noto Naskh Arabic"/>
                        </a:rPr>
                        <a:t>٥ د ٣١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١٣:١٣:٢٥</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١٣:٠٧:٥٤</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مرسى علم</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٥ د ٣٠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١٣:٠٩:٣١</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١٣:٠٤:٠١</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إدفو</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ctr" indent="0" marL="0">
                        <a:buNone/>
                      </a:pPr>
                      <a:r>
                        <a:rPr lang="ar-EG" altLang="en-US" sz="1500" b="1" dirty="0">
                          <a:solidFill>
                            <a:srgbClr val="E8B84B"/>
                          </a:solidFill>
                          <a:latin typeface="EB Garamond"/>
                          <a:cs typeface="Noto Naskh Arabic"/>
                        </a:rPr>
                        <a:t>٥ د ٢٨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١٢:٤٧:٥٥</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١٢:٤٢:٢٦</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سيوة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٤ د ٠٩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١٢:٥٩:٣٧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١٢:٥٥:٢٨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المنيا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ctr" indent="0" marL="0">
                        <a:buNone/>
                      </a:pPr>
                      <a:r>
                        <a:rPr lang="ar-EG" altLang="en-US" sz="1500" b="1" dirty="0">
                          <a:solidFill>
                            <a:srgbClr val="E8B84B"/>
                          </a:solidFill>
                          <a:latin typeface="EB Garamond"/>
                          <a:cs typeface="Noto Naskh Arabic"/>
                        </a:rPr>
                        <a:t>٣ د ٢١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١٣:٠٩:٢٥</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dirty="0">
                          <a:solidFill>
                            <a:srgbClr val="F0E0B0"/>
                          </a:solidFill>
                          <a:latin typeface="EB Garamond"/>
                          <a:cs typeface="Noto Naskh Arabic"/>
                        </a:rPr>
                        <a:t>١٣:٠٦:٠٤</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500" b="1" dirty="0">
                          <a:solidFill>
                            <a:srgbClr val="F0E0B0"/>
                          </a:solidFill>
                          <a:latin typeface="EB Garamond"/>
                          <a:cs typeface="Noto Naskh Arabic"/>
                        </a:rPr>
                        <a:t>كوم أمبو</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ctr" indent="0" marL="0">
                        <a:buNone/>
                      </a:pPr>
                      <a:r>
                        <a:rPr lang="ar-EG" altLang="en-US" sz="1500" b="1" dirty="0">
                          <a:solidFill>
                            <a:srgbClr val="E8B84B"/>
                          </a:solidFill>
                          <a:latin typeface="EB Garamond"/>
                          <a:cs typeface="Noto Naskh Arabic"/>
                        </a:rPr>
                        <a:t>٢ د ٣١ 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١٣:٠٩:٠٢</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dirty="0">
                          <a:solidFill>
                            <a:srgbClr val="F0E0B0"/>
                          </a:solidFill>
                          <a:latin typeface="EB Garamond"/>
                          <a:cs typeface="Noto Naskh Arabic"/>
                        </a:rPr>
                        <a:t>١٣:٠٦:٣٠</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500" b="1" dirty="0">
                          <a:solidFill>
                            <a:srgbClr val="F0E0B0"/>
                          </a:solidFill>
                          <a:latin typeface="EB Garamond"/>
                          <a:cs typeface="Noto Naskh Arabic"/>
                        </a:rPr>
                        <a:t>القصير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sp>
        <p:nvSpPr>
          <p:cNvPr id="7" name="Text 3"/>
          <p:cNvSpPr txBox="1"/>
          <p:nvPr/>
        </p:nvSpPr>
        <p:spPr>
          <a:xfrm>
            <a:off x="548640" y="5806440"/>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الأوقات بتوقيت مصر الصيفي (ت.ع +٣)، والراصد عند مستوى سطح البحر؛ قد تختلف التماسات ثواني قليلة بسبب تضاريس حافة القمر</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41</a:t>
            </a:fld>
            <a:endParaRPr lang="en-US">
              <a:latin typeface="EB Garamond"/>
              <a:cs typeface="Noto Naskh Arabic"/>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kicker-box"/>
          <p:cNvSpPr/>
          <p:nvPr/>
        </p:nvSpPr>
        <p:spPr>
          <a:xfrm>
            <a:off x="5662879" y="182880"/>
            <a:ext cx="5980176" cy="274320"/>
          </a:xfrm>
          <a:prstGeom prst="rect">
            <a:avLst/>
          </a:prstGeom>
          <a:solidFill>
            <a:srgbClr val="1B3A6B"/>
          </a:solidFill>
          <a:ln w="12700">
            <a:solidFill>
              <a:srgbClr val="E8B84B"/>
            </a:solidFill>
            <a:prstDash val="solid"/>
          </a:ln>
        </p:spPr>
      </p:sp>
      <p:sp>
        <p:nvSpPr>
          <p:cNvPr id="3" name="kicker"/>
          <p:cNvSpPr txBox="1"/>
          <p:nvPr/>
        </p:nvSpPr>
        <p:spPr>
          <a:xfrm>
            <a:off x="5662879" y="182880"/>
            <a:ext cx="598017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PARTIAL ECLIPSE TIMES IN CITIES OUTSIDE THE PATH (UT+3)</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مواعيد الكسوف الجزئي في المدن خارج المسار</a:t>
            </a:r>
            <a:endParaRPr lang="ar-EG" sz="3000" dirty="0">
              <a:latin typeface="EB Garamond"/>
              <a:cs typeface="Amiri"/>
            </a:endParaRPr>
          </a:p>
        </p:txBody>
      </p:sp>
      <p:graphicFrame>
        <p:nvGraphicFramePr>
          <p:cNvPr id="43" name="partial-table"/>
          <p:cNvGraphicFramePr>
            <a:graphicFrameLocks noGrp="1"/>
          </p:cNvGraphicFramePr>
          <p:nvPr>
            <p:extLst>
              <p:ext uri="{D42A27DB-BD31-4B8C-83A1-F6EECF244321}">
                <p14:modId xmlns:p14="http://schemas.microsoft.com/office/powerpoint/2010/main" val="1579011935"/>
              </p:ext>
            </p:extLst>
          </p:nvPr>
        </p:nvGraphicFramePr>
        <p:xfrm>
          <a:off x="548640" y="1371600"/>
          <a:ext cx="7498080" cy="914400"/>
        </p:xfrm>
        <a:graphic>
          <a:graphicData uri="http://schemas.openxmlformats.org/drawingml/2006/table">
            <a:tbl>
              <a:tblPr/>
              <a:tblGrid>
                <a:gridCol w="1280160"/>
                <a:gridCol w="1508760"/>
                <a:gridCol w="1508760"/>
                <a:gridCol w="1508760"/>
                <a:gridCol w="1691640"/>
              </a:tblGrid>
              <a:tr h="393192">
                <a:tc>
                  <a:txBody>
                    <a:bodyPr/>
                    <a:lstStyle/>
                    <a:p>
                      <a:pPr rtl="1" algn="ctr" indent="0" marL="0">
                        <a:buNone/>
                      </a:pPr>
                      <a:r>
                        <a:rPr lang="ar-EG" altLang="en-US" sz="1400" b="1" dirty="0">
                          <a:solidFill>
                            <a:srgbClr val="E8B84B"/>
                          </a:solidFill>
                          <a:latin typeface="EB Garamond"/>
                          <a:cs typeface="Noto Naskh Arabic"/>
                        </a:rPr>
                        <a:t>الاحتجاب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400" b="1" dirty="0">
                          <a:solidFill>
                            <a:srgbClr val="E8B84B"/>
                          </a:solidFill>
                          <a:latin typeface="EB Garamond"/>
                          <a:cs typeface="Noto Naskh Arabic"/>
                        </a:rPr>
                        <a:t>النهاية (C4)</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400" b="1" dirty="0">
                          <a:solidFill>
                            <a:srgbClr val="E8B84B"/>
                          </a:solidFill>
                          <a:latin typeface="EB Garamond"/>
                          <a:cs typeface="Noto Naskh Arabic"/>
                        </a:rPr>
                        <a:t>الذروة (Max)</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400" b="1" dirty="0">
                          <a:solidFill>
                            <a:srgbClr val="E8B84B"/>
                          </a:solidFill>
                          <a:latin typeface="EB Garamond"/>
                          <a:cs typeface="Noto Naskh Arabic"/>
                        </a:rPr>
                        <a:t>البداية (C1)</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400" b="1" dirty="0">
                          <a:solidFill>
                            <a:srgbClr val="E8B84B"/>
                          </a:solidFill>
                          <a:latin typeface="EB Garamond"/>
                          <a:cs typeface="Noto Naskh Arabic"/>
                        </a:rPr>
                        <a:t>المدينة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393192">
                <a:tc>
                  <a:txBody>
                    <a:bodyPr/>
                    <a:lstStyle/>
                    <a:p>
                      <a:pPr rtl="1" algn="ctr" indent="0" marL="0">
                        <a:buNone/>
                      </a:pPr>
                      <a:r>
                        <a:rPr lang="ar-EG" altLang="en-US" sz="1400" b="1" dirty="0">
                          <a:solidFill>
                            <a:srgbClr val="C9962B"/>
                          </a:solidFill>
                          <a:latin typeface="EB Garamond"/>
                          <a:cs typeface="Noto Naskh Arabic"/>
                        </a:rPr>
                        <a:t>٩٩٫٨٪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١٤:٢٩:٤٢</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١٣:٠٨:١٧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١١:٤٢:٤٢</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أسوان</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393192">
                <a:tc>
                  <a:txBody>
                    <a:bodyPr/>
                    <a:lstStyle/>
                    <a:p>
                      <a:pPr rtl="1" algn="ctr" indent="0" marL="0">
                        <a:buNone/>
                      </a:pPr>
                      <a:r>
                        <a:rPr lang="ar-EG" altLang="en-US" sz="1400" b="1" dirty="0">
                          <a:solidFill>
                            <a:srgbClr val="C9962B"/>
                          </a:solidFill>
                          <a:latin typeface="EB Garamond"/>
                          <a:cs typeface="Noto Naskh Arabic"/>
                        </a:rPr>
                        <a:t>٩٩٫٦٪</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١٤:٢٦:٢٨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١٣:٠٦:٠٤</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١١:٤١:٤٦</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سفاجا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393192">
                <a:tc>
                  <a:txBody>
                    <a:bodyPr/>
                    <a:lstStyle/>
                    <a:p>
                      <a:pPr rtl="1" algn="ctr" indent="0" marL="0">
                        <a:buNone/>
                      </a:pPr>
                      <a:r>
                        <a:rPr lang="ar-EG" altLang="en-US" sz="1400" b="1" dirty="0">
                          <a:solidFill>
                            <a:srgbClr val="C9962B"/>
                          </a:solidFill>
                          <a:latin typeface="EB Garamond"/>
                          <a:cs typeface="Noto Naskh Arabic"/>
                        </a:rPr>
                        <a:t>٩٩٫٥٪</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١٤:٢٣:٢٣</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١٣:٠١:١٢</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١١:٣٥:٥٩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الخارجة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393192">
                <a:tc>
                  <a:txBody>
                    <a:bodyPr/>
                    <a:lstStyle/>
                    <a:p>
                      <a:pPr rtl="1" algn="ctr" indent="0" marL="0">
                        <a:buNone/>
                      </a:pPr>
                      <a:r>
                        <a:rPr lang="ar-EG" altLang="en-US" sz="1400" b="1" dirty="0">
                          <a:solidFill>
                            <a:srgbClr val="C9962B"/>
                          </a:solidFill>
                          <a:latin typeface="EB Garamond"/>
                          <a:cs typeface="Noto Naskh Arabic"/>
                        </a:rPr>
                        <a:t>٩٨٫٦٪</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١٤:٢٥:١٧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١٣:٠٤:٥٩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١١:٤٠:٥٧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الغردقة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393192">
                <a:tc>
                  <a:txBody>
                    <a:bodyPr/>
                    <a:lstStyle/>
                    <a:p>
                      <a:pPr rtl="1" algn="ctr" indent="0" marL="0">
                        <a:buNone/>
                      </a:pPr>
                      <a:r>
                        <a:rPr lang="ar-EG" altLang="en-US" sz="1400" b="1" dirty="0">
                          <a:solidFill>
                            <a:srgbClr val="C9962B"/>
                          </a:solidFill>
                          <a:latin typeface="EB Garamond"/>
                          <a:cs typeface="Noto Naskh Arabic"/>
                        </a:rPr>
                        <a:t>٩٥٫٦٪</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١٤:٢٤:٤٤</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١٣:٠٤:٥٨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١١:٤١:٢٦</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شرم الشيخ</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393192">
                <a:tc>
                  <a:txBody>
                    <a:bodyPr/>
                    <a:lstStyle/>
                    <a:p>
                      <a:pPr rtl="1" algn="ctr" indent="0" marL="0">
                        <a:buNone/>
                      </a:pPr>
                      <a:r>
                        <a:rPr lang="ar-EG" altLang="en-US" sz="1400" b="1" dirty="0">
                          <a:solidFill>
                            <a:srgbClr val="C9962B"/>
                          </a:solidFill>
                          <a:latin typeface="EB Garamond"/>
                          <a:cs typeface="Noto Naskh Arabic"/>
                        </a:rPr>
                        <a:t>٩٥٫٠٪</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١٤:١٦:٠٧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١٢:٥٥:٤٣</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١١:٣٢:٥٩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الجيزة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393192">
                <a:tc>
                  <a:txBody>
                    <a:bodyPr/>
                    <a:lstStyle/>
                    <a:p>
                      <a:pPr rtl="1" algn="ctr" indent="0" marL="0">
                        <a:buNone/>
                      </a:pPr>
                      <a:r>
                        <a:rPr lang="ar-EG" altLang="en-US" sz="1400" b="1" dirty="0">
                          <a:solidFill>
                            <a:srgbClr val="C9962B"/>
                          </a:solidFill>
                          <a:latin typeface="EB Garamond"/>
                          <a:cs typeface="Noto Naskh Arabic"/>
                        </a:rPr>
                        <a:t>٩٤٫٨٪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١٤:١٦:٠٥</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١٢:٥٥:٤٣</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١١:٣٣:٠١</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القاهرة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393192">
                <a:tc>
                  <a:txBody>
                    <a:bodyPr/>
                    <a:lstStyle/>
                    <a:p>
                      <a:pPr rtl="1" algn="ctr" indent="0" marL="0">
                        <a:buNone/>
                      </a:pPr>
                      <a:r>
                        <a:rPr lang="ar-EG" altLang="en-US" sz="1400" b="1" dirty="0">
                          <a:solidFill>
                            <a:srgbClr val="C9962B"/>
                          </a:solidFill>
                          <a:latin typeface="EB Garamond"/>
                          <a:cs typeface="Noto Naskh Arabic"/>
                        </a:rPr>
                        <a:t>٩٣٫٤٪</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١٤:١١:٥٣</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١٢:٥١:٣٣</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١١:٢٩:٣٣</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الإسكندرية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393192">
                <a:tc>
                  <a:txBody>
                    <a:bodyPr/>
                    <a:lstStyle/>
                    <a:p>
                      <a:pPr rtl="1" algn="ctr" indent="0" marL="0">
                        <a:buNone/>
                      </a:pPr>
                      <a:r>
                        <a:rPr lang="ar-EG" altLang="en-US" sz="1400" b="1" dirty="0">
                          <a:solidFill>
                            <a:srgbClr val="C9962B"/>
                          </a:solidFill>
                          <a:latin typeface="EB Garamond"/>
                          <a:cs typeface="Noto Naskh Arabic"/>
                        </a:rPr>
                        <a:t>٩٢٫٠٪</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١٤:٣٠:٢٧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١٣:٠٨:٣٢</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dirty="0">
                          <a:solidFill>
                            <a:srgbClr val="F0E0B0"/>
                          </a:solidFill>
                          <a:latin typeface="EB Garamond"/>
                          <a:cs typeface="Noto Naskh Arabic"/>
                        </a:rPr>
                        <a:t>١١:٤٢:٢٩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أبو سمبل</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393192">
                <a:tc>
                  <a:txBody>
                    <a:bodyPr/>
                    <a:lstStyle/>
                    <a:p>
                      <a:pPr rtl="1" algn="ctr" indent="0" marL="0">
                        <a:buNone/>
                      </a:pPr>
                      <a:r>
                        <a:rPr lang="ar-EG" altLang="en-US" sz="1400" b="1" dirty="0">
                          <a:solidFill>
                            <a:srgbClr val="C9962B"/>
                          </a:solidFill>
                          <a:latin typeface="EB Garamond"/>
                          <a:cs typeface="Noto Naskh Arabic"/>
                        </a:rPr>
                        <a:t>٨٨٫٥٪</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١٤:١٥:١٤</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١٢:٥٦:٠٤</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dirty="0">
                          <a:solidFill>
                            <a:srgbClr val="F0E0B0"/>
                          </a:solidFill>
                          <a:latin typeface="EB Garamond"/>
                          <a:cs typeface="Noto Naskh Arabic"/>
                        </a:rPr>
                        <a:t>١١:٣٤:٢٩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بورسعيد</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sp>
        <p:nvSpPr>
          <p:cNvPr id="6" name="partial-note"/>
          <p:cNvSpPr/>
          <p:nvPr/>
        </p:nvSpPr>
        <p:spPr>
          <a:xfrm>
            <a:off x="8321040" y="1371600"/>
            <a:ext cx="3322015" cy="4343400"/>
          </a:xfrm>
          <a:prstGeom prst="rect">
            <a:avLst/>
          </a:prstGeom>
          <a:solidFill>
            <a:srgbClr val="1B3A6B"/>
          </a:solidFill>
          <a:ln w="9525">
            <a:solidFill>
              <a:srgbClr val="1B3A6B"/>
            </a:solidFill>
            <a:prstDash val="solid"/>
          </a:ln>
        </p:spPr>
      </p:sp>
      <p:sp>
        <p:nvSpPr>
          <p:cNvPr id="7" name="Text 4"/>
          <p:cNvSpPr txBox="1"/>
          <p:nvPr/>
        </p:nvSpPr>
        <p:spPr>
          <a:xfrm>
            <a:off x="8549640" y="1554480"/>
            <a:ext cx="2864815" cy="3977640"/>
          </a:xfrm>
          <a:prstGeom prst="rect">
            <a:avLst/>
          </a:prstGeom>
          <a:noFill/>
          <a:ln/>
        </p:spPr>
        <p:txBody>
          <a:bodyPr wrap="square" lIns="0" tIns="0" rIns="0" bIns="0" rtlCol="0" anchor="t"/>
          <a:lstStyle/>
          <a:p>
            <a:pPr rtl="1" algn="r" indent="0" marL="0">
              <a:spcAft>
                <a:spcPts val="1200"/>
              </a:spcAft>
              <a:buNone/>
            </a:pPr>
            <a:r>
              <a:rPr lang="ar-EG" altLang="en-US" sz="2000" b="1" dirty="0">
                <a:solidFill>
                  <a:srgbClr val="E8B84B"/>
                </a:solidFill>
                <a:latin typeface="EB Garamond"/>
                <a:cs typeface="Noto Naskh Arabic"/>
              </a:rPr>
              <a:t>في هذه المدن</a:t>
            </a:r>
            <a:endParaRPr lang="en-US" sz="2000" dirty="0">
              <a:latin typeface="EB Garamond"/>
              <a:cs typeface="Noto Naskh Arabic"/>
            </a:endParaRPr>
          </a:p>
          <a:p>
            <a:pPr rtl="1" algn="r" indent="0" marL="0">
              <a:spcAft>
                <a:spcPts val="1200"/>
              </a:spcAft>
              <a:buNone/>
            </a:pPr>
            <a:r>
              <a:rPr lang="ar-EG" altLang="en-US" sz="1600" dirty="0">
                <a:solidFill>
                  <a:srgbClr val="FAF3E0"/>
                </a:solidFill>
                <a:latin typeface="EB Garamond"/>
                <a:cs typeface="Noto Naskh Arabic"/>
              </a:rPr>
              <a:t>لا توجد لحظة كلية، فالنظارة على العين من البداية إلى النهاية.</a:t>
            </a:r>
            <a:endParaRPr lang="en-US" sz="2000" dirty="0">
              <a:latin typeface="EB Garamond"/>
              <a:cs typeface="Noto Naskh Arabic"/>
            </a:endParaRPr>
          </a:p>
          <a:p>
            <a:pPr rtl="1" algn="r" indent="0" marL="0">
              <a:spcAft>
                <a:spcPts val="1200"/>
              </a:spcAft>
              <a:buNone/>
            </a:pPr>
            <a:r>
              <a:rPr lang="ar-EG" altLang="en-US" sz="1500" dirty="0">
                <a:solidFill>
                  <a:srgbClr val="F0E0B0"/>
                </a:solidFill>
                <a:latin typeface="EB Garamond"/>
                <a:cs typeface="Noto Naskh Arabic"/>
              </a:rPr>
              <a:t>الحدث كله نحو ساعتين وأربعين دقيقة، وذروته بين ١٢:٥١ (الإسكندرية) و١٣:٠٨ (أسوان).</a:t>
            </a:r>
            <a:endParaRPr lang="en-US" sz="2000" dirty="0">
              <a:latin typeface="EB Garamond"/>
              <a:cs typeface="Noto Naskh Arabic"/>
            </a:endParaRPr>
          </a:p>
        </p:txBody>
      </p:sp>
      <p:sp>
        <p:nvSpPr>
          <p:cNvPr id="8" name="Text 5"/>
          <p:cNvSpPr txBox="1"/>
          <p:nvPr/>
        </p:nvSpPr>
        <p:spPr>
          <a:xfrm>
            <a:off x="548640" y="6053328"/>
            <a:ext cx="7498080"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المصدر: جدول المدن في ملحق الكتاب (محسوب)؛ توقيت مصر الصيفي</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42</a:t>
            </a:fld>
            <a:endParaRPr lang="en-US">
              <a:latin typeface="EB Garamond"/>
              <a:cs typeface="Noto Naskh Arabic"/>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kicker-box"/>
          <p:cNvSpPr/>
          <p:nvPr/>
        </p:nvSpPr>
        <p:spPr>
          <a:xfrm>
            <a:off x="6255410" y="182880"/>
            <a:ext cx="5387645" cy="274320"/>
          </a:xfrm>
          <a:prstGeom prst="rect">
            <a:avLst/>
          </a:prstGeom>
          <a:solidFill>
            <a:srgbClr val="1B3A6B"/>
          </a:solidFill>
          <a:ln w="12700">
            <a:solidFill>
              <a:srgbClr val="E8B84B"/>
            </a:solidFill>
            <a:prstDash val="solid"/>
          </a:ln>
        </p:spPr>
      </p:sp>
      <p:sp>
        <p:nvSpPr>
          <p:cNvPr id="3" name="kicker"/>
          <p:cNvSpPr txBox="1"/>
          <p:nvPr/>
        </p:nvSpPr>
        <p:spPr>
          <a:xfrm>
            <a:off x="6255410" y="182880"/>
            <a:ext cx="5387645"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OUTSIDE THE PATH: A PARTIAL ECLIPSE STAYS PARTIAL</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خارج المسار: الجزئي يبقى جزئيًا مهما بلغ</a:t>
            </a:r>
            <a:endParaRPr lang="ar-EG" sz="3000" dirty="0">
              <a:latin typeface="EB Garamond"/>
              <a:cs typeface="Amiri"/>
            </a:endParaRPr>
          </a:p>
        </p:txBody>
      </p:sp>
      <p:graphicFrame>
        <p:nvGraphicFramePr>
          <p:cNvPr id="5" name="chart-partial-cities" descr=""/>
          <p:cNvGraphicFramePr/>
          <p:nvPr/>
        </p:nvGraphicFramePr>
        <p:xfrm>
          <a:off x="548640" y="1325880"/>
          <a:ext cx="6675120" cy="4709160"/>
        </p:xfrm>
        <a:graphic xmlns:a="http://schemas.openxmlformats.org/drawingml/2006/main">
          <a:graphicData uri="http://schemas.openxmlformats.org/drawingml/2006/chart">
            <c:chart xmlns:c="http://schemas.openxmlformats.org/drawingml/2006/chart" r:id="rId1"/>
          </a:graphicData>
        </a:graphic>
      </p:graphicFrame>
      <p:sp>
        <p:nvSpPr>
          <p:cNvPr id="6" name="warn-card"/>
          <p:cNvSpPr/>
          <p:nvPr/>
        </p:nvSpPr>
        <p:spPr>
          <a:xfrm>
            <a:off x="7543800" y="1371600"/>
            <a:ext cx="4099255" cy="2057400"/>
          </a:xfrm>
          <a:prstGeom prst="rect">
            <a:avLst/>
          </a:prstGeom>
          <a:solidFill>
            <a:srgbClr val="8B3A1A"/>
          </a:solidFill>
          <a:ln w="9525">
            <a:solidFill>
              <a:srgbClr val="C9962B"/>
            </a:solidFill>
            <a:prstDash val="solid"/>
          </a:ln>
        </p:spPr>
      </p:sp>
      <p:sp>
        <p:nvSpPr>
          <p:cNvPr id="7" name="Text 4"/>
          <p:cNvSpPr txBox="1"/>
          <p:nvPr/>
        </p:nvSpPr>
        <p:spPr>
          <a:xfrm>
            <a:off x="7772400" y="1481328"/>
            <a:ext cx="3642055" cy="1828800"/>
          </a:xfrm>
          <a:prstGeom prst="rect">
            <a:avLst/>
          </a:prstGeom>
          <a:noFill/>
          <a:ln/>
        </p:spPr>
        <p:txBody>
          <a:bodyPr wrap="square" lIns="0" tIns="0" rIns="0" bIns="0" rtlCol="0" anchor="ctr"/>
          <a:lstStyle/>
          <a:p>
            <a:pPr rtl="1" algn="r" indent="0" marL="0">
              <a:spcAft>
                <a:spcPts val="600"/>
              </a:spcAft>
              <a:buNone/>
            </a:pPr>
            <a:r>
              <a:rPr lang="ar-EG" altLang="en-US" sz="2600" b="1" dirty="0">
                <a:solidFill>
                  <a:srgbClr val="FAF3E0"/>
                </a:solidFill>
                <a:latin typeface="EB Garamond"/>
                <a:cs typeface="Amiri"/>
              </a:rPr>
              <a:t>٩٩٫٨٪ ≠ كلي</a:t>
            </a:r>
            <a:endParaRPr lang="en-US" sz="2600" dirty="0">
              <a:latin typeface="EB Garamond"/>
              <a:cs typeface="Amiri"/>
            </a:endParaRPr>
          </a:p>
          <a:p>
            <a:pPr rtl="1" algn="r" indent="0" marL="0">
              <a:spcAft>
                <a:spcPts val="600"/>
              </a:spcAft>
              <a:buNone/>
            </a:pPr>
            <a:r>
              <a:rPr lang="ar-EG" altLang="en-US" sz="1500" dirty="0">
                <a:solidFill>
                  <a:srgbClr val="FAF3E0"/>
                </a:solidFill>
                <a:latin typeface="EB Garamond"/>
                <a:cs typeface="Noto Naskh Arabic"/>
              </a:rPr>
              <a:t>الجزء الباقي من الشمس في أسوان أسطع بآلاف المرات من الهالة: لا ليل، ولا هالة، ولا نزع للنظارة أبدًا</a:t>
            </a:r>
            <a:endParaRPr lang="en-US" sz="2600" dirty="0">
              <a:latin typeface="EB Garamond"/>
              <a:cs typeface="Amiri"/>
            </a:endParaRPr>
          </a:p>
        </p:txBody>
      </p:sp>
      <p:pic>
        <p:nvPicPr>
          <p:cNvPr id="8" name="partialVsTotal" descr="partialVsTotal">    </p:cNvPr>
          <p:cNvPicPr>
            <a:picLocks noChangeAspect="1"/>
          </p:cNvPicPr>
          <p:nvPr/>
        </p:nvPicPr>
        <p:blipFill>
          <a:blip r:embed="rId2"/>
          <a:stretch>
            <a:fillRect/>
          </a:stretch>
        </p:blipFill>
        <p:spPr>
          <a:xfrm>
            <a:off x="7696118" y="3611880"/>
            <a:ext cx="3794620" cy="2103120"/>
          </a:xfrm>
          <a:prstGeom prst="rect">
            <a:avLst/>
          </a:prstGeom>
        </p:spPr>
      </p:pic>
      <p:sp>
        <p:nvSpPr>
          <p:cNvPr id="9" name="Text 5"/>
          <p:cNvSpPr txBox="1"/>
          <p:nvPr/>
        </p:nvSpPr>
        <p:spPr>
          <a:xfrm>
            <a:off x="7543800" y="6053328"/>
            <a:ext cx="409925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المصدر: جدول المدن في ملحق الكتاب (محسوب)؛ الصورة: الشكل ٢١-٤</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43</a:t>
            </a:fld>
            <a:endParaRPr lang="en-US">
              <a:latin typeface="EB Garamond"/>
              <a:cs typeface="Noto Naskh Arabic"/>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٣-ب</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كيف سيبدو الكسوف في الأقصر؟</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What the eclipse will look like in Luxor</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المراحل كاملة، وشكل الشمس في كل مرحلة، والسماء لحظة الكلية، والمواقع الأثرية تحت الظل</a:t>
            </a:r>
            <a:endParaRPr lang="ar-EG" sz="1600" dirty="0">
              <a:latin typeface="EB Garamond"/>
              <a:cs typeface="Noto Naskh Arabic"/>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kicker-box"/>
          <p:cNvSpPr/>
          <p:nvPr/>
        </p:nvSpPr>
        <p:spPr>
          <a:xfrm>
            <a:off x="9316822" y="182880"/>
            <a:ext cx="2326234" cy="274320"/>
          </a:xfrm>
          <a:prstGeom prst="rect">
            <a:avLst/>
          </a:prstGeom>
          <a:solidFill>
            <a:srgbClr val="1B3A6B"/>
          </a:solidFill>
          <a:ln w="12700">
            <a:solidFill>
              <a:srgbClr val="E8B84B"/>
            </a:solidFill>
            <a:prstDash val="solid"/>
          </a:ln>
        </p:spPr>
      </p:sp>
      <p:sp>
        <p:nvSpPr>
          <p:cNvPr id="3" name="kicker"/>
          <p:cNvSpPr txBox="1"/>
          <p:nvPr/>
        </p:nvSpPr>
        <p:spPr>
          <a:xfrm>
            <a:off x="9316822" y="182880"/>
            <a:ext cx="232623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LUXOR ECLIPSE CARD</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بطاقة الأقصر</a:t>
            </a:r>
            <a:endParaRPr lang="ar-EG" sz="3000" dirty="0">
              <a:latin typeface="EB Garamond"/>
              <a:cs typeface="Amiri"/>
            </a:endParaRPr>
          </a:p>
        </p:txBody>
      </p:sp>
      <p:pic>
        <p:nvPicPr>
          <p:cNvPr id="5" name="luxorCard" descr="luxorCard">    </p:cNvPr>
          <p:cNvPicPr>
            <a:picLocks noChangeAspect="1"/>
          </p:cNvPicPr>
          <p:nvPr/>
        </p:nvPicPr>
        <p:blipFill>
          <a:blip r:embed="rId1"/>
          <a:stretch>
            <a:fillRect/>
          </a:stretch>
        </p:blipFill>
        <p:spPr>
          <a:xfrm>
            <a:off x="826985" y="1325880"/>
            <a:ext cx="3558110" cy="4663440"/>
          </a:xfrm>
          <a:prstGeom prst="rect">
            <a:avLst/>
          </a:prstGeom>
        </p:spPr>
      </p:pic>
      <p:sp>
        <p:nvSpPr>
          <p:cNvPr id="6" name="Text 3"/>
          <p:cNvSpPr txBox="1"/>
          <p:nvPr/>
        </p:nvSpPr>
        <p:spPr>
          <a:xfrm>
            <a:off x="4983480" y="1325880"/>
            <a:ext cx="6659575" cy="822960"/>
          </a:xfrm>
          <a:prstGeom prst="rect">
            <a:avLst/>
          </a:prstGeom>
          <a:noFill/>
          <a:ln/>
        </p:spPr>
        <p:txBody>
          <a:bodyPr wrap="square" lIns="0" tIns="0" rIns="0" bIns="0" rtlCol="0" anchor="t"/>
          <a:lstStyle/>
          <a:p>
            <a:pPr rtl="1" algn="r" indent="0" marL="0">
              <a:buNone/>
            </a:pPr>
            <a:r>
              <a:rPr lang="ar-EG" altLang="en-US" sz="2000" b="1" dirty="0">
                <a:solidFill>
                  <a:srgbClr val="E8B84B"/>
                </a:solidFill>
                <a:latin typeface="EB Garamond"/>
                <a:cs typeface="Noto Naskh Arabic"/>
              </a:rPr>
              <a:t>الأقصر: كل ما تحتاجه في بطاقة</a:t>
            </a:r>
            <a:endParaRPr lang="ar-EG" sz="2000" dirty="0">
              <a:latin typeface="EB Garamond"/>
              <a:cs typeface="Noto Naskh Arabic"/>
            </a:endParaRPr>
          </a:p>
        </p:txBody>
      </p:sp>
      <p:sp>
        <p:nvSpPr>
          <p:cNvPr id="7" name="Text 4"/>
          <p:cNvSpPr txBox="1"/>
          <p:nvPr/>
        </p:nvSpPr>
        <p:spPr>
          <a:xfrm>
            <a:off x="4983480" y="2194560"/>
            <a:ext cx="6659575" cy="384048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بداية الكسوف: </a:t>
            </a:r>
            <a:pPr rtl="1" algn="r" indent="0" marL="0">
              <a:buNone/>
            </a:pPr>
            <a:r>
              <a:rPr lang="ar-EG" altLang="en-US" sz="2000" dirty="0">
                <a:solidFill>
                  <a:srgbClr val="F0E0B0"/>
                </a:solidFill>
                <a:latin typeface="EB Garamond"/>
                <a:cs typeface="Noto Naskh Arabic"/>
              </a:rPr>
              <a:t>١١:٤٠:٠٧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بداية الكلية: </a:t>
            </a:r>
            <a:pPr rtl="1" algn="r" indent="0" marL="0">
              <a:buNone/>
            </a:pPr>
            <a:r>
              <a:rPr lang="ar-EG" altLang="en-US" sz="2000" dirty="0">
                <a:solidFill>
                  <a:srgbClr val="F0E0B0"/>
                </a:solidFill>
                <a:latin typeface="EB Garamond"/>
                <a:cs typeface="Noto Naskh Arabic"/>
              </a:rPr>
              <a:t>١٣:٠١:٥٨</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نهاية الكلية: </a:t>
            </a:r>
            <a:pPr rtl="1" algn="r" indent="0" marL="0">
              <a:buNone/>
            </a:pPr>
            <a:r>
              <a:rPr lang="ar-EG" altLang="en-US" sz="2000" dirty="0">
                <a:solidFill>
                  <a:srgbClr val="F0E0B0"/>
                </a:solidFill>
                <a:latin typeface="EB Garamond"/>
                <a:cs typeface="Noto Naskh Arabic"/>
              </a:rPr>
              <a:t>١٣:٠٨:١٨ — ٦ د ٢٠ ث</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نهاية الكسوف: </a:t>
            </a:r>
            <a:pPr rtl="1" algn="r" indent="0" marL="0">
              <a:buNone/>
            </a:pPr>
            <a:r>
              <a:rPr lang="ar-EG" altLang="en-US" sz="2000" dirty="0">
                <a:solidFill>
                  <a:srgbClr val="F0E0B0"/>
                </a:solidFill>
                <a:latin typeface="EB Garamond"/>
                <a:cs typeface="Noto Naskh Arabic"/>
              </a:rPr>
              <a:t>١٤:٢٦:٢٥</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ارتفاع الشمس: </a:t>
            </a:r>
            <a:pPr rtl="1" algn="r" indent="0" marL="0">
              <a:buNone/>
            </a:pPr>
            <a:r>
              <a:rPr lang="ar-EG" altLang="en-US" sz="2000" dirty="0">
                <a:solidFill>
                  <a:srgbClr val="F0E0B0"/>
                </a:solidFill>
                <a:latin typeface="EB Garamond"/>
                <a:cs typeface="Noto Naskh Arabic"/>
              </a:rPr>
              <a:t>٨١٫٨° — قرب سمت الرأس</a:t>
            </a:r>
            <a:endParaRPr lang="ar-EG" sz="2000" dirty="0">
              <a:latin typeface="EB Garamond"/>
              <a:cs typeface="Noto Naskh Arabic"/>
            </a:endParaRPr>
          </a:p>
        </p:txBody>
      </p:sp>
      <p:sp>
        <p:nvSpPr>
          <p:cNvPr id="8" name="Text 5"/>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٢٥-٤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45</a:t>
            </a:fld>
            <a:endParaRPr lang="en-US">
              <a:latin typeface="EB Garamond"/>
              <a:cs typeface="Noto Naskh Arabic"/>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kicker-box"/>
          <p:cNvSpPr/>
          <p:nvPr/>
        </p:nvSpPr>
        <p:spPr>
          <a:xfrm>
            <a:off x="5267858" y="182880"/>
            <a:ext cx="6375197" cy="274320"/>
          </a:xfrm>
          <a:prstGeom prst="rect">
            <a:avLst/>
          </a:prstGeom>
          <a:solidFill>
            <a:srgbClr val="1B3A6B"/>
          </a:solidFill>
          <a:ln w="12700">
            <a:solidFill>
              <a:srgbClr val="E8B84B"/>
            </a:solidFill>
            <a:prstDash val="solid"/>
          </a:ln>
        </p:spPr>
      </p:sp>
      <p:sp>
        <p:nvSpPr>
          <p:cNvPr id="3" name="kicker"/>
          <p:cNvSpPr txBox="1"/>
          <p:nvPr/>
        </p:nvSpPr>
        <p:spPr>
          <a:xfrm>
            <a:off x="5267858" y="182880"/>
            <a:ext cx="637519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COMPLETE ECLIPSE TIMELINE AT LUXOR: WHAT TO SEE, WHAT TO DO</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مراحل الكسوف كاملة في الأقصر: ماذا ترى وماذا تفعل؟</a:t>
            </a:r>
            <a:endParaRPr lang="ar-EG" sz="3000" dirty="0">
              <a:latin typeface="EB Garamond"/>
              <a:cs typeface="Amiri"/>
            </a:endParaRPr>
          </a:p>
        </p:txBody>
      </p:sp>
      <p:graphicFrame>
        <p:nvGraphicFramePr>
          <p:cNvPr id="47" name="phases-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79392"/>
                <a:gridCol w="2148840"/>
                <a:gridCol w="2286000"/>
              </a:tblGrid>
              <a:tr h="475488">
                <a:tc>
                  <a:txBody>
                    <a:bodyPr/>
                    <a:lstStyle/>
                    <a:p>
                      <a:pPr rtl="1" algn="r" indent="0" marL="0">
                        <a:buNone/>
                      </a:pPr>
                      <a:r>
                        <a:rPr lang="ar-EG" altLang="en-US" sz="1400" b="1" dirty="0">
                          <a:solidFill>
                            <a:srgbClr val="E8B84B"/>
                          </a:solidFill>
                          <a:latin typeface="EB Garamond"/>
                          <a:cs typeface="Noto Naskh Arabic"/>
                        </a:rPr>
                        <a:t>ماذا تفعل؟</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r" indent="0" marL="0">
                        <a:buNone/>
                      </a:pPr>
                      <a:r>
                        <a:rPr lang="ar-EG" altLang="en-US" sz="1400" b="1" dirty="0">
                          <a:solidFill>
                            <a:srgbClr val="E8B84B"/>
                          </a:solidFill>
                          <a:latin typeface="EB Garamond"/>
                          <a:cs typeface="Noto Naskh Arabic"/>
                        </a:rPr>
                        <a:t>ماذا ترى؟</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r" indent="0" marL="0">
                        <a:buNone/>
                      </a:pPr>
                      <a:r>
                        <a:rPr lang="ar-EG" altLang="en-US" sz="1400" b="1" dirty="0">
                          <a:solidFill>
                            <a:srgbClr val="E8B84B"/>
                          </a:solidFill>
                          <a:latin typeface="EB Garamond"/>
                          <a:cs typeface="Noto Naskh Arabic"/>
                        </a:rPr>
                        <a:t>المرحلة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ctr" indent="0" marL="0">
                        <a:buNone/>
                      </a:pPr>
                      <a:r>
                        <a:rPr lang="ar-EG" altLang="en-US" sz="1400" b="1" dirty="0">
                          <a:solidFill>
                            <a:srgbClr val="E8B84B"/>
                          </a:solidFill>
                          <a:latin typeface="EB Garamond"/>
                          <a:cs typeface="Noto Naskh Arabic"/>
                        </a:rPr>
                        <a:t>الوقت</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475488">
                <a:tc>
                  <a:txBody>
                    <a:bodyPr/>
                    <a:lstStyle/>
                    <a:p>
                      <a:pPr rtl="1" algn="r" indent="0" marL="0">
                        <a:buNone/>
                      </a:pPr>
                      <a:r>
                        <a:rPr lang="ar-EG" altLang="en-US" sz="1400" dirty="0">
                          <a:solidFill>
                            <a:srgbClr val="D9714E"/>
                          </a:solidFill>
                          <a:latin typeface="EB Garamond"/>
                          <a:cs typeface="Noto Naskh Arabic"/>
                        </a:rPr>
                        <a:t>النظارة على العين</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400" dirty="0">
                          <a:solidFill>
                            <a:srgbClr val="F0E0B0"/>
                          </a:solidFill>
                          <a:latin typeface="EB Garamond"/>
                          <a:cs typeface="Noto Naskh Arabic"/>
                        </a:rPr>
                        <a:t>«عضّة» صغيرة على الحافة الغربية العليا للشمس</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400" b="1" dirty="0">
                          <a:solidFill>
                            <a:srgbClr val="F0E0B0"/>
                          </a:solidFill>
                          <a:latin typeface="EB Garamond"/>
                          <a:cs typeface="Noto Naskh Arabic"/>
                        </a:rPr>
                        <a:t>التماس الأول (C1)</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١١:٤٠:٠٧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r" indent="0" marL="0">
                        <a:buNone/>
                      </a:pPr>
                      <a:r>
                        <a:rPr lang="ar-EG" altLang="en-US" sz="1400" dirty="0">
                          <a:solidFill>
                            <a:srgbClr val="D9714E"/>
                          </a:solidFill>
                          <a:latin typeface="EB Garamond"/>
                          <a:cs typeface="Noto Naskh Arabic"/>
                        </a:rPr>
                        <a:t>كاميرا الثقب ومصفاة المطبخ</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dirty="0">
                          <a:solidFill>
                            <a:srgbClr val="F0E0B0"/>
                          </a:solidFill>
                          <a:latin typeface="EB Garamond"/>
                          <a:cs typeface="Noto Naskh Arabic"/>
                        </a:rPr>
                        <a:t>الاحتجاب ١٤٪ ← ٦٨٪؛ أهلّة الضوء تحت الأشجار</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b="1" dirty="0">
                          <a:solidFill>
                            <a:srgbClr val="F0E0B0"/>
                          </a:solidFill>
                          <a:latin typeface="EB Garamond"/>
                          <a:cs typeface="Noto Naskh Arabic"/>
                        </a:rPr>
                        <a:t>الجزئي المتزايد</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١٢:٠٠ – ١٢:٤٠</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r" indent="0" marL="0">
                        <a:buNone/>
                      </a:pPr>
                      <a:r>
                        <a:rPr lang="ar-EG" altLang="en-US" sz="1400" dirty="0">
                          <a:solidFill>
                            <a:srgbClr val="D9714E"/>
                          </a:solidFill>
                          <a:latin typeface="EB Garamond"/>
                          <a:cs typeface="Noto Naskh Arabic"/>
                        </a:rPr>
                        <a:t>اشرب، واستعد، وراقب الغرب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400" dirty="0">
                          <a:solidFill>
                            <a:srgbClr val="F0E0B0"/>
                          </a:solidFill>
                          <a:latin typeface="EB Garamond"/>
                          <a:cs typeface="Noto Naskh Arabic"/>
                        </a:rPr>
                        <a:t>نحو ٩١٪: ضوء معدني باهت، الحرارة تنخفض، الظلال حادة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400" b="1" dirty="0">
                          <a:solidFill>
                            <a:srgbClr val="F0E0B0"/>
                          </a:solidFill>
                          <a:latin typeface="EB Garamond"/>
                          <a:cs typeface="Noto Naskh Arabic"/>
                        </a:rPr>
                        <a:t>قبل الكلية بسبع دقائق</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١٢:٥٥</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r" indent="0" marL="0">
                        <a:buNone/>
                      </a:pPr>
                      <a:r>
                        <a:rPr lang="ar-EG" altLang="en-US" sz="1400" dirty="0">
                          <a:solidFill>
                            <a:srgbClr val="D9714E"/>
                          </a:solidFill>
                          <a:latin typeface="EB Garamond"/>
                          <a:cs typeface="Noto Naskh Arabic"/>
                        </a:rPr>
                        <a:t>النظارة حتى يختفي آخر ضوء</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dirty="0">
                          <a:solidFill>
                            <a:srgbClr val="F0E0B0"/>
                          </a:solidFill>
                          <a:latin typeface="EB Garamond"/>
                          <a:cs typeface="Noto Naskh Arabic"/>
                        </a:rPr>
                        <a:t>الأحزمة الظلية (Shadow bands)، ظل القمر قادم من الغرب، حبات بيلي ثم الخاتم الماسي</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b="1" dirty="0">
                          <a:solidFill>
                            <a:srgbClr val="F0E0B0"/>
                          </a:solidFill>
                          <a:latin typeface="EB Garamond"/>
                          <a:cs typeface="Noto Naskh Arabic"/>
                        </a:rPr>
                        <a:t>الدقيقة الأخيرة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١٣:٠١</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r" indent="0" marL="0">
                        <a:buNone/>
                      </a:pPr>
                      <a:r>
                        <a:rPr lang="ar-EG" altLang="en-US" sz="1400" dirty="0">
                          <a:solidFill>
                            <a:srgbClr val="FFFFFF"/>
                          </a:solidFill>
                          <a:latin typeface="EB Garamond"/>
                          <a:cs typeface="Noto Naskh Arabic"/>
                        </a:rPr>
                        <a:t>انزعوا النظارات وانظروا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24304A"/>
                    </a:solidFill>
                  </a:tcPr>
                </a:tc>
                <a:tc>
                  <a:txBody>
                    <a:bodyPr/>
                    <a:lstStyle/>
                    <a:p>
                      <a:pPr rtl="1" algn="r" indent="0" marL="0">
                        <a:buNone/>
                      </a:pPr>
                      <a:r>
                        <a:rPr lang="ar-EG" altLang="en-US" sz="1400" dirty="0">
                          <a:solidFill>
                            <a:srgbClr val="FFFFFF"/>
                          </a:solidFill>
                          <a:latin typeface="EB Garamond"/>
                          <a:cs typeface="Noto Naskh Arabic"/>
                        </a:rPr>
                        <a:t>الهالة، الشواظ الحمراء، الزهرة والمشتري وعطارد، غروب على الأفق كله</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24304A"/>
                    </a:solidFill>
                  </a:tcPr>
                </a:tc>
                <a:tc>
                  <a:txBody>
                    <a:bodyPr/>
                    <a:lstStyle/>
                    <a:p>
                      <a:pPr rtl="1" algn="r" indent="0" marL="0">
                        <a:buNone/>
                      </a:pPr>
                      <a:r>
                        <a:rPr lang="ar-EG" altLang="en-US" sz="1400" b="1" dirty="0">
                          <a:solidFill>
                            <a:srgbClr val="FFFFFF"/>
                          </a:solidFill>
                          <a:latin typeface="EB Garamond"/>
                          <a:cs typeface="Noto Naskh Arabic"/>
                        </a:rPr>
                        <a:t>الكلية (Totality) ٦ د ٢٠ ث</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24304A"/>
                    </a:solidFill>
                  </a:tcPr>
                </a:tc>
                <a:tc>
                  <a:txBody>
                    <a:bodyPr/>
                    <a:lstStyle/>
                    <a:p>
                      <a:pPr rtl="1" algn="ctr" indent="0" marL="0">
                        <a:buNone/>
                      </a:pPr>
                      <a:r>
                        <a:rPr lang="ar-EG" altLang="en-US" sz="1400" b="1" dirty="0">
                          <a:solidFill>
                            <a:srgbClr val="E8B84B"/>
                          </a:solidFill>
                          <a:latin typeface="EB Garamond"/>
                          <a:cs typeface="Noto Naskh Arabic"/>
                        </a:rPr>
                        <a:t>١٣:٠١:٥٨ – ١٣:٠٨:١٨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24304A"/>
                    </a:solidFill>
                  </a:tcPr>
                </a:tc>
              </a:tr>
              <a:tr h="475488">
                <a:tc>
                  <a:txBody>
                    <a:bodyPr/>
                    <a:lstStyle/>
                    <a:p>
                      <a:pPr rtl="1" algn="r" indent="0" marL="0">
                        <a:buNone/>
                      </a:pPr>
                      <a:r>
                        <a:rPr lang="ar-EG" altLang="en-US" sz="1400" dirty="0">
                          <a:solidFill>
                            <a:srgbClr val="D9714E"/>
                          </a:solidFill>
                          <a:latin typeface="EB Garamond"/>
                          <a:cs typeface="Noto Naskh Arabic"/>
                        </a:rPr>
                        <a:t>النظارات فورًا!</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dirty="0">
                          <a:solidFill>
                            <a:srgbClr val="F0E0B0"/>
                          </a:solidFill>
                          <a:latin typeface="EB Garamond"/>
                          <a:cs typeface="Noto Naskh Arabic"/>
                        </a:rPr>
                        <a:t>الخاتم الماسي الثاني على الجهة المقابلة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b="1" dirty="0">
                          <a:solidFill>
                            <a:srgbClr val="F0E0B0"/>
                          </a:solidFill>
                          <a:latin typeface="EB Garamond"/>
                          <a:cs typeface="Noto Naskh Arabic"/>
                        </a:rPr>
                        <a:t>التماس الثالث (C3)</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١٣:٠٨:١٨</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75488">
                <a:tc>
                  <a:txBody>
                    <a:bodyPr/>
                    <a:lstStyle/>
                    <a:p>
                      <a:pPr rtl="1" algn="r" indent="0" marL="0">
                        <a:buNone/>
                      </a:pPr>
                      <a:r>
                        <a:rPr lang="ar-EG" altLang="en-US" sz="1400" dirty="0">
                          <a:solidFill>
                            <a:srgbClr val="D9714E"/>
                          </a:solidFill>
                          <a:latin typeface="EB Garamond"/>
                          <a:cs typeface="Noto Naskh Arabic"/>
                        </a:rPr>
                        <a:t>صور جماعية، والماء والظل</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400" dirty="0">
                          <a:solidFill>
                            <a:srgbClr val="F0E0B0"/>
                          </a:solidFill>
                          <a:latin typeface="EB Garamond"/>
                          <a:cs typeface="Noto Naskh Arabic"/>
                        </a:rPr>
                        <a:t>الاحتجاب ٩١٪ ← ٢٤٪؛ يعود الضوء والحرارة</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400" b="1" dirty="0">
                          <a:solidFill>
                            <a:srgbClr val="F0E0B0"/>
                          </a:solidFill>
                          <a:latin typeface="EB Garamond"/>
                          <a:cs typeface="Noto Naskh Arabic"/>
                        </a:rPr>
                        <a:t>الجزئي المتناقص</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ctr" indent="0" marL="0">
                        <a:buNone/>
                      </a:pPr>
                      <a:r>
                        <a:rPr lang="ar-EG" altLang="en-US" sz="1400" b="1" dirty="0">
                          <a:solidFill>
                            <a:srgbClr val="E8B84B"/>
                          </a:solidFill>
                          <a:latin typeface="EB Garamond"/>
                          <a:cs typeface="Noto Naskh Arabic"/>
                        </a:rPr>
                        <a:t>١٣:١٥ – ١٤:٠٠</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75488">
                <a:tc>
                  <a:txBody>
                    <a:bodyPr/>
                    <a:lstStyle/>
                    <a:p>
                      <a:pPr rtl="1" algn="r" indent="0" marL="0">
                        <a:buNone/>
                      </a:pPr>
                      <a:r>
                        <a:rPr lang="ar-EG" altLang="en-US" sz="1400" dirty="0">
                          <a:solidFill>
                            <a:srgbClr val="D9714E"/>
                          </a:solidFill>
                          <a:latin typeface="EB Garamond"/>
                          <a:cs typeface="Noto Naskh Arabic"/>
                        </a:rPr>
                        <a:t>نهاية الكسوف</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dirty="0">
                          <a:solidFill>
                            <a:srgbClr val="F0E0B0"/>
                          </a:solidFill>
                          <a:latin typeface="EB Garamond"/>
                          <a:cs typeface="Noto Naskh Arabic"/>
                        </a:rPr>
                        <a:t>ينفصل القرصان</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400" b="1" dirty="0">
                          <a:solidFill>
                            <a:srgbClr val="F0E0B0"/>
                          </a:solidFill>
                          <a:latin typeface="EB Garamond"/>
                          <a:cs typeface="Noto Naskh Arabic"/>
                        </a:rPr>
                        <a:t>التماس الرابع (C4)</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ctr" indent="0" marL="0">
                        <a:buNone/>
                      </a:pPr>
                      <a:r>
                        <a:rPr lang="ar-EG" altLang="en-US" sz="1400" b="1" dirty="0">
                          <a:solidFill>
                            <a:srgbClr val="E8B84B"/>
                          </a:solidFill>
                          <a:latin typeface="EB Garamond"/>
                          <a:cs typeface="Noto Naskh Arabic"/>
                        </a:rPr>
                        <a:t>١٤:٢٦:٢٥</a:t>
                      </a:r>
                      <a:endParaRPr lang="ar-EG" sz="14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الأوقات ونسب الاحتجاب محسوبة لموقع الأقصر (توقيت مصر الصيفي)</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46</a:t>
            </a:fld>
            <a:endParaRPr lang="en-US">
              <a:latin typeface="EB Garamond"/>
              <a:cs typeface="Noto Naskh Arabic"/>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kicker-box"/>
          <p:cNvSpPr/>
          <p:nvPr/>
        </p:nvSpPr>
        <p:spPr>
          <a:xfrm>
            <a:off x="5761634" y="182880"/>
            <a:ext cx="5881421" cy="274320"/>
          </a:xfrm>
          <a:prstGeom prst="rect">
            <a:avLst/>
          </a:prstGeom>
          <a:solidFill>
            <a:srgbClr val="1B3A6B"/>
          </a:solidFill>
          <a:ln w="12700">
            <a:solidFill>
              <a:srgbClr val="E8B84B"/>
            </a:solidFill>
            <a:prstDash val="solid"/>
          </a:ln>
        </p:spPr>
      </p:sp>
      <p:sp>
        <p:nvSpPr>
          <p:cNvPr id="3" name="kicker"/>
          <p:cNvSpPr txBox="1"/>
          <p:nvPr/>
        </p:nvSpPr>
        <p:spPr>
          <a:xfrm>
            <a:off x="5761634" y="182880"/>
            <a:ext cx="5881421"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SUN'S SHAPE THROUGH THE ECLIPSE AS SEEN FROM LUXOR</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شكل الشمس خلال الكسوف كما يُرى من الأقصر</a:t>
            </a:r>
            <a:endParaRPr lang="ar-EG" sz="3000" dirty="0">
              <a:latin typeface="EB Garamond"/>
              <a:cs typeface="Amiri"/>
            </a:endParaRPr>
          </a:p>
        </p:txBody>
      </p:sp>
      <p:sp>
        <p:nvSpPr>
          <p:cNvPr id="5" name="sun-11:40"/>
          <p:cNvSpPr/>
          <p:nvPr/>
        </p:nvSpPr>
        <p:spPr>
          <a:xfrm>
            <a:off x="10076414" y="1691640"/>
            <a:ext cx="914400" cy="914400"/>
          </a:xfrm>
          <a:prstGeom prst="ellipse">
            <a:avLst/>
          </a:prstGeom>
          <a:solidFill>
            <a:srgbClr val="E8B84B"/>
          </a:solidFill>
          <a:ln w="12700">
            <a:solidFill>
              <a:srgbClr val="E8B84B"/>
            </a:solidFill>
            <a:prstDash val="solid"/>
          </a:ln>
        </p:spPr>
      </p:sp>
      <p:sp>
        <p:nvSpPr>
          <p:cNvPr id="6" name="moon-11:40"/>
          <p:cNvSpPr/>
          <p:nvPr/>
        </p:nvSpPr>
        <p:spPr>
          <a:xfrm>
            <a:off x="10837452" y="1138129"/>
            <a:ext cx="986017" cy="986017"/>
          </a:xfrm>
          <a:prstGeom prst="ellipse">
            <a:avLst/>
          </a:prstGeom>
          <a:solidFill>
            <a:srgbClr val="130E07"/>
          </a:solidFill>
          <a:ln w="9525">
            <a:solidFill>
              <a:srgbClr val="5A4826"/>
            </a:solidFill>
            <a:prstDash val="solid"/>
          </a:ln>
        </p:spPr>
      </p:sp>
      <p:sp>
        <p:nvSpPr>
          <p:cNvPr id="7" name="sun-12:00"/>
          <p:cNvSpPr/>
          <p:nvPr/>
        </p:nvSpPr>
        <p:spPr>
          <a:xfrm>
            <a:off x="7857531" y="1691640"/>
            <a:ext cx="914400" cy="914400"/>
          </a:xfrm>
          <a:prstGeom prst="ellipse">
            <a:avLst/>
          </a:prstGeom>
          <a:solidFill>
            <a:srgbClr val="E8B84B"/>
          </a:solidFill>
          <a:ln w="12700">
            <a:solidFill>
              <a:srgbClr val="E8B84B"/>
            </a:solidFill>
            <a:prstDash val="solid"/>
          </a:ln>
        </p:spPr>
      </p:sp>
      <p:sp>
        <p:nvSpPr>
          <p:cNvPr id="8" name="moon-12:00"/>
          <p:cNvSpPr/>
          <p:nvPr/>
        </p:nvSpPr>
        <p:spPr>
          <a:xfrm>
            <a:off x="8428086" y="1251929"/>
            <a:ext cx="986337" cy="986337"/>
          </a:xfrm>
          <a:prstGeom prst="ellipse">
            <a:avLst/>
          </a:prstGeom>
          <a:solidFill>
            <a:srgbClr val="130E07"/>
          </a:solidFill>
          <a:ln w="9525">
            <a:solidFill>
              <a:srgbClr val="5A4826"/>
            </a:solidFill>
            <a:prstDash val="solid"/>
          </a:ln>
        </p:spPr>
      </p:sp>
      <p:sp>
        <p:nvSpPr>
          <p:cNvPr id="9" name="sun-12:20"/>
          <p:cNvSpPr/>
          <p:nvPr/>
        </p:nvSpPr>
        <p:spPr>
          <a:xfrm>
            <a:off x="5638648" y="1691640"/>
            <a:ext cx="914400" cy="914400"/>
          </a:xfrm>
          <a:prstGeom prst="ellipse">
            <a:avLst/>
          </a:prstGeom>
          <a:solidFill>
            <a:srgbClr val="E8B84B"/>
          </a:solidFill>
          <a:ln w="12700">
            <a:solidFill>
              <a:srgbClr val="E8B84B"/>
            </a:solidFill>
            <a:prstDash val="solid"/>
          </a:ln>
        </p:spPr>
      </p:sp>
      <p:sp>
        <p:nvSpPr>
          <p:cNvPr id="10" name="moon-12:20"/>
          <p:cNvSpPr/>
          <p:nvPr/>
        </p:nvSpPr>
        <p:spPr>
          <a:xfrm>
            <a:off x="6020469" y="1370273"/>
            <a:ext cx="986558" cy="986558"/>
          </a:xfrm>
          <a:prstGeom prst="ellipse">
            <a:avLst/>
          </a:prstGeom>
          <a:solidFill>
            <a:srgbClr val="130E07"/>
          </a:solidFill>
          <a:ln w="9525">
            <a:solidFill>
              <a:srgbClr val="5A4826"/>
            </a:solidFill>
            <a:prstDash val="solid"/>
          </a:ln>
        </p:spPr>
      </p:sp>
      <p:sp>
        <p:nvSpPr>
          <p:cNvPr id="11" name="sun-12:40"/>
          <p:cNvSpPr/>
          <p:nvPr/>
        </p:nvSpPr>
        <p:spPr>
          <a:xfrm>
            <a:off x="3419765" y="1691640"/>
            <a:ext cx="914400" cy="914400"/>
          </a:xfrm>
          <a:prstGeom prst="ellipse">
            <a:avLst/>
          </a:prstGeom>
          <a:solidFill>
            <a:srgbClr val="E8B84B"/>
          </a:solidFill>
          <a:ln w="12700">
            <a:solidFill>
              <a:srgbClr val="E8B84B"/>
            </a:solidFill>
            <a:prstDash val="solid"/>
          </a:ln>
        </p:spPr>
      </p:sp>
      <p:sp>
        <p:nvSpPr>
          <p:cNvPr id="12" name="moon-12:40"/>
          <p:cNvSpPr/>
          <p:nvPr/>
        </p:nvSpPr>
        <p:spPr>
          <a:xfrm>
            <a:off x="3614734" y="1492535"/>
            <a:ext cx="986674" cy="986674"/>
          </a:xfrm>
          <a:prstGeom prst="ellipse">
            <a:avLst/>
          </a:prstGeom>
          <a:solidFill>
            <a:srgbClr val="130E07"/>
          </a:solidFill>
          <a:ln w="9525">
            <a:solidFill>
              <a:srgbClr val="5A4826"/>
            </a:solidFill>
            <a:prstDash val="solid"/>
          </a:ln>
        </p:spPr>
      </p:sp>
      <p:sp>
        <p:nvSpPr>
          <p:cNvPr id="13" name="sun-12:55"/>
          <p:cNvSpPr/>
          <p:nvPr/>
        </p:nvSpPr>
        <p:spPr>
          <a:xfrm>
            <a:off x="1200882" y="1691640"/>
            <a:ext cx="914400" cy="914400"/>
          </a:xfrm>
          <a:prstGeom prst="ellipse">
            <a:avLst/>
          </a:prstGeom>
          <a:solidFill>
            <a:srgbClr val="E8B84B"/>
          </a:solidFill>
          <a:ln w="12700">
            <a:solidFill>
              <a:srgbClr val="E8B84B"/>
            </a:solidFill>
            <a:prstDash val="solid"/>
          </a:ln>
        </p:spPr>
      </p:sp>
      <p:sp>
        <p:nvSpPr>
          <p:cNvPr id="14" name="moon-12:55"/>
          <p:cNvSpPr/>
          <p:nvPr/>
        </p:nvSpPr>
        <p:spPr>
          <a:xfrm>
            <a:off x="1256338" y="1586801"/>
            <a:ext cx="986692" cy="986692"/>
          </a:xfrm>
          <a:prstGeom prst="ellipse">
            <a:avLst/>
          </a:prstGeom>
          <a:solidFill>
            <a:srgbClr val="130E07"/>
          </a:solidFill>
          <a:ln w="9525">
            <a:solidFill>
              <a:srgbClr val="5A4826"/>
            </a:solidFill>
            <a:prstDash val="solid"/>
          </a:ln>
        </p:spPr>
      </p:sp>
      <p:sp>
        <p:nvSpPr>
          <p:cNvPr id="15" name="corona-outer"/>
          <p:cNvSpPr/>
          <p:nvPr/>
        </p:nvSpPr>
        <p:spPr>
          <a:xfrm>
            <a:off x="9619214" y="3474720"/>
            <a:ext cx="1828800" cy="1828800"/>
          </a:xfrm>
          <a:prstGeom prst="ellipse">
            <a:avLst/>
          </a:prstGeom>
          <a:solidFill>
            <a:srgbClr val="FFFFFF">
              <a:alpha val="12000"/>
            </a:srgbClr>
          </a:solidFill>
          <a:ln w="12700">
            <a:solidFill>
              <a:srgbClr val="FFFFFF"/>
            </a:solidFill>
            <a:prstDash val="solid"/>
          </a:ln>
        </p:spPr>
      </p:sp>
      <p:sp>
        <p:nvSpPr>
          <p:cNvPr id="16" name="corona-inner"/>
          <p:cNvSpPr/>
          <p:nvPr/>
        </p:nvSpPr>
        <p:spPr>
          <a:xfrm>
            <a:off x="9870674" y="3726180"/>
            <a:ext cx="1325880" cy="1325880"/>
          </a:xfrm>
          <a:prstGeom prst="ellipse">
            <a:avLst/>
          </a:prstGeom>
          <a:solidFill>
            <a:srgbClr val="FFFFFF">
              <a:alpha val="30000"/>
            </a:srgbClr>
          </a:solidFill>
          <a:ln w="12700">
            <a:solidFill>
              <a:srgbClr val="FFFFFF"/>
            </a:solidFill>
            <a:prstDash val="solid"/>
          </a:ln>
        </p:spPr>
      </p:sp>
      <p:sp>
        <p:nvSpPr>
          <p:cNvPr id="17" name="moon-13:05"/>
          <p:cNvSpPr/>
          <p:nvPr/>
        </p:nvSpPr>
        <p:spPr>
          <a:xfrm>
            <a:off x="10037683" y="3892002"/>
            <a:ext cx="986671" cy="986671"/>
          </a:xfrm>
          <a:prstGeom prst="ellipse">
            <a:avLst/>
          </a:prstGeom>
          <a:solidFill>
            <a:srgbClr val="130E07"/>
          </a:solidFill>
          <a:ln w="12700">
            <a:solidFill>
              <a:srgbClr val="FFFFFF"/>
            </a:solidFill>
            <a:prstDash val="solid"/>
          </a:ln>
        </p:spPr>
      </p:sp>
      <p:sp>
        <p:nvSpPr>
          <p:cNvPr id="18" name="sun-13:15"/>
          <p:cNvSpPr/>
          <p:nvPr/>
        </p:nvSpPr>
        <p:spPr>
          <a:xfrm>
            <a:off x="7857531" y="3931920"/>
            <a:ext cx="914400" cy="914400"/>
          </a:xfrm>
          <a:prstGeom prst="ellipse">
            <a:avLst/>
          </a:prstGeom>
          <a:solidFill>
            <a:srgbClr val="E8B84B"/>
          </a:solidFill>
          <a:ln w="12700">
            <a:solidFill>
              <a:srgbClr val="E8B84B"/>
            </a:solidFill>
            <a:prstDash val="solid"/>
          </a:ln>
        </p:spPr>
      </p:sp>
      <p:sp>
        <p:nvSpPr>
          <p:cNvPr id="19" name="moon-13:15"/>
          <p:cNvSpPr/>
          <p:nvPr/>
        </p:nvSpPr>
        <p:spPr>
          <a:xfrm>
            <a:off x="7726990" y="3956169"/>
            <a:ext cx="986624" cy="986624"/>
          </a:xfrm>
          <a:prstGeom prst="ellipse">
            <a:avLst/>
          </a:prstGeom>
          <a:solidFill>
            <a:srgbClr val="130E07"/>
          </a:solidFill>
          <a:ln w="9525">
            <a:solidFill>
              <a:srgbClr val="5A4826"/>
            </a:solidFill>
            <a:prstDash val="solid"/>
          </a:ln>
        </p:spPr>
      </p:sp>
      <p:sp>
        <p:nvSpPr>
          <p:cNvPr id="20" name="sun-13:35"/>
          <p:cNvSpPr/>
          <p:nvPr/>
        </p:nvSpPr>
        <p:spPr>
          <a:xfrm>
            <a:off x="5638648" y="3931920"/>
            <a:ext cx="914400" cy="914400"/>
          </a:xfrm>
          <a:prstGeom prst="ellipse">
            <a:avLst/>
          </a:prstGeom>
          <a:solidFill>
            <a:srgbClr val="E8B84B"/>
          </a:solidFill>
          <a:ln w="12700">
            <a:solidFill>
              <a:srgbClr val="E8B84B"/>
            </a:solidFill>
            <a:prstDash val="solid"/>
          </a:ln>
        </p:spPr>
      </p:sp>
      <p:sp>
        <p:nvSpPr>
          <p:cNvPr id="21" name="moon-13:35"/>
          <p:cNvSpPr/>
          <p:nvPr/>
        </p:nvSpPr>
        <p:spPr>
          <a:xfrm>
            <a:off x="5321199" y="4089087"/>
            <a:ext cx="986450" cy="986450"/>
          </a:xfrm>
          <a:prstGeom prst="ellipse">
            <a:avLst/>
          </a:prstGeom>
          <a:solidFill>
            <a:srgbClr val="130E07"/>
          </a:solidFill>
          <a:ln w="9525">
            <a:solidFill>
              <a:srgbClr val="5A4826"/>
            </a:solidFill>
            <a:prstDash val="solid"/>
          </a:ln>
        </p:spPr>
      </p:sp>
      <p:sp>
        <p:nvSpPr>
          <p:cNvPr id="22" name="sun-14:00"/>
          <p:cNvSpPr/>
          <p:nvPr/>
        </p:nvSpPr>
        <p:spPr>
          <a:xfrm>
            <a:off x="3419765" y="3931920"/>
            <a:ext cx="914400" cy="914400"/>
          </a:xfrm>
          <a:prstGeom prst="ellipse">
            <a:avLst/>
          </a:prstGeom>
          <a:solidFill>
            <a:srgbClr val="E8B84B"/>
          </a:solidFill>
          <a:ln w="12700">
            <a:solidFill>
              <a:srgbClr val="E8B84B"/>
            </a:solidFill>
            <a:prstDash val="solid"/>
          </a:ln>
        </p:spPr>
      </p:sp>
      <p:sp>
        <p:nvSpPr>
          <p:cNvPr id="23" name="moon-14:00"/>
          <p:cNvSpPr/>
          <p:nvPr/>
        </p:nvSpPr>
        <p:spPr>
          <a:xfrm>
            <a:off x="2865863" y="4260481"/>
            <a:ext cx="986087" cy="986087"/>
          </a:xfrm>
          <a:prstGeom prst="ellipse">
            <a:avLst/>
          </a:prstGeom>
          <a:solidFill>
            <a:srgbClr val="130E07"/>
          </a:solidFill>
          <a:ln w="9525">
            <a:solidFill>
              <a:srgbClr val="5A4826"/>
            </a:solidFill>
            <a:prstDash val="solid"/>
          </a:ln>
        </p:spPr>
      </p:sp>
      <p:sp>
        <p:nvSpPr>
          <p:cNvPr id="24" name="sun-14:26"/>
          <p:cNvSpPr/>
          <p:nvPr/>
        </p:nvSpPr>
        <p:spPr>
          <a:xfrm>
            <a:off x="1200882" y="3931920"/>
            <a:ext cx="914400" cy="914400"/>
          </a:xfrm>
          <a:prstGeom prst="ellipse">
            <a:avLst/>
          </a:prstGeom>
          <a:solidFill>
            <a:srgbClr val="E8B84B"/>
          </a:solidFill>
          <a:ln w="12700">
            <a:solidFill>
              <a:srgbClr val="E8B84B"/>
            </a:solidFill>
            <a:prstDash val="solid"/>
          </a:ln>
        </p:spPr>
      </p:sp>
      <p:sp>
        <p:nvSpPr>
          <p:cNvPr id="25" name="moon-14:26"/>
          <p:cNvSpPr/>
          <p:nvPr/>
        </p:nvSpPr>
        <p:spPr>
          <a:xfrm>
            <a:off x="391727" y="4447664"/>
            <a:ext cx="985532" cy="985532"/>
          </a:xfrm>
          <a:prstGeom prst="ellipse">
            <a:avLst/>
          </a:prstGeom>
          <a:solidFill>
            <a:srgbClr val="130E07"/>
          </a:solidFill>
          <a:ln w="9525">
            <a:solidFill>
              <a:srgbClr val="5A4826"/>
            </a:solidFill>
            <a:prstDash val="solid"/>
          </a:ln>
        </p:spPr>
      </p:sp>
      <p:sp>
        <p:nvSpPr>
          <p:cNvPr id="26" name="Text 24"/>
          <p:cNvSpPr txBox="1"/>
          <p:nvPr/>
        </p:nvSpPr>
        <p:spPr>
          <a:xfrm>
            <a:off x="9469892"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١١:٤٠</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التماس الأول — ٠٪</a:t>
            </a:r>
            <a:endParaRPr lang="en-US" sz="1600" dirty="0">
              <a:latin typeface="EB Garamond"/>
              <a:cs typeface="Noto Naskh Arabic"/>
            </a:endParaRPr>
          </a:p>
        </p:txBody>
      </p:sp>
      <p:sp>
        <p:nvSpPr>
          <p:cNvPr id="27" name="Text 25"/>
          <p:cNvSpPr txBox="1"/>
          <p:nvPr/>
        </p:nvSpPr>
        <p:spPr>
          <a:xfrm>
            <a:off x="7251009"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١٢:٠٠</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١٤٪</a:t>
            </a:r>
            <a:endParaRPr lang="en-US" sz="1600" dirty="0">
              <a:latin typeface="EB Garamond"/>
              <a:cs typeface="Noto Naskh Arabic"/>
            </a:endParaRPr>
          </a:p>
        </p:txBody>
      </p:sp>
      <p:sp>
        <p:nvSpPr>
          <p:cNvPr id="28" name="Text 26"/>
          <p:cNvSpPr txBox="1"/>
          <p:nvPr/>
        </p:nvSpPr>
        <p:spPr>
          <a:xfrm>
            <a:off x="5032126"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١٢:٢٠</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٣٨٪</a:t>
            </a:r>
            <a:endParaRPr lang="en-US" sz="1600" dirty="0">
              <a:latin typeface="EB Garamond"/>
              <a:cs typeface="Noto Naskh Arabic"/>
            </a:endParaRPr>
          </a:p>
        </p:txBody>
      </p:sp>
      <p:sp>
        <p:nvSpPr>
          <p:cNvPr id="29" name="Text 27"/>
          <p:cNvSpPr txBox="1"/>
          <p:nvPr/>
        </p:nvSpPr>
        <p:spPr>
          <a:xfrm>
            <a:off x="2813243"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١٢:٤٠</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٦٨٪</a:t>
            </a:r>
            <a:endParaRPr lang="en-US" sz="1600" dirty="0">
              <a:latin typeface="EB Garamond"/>
              <a:cs typeface="Noto Naskh Arabic"/>
            </a:endParaRPr>
          </a:p>
        </p:txBody>
      </p:sp>
      <p:sp>
        <p:nvSpPr>
          <p:cNvPr id="30" name="Text 28"/>
          <p:cNvSpPr txBox="1"/>
          <p:nvPr/>
        </p:nvSpPr>
        <p:spPr>
          <a:xfrm>
            <a:off x="594360"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١٢:٥٥</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٩١٪</a:t>
            </a:r>
            <a:endParaRPr lang="en-US" sz="1600" dirty="0">
              <a:latin typeface="EB Garamond"/>
              <a:cs typeface="Noto Naskh Arabic"/>
            </a:endParaRPr>
          </a:p>
        </p:txBody>
      </p:sp>
      <p:sp>
        <p:nvSpPr>
          <p:cNvPr id="31" name="Text 29"/>
          <p:cNvSpPr txBox="1"/>
          <p:nvPr/>
        </p:nvSpPr>
        <p:spPr>
          <a:xfrm>
            <a:off x="9469892"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١٣:٠٥</a:t>
            </a:r>
            <a:endParaRPr lang="en-US" sz="1600" dirty="0">
              <a:latin typeface="EB Garamond"/>
              <a:cs typeface="Noto Naskh Arabic"/>
            </a:endParaRPr>
          </a:p>
          <a:p>
            <a:pPr rtl="1" algn="ctr" indent="0" marL="0">
              <a:buNone/>
            </a:pPr>
            <a:r>
              <a:rPr lang="ar-EG" altLang="en-US" sz="1300" dirty="0">
                <a:solidFill>
                  <a:srgbClr val="E8B84B"/>
                </a:solidFill>
                <a:latin typeface="EB Garamond"/>
                <a:cs typeface="Noto Naskh Arabic"/>
              </a:rPr>
              <a:t>الكلية — كلي ١٠٠٪</a:t>
            </a:r>
            <a:endParaRPr lang="en-US" sz="1600" dirty="0">
              <a:latin typeface="EB Garamond"/>
              <a:cs typeface="Noto Naskh Arabic"/>
            </a:endParaRPr>
          </a:p>
        </p:txBody>
      </p:sp>
      <p:sp>
        <p:nvSpPr>
          <p:cNvPr id="32" name="Text 30"/>
          <p:cNvSpPr txBox="1"/>
          <p:nvPr/>
        </p:nvSpPr>
        <p:spPr>
          <a:xfrm>
            <a:off x="7251009"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١٣:١٥</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٩١٪</a:t>
            </a:r>
            <a:endParaRPr lang="en-US" sz="1600" dirty="0">
              <a:latin typeface="EB Garamond"/>
              <a:cs typeface="Noto Naskh Arabic"/>
            </a:endParaRPr>
          </a:p>
        </p:txBody>
      </p:sp>
      <p:sp>
        <p:nvSpPr>
          <p:cNvPr id="33" name="Text 31"/>
          <p:cNvSpPr txBox="1"/>
          <p:nvPr/>
        </p:nvSpPr>
        <p:spPr>
          <a:xfrm>
            <a:off x="5032126"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١٣:٣٥</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٦٠٪</a:t>
            </a:r>
            <a:endParaRPr lang="en-US" sz="1600" dirty="0">
              <a:latin typeface="EB Garamond"/>
              <a:cs typeface="Noto Naskh Arabic"/>
            </a:endParaRPr>
          </a:p>
        </p:txBody>
      </p:sp>
      <p:sp>
        <p:nvSpPr>
          <p:cNvPr id="34" name="Text 32"/>
          <p:cNvSpPr txBox="1"/>
          <p:nvPr/>
        </p:nvSpPr>
        <p:spPr>
          <a:xfrm>
            <a:off x="2813243"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١٤:٠٠</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٢٤٪</a:t>
            </a:r>
            <a:endParaRPr lang="en-US" sz="1600" dirty="0">
              <a:latin typeface="EB Garamond"/>
              <a:cs typeface="Noto Naskh Arabic"/>
            </a:endParaRPr>
          </a:p>
        </p:txBody>
      </p:sp>
      <p:sp>
        <p:nvSpPr>
          <p:cNvPr id="35" name="Text 33"/>
          <p:cNvSpPr txBox="1"/>
          <p:nvPr/>
        </p:nvSpPr>
        <p:spPr>
          <a:xfrm>
            <a:off x="594360"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AF3E0"/>
                </a:solidFill>
                <a:latin typeface="EB Garamond"/>
                <a:cs typeface="Noto Naskh Arabic"/>
              </a:rPr>
              <a:t>١٤:٢٦</a:t>
            </a:r>
            <a:endParaRPr lang="en-US" sz="1600" dirty="0">
              <a:latin typeface="EB Garamond"/>
              <a:cs typeface="Noto Naskh Arabic"/>
            </a:endParaRPr>
          </a:p>
          <a:p>
            <a:pPr rtl="1" algn="ctr" indent="0" marL="0">
              <a:buNone/>
            </a:pPr>
            <a:r>
              <a:rPr lang="ar-EG" altLang="en-US" sz="1300" dirty="0">
                <a:solidFill>
                  <a:srgbClr val="F0E0B0"/>
                </a:solidFill>
                <a:latin typeface="EB Garamond"/>
                <a:cs typeface="Noto Naskh Arabic"/>
              </a:rPr>
              <a:t>التماس الرابع — ٠٪</a:t>
            </a:r>
            <a:endParaRPr lang="en-US" sz="1600" dirty="0">
              <a:latin typeface="EB Garamond"/>
              <a:cs typeface="Noto Naskh Arabic"/>
            </a:endParaRPr>
          </a:p>
        </p:txBody>
      </p:sp>
      <p:sp>
        <p:nvSpPr>
          <p:cNvPr id="36" name="Text 34"/>
          <p:cNvSpPr txBox="1"/>
          <p:nvPr/>
        </p:nvSpPr>
        <p:spPr>
          <a:xfrm>
            <a:off x="548640" y="6035040"/>
            <a:ext cx="11094415" cy="274320"/>
          </a:xfrm>
          <a:prstGeom prst="rect">
            <a:avLst/>
          </a:prstGeom>
          <a:noFill/>
          <a:ln/>
        </p:spPr>
        <p:txBody>
          <a:bodyPr wrap="square" lIns="0" tIns="0" rIns="0" bIns="0" rtlCol="0" anchor="ctr"/>
          <a:lstStyle/>
          <a:p>
            <a:pPr rtl="1" algn="r" indent="0" marL="0">
              <a:buNone/>
            </a:pPr>
            <a:r>
              <a:rPr lang="ar-EG" altLang="en-US" sz="1100" i="1" dirty="0">
                <a:solidFill>
                  <a:srgbClr val="9C8B6E"/>
                </a:solidFill>
                <a:latin typeface="EB Garamond"/>
                <a:cs typeface="Noto Naskh Arabic"/>
              </a:rPr>
              <a:t>الشمال إلى أعلى والغرب إلى اليمين؛ الشمس شبه عمودية فوق الرأس (٧١°–٨٢°)</a:t>
            </a:r>
            <a:endParaRPr lang="ar-EG" sz="11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47</a:t>
            </a:fld>
            <a:endParaRPr lang="en-US">
              <a:latin typeface="EB Garamond"/>
              <a:cs typeface="Noto Naskh Arabic"/>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kicker-box"/>
          <p:cNvSpPr/>
          <p:nvPr/>
        </p:nvSpPr>
        <p:spPr>
          <a:xfrm>
            <a:off x="7242962" y="182880"/>
            <a:ext cx="4400093" cy="274320"/>
          </a:xfrm>
          <a:prstGeom prst="rect">
            <a:avLst/>
          </a:prstGeom>
          <a:solidFill>
            <a:srgbClr val="1B3A6B"/>
          </a:solidFill>
          <a:ln w="12700">
            <a:solidFill>
              <a:srgbClr val="E8B84B"/>
            </a:solidFill>
            <a:prstDash val="solid"/>
          </a:ln>
        </p:spPr>
      </p:sp>
      <p:sp>
        <p:nvSpPr>
          <p:cNvPr id="3" name="kicker"/>
          <p:cNvSpPr txBox="1"/>
          <p:nvPr/>
        </p:nvSpPr>
        <p:spPr>
          <a:xfrm>
            <a:off x="7242962" y="182880"/>
            <a:ext cx="440009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WHAT HAPPENS AROUND YOU DURING TOTALITY</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ماذا يحدث حولك أثناء الكلية؟</a:t>
            </a:r>
            <a:endParaRPr lang="ar-EG" sz="3000" dirty="0">
              <a:latin typeface="EB Garamond"/>
              <a:cs typeface="Amiri"/>
            </a:endParaRPr>
          </a:p>
        </p:txBody>
      </p:sp>
      <p:pic>
        <p:nvPicPr>
          <p:cNvPr id="5" name="skyLuxor" descr="skyLuxor">    </p:cNvPr>
          <p:cNvPicPr>
            <a:picLocks noChangeAspect="1"/>
          </p:cNvPicPr>
          <p:nvPr/>
        </p:nvPicPr>
        <p:blipFill>
          <a:blip r:embed="rId1"/>
          <a:stretch>
            <a:fillRect/>
          </a:stretch>
        </p:blipFill>
        <p:spPr>
          <a:xfrm>
            <a:off x="887148" y="1325880"/>
            <a:ext cx="4352183" cy="4663440"/>
          </a:xfrm>
          <a:prstGeom prst="rect">
            <a:avLst/>
          </a:prstGeom>
        </p:spPr>
      </p:pic>
      <p:sp>
        <p:nvSpPr>
          <p:cNvPr id="6" name="Text 3"/>
          <p:cNvSpPr txBox="1"/>
          <p:nvPr/>
        </p:nvSpPr>
        <p:spPr>
          <a:xfrm>
            <a:off x="5897880" y="1371600"/>
            <a:ext cx="57451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الكواكب والنجوم: </a:t>
            </a:r>
            <a:pPr rtl="1" algn="r" indent="0" marL="0">
              <a:buNone/>
            </a:pPr>
            <a:r>
              <a:rPr lang="ar-EG" altLang="en-US" sz="1800" dirty="0">
                <a:solidFill>
                  <a:srgbClr val="F0E0B0"/>
                </a:solidFill>
                <a:latin typeface="EB Garamond"/>
                <a:cs typeface="Noto Naskh Arabic"/>
              </a:rPr>
              <a:t>تظهر الزهرة ملاصقة للشمس تقريبًا، والمشتري وعطارد، والشعرى اليمانية</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الضوء: </a:t>
            </a:r>
            <a:pPr rtl="1" algn="r" indent="0" marL="0">
              <a:buNone/>
            </a:pPr>
            <a:r>
              <a:rPr lang="ar-EG" altLang="en-US" sz="1800" dirty="0">
                <a:solidFill>
                  <a:srgbClr val="F0E0B0"/>
                </a:solidFill>
                <a:latin typeface="EB Garamond"/>
                <a:cs typeface="Noto Naskh Arabic"/>
              </a:rPr>
              <a:t>يهبط إلى ما يشبه الشفق (Twilight)، مع «غروب» على امتداد الأفق كله (360° sunset)</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الحرارة: </a:t>
            </a:r>
            <a:pPr rtl="1" algn="r" indent="0" marL="0">
              <a:buNone/>
            </a:pPr>
            <a:r>
              <a:rPr lang="ar-EG" altLang="en-US" sz="1800" dirty="0">
                <a:solidFill>
                  <a:srgbClr val="F0E0B0"/>
                </a:solidFill>
                <a:latin typeface="EB Garamond"/>
                <a:cs typeface="Noto Naskh Arabic"/>
              </a:rPr>
              <a:t>تنخفض بضع درجات، ويتغير اتجاه الريح أحيانًا</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الكائنات: </a:t>
            </a:r>
            <a:pPr rtl="1" algn="r" indent="0" marL="0">
              <a:buNone/>
            </a:pPr>
            <a:r>
              <a:rPr lang="ar-EG" altLang="en-US" sz="1800" dirty="0">
                <a:solidFill>
                  <a:srgbClr val="F0E0B0"/>
                </a:solidFill>
                <a:latin typeface="EB Garamond"/>
                <a:cs typeface="Noto Naskh Arabic"/>
              </a:rPr>
              <a:t>تسكت الطيور، وتعود بعض الحيوانات إلى مأواها</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الظلال: </a:t>
            </a:r>
            <a:pPr rtl="1" algn="r" indent="0" marL="0">
              <a:buNone/>
            </a:pPr>
            <a:r>
              <a:rPr lang="ar-EG" altLang="en-US" sz="1800" dirty="0">
                <a:solidFill>
                  <a:srgbClr val="F0E0B0"/>
                </a:solidFill>
                <a:latin typeface="EB Garamond"/>
                <a:cs typeface="Noto Naskh Arabic"/>
              </a:rPr>
              <a:t>قبيل الكلية تصبح حادّة غريبة، وقد تظهر «الأحزمة الظلية» (Shadow bands) على الأرض الفاتحة</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٢٨-١ من الكتاب: سماء الأقصر ١٣:٠٥ (محسوبة)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48</a:t>
            </a:fld>
            <a:endParaRPr lang="en-US">
              <a:latin typeface="EB Garamond"/>
              <a:cs typeface="Noto Naskh Arabic"/>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kicker-box"/>
          <p:cNvSpPr/>
          <p:nvPr/>
        </p:nvSpPr>
        <p:spPr>
          <a:xfrm>
            <a:off x="7045452" y="182880"/>
            <a:ext cx="4597603" cy="274320"/>
          </a:xfrm>
          <a:prstGeom prst="rect">
            <a:avLst/>
          </a:prstGeom>
          <a:solidFill>
            <a:srgbClr val="1B3A6B"/>
          </a:solidFill>
          <a:ln w="12700">
            <a:solidFill>
              <a:srgbClr val="E8B84B"/>
            </a:solidFill>
            <a:prstDash val="solid"/>
          </a:ln>
        </p:spPr>
      </p:sp>
      <p:sp>
        <p:nvSpPr>
          <p:cNvPr id="3" name="kicker"/>
          <p:cNvSpPr txBox="1"/>
          <p:nvPr/>
        </p:nvSpPr>
        <p:spPr>
          <a:xfrm>
            <a:off x="7045452" y="182880"/>
            <a:ext cx="459760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EGYPT'S MONUMENTS UNDER THE MOON'S SHADOW</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آثار مصر تحت ظل القمر</a:t>
            </a:r>
            <a:endParaRPr lang="ar-EG" sz="3000" dirty="0">
              <a:latin typeface="EB Garamond"/>
              <a:cs typeface="Amiri"/>
            </a:endParaRPr>
          </a:p>
        </p:txBody>
      </p:sp>
      <p:pic>
        <p:nvPicPr>
          <p:cNvPr id="5" name="monuments" descr="monuments">    </p:cNvPr>
          <p:cNvPicPr>
            <a:picLocks noChangeAspect="1"/>
          </p:cNvPicPr>
          <p:nvPr/>
        </p:nvPicPr>
        <p:blipFill>
          <a:blip r:embed="rId1"/>
          <a:stretch>
            <a:fillRect/>
          </a:stretch>
        </p:blipFill>
        <p:spPr>
          <a:xfrm>
            <a:off x="689881" y="1325880"/>
            <a:ext cx="5295359" cy="4663440"/>
          </a:xfrm>
          <a:prstGeom prst="rect">
            <a:avLst/>
          </a:prstGeom>
        </p:spPr>
      </p:pic>
      <p:sp>
        <p:nvSpPr>
          <p:cNvPr id="6" name="Text 3"/>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أكثر من ٦ دقائق: </a:t>
            </a:r>
            <a:pPr rtl="1" algn="r" indent="0" marL="0">
              <a:buNone/>
            </a:pPr>
            <a:r>
              <a:rPr lang="ar-EG" altLang="en-US" sz="2000" dirty="0">
                <a:solidFill>
                  <a:srgbClr val="F0E0B0"/>
                </a:solidFill>
                <a:latin typeface="EB Garamond"/>
                <a:cs typeface="Noto Naskh Arabic"/>
              </a:rPr>
              <a:t>أبيدوس والكرنك (٦ د ٢١ ث)، الدير البحري ووادي الملوك وتمثالا ممنون ومعبد الأقصر ومدينة هابو (٦ د ٢٠ ث)، دندرة (٦ د ١٤ ث)</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أكثر من ٥ دقائق: </a:t>
            </a:r>
            <a:pPr rtl="1" algn="r" indent="0" marL="0">
              <a:buNone/>
            </a:pPr>
            <a:r>
              <a:rPr lang="ar-EG" altLang="en-US" sz="2000" dirty="0">
                <a:solidFill>
                  <a:srgbClr val="F0E0B0"/>
                </a:solidFill>
                <a:latin typeface="EB Garamond"/>
                <a:cs typeface="Noto Naskh Arabic"/>
              </a:rPr>
              <a:t>إسنا، تل العمارنة، معبد آمون في سيوة، إدفو، الأشمونين</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أقل: </a:t>
            </a:r>
            <a:pPr rtl="1" algn="r" indent="0" marL="0">
              <a:buNone/>
            </a:pPr>
            <a:r>
              <a:rPr lang="ar-EG" altLang="en-US" sz="2000" dirty="0">
                <a:solidFill>
                  <a:srgbClr val="F0E0B0"/>
                </a:solidFill>
                <a:latin typeface="EB Garamond"/>
                <a:cs typeface="Noto Naskh Arabic"/>
              </a:rPr>
              <a:t>بني حسن (٤ د ٣٧ ث)، كوم أمبو (٣ د ٢١ ث)</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جزئي: </a:t>
            </a:r>
            <a:pPr rtl="1" algn="r" indent="0" marL="0">
              <a:buNone/>
            </a:pPr>
            <a:r>
              <a:rPr lang="ar-EG" altLang="en-US" sz="2000" dirty="0">
                <a:solidFill>
                  <a:srgbClr val="F0E0B0"/>
                </a:solidFill>
                <a:latin typeface="EB Garamond"/>
                <a:cs typeface="Noto Naskh Arabic"/>
              </a:rPr>
              <a:t>فيلة ٩٩٫٧٪، سقارة والأهرام ٩٥٪، سانت كاترين ٩٤٫٢٪، أبو سمبل ٩٢٪</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٢٤-٣ من الكتاب: مدة الكلية عند المواقع الأثرية (محسوبة)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49</a:t>
            </a:fld>
            <a:endParaRPr lang="en-US">
              <a:latin typeface="EB Garamond"/>
              <a:cs typeface="Noto Naskh Arabic"/>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kicker-box"/>
          <p:cNvSpPr/>
          <p:nvPr/>
        </p:nvSpPr>
        <p:spPr>
          <a:xfrm>
            <a:off x="5662879" y="182880"/>
            <a:ext cx="5980176" cy="274320"/>
          </a:xfrm>
          <a:prstGeom prst="rect">
            <a:avLst/>
          </a:prstGeom>
          <a:solidFill>
            <a:srgbClr val="1B3A6B"/>
          </a:solidFill>
          <a:ln w="12700">
            <a:solidFill>
              <a:srgbClr val="E8B84B"/>
            </a:solidFill>
            <a:prstDash val="solid"/>
          </a:ln>
        </p:spPr>
      </p:sp>
      <p:sp>
        <p:nvSpPr>
          <p:cNvPr id="3" name="kicker"/>
          <p:cNvSpPr txBox="1"/>
          <p:nvPr/>
        </p:nvSpPr>
        <p:spPr>
          <a:xfrm>
            <a:off x="5662879" y="182880"/>
            <a:ext cx="5980176"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ARCHAEOLOGICAL SITES OF THE NILE VALLEY INSIDE THE PATH</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خريطة المواقع الأثرية في وادي النيل</a:t>
            </a:r>
            <a:endParaRPr lang="ar-EG" sz="3000" dirty="0">
              <a:latin typeface="EB Garamond"/>
              <a:cs typeface="Amiri"/>
            </a:endParaRPr>
          </a:p>
        </p:txBody>
      </p:sp>
      <p:pic>
        <p:nvPicPr>
          <p:cNvPr id="5" name="monumentsMap" descr="monumentsMap">    </p:cNvPr>
          <p:cNvPicPr>
            <a:picLocks noChangeAspect="1"/>
          </p:cNvPicPr>
          <p:nvPr/>
        </p:nvPicPr>
        <p:blipFill>
          <a:blip r:embed="rId1"/>
          <a:stretch>
            <a:fillRect/>
          </a:stretch>
        </p:blipFill>
        <p:spPr>
          <a:xfrm>
            <a:off x="969352" y="1325880"/>
            <a:ext cx="4370656" cy="4663440"/>
          </a:xfrm>
          <a:prstGeom prst="rect">
            <a:avLst/>
          </a:prstGeom>
        </p:spPr>
      </p:pic>
      <p:sp>
        <p:nvSpPr>
          <p:cNvPr id="6" name="Text 3"/>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الأقصر الكبرى: </a:t>
            </a:r>
            <a:pPr rtl="1" algn="r" indent="0" marL="0">
              <a:buNone/>
            </a:pPr>
            <a:r>
              <a:rPr lang="ar-EG" altLang="en-US" sz="2000" dirty="0">
                <a:solidFill>
                  <a:srgbClr val="F0E0B0"/>
                </a:solidFill>
                <a:latin typeface="EB Garamond"/>
                <a:cs typeface="Noto Naskh Arabic"/>
              </a:rPr>
              <a:t>الضفتان داخل المسار بفارق ثوانٍ؛ اختر الموقع بحسب الزحام والظل والخدمات</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أبيدوس ودندرة: </a:t>
            </a:r>
            <a:pPr rtl="1" algn="r" indent="0" marL="0">
              <a:buNone/>
            </a:pPr>
            <a:r>
              <a:rPr lang="ar-EG" altLang="en-US" sz="2000" dirty="0">
                <a:solidFill>
                  <a:srgbClr val="F0E0B0"/>
                </a:solidFill>
                <a:latin typeface="EB Garamond"/>
                <a:cs typeface="Noto Naskh Arabic"/>
              </a:rPr>
              <a:t>أقرب إلى خط المركز وأقل ازدحامًا من الكرنك ووادي الملوك</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مصر الوسطى: </a:t>
            </a:r>
            <a:pPr rtl="1" algn="r" indent="0" marL="0">
              <a:buNone/>
            </a:pPr>
            <a:r>
              <a:rPr lang="ar-EG" altLang="en-US" sz="2000" dirty="0">
                <a:solidFill>
                  <a:srgbClr val="F0E0B0"/>
                </a:solidFill>
                <a:latin typeface="EB Garamond"/>
                <a:cs typeface="Noto Naskh Arabic"/>
              </a:rPr>
              <a:t>تل العمارنة والأشمونين وبني حسن: تجربة تجمع آثار إخناتون والكسوف</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تنظيم الزيارة: </a:t>
            </a:r>
            <a:pPr rtl="1" algn="r" indent="0" marL="0">
              <a:buNone/>
            </a:pPr>
            <a:r>
              <a:rPr lang="ar-EG" altLang="en-US" sz="2000" dirty="0">
                <a:solidFill>
                  <a:srgbClr val="F0E0B0"/>
                </a:solidFill>
                <a:latin typeface="EB Garamond"/>
                <a:cs typeface="Noto Naskh Arabic"/>
              </a:rPr>
              <a:t>نسّق مسبقًا مع إدارة الموقع بشأن مواعيد الدخول والبقاء في الساحات المفتوحة</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٢٥-٣ من الكتاب (محسوب)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50</a:t>
            </a:fld>
            <a:endParaRPr lang="en-US">
              <a:latin typeface="EB Garamond"/>
              <a:cs typeface="Noto Naskh Arabic"/>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kicker-box"/>
          <p:cNvSpPr/>
          <p:nvPr/>
        </p:nvSpPr>
        <p:spPr>
          <a:xfrm>
            <a:off x="6847942" y="182880"/>
            <a:ext cx="4795114" cy="274320"/>
          </a:xfrm>
          <a:prstGeom prst="rect">
            <a:avLst/>
          </a:prstGeom>
          <a:solidFill>
            <a:srgbClr val="1B3A6B"/>
          </a:solidFill>
          <a:ln w="12700">
            <a:solidFill>
              <a:srgbClr val="E8B84B"/>
            </a:solidFill>
            <a:prstDash val="solid"/>
          </a:ln>
        </p:spPr>
      </p:sp>
      <p:sp>
        <p:nvSpPr>
          <p:cNvPr id="3" name="kicker"/>
          <p:cNvSpPr txBox="1"/>
          <p:nvPr/>
        </p:nvSpPr>
        <p:spPr>
          <a:xfrm>
            <a:off x="6847942" y="182880"/>
            <a:ext cx="479511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BAHARIYA OASIS: THE CLOSEST OPTION TO CAIRO</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الواحات البحرية: الخيار الأقرب للقاهرة</a:t>
            </a:r>
            <a:endParaRPr lang="ar-EG" sz="3000" dirty="0">
              <a:latin typeface="EB Garamond"/>
              <a:cs typeface="Amiri"/>
            </a:endParaRPr>
          </a:p>
        </p:txBody>
      </p:sp>
      <p:pic>
        <p:nvPicPr>
          <p:cNvPr id="5" name="bahariya" descr="bahariya">    </p:cNvPr>
          <p:cNvPicPr>
            <a:picLocks noChangeAspect="1"/>
          </p:cNvPicPr>
          <p:nvPr/>
        </p:nvPicPr>
        <p:blipFill>
          <a:blip r:embed="rId1"/>
          <a:stretch>
            <a:fillRect/>
          </a:stretch>
        </p:blipFill>
        <p:spPr>
          <a:xfrm>
            <a:off x="937215" y="1325880"/>
            <a:ext cx="4709250" cy="4663440"/>
          </a:xfrm>
          <a:prstGeom prst="rect">
            <a:avLst/>
          </a:prstGeom>
        </p:spPr>
      </p:pic>
      <p:sp>
        <p:nvSpPr>
          <p:cNvPr id="6" name="Text 3"/>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الباويطي: </a:t>
            </a:r>
            <a:pPr rtl="1" algn="r" indent="0" marL="0">
              <a:buNone/>
            </a:pPr>
            <a:r>
              <a:rPr lang="ar-EG" altLang="en-US" sz="2000" dirty="0">
                <a:solidFill>
                  <a:srgbClr val="F0E0B0"/>
                </a:solidFill>
                <a:latin typeface="EB Garamond"/>
                <a:cs typeface="Noto Naskh Arabic"/>
              </a:rPr>
              <a:t>الكلية ١٢:٥٠:١٠–١٢:٥٦:٢٨، أي ٦ د ١٧ ث، والشمس على ارتفاع ٧٩°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الحيز ومنديشة: </a:t>
            </a:r>
            <a:pPr rtl="1" algn="r" indent="0" marL="0">
              <a:buNone/>
            </a:pPr>
            <a:r>
              <a:rPr lang="ar-EG" altLang="en-US" sz="2000" dirty="0">
                <a:solidFill>
                  <a:srgbClr val="F0E0B0"/>
                </a:solidFill>
                <a:latin typeface="EB Garamond"/>
                <a:cs typeface="Noto Naskh Arabic"/>
              </a:rPr>
              <a:t>٦ د ١٦ ث و٦ د ١٥ ث</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خط المركز (Central line): </a:t>
            </a:r>
            <a:pPr rtl="1" algn="r" indent="0" marL="0">
              <a:buNone/>
            </a:pPr>
            <a:r>
              <a:rPr lang="ar-EG" altLang="en-US" sz="2000" dirty="0">
                <a:solidFill>
                  <a:srgbClr val="F0E0B0"/>
                </a:solidFill>
                <a:latin typeface="EB Garamond"/>
                <a:cs typeface="Noto Naskh Arabic"/>
              </a:rPr>
              <a:t>٦ د ٢٢ ث على بعد نحو ٢٢ كم جنوب الباويطي</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المزايا: </a:t>
            </a:r>
            <a:pPr rtl="1" algn="r" indent="0" marL="0">
              <a:buNone/>
            </a:pPr>
            <a:r>
              <a:rPr lang="ar-EG" altLang="en-US" sz="2000" dirty="0">
                <a:solidFill>
                  <a:srgbClr val="F0E0B0"/>
                </a:solidFill>
                <a:latin typeface="EB Garamond"/>
                <a:cs typeface="Noto Naskh Arabic"/>
              </a:rPr>
              <a:t>أفق صحراوي مفتوح، وسماء صافية عادة في أغسطس، ونحو ٣٧٠ كم فقط من القاهرة</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١٦-٩ من الكتاب (محسوب)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51</a:t>
            </a:fld>
            <a:endParaRPr lang="en-US">
              <a:latin typeface="EB Garamond"/>
              <a:cs typeface="Noto Naskh Arabic"/>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٣-ج</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كيف ترصده بأمان؟</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How to observe safely</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النظارة المعتمدة، والوسائل الآمنة، ومتى تُنزع النظارة، والخرافات، والحر</a:t>
            </a:r>
            <a:endParaRPr lang="ar-EG" sz="1600" dirty="0">
              <a:latin typeface="EB Garamond"/>
              <a:cs typeface="Noto Naskh Arabic"/>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kicker-box"/>
          <p:cNvSpPr/>
          <p:nvPr/>
        </p:nvSpPr>
        <p:spPr>
          <a:xfrm>
            <a:off x="8230514" y="182880"/>
            <a:ext cx="3412541" cy="274320"/>
          </a:xfrm>
          <a:prstGeom prst="rect">
            <a:avLst/>
          </a:prstGeom>
          <a:solidFill>
            <a:srgbClr val="1B3A6B"/>
          </a:solidFill>
          <a:ln w="12700">
            <a:solidFill>
              <a:srgbClr val="E8B84B"/>
            </a:solidFill>
            <a:prstDash val="solid"/>
          </a:ln>
        </p:spPr>
      </p:sp>
      <p:sp>
        <p:nvSpPr>
          <p:cNvPr id="3" name="kicker"/>
          <p:cNvSpPr txBox="1"/>
          <p:nvPr/>
        </p:nvSpPr>
        <p:spPr>
          <a:xfrm>
            <a:off x="8230514" y="182880"/>
            <a:ext cx="3412541"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GOLDEN RULE OF EYE SAFETY</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القاعدة الذهبية لسلامة العين</a:t>
            </a:r>
            <a:endParaRPr lang="ar-EG" sz="3000" dirty="0">
              <a:latin typeface="EB Garamond"/>
              <a:cs typeface="Amiri"/>
            </a:endParaRPr>
          </a:p>
        </p:txBody>
      </p:sp>
      <p:pic>
        <p:nvPicPr>
          <p:cNvPr id="5" name="golden" descr="golden">    </p:cNvPr>
          <p:cNvPicPr>
            <a:picLocks noChangeAspect="1"/>
          </p:cNvPicPr>
          <p:nvPr/>
        </p:nvPicPr>
        <p:blipFill>
          <a:blip r:embed="rId1"/>
          <a:stretch>
            <a:fillRect/>
          </a:stretch>
        </p:blipFill>
        <p:spPr>
          <a:xfrm>
            <a:off x="1043727" y="1325880"/>
            <a:ext cx="4496225" cy="4663440"/>
          </a:xfrm>
          <a:prstGeom prst="rect">
            <a:avLst/>
          </a:prstGeom>
        </p:spPr>
      </p:pic>
      <p:sp>
        <p:nvSpPr>
          <p:cNvPr id="6" name="Text 3"/>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F0E0B0"/>
                </a:solidFill>
                <a:latin typeface="EB Garamond"/>
                <a:cs typeface="Noto Naskh Arabic"/>
              </a:rPr>
              <a:t>دائمًا: </a:t>
            </a:r>
            <a:pPr rtl="1" algn="r" indent="0" marL="0">
              <a:buNone/>
            </a:pPr>
            <a:r>
              <a:rPr lang="ar-EG" altLang="en-US" sz="1900" dirty="0">
                <a:solidFill>
                  <a:srgbClr val="F0E0B0"/>
                </a:solidFill>
                <a:latin typeface="EB Garamond"/>
                <a:cs typeface="Noto Naskh Arabic"/>
              </a:rPr>
              <a:t>نظارة كسوف (Eclipse glasses) مطابقة للمعيار ISO 12312-2، سليمة غير مخدوشة</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الاستثناء الوحيد: </a:t>
            </a:r>
            <a:pPr rtl="1" algn="r" indent="0" marL="0">
              <a:buNone/>
            </a:pPr>
            <a:r>
              <a:rPr lang="ar-EG" altLang="en-US" sz="1900" dirty="0">
                <a:solidFill>
                  <a:srgbClr val="F0E0B0"/>
                </a:solidFill>
                <a:latin typeface="EB Garamond"/>
                <a:cs typeface="Noto Naskh Arabic"/>
              </a:rPr>
              <a:t>داخل مسار الكلية، وبين التماسين الثاني والثالث فقط</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ممنوع: </a:t>
            </a:r>
            <a:pPr rtl="1" algn="r" indent="0" marL="0">
              <a:buNone/>
            </a:pPr>
            <a:r>
              <a:rPr lang="ar-EG" altLang="en-US" sz="1900" dirty="0">
                <a:solidFill>
                  <a:srgbClr val="F0E0B0"/>
                </a:solidFill>
                <a:latin typeface="EB Garamond"/>
                <a:cs typeface="Noto Naskh Arabic"/>
              </a:rPr>
              <a:t>النظارات الشمسية، والأفلام، والزجاج المدخّن، والنظر عبر كاميرا أو منظار بلا مرشح</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زجاج اللحام: </a:t>
            </a:r>
            <a:pPr rtl="1" algn="r" indent="0" marL="0">
              <a:buNone/>
            </a:pPr>
            <a:r>
              <a:rPr lang="ar-EG" altLang="en-US" sz="1900" dirty="0">
                <a:solidFill>
                  <a:srgbClr val="F0E0B0"/>
                </a:solidFill>
                <a:latin typeface="EB Garamond"/>
                <a:cs typeface="Noto Naskh Arabic"/>
              </a:rPr>
              <a:t>رقم ١٤ فقط مقبول؛ الأقل منه غير آمن</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الخطر: </a:t>
            </a:r>
            <a:pPr rtl="1" algn="r" indent="0" marL="0">
              <a:buNone/>
            </a:pPr>
            <a:r>
              <a:rPr lang="ar-EG" altLang="en-US" sz="1900" dirty="0">
                <a:solidFill>
                  <a:srgbClr val="F0E0B0"/>
                </a:solidFill>
                <a:latin typeface="EB Garamond"/>
                <a:cs typeface="Noto Naskh Arabic"/>
              </a:rPr>
              <a:t>اعتلال الشبكية الشمسي (Solar retinopathy) بلا ألم، وقد يكون دائمًا</a:t>
            </a:r>
            <a:endParaRPr lang="ar-EG" sz="19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١-٥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53</a:t>
            </a:fld>
            <a:endParaRPr lang="en-US">
              <a:latin typeface="EB Garamond"/>
              <a:cs typeface="Noto Naskh Arabic"/>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kicker-box"/>
          <p:cNvSpPr/>
          <p:nvPr/>
        </p:nvSpPr>
        <p:spPr>
          <a:xfrm>
            <a:off x="7440473" y="182880"/>
            <a:ext cx="4202582" cy="274320"/>
          </a:xfrm>
          <a:prstGeom prst="rect">
            <a:avLst/>
          </a:prstGeom>
          <a:solidFill>
            <a:srgbClr val="1B3A6B"/>
          </a:solidFill>
          <a:ln w="12700">
            <a:solidFill>
              <a:srgbClr val="E8B84B"/>
            </a:solidFill>
            <a:prstDash val="solid"/>
          </a:ln>
        </p:spPr>
      </p:sp>
      <p:sp>
        <p:nvSpPr>
          <p:cNvPr id="3" name="kicker"/>
          <p:cNvSpPr txBox="1"/>
          <p:nvPr/>
        </p:nvSpPr>
        <p:spPr>
          <a:xfrm>
            <a:off x="7440473" y="182880"/>
            <a:ext cx="4202582"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SAFE VS. UNSAFE WAYS TO WATCH THE SUN</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الوسائل الآمنة وغير الآمنة</a:t>
            </a:r>
            <a:endParaRPr lang="ar-EG" sz="3000" dirty="0">
              <a:latin typeface="EB Garamond"/>
              <a:cs typeface="Amiri"/>
            </a:endParaRPr>
          </a:p>
        </p:txBody>
      </p:sp>
      <p:pic>
        <p:nvPicPr>
          <p:cNvPr id="5" name="safeUnsafe" descr="safeUnsafe">    </p:cNvPr>
          <p:cNvPicPr>
            <a:picLocks noChangeAspect="1"/>
          </p:cNvPicPr>
          <p:nvPr/>
        </p:nvPicPr>
        <p:blipFill>
          <a:blip r:embed="rId1"/>
          <a:stretch>
            <a:fillRect/>
          </a:stretch>
        </p:blipFill>
        <p:spPr>
          <a:xfrm>
            <a:off x="683586" y="1325880"/>
            <a:ext cx="5216508" cy="4663440"/>
          </a:xfrm>
          <a:prstGeom prst="rect">
            <a:avLst/>
          </a:prstGeom>
        </p:spPr>
      </p:pic>
      <p:sp>
        <p:nvSpPr>
          <p:cNvPr id="6" name="Text 3"/>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آمن: </a:t>
            </a:r>
            <a:pPr rtl="1" algn="r" indent="0" marL="0">
              <a:buNone/>
            </a:pPr>
            <a:r>
              <a:rPr lang="ar-EG" altLang="en-US" sz="1800" dirty="0">
                <a:solidFill>
                  <a:srgbClr val="F0E0B0"/>
                </a:solidFill>
                <a:latin typeface="EB Garamond"/>
                <a:cs typeface="Noto Naskh Arabic"/>
              </a:rPr>
              <a:t>نظارة كسوف معتمدة (ISO 12312-2)، مرشح شمسي (Solar filter) أمام العدسة، كاميرا الثقب، زجاج لحام رقم ١٤</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غير آمن: </a:t>
            </a:r>
            <a:pPr rtl="1" algn="r" indent="0" marL="0">
              <a:buNone/>
            </a:pPr>
            <a:r>
              <a:rPr lang="ar-EG" altLang="en-US" sz="1800" dirty="0">
                <a:solidFill>
                  <a:srgbClr val="F0E0B0"/>
                </a:solidFill>
                <a:latin typeface="EB Garamond"/>
                <a:cs typeface="Noto Naskh Arabic"/>
              </a:rPr>
              <a:t>النظارات الشمسية (Sunglasses)، أفلام الأشعة، الأقراص المدمجة، الزجاج المدخّن، الانعكاس في الماء</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الأخطر: </a:t>
            </a:r>
            <a:pPr rtl="1" algn="r" indent="0" marL="0">
              <a:buNone/>
            </a:pPr>
            <a:r>
              <a:rPr lang="ar-EG" altLang="en-US" sz="1800" dirty="0">
                <a:solidFill>
                  <a:srgbClr val="F0E0B0"/>
                </a:solidFill>
                <a:latin typeface="EB Garamond"/>
                <a:cs typeface="Noto Naskh Arabic"/>
              </a:rPr>
              <a:t>منظار أو تلسكوب أو عدسة كاميرا بلا مرشح أمامها: يركّز الضوء فيحرق العين في ثانية</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الفحص: </a:t>
            </a:r>
            <a:pPr rtl="1" algn="r" indent="0" marL="0">
              <a:buNone/>
            </a:pPr>
            <a:r>
              <a:rPr lang="ar-EG" altLang="en-US" sz="1800" dirty="0">
                <a:solidFill>
                  <a:srgbClr val="F0E0B0"/>
                </a:solidFill>
                <a:latin typeface="EB Garamond"/>
                <a:cs typeface="Noto Naskh Arabic"/>
              </a:rPr>
              <a:t>النظارة السليمة لا يُرى منها إلا الشمس؛ أي خدش أو ثقب ← تُستبعد</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٢-٥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54</a:t>
            </a:fld>
            <a:endParaRPr lang="en-US">
              <a:latin typeface="EB Garamond"/>
              <a:cs typeface="Noto Naskh Arabic"/>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kicker-box"/>
          <p:cNvSpPr/>
          <p:nvPr/>
        </p:nvSpPr>
        <p:spPr>
          <a:xfrm>
            <a:off x="6847942" y="182880"/>
            <a:ext cx="4795114" cy="274320"/>
          </a:xfrm>
          <a:prstGeom prst="rect">
            <a:avLst/>
          </a:prstGeom>
          <a:solidFill>
            <a:srgbClr val="1B3A6B"/>
          </a:solidFill>
          <a:ln w="12700">
            <a:solidFill>
              <a:srgbClr val="E8B84B"/>
            </a:solidFill>
            <a:prstDash val="solid"/>
          </a:ln>
        </p:spPr>
      </p:sp>
      <p:sp>
        <p:nvSpPr>
          <p:cNvPr id="3" name="kicker"/>
          <p:cNvSpPr txBox="1"/>
          <p:nvPr/>
        </p:nvSpPr>
        <p:spPr>
          <a:xfrm>
            <a:off x="6847942" y="182880"/>
            <a:ext cx="479511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GLASSES ON, GLASSES OFF: THE LUXOR TIMELINE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متى يلبس الزائر النظارة ومتى ينزعها؟ (الأقصر)</a:t>
            </a:r>
            <a:endParaRPr lang="ar-EG" sz="3000" dirty="0">
              <a:latin typeface="EB Garamond"/>
              <a:cs typeface="Amiri"/>
            </a:endParaRPr>
          </a:p>
        </p:txBody>
      </p:sp>
      <p:pic>
        <p:nvPicPr>
          <p:cNvPr id="5" name="glassesLuxor" descr="glassesLuxor">    </p:cNvPr>
          <p:cNvPicPr>
            <a:picLocks noChangeAspect="1"/>
          </p:cNvPicPr>
          <p:nvPr/>
        </p:nvPicPr>
        <p:blipFill>
          <a:blip r:embed="rId1"/>
          <a:stretch>
            <a:fillRect/>
          </a:stretch>
        </p:blipFill>
        <p:spPr>
          <a:xfrm>
            <a:off x="548640" y="1967975"/>
            <a:ext cx="6309360" cy="3379250"/>
          </a:xfrm>
          <a:prstGeom prst="rect">
            <a:avLst/>
          </a:prstGeom>
        </p:spPr>
      </p:pic>
      <p:sp>
        <p:nvSpPr>
          <p:cNvPr id="6" name="Text 3"/>
          <p:cNvSpPr txBox="1"/>
          <p:nvPr/>
        </p:nvSpPr>
        <p:spPr>
          <a:xfrm>
            <a:off x="7178040" y="1371600"/>
            <a:ext cx="44650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١١:٤٠: </a:t>
            </a:r>
            <a:pPr rtl="1" algn="r" indent="0" marL="0">
              <a:buNone/>
            </a:pPr>
            <a:r>
              <a:rPr lang="ar-EG" altLang="en-US" sz="2000" dirty="0">
                <a:solidFill>
                  <a:srgbClr val="F0E0B0"/>
                </a:solidFill>
                <a:latin typeface="EB Garamond"/>
                <a:cs typeface="Noto Naskh Arabic"/>
              </a:rPr>
              <a:t>النظارة على العين لمتابعة بداية الجزئي</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١٣:٠١:٥٨: </a:t>
            </a:r>
            <a:pPr rtl="1" algn="r" indent="0" marL="0">
              <a:buNone/>
            </a:pPr>
            <a:r>
              <a:rPr lang="ar-EG" altLang="en-US" sz="2000" dirty="0">
                <a:solidFill>
                  <a:srgbClr val="F0E0B0"/>
                </a:solidFill>
                <a:latin typeface="EB Garamond"/>
                <a:cs typeface="Noto Naskh Arabic"/>
              </a:rPr>
              <a:t>يختفي آخر ضوء ← انزعوا النظارات</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٦ دقائق و٢٠ ثانية: </a:t>
            </a:r>
            <a:pPr rtl="1" algn="r" indent="0" marL="0">
              <a:buNone/>
            </a:pPr>
            <a:r>
              <a:rPr lang="ar-EG" altLang="en-US" sz="2000" dirty="0">
                <a:solidFill>
                  <a:srgbClr val="F0E0B0"/>
                </a:solidFill>
                <a:latin typeface="EB Garamond"/>
                <a:cs typeface="Noto Naskh Arabic"/>
              </a:rPr>
              <a:t>انظروا بالعين المجردة إلى الهالة والكواكب</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١٣:٠٨:١٨: </a:t>
            </a:r>
            <a:pPr rtl="1" algn="r" indent="0" marL="0">
              <a:buNone/>
            </a:pPr>
            <a:r>
              <a:rPr lang="ar-EG" altLang="en-US" sz="2000" dirty="0">
                <a:solidFill>
                  <a:srgbClr val="F0E0B0"/>
                </a:solidFill>
                <a:latin typeface="EB Garamond"/>
                <a:cs typeface="Noto Naskh Arabic"/>
              </a:rPr>
              <a:t>أول وميض للخاتم الماسي ← النظارات فورًا</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١٤:٢٦: </a:t>
            </a:r>
            <a:pPr rtl="1" algn="r" indent="0" marL="0">
              <a:buNone/>
            </a:pPr>
            <a:r>
              <a:rPr lang="ar-EG" altLang="en-US" sz="2000" dirty="0">
                <a:solidFill>
                  <a:srgbClr val="F0E0B0"/>
                </a:solidFill>
                <a:latin typeface="EB Garamond"/>
                <a:cs typeface="Noto Naskh Arabic"/>
              </a:rPr>
              <a:t>نهاية الكسوف</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٩-٥ من الكتاب (محسوب)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55</a:t>
            </a:fld>
            <a:endParaRPr lang="en-US">
              <a:latin typeface="EB Garamond"/>
              <a:cs typeface="Noto Naskh Arabic"/>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kicker-box"/>
          <p:cNvSpPr/>
          <p:nvPr/>
        </p:nvSpPr>
        <p:spPr>
          <a:xfrm>
            <a:off x="7539228" y="182880"/>
            <a:ext cx="4103827" cy="274320"/>
          </a:xfrm>
          <a:prstGeom prst="rect">
            <a:avLst/>
          </a:prstGeom>
          <a:solidFill>
            <a:srgbClr val="1B3A6B"/>
          </a:solidFill>
          <a:ln w="12700">
            <a:solidFill>
              <a:srgbClr val="E8B84B"/>
            </a:solidFill>
            <a:prstDash val="solid"/>
          </a:ln>
        </p:spPr>
      </p:sp>
      <p:sp>
        <p:nvSpPr>
          <p:cNvPr id="3" name="kicker"/>
          <p:cNvSpPr txBox="1"/>
          <p:nvPr/>
        </p:nvSpPr>
        <p:spPr>
          <a:xfrm>
            <a:off x="7539228" y="182880"/>
            <a:ext cx="4103827"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COMMON MYTHS VISITORS WILL ASK ABOUT</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خرافات شائعة سيسألك عنها الزوار</a:t>
            </a:r>
            <a:endParaRPr lang="ar-EG" sz="3000" dirty="0">
              <a:latin typeface="EB Garamond"/>
              <a:cs typeface="Amiri"/>
            </a:endParaRPr>
          </a:p>
        </p:txBody>
      </p:sp>
      <p:pic>
        <p:nvPicPr>
          <p:cNvPr id="5" name="myths" descr="myths">    </p:cNvPr>
          <p:cNvPicPr>
            <a:picLocks noChangeAspect="1"/>
          </p:cNvPicPr>
          <p:nvPr/>
        </p:nvPicPr>
        <p:blipFill>
          <a:blip r:embed="rId1"/>
          <a:stretch>
            <a:fillRect/>
          </a:stretch>
        </p:blipFill>
        <p:spPr>
          <a:xfrm>
            <a:off x="582360" y="1325880"/>
            <a:ext cx="5144640" cy="4663440"/>
          </a:xfrm>
          <a:prstGeom prst="rect">
            <a:avLst/>
          </a:prstGeom>
        </p:spPr>
      </p:pic>
      <p:sp>
        <p:nvSpPr>
          <p:cNvPr id="6" name="Text 3"/>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«الكسوف يضر الحوامل والطعام»: </a:t>
            </a:r>
            <a:pPr rtl="1" algn="r" indent="0" marL="0">
              <a:buNone/>
            </a:pPr>
            <a:r>
              <a:rPr lang="ar-EG" altLang="en-US" sz="2000" dirty="0">
                <a:solidFill>
                  <a:srgbClr val="F0E0B0"/>
                </a:solidFill>
                <a:latin typeface="EB Garamond"/>
                <a:cs typeface="Noto Naskh Arabic"/>
              </a:rPr>
              <a:t>لا أصل علميًا لذلك</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«لا تخرج وقت الكسوف»: </a:t>
            </a:r>
            <a:pPr rtl="1" algn="r" indent="0" marL="0">
              <a:buNone/>
            </a:pPr>
            <a:r>
              <a:rPr lang="ar-EG" altLang="en-US" sz="2000" dirty="0">
                <a:solidFill>
                  <a:srgbClr val="F0E0B0"/>
                </a:solidFill>
                <a:latin typeface="EB Garamond"/>
                <a:cs typeface="Noto Naskh Arabic"/>
              </a:rPr>
              <a:t>الخطر الوحيد هو النظر إلى الشمس بلا مرشح</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«الكسوف نذير»: </a:t>
            </a:r>
            <a:pPr rtl="1" algn="r" indent="0" marL="0">
              <a:buNone/>
            </a:pPr>
            <a:r>
              <a:rPr lang="ar-EG" altLang="en-US" sz="2000" dirty="0">
                <a:solidFill>
                  <a:srgbClr val="F0E0B0"/>
                </a:solidFill>
                <a:latin typeface="EB Garamond"/>
                <a:cs typeface="Noto Naskh Arabic"/>
              </a:rPr>
              <a:t>«لا ينكسفان لموت أحد ولا لحياته» — حديث نبوي</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«الأشعة أخطر أثناء الكسوف»: </a:t>
            </a:r>
            <a:pPr rtl="1" algn="r" indent="0" marL="0">
              <a:buNone/>
            </a:pPr>
            <a:r>
              <a:rPr lang="ar-EG" altLang="en-US" sz="2000" dirty="0">
                <a:solidFill>
                  <a:srgbClr val="F0E0B0"/>
                </a:solidFill>
                <a:latin typeface="EB Garamond"/>
                <a:cs typeface="Noto Naskh Arabic"/>
              </a:rPr>
              <a:t>الشمس هي الشمس؛ الخطر أن الناس يحدّقون فيها</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١٥-٥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56</a:t>
            </a:fld>
            <a:endParaRPr lang="en-US">
              <a:latin typeface="EB Garamond"/>
              <a:cs typeface="Noto Naskh Arabic"/>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kicker-box"/>
          <p:cNvSpPr/>
          <p:nvPr/>
        </p:nvSpPr>
        <p:spPr>
          <a:xfrm>
            <a:off x="6255410" y="182880"/>
            <a:ext cx="5387645" cy="274320"/>
          </a:xfrm>
          <a:prstGeom prst="rect">
            <a:avLst/>
          </a:prstGeom>
          <a:solidFill>
            <a:srgbClr val="1B3A6B"/>
          </a:solidFill>
          <a:ln w="12700">
            <a:solidFill>
              <a:srgbClr val="E8B84B"/>
            </a:solidFill>
            <a:prstDash val="solid"/>
          </a:ln>
        </p:spPr>
      </p:sp>
      <p:sp>
        <p:nvSpPr>
          <p:cNvPr id="3" name="kicker"/>
          <p:cNvSpPr txBox="1"/>
          <p:nvPr/>
        </p:nvSpPr>
        <p:spPr>
          <a:xfrm>
            <a:off x="6255410" y="182880"/>
            <a:ext cx="5387645"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AUGUST NOON IN UPPER EGYPT: HEAT IS A REAL HAZARD</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ظهيرة أغسطس في الصعيد: الحر خطر حقيقي</a:t>
            </a:r>
            <a:endParaRPr lang="ar-EG" sz="3000" dirty="0">
              <a:latin typeface="EB Garamond"/>
              <a:cs typeface="Amiri"/>
            </a:endParaRPr>
          </a:p>
        </p:txBody>
      </p:sp>
      <p:pic>
        <p:nvPicPr>
          <p:cNvPr id="5" name="heat" descr="heat">    </p:cNvPr>
          <p:cNvPicPr>
            <a:picLocks noChangeAspect="1"/>
          </p:cNvPicPr>
          <p:nvPr/>
        </p:nvPicPr>
        <p:blipFill>
          <a:blip r:embed="rId1"/>
          <a:stretch>
            <a:fillRect/>
          </a:stretch>
        </p:blipFill>
        <p:spPr>
          <a:xfrm>
            <a:off x="548640" y="1688337"/>
            <a:ext cx="5212080" cy="3938525"/>
          </a:xfrm>
          <a:prstGeom prst="rect">
            <a:avLst/>
          </a:prstGeom>
        </p:spPr>
      </p:pic>
      <p:sp>
        <p:nvSpPr>
          <p:cNvPr id="6" name="Text 3"/>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الشمس فوق الرأس: </a:t>
            </a:r>
            <a:pPr rtl="1" algn="r" indent="0" marL="0">
              <a:buNone/>
            </a:pPr>
            <a:r>
              <a:rPr lang="ar-EG" altLang="en-US" sz="2000" dirty="0">
                <a:solidFill>
                  <a:srgbClr val="F0E0B0"/>
                </a:solidFill>
                <a:latin typeface="EB Garamond"/>
                <a:cs typeface="Noto Naskh Arabic"/>
              </a:rPr>
              <a:t>ارتفاعها ٨١–٨٢°، فلا ظل تقريبًا عند الجدران والأشجار</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الحرارة (Heat stress): </a:t>
            </a:r>
            <a:pPr rtl="1" algn="r" indent="0" marL="0">
              <a:buNone/>
            </a:pPr>
            <a:r>
              <a:rPr lang="ar-EG" altLang="en-US" sz="2000" dirty="0">
                <a:solidFill>
                  <a:srgbClr val="F0E0B0"/>
                </a:solidFill>
                <a:latin typeface="EB Garamond"/>
                <a:cs typeface="Noto Naskh Arabic"/>
              </a:rPr>
              <a:t>ظهيرة أغسطس في الأقصر وأسوان تتجاوز ٤٠° عادةً</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الماء: </a:t>
            </a:r>
            <a:pPr rtl="1" algn="r" indent="0" marL="0">
              <a:buNone/>
            </a:pPr>
            <a:r>
              <a:rPr lang="ar-EG" altLang="en-US" sz="2000" dirty="0">
                <a:solidFill>
                  <a:srgbClr val="F0E0B0"/>
                </a:solidFill>
                <a:latin typeface="EB Garamond"/>
                <a:cs typeface="Noto Naskh Arabic"/>
              </a:rPr>
              <a:t>لتر لكل ساعة لكل شخص، مع أملاح</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الوقاية: </a:t>
            </a:r>
            <a:pPr rtl="1" algn="r" indent="0" marL="0">
              <a:buNone/>
            </a:pPr>
            <a:r>
              <a:rPr lang="ar-EG" altLang="en-US" sz="2000" dirty="0">
                <a:solidFill>
                  <a:srgbClr val="F0E0B0"/>
                </a:solidFill>
                <a:latin typeface="EB Garamond"/>
                <a:cs typeface="Noto Naskh Arabic"/>
              </a:rPr>
              <a:t>قبعة واسعة، ومظلات، وملابس فاتحة، ومكان استراحة مظلل قريب</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الإسعاف: </a:t>
            </a:r>
            <a:pPr rtl="1" algn="r" indent="0" marL="0">
              <a:buNone/>
            </a:pPr>
            <a:r>
              <a:rPr lang="ar-EG" altLang="en-US" sz="2000" dirty="0">
                <a:solidFill>
                  <a:srgbClr val="F0E0B0"/>
                </a:solidFill>
                <a:latin typeface="EB Garamond"/>
                <a:cs typeface="Noto Naskh Arabic"/>
              </a:rPr>
              <a:t>حدّد أقرب نقطة إسعاف، وراقب كبار السن والأطفال</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١٨-٥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57</a:t>
            </a:fld>
            <a:endParaRPr lang="en-US">
              <a:latin typeface="EB Garamond"/>
              <a:cs typeface="Noto Naskh Arabic"/>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E8B84B"/>
                </a:solidFill>
                <a:latin typeface="EB Garamond"/>
                <a:cs typeface="Amiri"/>
              </a:rPr>
              <a:t>٣-د</a:t>
            </a:r>
            <a:endParaRPr lang="en-US" sz="2600" dirty="0">
              <a:latin typeface="EB Garamond"/>
              <a:cs typeface="Amiri"/>
            </a:endParaRPr>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E8B84B"/>
                </a:solidFill>
                <a:latin typeface="EB Garamond"/>
                <a:cs typeface="Amiri"/>
              </a:rPr>
              <a:t>كيف تصوّره؟</a:t>
            </a:r>
            <a:endParaRPr lang="ar-EG" sz="3400" dirty="0">
              <a:latin typeface="EB Garamond"/>
              <a:cs typeface="Amiri"/>
            </a:endParaRPr>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E8B84B"/>
                </a:solidFill>
                <a:latin typeface="EB Garamond"/>
                <a:cs typeface="Noto Naskh Arabic"/>
              </a:rPr>
              <a:t>How to photograph it</a:t>
            </a:r>
            <a:endParaRPr lang="en-US" sz="1700" dirty="0">
              <a:latin typeface="EB Garamond"/>
              <a:cs typeface="Noto Naskh Arabic"/>
            </a:endParaRPr>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F0E0B0"/>
                </a:solidFill>
                <a:latin typeface="EB Garamond"/>
                <a:cs typeface="Noto Naskh Arabic"/>
              </a:rPr>
              <a:t>بالهاتف الذكي، ثم بالكاميرا: المرشح، والوضع اليدوي، والتعريض المتدرج، وخطة الدقائق الست</a:t>
            </a:r>
            <a:endParaRPr lang="ar-EG" sz="1600" dirty="0">
              <a:latin typeface="EB Garamond"/>
              <a:cs typeface="Noto Naskh Arabic"/>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kicker-box"/>
          <p:cNvSpPr/>
          <p:nvPr/>
        </p:nvSpPr>
        <p:spPr>
          <a:xfrm>
            <a:off x="6847942" y="182880"/>
            <a:ext cx="4795114" cy="274320"/>
          </a:xfrm>
          <a:prstGeom prst="rect">
            <a:avLst/>
          </a:prstGeom>
          <a:solidFill>
            <a:srgbClr val="1B3A6B"/>
          </a:solidFill>
          <a:ln w="12700">
            <a:solidFill>
              <a:srgbClr val="E8B84B"/>
            </a:solidFill>
            <a:prstDash val="solid"/>
          </a:ln>
        </p:spPr>
      </p:sp>
      <p:sp>
        <p:nvSpPr>
          <p:cNvPr id="3" name="kicker"/>
          <p:cNvSpPr txBox="1"/>
          <p:nvPr/>
        </p:nvSpPr>
        <p:spPr>
          <a:xfrm>
            <a:off x="6847942" y="182880"/>
            <a:ext cx="479511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PHOTOGRAPHING THE ECLIPSE WITH A SMARTPHONE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تصوير الكسوف بالهاتف</a:t>
            </a:r>
            <a:endParaRPr lang="ar-EG" sz="3000" dirty="0">
              <a:latin typeface="EB Garamond"/>
              <a:cs typeface="Amiri"/>
            </a:endParaRPr>
          </a:p>
        </p:txBody>
      </p:sp>
      <p:pic>
        <p:nvPicPr>
          <p:cNvPr id="5" name="phone" descr="phone">    </p:cNvPr>
          <p:cNvPicPr>
            <a:picLocks noChangeAspect="1"/>
          </p:cNvPicPr>
          <p:nvPr/>
        </p:nvPicPr>
        <p:blipFill>
          <a:blip r:embed="rId1"/>
          <a:stretch>
            <a:fillRect/>
          </a:stretch>
        </p:blipFill>
        <p:spPr>
          <a:xfrm>
            <a:off x="548640" y="1553159"/>
            <a:ext cx="5394960" cy="4208882"/>
          </a:xfrm>
          <a:prstGeom prst="rect">
            <a:avLst/>
          </a:prstGeom>
        </p:spPr>
      </p:pic>
      <p:sp>
        <p:nvSpPr>
          <p:cNvPr id="6" name="Text 3"/>
          <p:cNvSpPr txBox="1"/>
          <p:nvPr/>
        </p:nvSpPr>
        <p:spPr>
          <a:xfrm>
            <a:off x="6263640" y="1371600"/>
            <a:ext cx="53794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2000" b="1" dirty="0">
                <a:solidFill>
                  <a:srgbClr val="F0E0B0"/>
                </a:solidFill>
                <a:latin typeface="EB Garamond"/>
                <a:cs typeface="Noto Naskh Arabic"/>
              </a:rPr>
              <a:t>أثناء الجزئي: </a:t>
            </a:r>
            <a:pPr rtl="1" algn="r" indent="0" marL="0">
              <a:buNone/>
            </a:pPr>
            <a:r>
              <a:rPr lang="ar-EG" altLang="en-US" sz="2000" dirty="0">
                <a:solidFill>
                  <a:srgbClr val="F0E0B0"/>
                </a:solidFill>
                <a:latin typeface="EB Garamond"/>
                <a:cs typeface="Noto Naskh Arabic"/>
              </a:rPr>
              <a:t>ضع مرشحًا شمسيًا أو نظارة كسوف أمام عدسة الهاتف، واقفل التركيز والتعريض (AE/AF lock)</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أثناء الكلية: </a:t>
            </a:r>
            <a:pPr rtl="1" algn="r" indent="0" marL="0">
              <a:buNone/>
            </a:pPr>
            <a:r>
              <a:rPr lang="ar-EG" altLang="en-US" sz="2000" dirty="0">
                <a:solidFill>
                  <a:srgbClr val="F0E0B0"/>
                </a:solidFill>
                <a:latin typeface="EB Garamond"/>
                <a:cs typeface="Noto Naskh Arabic"/>
              </a:rPr>
              <a:t>انزع المرشح؛ صوّر الأفق الدائري والناس بعدسة واسعة (Wide angle) — الشمس فوق الرأس</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الوضع الليلي: </a:t>
            </a:r>
            <a:pPr rtl="1" algn="r" indent="0" marL="0">
              <a:buNone/>
            </a:pPr>
            <a:r>
              <a:rPr lang="ar-EG" altLang="en-US" sz="2000" dirty="0">
                <a:solidFill>
                  <a:srgbClr val="F0E0B0"/>
                </a:solidFill>
                <a:latin typeface="EB Garamond"/>
                <a:cs typeface="Noto Naskh Arabic"/>
              </a:rPr>
              <a:t>أطفئ الفلاش، وثبّت الهاتف على حامل (Tripod)</a:t>
            </a:r>
            <a:endParaRPr lang="ar-EG" sz="2000" dirty="0">
              <a:latin typeface="EB Garamond"/>
              <a:cs typeface="Noto Naskh Arabic"/>
            </a:endParaRPr>
          </a:p>
          <a:p>
            <a:pPr rtl="1" algn="r" marL="228600" indent="-228600">
              <a:spcAft>
                <a:spcPts val="800"/>
              </a:spcAft>
              <a:buSzPct val="100000"/>
              <a:buChar char="•"/>
            </a:pPr>
            <a:r>
              <a:rPr lang="ar-EG" altLang="en-US" sz="2000" b="1" dirty="0">
                <a:solidFill>
                  <a:srgbClr val="F0E0B0"/>
                </a:solidFill>
                <a:latin typeface="EB Garamond"/>
                <a:cs typeface="Noto Naskh Arabic"/>
              </a:rPr>
              <a:t>الأهم: </a:t>
            </a:r>
            <a:pPr rtl="1" algn="r" indent="0" marL="0">
              <a:buNone/>
            </a:pPr>
            <a:r>
              <a:rPr lang="ar-EG" altLang="en-US" sz="2000" dirty="0">
                <a:solidFill>
                  <a:srgbClr val="F0E0B0"/>
                </a:solidFill>
                <a:latin typeface="EB Garamond"/>
                <a:cs typeface="Noto Naskh Arabic"/>
              </a:rPr>
              <a:t>لا تقضِ الدقائق الست خلف الشاشة؛ صوّر دقيقة ثم انظر بعينيك</a:t>
            </a:r>
            <a:endParaRPr lang="ar-EG" sz="20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٢١-٧ من الكتاب</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59</a:t>
            </a:fld>
            <a:endParaRPr lang="en-US">
              <a:latin typeface="EB Garamond"/>
              <a:cs typeface="Noto Naskh Arabic"/>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kicker-box"/>
          <p:cNvSpPr/>
          <p:nvPr/>
        </p:nvSpPr>
        <p:spPr>
          <a:xfrm>
            <a:off x="5366614" y="182880"/>
            <a:ext cx="6276442" cy="274320"/>
          </a:xfrm>
          <a:prstGeom prst="rect">
            <a:avLst/>
          </a:prstGeom>
          <a:solidFill>
            <a:srgbClr val="1B3A6B"/>
          </a:solidFill>
          <a:ln w="12700">
            <a:solidFill>
              <a:srgbClr val="E8B84B"/>
            </a:solidFill>
            <a:prstDash val="solid"/>
          </a:ln>
        </p:spPr>
      </p:sp>
      <p:sp>
        <p:nvSpPr>
          <p:cNvPr id="3" name="kicker"/>
          <p:cNvSpPr txBox="1"/>
          <p:nvPr/>
        </p:nvSpPr>
        <p:spPr>
          <a:xfrm>
            <a:off x="5366614" y="182880"/>
            <a:ext cx="6276442"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CAMERA PHOTOGRAPHY: THE SIX-MINUTE TOTALITY PLAN FOR LUXOR</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تصوير الكسوف بالكاميرا: خطة الدقائق الست في الأقصر</a:t>
            </a:r>
            <a:endParaRPr lang="ar-EG" sz="3000" dirty="0">
              <a:latin typeface="EB Garamond"/>
              <a:cs typeface="Amiri"/>
            </a:endParaRPr>
          </a:p>
        </p:txBody>
      </p:sp>
      <p:pic>
        <p:nvPicPr>
          <p:cNvPr id="5" name="planLuxor" descr="planLuxor">    </p:cNvPr>
          <p:cNvPicPr>
            <a:picLocks noChangeAspect="1"/>
          </p:cNvPicPr>
          <p:nvPr/>
        </p:nvPicPr>
        <p:blipFill>
          <a:blip r:embed="rId1"/>
          <a:stretch>
            <a:fillRect/>
          </a:stretch>
        </p:blipFill>
        <p:spPr>
          <a:xfrm>
            <a:off x="1165503" y="1325880"/>
            <a:ext cx="3704034" cy="4663440"/>
          </a:xfrm>
          <a:prstGeom prst="rect">
            <a:avLst/>
          </a:prstGeom>
        </p:spPr>
      </p:pic>
      <p:sp>
        <p:nvSpPr>
          <p:cNvPr id="6" name="Text 3"/>
          <p:cNvSpPr txBox="1"/>
          <p:nvPr/>
        </p:nvSpPr>
        <p:spPr>
          <a:xfrm>
            <a:off x="5806440" y="1371600"/>
            <a:ext cx="58366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800" b="1" dirty="0">
                <a:solidFill>
                  <a:srgbClr val="F0E0B0"/>
                </a:solidFill>
                <a:latin typeface="EB Garamond"/>
                <a:cs typeface="Noto Naskh Arabic"/>
              </a:rPr>
              <a:t>الوضع اليدوي (Manual mode): </a:t>
            </a:r>
            <a:pPr rtl="1" algn="r" indent="0" marL="0">
              <a:buNone/>
            </a:pPr>
            <a:r>
              <a:rPr lang="ar-EG" altLang="en-US" sz="1800" dirty="0">
                <a:solidFill>
                  <a:srgbClr val="F0E0B0"/>
                </a:solidFill>
                <a:latin typeface="EB Garamond"/>
                <a:cs typeface="Noto Naskh Arabic"/>
              </a:rPr>
              <a:t>فتحة ثابتة مثل f/8 وحساسية منخفضة ISO 100–400، وتغيير زمن الغالق وحده</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المرشح الشمسي (Solar filter): </a:t>
            </a:r>
            <a:pPr rtl="1" algn="r" indent="0" marL="0">
              <a:buNone/>
            </a:pPr>
            <a:r>
              <a:rPr lang="ar-EG" altLang="en-US" sz="1800" dirty="0">
                <a:solidFill>
                  <a:srgbClr val="F0E0B0"/>
                </a:solidFill>
                <a:latin typeface="EB Garamond"/>
                <a:cs typeface="Noto Naskh Arabic"/>
              </a:rPr>
              <a:t>أمام العدسة طوال الجزئي؛ يُنزع قبل التماس الثاني بثوانٍ ويُعاد بعد الثالث</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التعريض المتدرج (Bracketing): </a:t>
            </a:r>
            <a:pPr rtl="1" algn="r" indent="0" marL="0">
              <a:buNone/>
            </a:pPr>
            <a:r>
              <a:rPr lang="ar-EG" altLang="en-US" sz="1800" dirty="0">
                <a:solidFill>
                  <a:srgbClr val="F0E0B0"/>
                </a:solidFill>
                <a:latin typeface="EB Garamond"/>
                <a:cs typeface="Noto Naskh Arabic"/>
              </a:rPr>
              <a:t>سلسلة لقطات من ١/٤٠٠٠ ث حتى ١ ث تقريبًا لتغطي الهالة الداخلية والخارجية</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البعد البؤري: </a:t>
            </a:r>
            <a:pPr rtl="1" algn="r" indent="0" marL="0">
              <a:buNone/>
            </a:pPr>
            <a:r>
              <a:rPr lang="ar-EG" altLang="en-US" sz="1800" dirty="0">
                <a:solidFill>
                  <a:srgbClr val="F0E0B0"/>
                </a:solidFill>
                <a:latin typeface="EB Garamond"/>
                <a:cs typeface="Noto Naskh Arabic"/>
              </a:rPr>
              <a:t>٤٠٠–٨٠٠ مم لقرص الشمس والهالة؛ عدسة واسعة للمشهد لأن الشمس فوق الرأس</a:t>
            </a:r>
            <a:endParaRPr lang="ar-EG" sz="1800" dirty="0">
              <a:latin typeface="EB Garamond"/>
              <a:cs typeface="Noto Naskh Arabic"/>
            </a:endParaRPr>
          </a:p>
          <a:p>
            <a:pPr rtl="1" algn="r" marL="228600" indent="-228600">
              <a:spcAft>
                <a:spcPts val="800"/>
              </a:spcAft>
              <a:buSzPct val="100000"/>
              <a:buChar char="•"/>
            </a:pPr>
            <a:r>
              <a:rPr lang="ar-EG" altLang="en-US" sz="1800" b="1" dirty="0">
                <a:solidFill>
                  <a:srgbClr val="F0E0B0"/>
                </a:solidFill>
                <a:latin typeface="EB Garamond"/>
                <a:cs typeface="Noto Naskh Arabic"/>
              </a:rPr>
              <a:t>الأتمتة: </a:t>
            </a:r>
            <a:pPr rtl="1" algn="r" indent="0" marL="0">
              <a:buNone/>
            </a:pPr>
            <a:r>
              <a:rPr lang="ar-EG" altLang="en-US" sz="1800" dirty="0">
                <a:solidFill>
                  <a:srgbClr val="F0E0B0"/>
                </a:solidFill>
                <a:latin typeface="EB Garamond"/>
                <a:cs typeface="Noto Naskh Arabic"/>
              </a:rPr>
              <a:t>برامج مثل Eclipse Orchestrator تلتقط التسلسل آليًا، فتتفرغ عيناك</a:t>
            </a:r>
            <a:endParaRPr lang="ar-EG" sz="18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١٤-٧ من الكتاب: خطة التصوير خلال الكلية في الأقصر (محسوبة)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60</a:t>
            </a:fld>
            <a:endParaRPr lang="en-US">
              <a:latin typeface="EB Garamond"/>
              <a:cs typeface="Noto Naskh Arabic"/>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kicker-box"/>
          <p:cNvSpPr/>
          <p:nvPr/>
        </p:nvSpPr>
        <p:spPr>
          <a:xfrm>
            <a:off x="6650431" y="182880"/>
            <a:ext cx="4992624" cy="274320"/>
          </a:xfrm>
          <a:prstGeom prst="rect">
            <a:avLst/>
          </a:prstGeom>
          <a:solidFill>
            <a:srgbClr val="1B3A6B"/>
          </a:solidFill>
          <a:ln w="12700">
            <a:solidFill>
              <a:srgbClr val="E8B84B"/>
            </a:solidFill>
            <a:prstDash val="solid"/>
          </a:ln>
        </p:spPr>
      </p:sp>
      <p:sp>
        <p:nvSpPr>
          <p:cNvPr id="3" name="kicker"/>
          <p:cNvSpPr txBox="1"/>
          <p:nvPr/>
        </p:nvSpPr>
        <p:spPr>
          <a:xfrm>
            <a:off x="6650431" y="182880"/>
            <a:ext cx="499262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CAMERA SETTINGS FOR EACH PHASE OF THE ECLIPSE</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إعدادات الكاميرا لكل مرحلة</a:t>
            </a:r>
            <a:endParaRPr lang="ar-EG" sz="3000" dirty="0">
              <a:latin typeface="EB Garamond"/>
              <a:cs typeface="Amiri"/>
            </a:endParaRPr>
          </a:p>
        </p:txBody>
      </p:sp>
      <p:pic>
        <p:nvPicPr>
          <p:cNvPr id="5" name="phaseSettings" descr="phaseSettings">    </p:cNvPr>
          <p:cNvPicPr>
            <a:picLocks noChangeAspect="1"/>
          </p:cNvPicPr>
          <p:nvPr/>
        </p:nvPicPr>
        <p:blipFill>
          <a:blip r:embed="rId1"/>
          <a:stretch>
            <a:fillRect/>
          </a:stretch>
        </p:blipFill>
        <p:spPr>
          <a:xfrm>
            <a:off x="548640" y="1551177"/>
            <a:ext cx="5943600" cy="4212845"/>
          </a:xfrm>
          <a:prstGeom prst="rect">
            <a:avLst/>
          </a:prstGeom>
        </p:spPr>
      </p:pic>
      <p:sp>
        <p:nvSpPr>
          <p:cNvPr id="6" name="Text 3"/>
          <p:cNvSpPr txBox="1"/>
          <p:nvPr/>
        </p:nvSpPr>
        <p:spPr>
          <a:xfrm>
            <a:off x="6812280" y="1371600"/>
            <a:ext cx="48307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900" b="1" dirty="0">
                <a:solidFill>
                  <a:srgbClr val="F0E0B0"/>
                </a:solidFill>
                <a:latin typeface="EB Garamond"/>
                <a:cs typeface="Noto Naskh Arabic"/>
              </a:rPr>
              <a:t>الجزئي (Partial): </a:t>
            </a:r>
            <a:pPr rtl="1" algn="r" indent="0" marL="0">
              <a:buNone/>
            </a:pPr>
            <a:r>
              <a:rPr lang="ar-EG" altLang="en-US" sz="1900" dirty="0">
                <a:solidFill>
                  <a:srgbClr val="F0E0B0"/>
                </a:solidFill>
                <a:latin typeface="EB Garamond"/>
                <a:cs typeface="Noto Naskh Arabic"/>
              </a:rPr>
              <a:t>مع المرشح، تعريض قصير، صورة كل ٥–١٠ دقائق لصنع تسلسل المراحل</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حبات بيلي والخاتم الماسي: </a:t>
            </a:r>
            <a:pPr rtl="1" algn="r" indent="0" marL="0">
              <a:buNone/>
            </a:pPr>
            <a:r>
              <a:rPr lang="ar-EG" altLang="en-US" sz="1900" dirty="0">
                <a:solidFill>
                  <a:srgbClr val="F0E0B0"/>
                </a:solidFill>
                <a:latin typeface="EB Garamond"/>
                <a:cs typeface="Noto Naskh Arabic"/>
              </a:rPr>
              <a:t>بلا مرشح، تعريض قصير جدًا وتصوير متتابع سريع (Burst)</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الشواظ والكروموسفير: </a:t>
            </a:r>
            <a:pPr rtl="1" algn="r" indent="0" marL="0">
              <a:buNone/>
            </a:pPr>
            <a:r>
              <a:rPr lang="ar-EG" altLang="en-US" sz="1900" dirty="0">
                <a:solidFill>
                  <a:srgbClr val="F0E0B0"/>
                </a:solidFill>
                <a:latin typeface="EB Garamond"/>
                <a:cs typeface="Noto Naskh Arabic"/>
              </a:rPr>
              <a:t>تعريضات قصيرة في أول الكلية وآخرها</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الهالة (Corona): </a:t>
            </a:r>
            <a:pPr rtl="1" algn="r" indent="0" marL="0">
              <a:buNone/>
            </a:pPr>
            <a:r>
              <a:rPr lang="ar-EG" altLang="en-US" sz="1900" dirty="0">
                <a:solidFill>
                  <a:srgbClr val="F0E0B0"/>
                </a:solidFill>
                <a:latin typeface="EB Garamond"/>
                <a:cs typeface="Noto Naskh Arabic"/>
              </a:rPr>
              <a:t>سلسلة من الأقصر إلى الأطول، ثم دمج HDR بعد الحدث</a:t>
            </a:r>
            <a:endParaRPr lang="ar-EG" sz="1900" dirty="0">
              <a:latin typeface="EB Garamond"/>
              <a:cs typeface="Noto Naskh Arabic"/>
            </a:endParaRPr>
          </a:p>
          <a:p>
            <a:pPr rtl="1" algn="r" marL="228600" indent="-228600">
              <a:spcAft>
                <a:spcPts val="800"/>
              </a:spcAft>
              <a:buSzPct val="100000"/>
              <a:buChar char="•"/>
            </a:pPr>
            <a:r>
              <a:rPr lang="ar-EG" altLang="en-US" sz="1900" b="1" dirty="0">
                <a:solidFill>
                  <a:srgbClr val="F0E0B0"/>
                </a:solidFill>
                <a:latin typeface="EB Garamond"/>
                <a:cs typeface="Noto Naskh Arabic"/>
              </a:rPr>
              <a:t>المدرّج التكراري (Histogram): </a:t>
            </a:r>
            <a:pPr rtl="1" algn="r" indent="0" marL="0">
              <a:buNone/>
            </a:pPr>
            <a:r>
              <a:rPr lang="ar-EG" altLang="en-US" sz="1900" dirty="0">
                <a:solidFill>
                  <a:srgbClr val="F0E0B0"/>
                </a:solidFill>
                <a:latin typeface="EB Garamond"/>
                <a:cs typeface="Noto Naskh Arabic"/>
              </a:rPr>
              <a:t>راجعه في الجزئي فقط؛ لا وقت لذلك في الكلية</a:t>
            </a:r>
            <a:endParaRPr lang="ar-EG" sz="1900" dirty="0">
              <a:latin typeface="EB Garamond"/>
              <a:cs typeface="Noto Naskh Arabic"/>
            </a:endParaRPr>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الشكل ٥-٧ من الكتاب: الإعدادات المقترحة لكل مرحلة (محسوبة)</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61</a:t>
            </a:fld>
            <a:endParaRPr lang="en-US">
              <a:latin typeface="EB Garamond"/>
              <a:cs typeface="Noto Naskh Arabic"/>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kicker-box"/>
          <p:cNvSpPr/>
          <p:nvPr/>
        </p:nvSpPr>
        <p:spPr>
          <a:xfrm>
            <a:off x="6452921" y="182880"/>
            <a:ext cx="5190134" cy="274320"/>
          </a:xfrm>
          <a:prstGeom prst="rect">
            <a:avLst/>
          </a:prstGeom>
          <a:solidFill>
            <a:srgbClr val="1B3A6B"/>
          </a:solidFill>
          <a:ln w="12700">
            <a:solidFill>
              <a:srgbClr val="E8B84B"/>
            </a:solidFill>
            <a:prstDash val="solid"/>
          </a:ln>
        </p:spPr>
      </p:sp>
      <p:sp>
        <p:nvSpPr>
          <p:cNvPr id="3" name="kicker"/>
          <p:cNvSpPr txBox="1"/>
          <p:nvPr/>
        </p:nvSpPr>
        <p:spPr>
          <a:xfrm>
            <a:off x="6452921" y="182880"/>
            <a:ext cx="519013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THE GUIDE'S PLAN: FROM NOW UNTIL FOURTH CONTACT</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خطة المرشد: من الآن حتى نهاية الكسوف</a:t>
            </a:r>
            <a:endParaRPr lang="ar-EG" sz="3000" dirty="0">
              <a:latin typeface="EB Garamond"/>
              <a:cs typeface="Amiri"/>
            </a:endParaRPr>
          </a:p>
        </p:txBody>
      </p:sp>
      <p:sp>
        <p:nvSpPr>
          <p:cNvPr id="5" name="timeline-line"/>
          <p:cNvSpPr/>
          <p:nvPr/>
        </p:nvSpPr>
        <p:spPr>
          <a:xfrm>
            <a:off x="822960" y="1874520"/>
            <a:ext cx="10545775" cy="0"/>
          </a:xfrm>
          <a:prstGeom prst="line">
            <a:avLst/>
          </a:prstGeom>
          <a:noFill/>
          <a:ln w="25400">
            <a:solidFill>
              <a:srgbClr val="E8B84B"/>
            </a:solidFill>
            <a:prstDash val="dash"/>
          </a:ln>
        </p:spPr>
      </p:sp>
      <p:sp>
        <p:nvSpPr>
          <p:cNvPr id="6" name="step-disc-1"/>
          <p:cNvSpPr/>
          <p:nvPr/>
        </p:nvSpPr>
        <p:spPr>
          <a:xfrm>
            <a:off x="10421341" y="1508760"/>
            <a:ext cx="731520" cy="73152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7" name="Text 5"/>
          <p:cNvSpPr txBox="1"/>
          <p:nvPr/>
        </p:nvSpPr>
        <p:spPr>
          <a:xfrm>
            <a:off x="10421341" y="1508760"/>
            <a:ext cx="731520" cy="731520"/>
          </a:xfrm>
          <a:prstGeom prst="rect">
            <a:avLst/>
          </a:prstGeom>
          <a:noFill/>
          <a:ln/>
        </p:spPr>
        <p:txBody>
          <a:bodyPr wrap="square" lIns="0" tIns="0" rIns="0" bIns="0" rtlCol="0" anchor="ctr"/>
          <a:lstStyle/>
          <a:p>
            <a:pPr rtl="1" algn="ctr" indent="0" marL="0">
              <a:buNone/>
            </a:pPr>
            <a:r>
              <a:rPr lang="en-US" sz="2000" b="1" dirty="0">
                <a:solidFill>
                  <a:srgbClr val="E8B84B"/>
                </a:solidFill>
                <a:latin typeface="EB Garamond"/>
                <a:cs typeface="Noto Naskh Arabic"/>
              </a:rPr>
              <a:t>١</a:t>
            </a:r>
            <a:endParaRPr lang="en-US" sz="2000" dirty="0">
              <a:latin typeface="EB Garamond"/>
              <a:cs typeface="Noto Naskh Arabic"/>
            </a:endParaRPr>
          </a:p>
        </p:txBody>
      </p:sp>
      <p:sp>
        <p:nvSpPr>
          <p:cNvPr id="8" name="step-card-1"/>
          <p:cNvSpPr/>
          <p:nvPr/>
        </p:nvSpPr>
        <p:spPr>
          <a:xfrm>
            <a:off x="9931146" y="2514600"/>
            <a:ext cx="1711909" cy="2834640"/>
          </a:xfrm>
          <a:prstGeom prst="rect">
            <a:avLst/>
          </a:prstGeom>
          <a:solidFill>
            <a:srgbClr val="161F2F"/>
          </a:solidFill>
          <a:ln w="9525">
            <a:solidFill>
              <a:srgbClr val="6E5422"/>
            </a:solidFill>
            <a:prstDash val="solid"/>
          </a:ln>
        </p:spPr>
      </p:sp>
      <p:sp>
        <p:nvSpPr>
          <p:cNvPr id="9" name="step-card-1-accent"/>
          <p:cNvSpPr/>
          <p:nvPr/>
        </p:nvSpPr>
        <p:spPr>
          <a:xfrm>
            <a:off x="11579047" y="2514600"/>
            <a:ext cx="64008" cy="2834640"/>
          </a:xfrm>
          <a:prstGeom prst="rect">
            <a:avLst/>
          </a:prstGeom>
          <a:solidFill>
            <a:srgbClr val="C9962B"/>
          </a:solidFill>
          <a:ln w="12700">
            <a:solidFill>
              <a:srgbClr val="C9962B"/>
            </a:solidFill>
            <a:prstDash val="solid"/>
          </a:ln>
        </p:spPr>
      </p:sp>
      <p:sp>
        <p:nvSpPr>
          <p:cNvPr id="10" name="Text 8"/>
          <p:cNvSpPr txBox="1"/>
          <p:nvPr/>
        </p:nvSpPr>
        <p:spPr>
          <a:xfrm>
            <a:off x="10068306"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قبل سنة</a:t>
            </a:r>
            <a:endParaRPr lang="ar-EG" sz="1500" dirty="0">
              <a:latin typeface="EB Garamond"/>
              <a:cs typeface="Noto Naskh Arabic"/>
            </a:endParaRPr>
          </a:p>
        </p:txBody>
      </p:sp>
      <p:sp>
        <p:nvSpPr>
          <p:cNvPr id="11" name="Text 9"/>
          <p:cNvSpPr txBox="1"/>
          <p:nvPr/>
        </p:nvSpPr>
        <p:spPr>
          <a:xfrm>
            <a:off x="10068306"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حجز الموقع والنقل؛ دراسة بطاقة المدينة؛ قراءة الكتاب</a:t>
            </a:r>
            <a:endParaRPr lang="ar-EG" sz="1400" dirty="0">
              <a:latin typeface="EB Garamond"/>
              <a:cs typeface="Noto Naskh Arabic"/>
            </a:endParaRPr>
          </a:p>
        </p:txBody>
      </p:sp>
      <p:sp>
        <p:nvSpPr>
          <p:cNvPr id="12" name="step-disc-2"/>
          <p:cNvSpPr/>
          <p:nvPr/>
        </p:nvSpPr>
        <p:spPr>
          <a:xfrm>
            <a:off x="8544839" y="1508760"/>
            <a:ext cx="731520" cy="73152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13" name="Text 11"/>
          <p:cNvSpPr txBox="1"/>
          <p:nvPr/>
        </p:nvSpPr>
        <p:spPr>
          <a:xfrm>
            <a:off x="8544839" y="1508760"/>
            <a:ext cx="731520" cy="731520"/>
          </a:xfrm>
          <a:prstGeom prst="rect">
            <a:avLst/>
          </a:prstGeom>
          <a:noFill/>
          <a:ln/>
        </p:spPr>
        <p:txBody>
          <a:bodyPr wrap="square" lIns="0" tIns="0" rIns="0" bIns="0" rtlCol="0" anchor="ctr"/>
          <a:lstStyle/>
          <a:p>
            <a:pPr rtl="1" algn="ctr" indent="0" marL="0">
              <a:buNone/>
            </a:pPr>
            <a:r>
              <a:rPr lang="en-US" sz="2000" b="1" dirty="0">
                <a:solidFill>
                  <a:srgbClr val="E8B84B"/>
                </a:solidFill>
                <a:latin typeface="EB Garamond"/>
                <a:cs typeface="Noto Naskh Arabic"/>
              </a:rPr>
              <a:t>٢</a:t>
            </a:r>
            <a:endParaRPr lang="en-US" sz="2000" dirty="0">
              <a:latin typeface="EB Garamond"/>
              <a:cs typeface="Noto Naskh Arabic"/>
            </a:endParaRPr>
          </a:p>
        </p:txBody>
      </p:sp>
      <p:sp>
        <p:nvSpPr>
          <p:cNvPr id="14" name="step-card-2"/>
          <p:cNvSpPr/>
          <p:nvPr/>
        </p:nvSpPr>
        <p:spPr>
          <a:xfrm>
            <a:off x="8054645" y="2514600"/>
            <a:ext cx="1711909" cy="2834640"/>
          </a:xfrm>
          <a:prstGeom prst="rect">
            <a:avLst/>
          </a:prstGeom>
          <a:solidFill>
            <a:srgbClr val="161F2F"/>
          </a:solidFill>
          <a:ln w="9525">
            <a:solidFill>
              <a:srgbClr val="6E5422"/>
            </a:solidFill>
            <a:prstDash val="solid"/>
          </a:ln>
        </p:spPr>
      </p:sp>
      <p:sp>
        <p:nvSpPr>
          <p:cNvPr id="15" name="step-card-2-accent"/>
          <p:cNvSpPr/>
          <p:nvPr/>
        </p:nvSpPr>
        <p:spPr>
          <a:xfrm>
            <a:off x="9702546" y="2514600"/>
            <a:ext cx="64008" cy="2834640"/>
          </a:xfrm>
          <a:prstGeom prst="rect">
            <a:avLst/>
          </a:prstGeom>
          <a:solidFill>
            <a:srgbClr val="C9962B"/>
          </a:solidFill>
          <a:ln w="12700">
            <a:solidFill>
              <a:srgbClr val="C9962B"/>
            </a:solidFill>
            <a:prstDash val="solid"/>
          </a:ln>
        </p:spPr>
      </p:sp>
      <p:sp>
        <p:nvSpPr>
          <p:cNvPr id="16" name="Text 14"/>
          <p:cNvSpPr txBox="1"/>
          <p:nvPr/>
        </p:nvSpPr>
        <p:spPr>
          <a:xfrm>
            <a:off x="8191805"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قبل ٣ أشهر</a:t>
            </a:r>
            <a:endParaRPr lang="ar-EG" sz="1500" dirty="0">
              <a:latin typeface="EB Garamond"/>
              <a:cs typeface="Noto Naskh Arabic"/>
            </a:endParaRPr>
          </a:p>
        </p:txBody>
      </p:sp>
      <p:sp>
        <p:nvSpPr>
          <p:cNvPr id="17" name="Text 15"/>
          <p:cNvSpPr txBox="1"/>
          <p:nvPr/>
        </p:nvSpPr>
        <p:spPr>
          <a:xfrm>
            <a:off x="8191805"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شراء نظارات معتمدة + ٢٠٪ احتياطي؛ تجربة التطبيقات</a:t>
            </a:r>
            <a:endParaRPr lang="ar-EG" sz="1400" dirty="0">
              <a:latin typeface="EB Garamond"/>
              <a:cs typeface="Noto Naskh Arabic"/>
            </a:endParaRPr>
          </a:p>
        </p:txBody>
      </p:sp>
      <p:sp>
        <p:nvSpPr>
          <p:cNvPr id="18" name="step-disc-3"/>
          <p:cNvSpPr/>
          <p:nvPr/>
        </p:nvSpPr>
        <p:spPr>
          <a:xfrm>
            <a:off x="6668338" y="1508760"/>
            <a:ext cx="731520" cy="73152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19" name="Text 17"/>
          <p:cNvSpPr txBox="1"/>
          <p:nvPr/>
        </p:nvSpPr>
        <p:spPr>
          <a:xfrm>
            <a:off x="6668338" y="1508760"/>
            <a:ext cx="731520" cy="731520"/>
          </a:xfrm>
          <a:prstGeom prst="rect">
            <a:avLst/>
          </a:prstGeom>
          <a:noFill/>
          <a:ln/>
        </p:spPr>
        <p:txBody>
          <a:bodyPr wrap="square" lIns="0" tIns="0" rIns="0" bIns="0" rtlCol="0" anchor="ctr"/>
          <a:lstStyle/>
          <a:p>
            <a:pPr rtl="1" algn="ctr" indent="0" marL="0">
              <a:buNone/>
            </a:pPr>
            <a:r>
              <a:rPr lang="en-US" sz="2000" b="1" dirty="0">
                <a:solidFill>
                  <a:srgbClr val="E8B84B"/>
                </a:solidFill>
                <a:latin typeface="EB Garamond"/>
                <a:cs typeface="Noto Naskh Arabic"/>
              </a:rPr>
              <a:t>٣</a:t>
            </a:r>
            <a:endParaRPr lang="en-US" sz="2000" dirty="0">
              <a:latin typeface="EB Garamond"/>
              <a:cs typeface="Noto Naskh Arabic"/>
            </a:endParaRPr>
          </a:p>
        </p:txBody>
      </p:sp>
      <p:sp>
        <p:nvSpPr>
          <p:cNvPr id="20" name="step-card-3"/>
          <p:cNvSpPr/>
          <p:nvPr/>
        </p:nvSpPr>
        <p:spPr>
          <a:xfrm>
            <a:off x="6178144" y="2514600"/>
            <a:ext cx="1711909" cy="2834640"/>
          </a:xfrm>
          <a:prstGeom prst="rect">
            <a:avLst/>
          </a:prstGeom>
          <a:solidFill>
            <a:srgbClr val="161F2F"/>
          </a:solidFill>
          <a:ln w="9525">
            <a:solidFill>
              <a:srgbClr val="6E5422"/>
            </a:solidFill>
            <a:prstDash val="solid"/>
          </a:ln>
        </p:spPr>
      </p:sp>
      <p:sp>
        <p:nvSpPr>
          <p:cNvPr id="21" name="step-card-3-accent"/>
          <p:cNvSpPr/>
          <p:nvPr/>
        </p:nvSpPr>
        <p:spPr>
          <a:xfrm>
            <a:off x="7826045" y="2514600"/>
            <a:ext cx="64008" cy="2834640"/>
          </a:xfrm>
          <a:prstGeom prst="rect">
            <a:avLst/>
          </a:prstGeom>
          <a:solidFill>
            <a:srgbClr val="C9962B"/>
          </a:solidFill>
          <a:ln w="12700">
            <a:solidFill>
              <a:srgbClr val="C9962B"/>
            </a:solidFill>
            <a:prstDash val="solid"/>
          </a:ln>
        </p:spPr>
      </p:sp>
      <p:sp>
        <p:nvSpPr>
          <p:cNvPr id="22" name="Text 20"/>
          <p:cNvSpPr txBox="1"/>
          <p:nvPr/>
        </p:nvSpPr>
        <p:spPr>
          <a:xfrm>
            <a:off x="6315304"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قبل أسبوع</a:t>
            </a:r>
            <a:endParaRPr lang="ar-EG" sz="1500" dirty="0">
              <a:latin typeface="EB Garamond"/>
              <a:cs typeface="Noto Naskh Arabic"/>
            </a:endParaRPr>
          </a:p>
        </p:txBody>
      </p:sp>
      <p:sp>
        <p:nvSpPr>
          <p:cNvPr id="23" name="Text 21"/>
          <p:cNvSpPr txBox="1"/>
          <p:nvPr/>
        </p:nvSpPr>
        <p:spPr>
          <a:xfrm>
            <a:off x="6315304"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مراجعة الطقس والطرق؛ إحاطة المجموعة بالسلامة</a:t>
            </a:r>
            <a:endParaRPr lang="ar-EG" sz="1400" dirty="0">
              <a:latin typeface="EB Garamond"/>
              <a:cs typeface="Noto Naskh Arabic"/>
            </a:endParaRPr>
          </a:p>
        </p:txBody>
      </p:sp>
      <p:sp>
        <p:nvSpPr>
          <p:cNvPr id="24" name="step-disc-4"/>
          <p:cNvSpPr/>
          <p:nvPr/>
        </p:nvSpPr>
        <p:spPr>
          <a:xfrm>
            <a:off x="4791837" y="1508760"/>
            <a:ext cx="731520" cy="73152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25" name="Text 23"/>
          <p:cNvSpPr txBox="1"/>
          <p:nvPr/>
        </p:nvSpPr>
        <p:spPr>
          <a:xfrm>
            <a:off x="4791837" y="1508760"/>
            <a:ext cx="731520" cy="731520"/>
          </a:xfrm>
          <a:prstGeom prst="rect">
            <a:avLst/>
          </a:prstGeom>
          <a:noFill/>
          <a:ln/>
        </p:spPr>
        <p:txBody>
          <a:bodyPr wrap="square" lIns="0" tIns="0" rIns="0" bIns="0" rtlCol="0" anchor="ctr"/>
          <a:lstStyle/>
          <a:p>
            <a:pPr rtl="1" algn="ctr" indent="0" marL="0">
              <a:buNone/>
            </a:pPr>
            <a:r>
              <a:rPr lang="en-US" sz="2000" b="1" dirty="0">
                <a:solidFill>
                  <a:srgbClr val="E8B84B"/>
                </a:solidFill>
                <a:latin typeface="EB Garamond"/>
                <a:cs typeface="Noto Naskh Arabic"/>
              </a:rPr>
              <a:t>٤</a:t>
            </a:r>
            <a:endParaRPr lang="en-US" sz="2000" dirty="0">
              <a:latin typeface="EB Garamond"/>
              <a:cs typeface="Noto Naskh Arabic"/>
            </a:endParaRPr>
          </a:p>
        </p:txBody>
      </p:sp>
      <p:sp>
        <p:nvSpPr>
          <p:cNvPr id="26" name="step-card-4"/>
          <p:cNvSpPr/>
          <p:nvPr/>
        </p:nvSpPr>
        <p:spPr>
          <a:xfrm>
            <a:off x="4301642" y="2514600"/>
            <a:ext cx="1711909" cy="2834640"/>
          </a:xfrm>
          <a:prstGeom prst="rect">
            <a:avLst/>
          </a:prstGeom>
          <a:solidFill>
            <a:srgbClr val="161F2F"/>
          </a:solidFill>
          <a:ln w="9525">
            <a:solidFill>
              <a:srgbClr val="6E5422"/>
            </a:solidFill>
            <a:prstDash val="solid"/>
          </a:ln>
        </p:spPr>
      </p:sp>
      <p:sp>
        <p:nvSpPr>
          <p:cNvPr id="27" name="step-card-4-accent"/>
          <p:cNvSpPr/>
          <p:nvPr/>
        </p:nvSpPr>
        <p:spPr>
          <a:xfrm>
            <a:off x="5949544" y="2514600"/>
            <a:ext cx="64008" cy="2834640"/>
          </a:xfrm>
          <a:prstGeom prst="rect">
            <a:avLst/>
          </a:prstGeom>
          <a:solidFill>
            <a:srgbClr val="C9962B"/>
          </a:solidFill>
          <a:ln w="12700">
            <a:solidFill>
              <a:srgbClr val="C9962B"/>
            </a:solidFill>
            <a:prstDash val="solid"/>
          </a:ln>
        </p:spPr>
      </p:sp>
      <p:sp>
        <p:nvSpPr>
          <p:cNvPr id="28" name="Text 26"/>
          <p:cNvSpPr txBox="1"/>
          <p:nvPr/>
        </p:nvSpPr>
        <p:spPr>
          <a:xfrm>
            <a:off x="4438802"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يوم الكسوف صباحًا</a:t>
            </a:r>
            <a:endParaRPr lang="ar-EG" sz="1500" dirty="0">
              <a:latin typeface="EB Garamond"/>
              <a:cs typeface="Noto Naskh Arabic"/>
            </a:endParaRPr>
          </a:p>
        </p:txBody>
      </p:sp>
      <p:sp>
        <p:nvSpPr>
          <p:cNvPr id="29" name="Text 27"/>
          <p:cNvSpPr txBox="1"/>
          <p:nvPr/>
        </p:nvSpPr>
        <p:spPr>
          <a:xfrm>
            <a:off x="4438802"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0E0B0"/>
                </a:solidFill>
                <a:latin typeface="EB Garamond"/>
                <a:cs typeface="Noto Naskh Arabic"/>
              </a:rPr>
              <a:t>الوصول مبكرًا؛ توزيع النظارات والماء؛ تحديد الظل والإسعاف</a:t>
            </a:r>
            <a:endParaRPr lang="ar-EG" sz="1400" dirty="0">
              <a:latin typeface="EB Garamond"/>
              <a:cs typeface="Noto Naskh Arabic"/>
            </a:endParaRPr>
          </a:p>
        </p:txBody>
      </p:sp>
      <p:sp>
        <p:nvSpPr>
          <p:cNvPr id="30" name="step-disc-5"/>
          <p:cNvSpPr/>
          <p:nvPr/>
        </p:nvSpPr>
        <p:spPr>
          <a:xfrm>
            <a:off x="2915336" y="1508760"/>
            <a:ext cx="731520" cy="73152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1" name="Text 29"/>
          <p:cNvSpPr txBox="1"/>
          <p:nvPr/>
        </p:nvSpPr>
        <p:spPr>
          <a:xfrm>
            <a:off x="2915336" y="1508760"/>
            <a:ext cx="731520" cy="731520"/>
          </a:xfrm>
          <a:prstGeom prst="rect">
            <a:avLst/>
          </a:prstGeom>
          <a:noFill/>
          <a:ln/>
        </p:spPr>
        <p:txBody>
          <a:bodyPr wrap="square" lIns="0" tIns="0" rIns="0" bIns="0" rtlCol="0" anchor="ctr"/>
          <a:lstStyle/>
          <a:p>
            <a:pPr rtl="1" algn="ctr" indent="0" marL="0">
              <a:buNone/>
            </a:pPr>
            <a:r>
              <a:rPr lang="en-US" sz="2000" b="1" dirty="0">
                <a:solidFill>
                  <a:srgbClr val="E8B84B"/>
                </a:solidFill>
                <a:latin typeface="EB Garamond"/>
                <a:cs typeface="Noto Naskh Arabic"/>
              </a:rPr>
              <a:t>٥</a:t>
            </a:r>
            <a:endParaRPr lang="en-US" sz="2000" dirty="0">
              <a:latin typeface="EB Garamond"/>
              <a:cs typeface="Noto Naskh Arabic"/>
            </a:endParaRPr>
          </a:p>
        </p:txBody>
      </p:sp>
      <p:sp>
        <p:nvSpPr>
          <p:cNvPr id="32" name="step-card-5"/>
          <p:cNvSpPr/>
          <p:nvPr/>
        </p:nvSpPr>
        <p:spPr>
          <a:xfrm>
            <a:off x="2425141" y="2514600"/>
            <a:ext cx="1711909" cy="2834640"/>
          </a:xfrm>
          <a:prstGeom prst="rect">
            <a:avLst/>
          </a:prstGeom>
          <a:solidFill>
            <a:srgbClr val="1B3A6B"/>
          </a:solidFill>
          <a:ln w="9525">
            <a:solidFill>
              <a:srgbClr val="1B3A6B"/>
            </a:solidFill>
            <a:prstDash val="solid"/>
          </a:ln>
        </p:spPr>
      </p:sp>
      <p:sp>
        <p:nvSpPr>
          <p:cNvPr id="33" name="step-card-5-accent"/>
          <p:cNvSpPr/>
          <p:nvPr/>
        </p:nvSpPr>
        <p:spPr>
          <a:xfrm>
            <a:off x="4073042" y="2514600"/>
            <a:ext cx="64008" cy="2834640"/>
          </a:xfrm>
          <a:prstGeom prst="rect">
            <a:avLst/>
          </a:prstGeom>
          <a:solidFill>
            <a:srgbClr val="C9962B"/>
          </a:solidFill>
          <a:ln w="12700">
            <a:solidFill>
              <a:srgbClr val="C9962B"/>
            </a:solidFill>
            <a:prstDash val="solid"/>
          </a:ln>
        </p:spPr>
      </p:sp>
      <p:sp>
        <p:nvSpPr>
          <p:cNvPr id="34" name="Text 32"/>
          <p:cNvSpPr txBox="1"/>
          <p:nvPr/>
        </p:nvSpPr>
        <p:spPr>
          <a:xfrm>
            <a:off x="2562301"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١١:٤٠ ← ١٣:٠٠</a:t>
            </a:r>
            <a:endParaRPr lang="ar-EG" sz="1500" dirty="0">
              <a:latin typeface="EB Garamond"/>
              <a:cs typeface="Noto Naskh Arabic"/>
            </a:endParaRPr>
          </a:p>
        </p:txBody>
      </p:sp>
      <p:sp>
        <p:nvSpPr>
          <p:cNvPr id="35" name="Text 33"/>
          <p:cNvSpPr txBox="1"/>
          <p:nvPr/>
        </p:nvSpPr>
        <p:spPr>
          <a:xfrm>
            <a:off x="2562301"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FFFFF"/>
                </a:solidFill>
                <a:latin typeface="EB Garamond"/>
                <a:cs typeface="Noto Naskh Arabic"/>
              </a:rPr>
              <a:t>متابعة الجزئي بالنظارة؛ أهلّة الأشجار؛ شرح ما سيأتي</a:t>
            </a:r>
            <a:endParaRPr lang="ar-EG" sz="1400" dirty="0">
              <a:latin typeface="EB Garamond"/>
              <a:cs typeface="Noto Naskh Arabic"/>
            </a:endParaRPr>
          </a:p>
        </p:txBody>
      </p:sp>
      <p:sp>
        <p:nvSpPr>
          <p:cNvPr id="36" name="step-disc-6"/>
          <p:cNvSpPr/>
          <p:nvPr/>
        </p:nvSpPr>
        <p:spPr>
          <a:xfrm>
            <a:off x="1038835" y="1508760"/>
            <a:ext cx="731520" cy="731520"/>
          </a:xfrm>
          <a:prstGeom prst="ellipse">
            <a:avLst/>
          </a:prstGeom>
          <a:solidFill>
            <a:srgbClr val="130E07"/>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37" name="Text 35"/>
          <p:cNvSpPr txBox="1"/>
          <p:nvPr/>
        </p:nvSpPr>
        <p:spPr>
          <a:xfrm>
            <a:off x="1038835" y="1508760"/>
            <a:ext cx="731520" cy="731520"/>
          </a:xfrm>
          <a:prstGeom prst="rect">
            <a:avLst/>
          </a:prstGeom>
          <a:noFill/>
          <a:ln/>
        </p:spPr>
        <p:txBody>
          <a:bodyPr wrap="square" lIns="0" tIns="0" rIns="0" bIns="0" rtlCol="0" anchor="ctr"/>
          <a:lstStyle/>
          <a:p>
            <a:pPr rtl="1" algn="ctr" indent="0" marL="0">
              <a:buNone/>
            </a:pPr>
            <a:r>
              <a:rPr lang="en-US" sz="2000" b="1" dirty="0">
                <a:solidFill>
                  <a:srgbClr val="E8B84B"/>
                </a:solidFill>
                <a:latin typeface="EB Garamond"/>
                <a:cs typeface="Noto Naskh Arabic"/>
              </a:rPr>
              <a:t>٦</a:t>
            </a:r>
            <a:endParaRPr lang="en-US" sz="2000" dirty="0">
              <a:latin typeface="EB Garamond"/>
              <a:cs typeface="Noto Naskh Arabic"/>
            </a:endParaRPr>
          </a:p>
        </p:txBody>
      </p:sp>
      <p:sp>
        <p:nvSpPr>
          <p:cNvPr id="38" name="step-card-6"/>
          <p:cNvSpPr/>
          <p:nvPr/>
        </p:nvSpPr>
        <p:spPr>
          <a:xfrm>
            <a:off x="548640" y="2514600"/>
            <a:ext cx="1711909" cy="2834640"/>
          </a:xfrm>
          <a:prstGeom prst="rect">
            <a:avLst/>
          </a:prstGeom>
          <a:solidFill>
            <a:srgbClr val="1B3A6B"/>
          </a:solidFill>
          <a:ln w="9525">
            <a:solidFill>
              <a:srgbClr val="1B3A6B"/>
            </a:solidFill>
            <a:prstDash val="solid"/>
          </a:ln>
        </p:spPr>
      </p:sp>
      <p:sp>
        <p:nvSpPr>
          <p:cNvPr id="39" name="step-card-6-accent"/>
          <p:cNvSpPr/>
          <p:nvPr/>
        </p:nvSpPr>
        <p:spPr>
          <a:xfrm>
            <a:off x="2196541" y="2514600"/>
            <a:ext cx="64008" cy="2834640"/>
          </a:xfrm>
          <a:prstGeom prst="rect">
            <a:avLst/>
          </a:prstGeom>
          <a:solidFill>
            <a:srgbClr val="C9962B"/>
          </a:solidFill>
          <a:ln w="12700">
            <a:solidFill>
              <a:srgbClr val="C9962B"/>
            </a:solidFill>
            <a:prstDash val="solid"/>
          </a:ln>
        </p:spPr>
      </p:sp>
      <p:sp>
        <p:nvSpPr>
          <p:cNvPr id="40" name="Text 38"/>
          <p:cNvSpPr txBox="1"/>
          <p:nvPr/>
        </p:nvSpPr>
        <p:spPr>
          <a:xfrm>
            <a:off x="685800"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E8B84B"/>
                </a:solidFill>
                <a:latin typeface="EB Garamond"/>
                <a:cs typeface="Noto Naskh Arabic"/>
              </a:rPr>
              <a:t>١٣:٠٢ ← ١٣:٠٨</a:t>
            </a:r>
            <a:endParaRPr lang="ar-EG" sz="1500" dirty="0">
              <a:latin typeface="EB Garamond"/>
              <a:cs typeface="Noto Naskh Arabic"/>
            </a:endParaRPr>
          </a:p>
        </p:txBody>
      </p:sp>
      <p:sp>
        <p:nvSpPr>
          <p:cNvPr id="41" name="Text 39"/>
          <p:cNvSpPr txBox="1"/>
          <p:nvPr/>
        </p:nvSpPr>
        <p:spPr>
          <a:xfrm>
            <a:off x="685800"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FFFFF"/>
                </a:solidFill>
                <a:latin typeface="EB Garamond"/>
                <a:cs typeface="Noto Naskh Arabic"/>
              </a:rPr>
              <a:t>«انزعوا النظارات!» ثم «النظارات!» مع أول وميض</a:t>
            </a:r>
            <a:endParaRPr lang="ar-EG" sz="1400" dirty="0">
              <a:latin typeface="EB Garamond"/>
              <a:cs typeface="Noto Naskh Arabic"/>
            </a:endParaRPr>
          </a:p>
        </p:txBody>
      </p:sp>
      <p:sp>
        <p:nvSpPr>
          <p:cNvPr id="42" name="Text 40"/>
          <p:cNvSpPr txBox="1"/>
          <p:nvPr/>
        </p:nvSpPr>
        <p:spPr>
          <a:xfrm>
            <a:off x="548640" y="5486400"/>
            <a:ext cx="11094415" cy="548640"/>
          </a:xfrm>
          <a:prstGeom prst="rect">
            <a:avLst/>
          </a:prstGeom>
          <a:noFill/>
          <a:ln/>
        </p:spPr>
        <p:txBody>
          <a:bodyPr wrap="square" lIns="0" tIns="0" rIns="0" bIns="0" rtlCol="0" anchor="ctr"/>
          <a:lstStyle/>
          <a:p>
            <a:pPr rtl="1" algn="r" indent="0" marL="0">
              <a:buNone/>
            </a:pPr>
            <a:r>
              <a:rPr lang="ar-EG" altLang="en-US" sz="1500" b="1" dirty="0">
                <a:solidFill>
                  <a:srgbClr val="E8B84B"/>
                </a:solidFill>
                <a:latin typeface="EB Garamond"/>
                <a:cs typeface="Noto Naskh Arabic"/>
              </a:rPr>
              <a:t>بعد الكلية: </a:t>
            </a:r>
            <a:pPr rtl="1" algn="r" indent="0" marL="0">
              <a:buNone/>
            </a:pPr>
            <a:r>
              <a:rPr lang="ar-EG" altLang="en-US" sz="1500" dirty="0">
                <a:solidFill>
                  <a:srgbClr val="F0E0B0"/>
                </a:solidFill>
                <a:latin typeface="EB Garamond"/>
                <a:cs typeface="Noto Naskh Arabic"/>
              </a:rPr>
              <a:t>ساعة و١٨ دقيقة من الجزئي — وقت مناسب للصور الجماعية وجمع النظارات وشرح ما رأيناه وربطه بابن يونس وإخناتون.</a:t>
            </a:r>
            <a:endParaRPr lang="en-US" sz="15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62</a:t>
            </a:fld>
            <a:endParaRPr lang="en-US">
              <a:latin typeface="EB Garamond"/>
              <a:cs typeface="Noto Naskh Arabic"/>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kicker-box"/>
          <p:cNvSpPr/>
          <p:nvPr/>
        </p:nvSpPr>
        <p:spPr>
          <a:xfrm>
            <a:off x="7045452" y="182880"/>
            <a:ext cx="4597603" cy="274320"/>
          </a:xfrm>
          <a:prstGeom prst="rect">
            <a:avLst/>
          </a:prstGeom>
          <a:solidFill>
            <a:srgbClr val="1B3A6B"/>
          </a:solidFill>
          <a:ln w="12700">
            <a:solidFill>
              <a:srgbClr val="E8B84B"/>
            </a:solidFill>
            <a:prstDash val="solid"/>
          </a:ln>
        </p:spPr>
      </p:sp>
      <p:sp>
        <p:nvSpPr>
          <p:cNvPr id="3" name="kicker"/>
          <p:cNvSpPr txBox="1"/>
          <p:nvPr/>
        </p:nvSpPr>
        <p:spPr>
          <a:xfrm>
            <a:off x="7045452" y="182880"/>
            <a:ext cx="459760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BILINGUAL GLOSSARY OF ECLIPSE TERMS (1/3)</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مسرد المصطلحات (١ من ٣)</a:t>
            </a:r>
            <a:endParaRPr lang="ar-EG" sz="3000" dirty="0">
              <a:latin typeface="EB Garamond"/>
              <a:cs typeface="Amiri"/>
            </a:endParaRPr>
          </a:p>
        </p:txBody>
      </p:sp>
      <p:graphicFrame>
        <p:nvGraphicFramePr>
          <p:cNvPr id="64" name="glossary-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0"/>
                <a:gridCol w="3291840"/>
                <a:gridCol w="2770632"/>
              </a:tblGrid>
              <a:tr h="420624">
                <a:tc>
                  <a:txBody>
                    <a:bodyPr/>
                    <a:lstStyle/>
                    <a:p>
                      <a:pPr rtl="1" algn="r" indent="0" marL="0">
                        <a:buNone/>
                      </a:pPr>
                      <a:r>
                        <a:rPr lang="ar-EG" altLang="en-US" sz="1500" b="1" dirty="0">
                          <a:solidFill>
                            <a:srgbClr val="E8B84B"/>
                          </a:solidFill>
                          <a:latin typeface="EB Garamond"/>
                          <a:cs typeface="Noto Naskh Arabic"/>
                        </a:rPr>
                        <a:t>المعنى</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algn="ctr" indent="0" marL="0">
                        <a:buNone/>
                      </a:pPr>
                      <a:r>
                        <a:rPr lang="en-US" altLang="en-US" sz="1500" b="1" dirty="0">
                          <a:solidFill>
                            <a:srgbClr val="E8B84B"/>
                          </a:solidFill>
                          <a:latin typeface="EB Garamond"/>
                          <a:cs typeface="Noto Naskh Arabic"/>
                        </a:rPr>
                        <a:t>English</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r" indent="0" marL="0">
                        <a:buNone/>
                      </a:pPr>
                      <a:r>
                        <a:rPr lang="ar-EG" altLang="en-US" sz="1500" b="1" dirty="0">
                          <a:solidFill>
                            <a:srgbClr val="E8B84B"/>
                          </a:solidFill>
                          <a:latin typeface="EB Garamond"/>
                          <a:cs typeface="Noto Naskh Arabic"/>
                        </a:rPr>
                        <a:t>المصطلح</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420624">
                <a:tc>
                  <a:txBody>
                    <a:bodyPr/>
                    <a:lstStyle/>
                    <a:p>
                      <a:pPr rtl="1" algn="r" indent="0" marL="0">
                        <a:buNone/>
                      </a:pPr>
                      <a:r>
                        <a:rPr lang="ar-EG" altLang="en-US" sz="1500" dirty="0">
                          <a:solidFill>
                            <a:srgbClr val="F0E0B0"/>
                          </a:solidFill>
                          <a:latin typeface="EB Garamond"/>
                          <a:cs typeface="Noto Naskh Arabic"/>
                        </a:rPr>
                        <a:t>القمر يحجب الشمس، في المحاق</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Solar eclipse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كسوف الشمس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ظل الأرض يغطي القمر، في البدر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Lunar eclipse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خسوف القمر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حجب قرص الشمس كله</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Total eclipse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كسوف كلي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تبقى حلقة مضيئة حول القمر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Annular eclipse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كسوف حلقي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حجب جزء من القرص فقط</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Partial eclipse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كسوف جزئي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حلقي في جزء من المسار وكلي في آخر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Hybrid eclipse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كسوف هجين</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منطقة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Umbra</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الظل الكامل</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منطقة الكسوف الجزئي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Penumbra</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شبه الظل</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الشريط الذي تُرى فيه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Path of totality</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مسار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منتصف المسار، وفيه أطول مدة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Central line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خط المركز</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63</a:t>
            </a:fld>
            <a:endParaRPr lang="en-US">
              <a:latin typeface="EB Garamond"/>
              <a:cs typeface="Noto Naskh Arabic"/>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kicker-box"/>
          <p:cNvSpPr/>
          <p:nvPr/>
        </p:nvSpPr>
        <p:spPr>
          <a:xfrm>
            <a:off x="7045452" y="182880"/>
            <a:ext cx="4597603" cy="274320"/>
          </a:xfrm>
          <a:prstGeom prst="rect">
            <a:avLst/>
          </a:prstGeom>
          <a:solidFill>
            <a:srgbClr val="1B3A6B"/>
          </a:solidFill>
          <a:ln w="12700">
            <a:solidFill>
              <a:srgbClr val="E8B84B"/>
            </a:solidFill>
            <a:prstDash val="solid"/>
          </a:ln>
        </p:spPr>
      </p:sp>
      <p:sp>
        <p:nvSpPr>
          <p:cNvPr id="3" name="kicker"/>
          <p:cNvSpPr txBox="1"/>
          <p:nvPr/>
        </p:nvSpPr>
        <p:spPr>
          <a:xfrm>
            <a:off x="7045452" y="182880"/>
            <a:ext cx="459760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BILINGUAL GLOSSARY OF ECLIPSE TERMS (2/3)</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مسرد المصطلحات (٢ من ٣)</a:t>
            </a:r>
            <a:endParaRPr lang="ar-EG" sz="3000" dirty="0">
              <a:latin typeface="EB Garamond"/>
              <a:cs typeface="Amiri"/>
            </a:endParaRPr>
          </a:p>
        </p:txBody>
      </p:sp>
      <p:graphicFrame>
        <p:nvGraphicFramePr>
          <p:cNvPr id="65" name="glossary-2"/>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0"/>
                <a:gridCol w="3291840"/>
                <a:gridCol w="2770632"/>
              </a:tblGrid>
              <a:tr h="420624">
                <a:tc>
                  <a:txBody>
                    <a:bodyPr/>
                    <a:lstStyle/>
                    <a:p>
                      <a:pPr rtl="1" algn="r" indent="0" marL="0">
                        <a:buNone/>
                      </a:pPr>
                      <a:r>
                        <a:rPr lang="ar-EG" altLang="en-US" sz="1500" b="1" dirty="0">
                          <a:solidFill>
                            <a:srgbClr val="E8B84B"/>
                          </a:solidFill>
                          <a:latin typeface="EB Garamond"/>
                          <a:cs typeface="Noto Naskh Arabic"/>
                        </a:rPr>
                        <a:t>المعنى</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algn="ctr" indent="0" marL="0">
                        <a:buNone/>
                      </a:pPr>
                      <a:r>
                        <a:rPr lang="en-US" altLang="en-US" sz="1500" b="1" dirty="0">
                          <a:solidFill>
                            <a:srgbClr val="E8B84B"/>
                          </a:solidFill>
                          <a:latin typeface="EB Garamond"/>
                          <a:cs typeface="Noto Naskh Arabic"/>
                        </a:rPr>
                        <a:t>English</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r" indent="0" marL="0">
                        <a:buNone/>
                      </a:pPr>
                      <a:r>
                        <a:rPr lang="ar-EG" altLang="en-US" sz="1500" b="1" dirty="0">
                          <a:solidFill>
                            <a:srgbClr val="E8B84B"/>
                          </a:solidFill>
                          <a:latin typeface="EB Garamond"/>
                          <a:cs typeface="Noto Naskh Arabic"/>
                        </a:rPr>
                        <a:t>المصطلح</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420624">
                <a:tc>
                  <a:txBody>
                    <a:bodyPr/>
                    <a:lstStyle/>
                    <a:p>
                      <a:pPr rtl="1" algn="r" indent="0" marL="0">
                        <a:buNone/>
                      </a:pPr>
                      <a:r>
                        <a:rPr lang="ar-EG" altLang="en-US" sz="1500" dirty="0">
                          <a:solidFill>
                            <a:srgbClr val="F0E0B0"/>
                          </a:solidFill>
                          <a:latin typeface="EB Garamond"/>
                          <a:cs typeface="Noto Naskh Arabic"/>
                        </a:rPr>
                        <a:t>الفترة بين التماسين الثاني والثالث</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Totality</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لحظات بدء المراحل وانتهائها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Contacts (C1–C4)</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التماسات</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نسبة قطر الشمس الذي يغطيه القمر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Eclipse magnitude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قدر الكسوف</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نسبة مساحة القرص المحجوبة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Obscuration</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نسبة الاحتجاب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الغلاف الخارجي للشمس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Corona</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الهالة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الطبقة الوردية فوق سطح الشمس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Chromosphere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الكروموسفير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ألسنة غاز حمراء عند حافة الشمس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Prominences</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الشواظ</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آخر وميض قبل الكلية وأوله بعدها</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Diamond ring</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الخاتم الماسي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ضوء الشمس عبر وديان حافة القمر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Baily's beads</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حبات بيلي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خطوط متموجة على الأرض قبيل الكلية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Shadow bands</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الأحزمة الظلية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64</a:t>
            </a:fld>
            <a:endParaRPr lang="en-US">
              <a:latin typeface="EB Garamond"/>
              <a:cs typeface="Noto Naskh Arabic"/>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kicker-box"/>
          <p:cNvSpPr/>
          <p:nvPr/>
        </p:nvSpPr>
        <p:spPr>
          <a:xfrm>
            <a:off x="7045452" y="182880"/>
            <a:ext cx="4597603" cy="274320"/>
          </a:xfrm>
          <a:prstGeom prst="rect">
            <a:avLst/>
          </a:prstGeom>
          <a:solidFill>
            <a:srgbClr val="1B3A6B"/>
          </a:solidFill>
          <a:ln w="12700">
            <a:solidFill>
              <a:srgbClr val="E8B84B"/>
            </a:solidFill>
            <a:prstDash val="solid"/>
          </a:ln>
        </p:spPr>
      </p:sp>
      <p:sp>
        <p:nvSpPr>
          <p:cNvPr id="3" name="kicker"/>
          <p:cNvSpPr txBox="1"/>
          <p:nvPr/>
        </p:nvSpPr>
        <p:spPr>
          <a:xfrm>
            <a:off x="7045452" y="182880"/>
            <a:ext cx="4597603"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BILINGUAL GLOSSARY OF ECLIPSE TERMS (3/3)</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مسرد المصطلحات (٣ من ٣)</a:t>
            </a:r>
            <a:endParaRPr lang="ar-EG" sz="3000" dirty="0">
              <a:latin typeface="EB Garamond"/>
              <a:cs typeface="Amiri"/>
            </a:endParaRPr>
          </a:p>
        </p:txBody>
      </p:sp>
      <p:graphicFrame>
        <p:nvGraphicFramePr>
          <p:cNvPr id="66" name="glossary-3"/>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0"/>
                <a:gridCol w="3291840"/>
                <a:gridCol w="2770632"/>
              </a:tblGrid>
              <a:tr h="420624">
                <a:tc>
                  <a:txBody>
                    <a:bodyPr/>
                    <a:lstStyle/>
                    <a:p>
                      <a:pPr rtl="1" algn="r" indent="0" marL="0">
                        <a:buNone/>
                      </a:pPr>
                      <a:r>
                        <a:rPr lang="ar-EG" altLang="en-US" sz="1500" b="1" dirty="0">
                          <a:solidFill>
                            <a:srgbClr val="E8B84B"/>
                          </a:solidFill>
                          <a:latin typeface="EB Garamond"/>
                          <a:cs typeface="Noto Naskh Arabic"/>
                        </a:rPr>
                        <a:t>المعنى</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algn="ctr" indent="0" marL="0">
                        <a:buNone/>
                      </a:pPr>
                      <a:r>
                        <a:rPr lang="en-US" altLang="en-US" sz="1500" b="1" dirty="0">
                          <a:solidFill>
                            <a:srgbClr val="E8B84B"/>
                          </a:solidFill>
                          <a:latin typeface="EB Garamond"/>
                          <a:cs typeface="Noto Naskh Arabic"/>
                        </a:rPr>
                        <a:t>English</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c>
                  <a:txBody>
                    <a:bodyPr/>
                    <a:lstStyle/>
                    <a:p>
                      <a:pPr rtl="1" algn="r" indent="0" marL="0">
                        <a:buNone/>
                      </a:pPr>
                      <a:r>
                        <a:rPr lang="ar-EG" altLang="en-US" sz="1500" b="1" dirty="0">
                          <a:solidFill>
                            <a:srgbClr val="E8B84B"/>
                          </a:solidFill>
                          <a:latin typeface="EB Garamond"/>
                          <a:cs typeface="Noto Naskh Arabic"/>
                        </a:rPr>
                        <a:t>المصطلح</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3A6B"/>
                    </a:solidFill>
                  </a:tcPr>
                </a:tc>
              </a:tr>
              <a:tr h="420624">
                <a:tc>
                  <a:txBody>
                    <a:bodyPr/>
                    <a:lstStyle/>
                    <a:p>
                      <a:pPr rtl="1" algn="r" indent="0" marL="0">
                        <a:buNone/>
                      </a:pPr>
                      <a:r>
                        <a:rPr lang="ar-EG" altLang="en-US" sz="1500" dirty="0">
                          <a:solidFill>
                            <a:srgbClr val="F0E0B0"/>
                          </a:solidFill>
                          <a:latin typeface="EB Garamond"/>
                          <a:cs typeface="Noto Naskh Arabic"/>
                        </a:rPr>
                        <a:t>نقطتا تقاطع مداري القمر والأرض</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Lunar nodes</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العقدتان</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١٨ سنة و١١ يومًا و٨ ساعات</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Saros cycle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دورة ساروس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أقرب / أبعد نقطة للقمر من الأرض</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Perigee / Apogee</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الحضيض / الأوج</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وقت الكسوف / وقت الخسوف</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New Moon / Full Moon</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المحاق / البدر</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أثر تباطؤ دوران الأرض على الحساب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Delta T (ΔT)</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فرق التوقيت</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معاملات حساب ظروف الكسوف</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Besselian elements</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عناصر بِسِل</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مرشح آمن للنظر إلى الشمس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Eclipse glasses (ISO 12312-2)</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نظارة الكسوف</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تلف العين بالنظر إلى الشمس</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Solar retinopathy</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اعتلال الشبكية الشمسي</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r h="420624">
                <a:tc>
                  <a:txBody>
                    <a:bodyPr/>
                    <a:lstStyle/>
                    <a:p>
                      <a:pPr rtl="1" algn="r" indent="0" marL="0">
                        <a:buNone/>
                      </a:pPr>
                      <a:r>
                        <a:rPr lang="ar-EG" altLang="en-US" sz="1500" dirty="0">
                          <a:solidFill>
                            <a:srgbClr val="F0E0B0"/>
                          </a:solidFill>
                          <a:latin typeface="EB Garamond"/>
                          <a:cs typeface="Noto Naskh Arabic"/>
                        </a:rPr>
                        <a:t>رصد غير مباشر آمن</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algn="ctr" indent="0" marL="0">
                        <a:buNone/>
                      </a:pPr>
                      <a:r>
                        <a:rPr lang="en-US" altLang="en-US" sz="1500" i="1" dirty="0">
                          <a:solidFill>
                            <a:srgbClr val="E8B84B"/>
                          </a:solidFill>
                          <a:latin typeface="EB Garamond"/>
                          <a:cs typeface="Noto Naskh Arabic"/>
                        </a:rPr>
                        <a:t>Pinhole projector</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c>
                  <a:txBody>
                    <a:bodyPr/>
                    <a:lstStyle/>
                    <a:p>
                      <a:pPr rtl="1" algn="r" indent="0" marL="0">
                        <a:buNone/>
                      </a:pPr>
                      <a:r>
                        <a:rPr lang="ar-EG" altLang="en-US" sz="1500" b="1" dirty="0">
                          <a:solidFill>
                            <a:srgbClr val="E8B84B"/>
                          </a:solidFill>
                          <a:latin typeface="EB Garamond"/>
                          <a:cs typeface="Noto Naskh Arabic"/>
                        </a:rPr>
                        <a:t>كاميرا الثقب</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61F2F"/>
                    </a:solidFill>
                  </a:tcPr>
                </a:tc>
              </a:tr>
              <a:tr h="420624">
                <a:tc>
                  <a:txBody>
                    <a:bodyPr/>
                    <a:lstStyle/>
                    <a:p>
                      <a:pPr rtl="1" algn="r" indent="0" marL="0">
                        <a:buNone/>
                      </a:pPr>
                      <a:r>
                        <a:rPr lang="ar-EG" altLang="en-US" sz="1500" dirty="0">
                          <a:solidFill>
                            <a:srgbClr val="F0E0B0"/>
                          </a:solidFill>
                          <a:latin typeface="EB Garamond"/>
                          <a:cs typeface="Noto Naskh Arabic"/>
                        </a:rPr>
                        <a:t>جداول فلكية في الحضارة الإسلامية</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algn="ctr" indent="0" marL="0">
                        <a:buNone/>
                      </a:pPr>
                      <a:r>
                        <a:rPr lang="en-US" altLang="en-US" sz="1500" i="1" dirty="0">
                          <a:solidFill>
                            <a:srgbClr val="E8B84B"/>
                          </a:solidFill>
                          <a:latin typeface="EB Garamond"/>
                          <a:cs typeface="Noto Naskh Arabic"/>
                        </a:rPr>
                        <a:t>Zij (astronomical tables)</a:t>
                      </a:r>
                      <a:endParaRPr lang="en-US"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c>
                  <a:txBody>
                    <a:bodyPr/>
                    <a:lstStyle/>
                    <a:p>
                      <a:pPr rtl="1" algn="r" indent="0" marL="0">
                        <a:buNone/>
                      </a:pPr>
                      <a:r>
                        <a:rPr lang="ar-EG" altLang="en-US" sz="1500" b="1" dirty="0">
                          <a:solidFill>
                            <a:srgbClr val="E8B84B"/>
                          </a:solidFill>
                          <a:latin typeface="EB Garamond"/>
                          <a:cs typeface="Noto Naskh Arabic"/>
                        </a:rPr>
                        <a:t>الزيج</a:t>
                      </a:r>
                      <a:endParaRPr lang="ar-EG" sz="1500" dirty="0">
                        <a:latin typeface="EB Garamond"/>
                        <a:cs typeface="Noto Naskh Arabic"/>
                      </a:endParaRPr>
                    </a:p>
                  </a:txBody>
                  <a:tcPr marL="91440" marR="91440" marT="45720" marB="45720" anchor="ctr">
                    <a:lnL w="6350" cap="flat" cmpd="sng" algn="ctr">
                      <a:solidFill>
                        <a:srgbClr val="6E5422"/>
                      </a:solidFill>
                      <a:prstDash val="solid"/>
                      <a:round/>
                      <a:headEnd type="none" w="med" len="med"/>
                      <a:tailEnd type="none" w="med" len="med"/>
                    </a:lnL>
                    <a:lnR w="6350" cap="flat" cmpd="sng" algn="ctr">
                      <a:solidFill>
                        <a:srgbClr val="6E5422"/>
                      </a:solidFill>
                      <a:prstDash val="solid"/>
                      <a:round/>
                      <a:headEnd type="none" w="med" len="med"/>
                      <a:tailEnd type="none" w="med" len="med"/>
                    </a:lnR>
                    <a:lnT w="6350" cap="flat" cmpd="sng" algn="ctr">
                      <a:solidFill>
                        <a:srgbClr val="6E5422"/>
                      </a:solidFill>
                      <a:prstDash val="solid"/>
                      <a:round/>
                      <a:headEnd type="none" w="med" len="med"/>
                      <a:tailEnd type="none" w="med" len="med"/>
                    </a:lnT>
                    <a:lnB w="6350" cap="flat" cmpd="sng" algn="ctr">
                      <a:solidFill>
                        <a:srgbClr val="6E5422"/>
                      </a:solidFill>
                      <a:prstDash val="solid"/>
                      <a:round/>
                      <a:headEnd type="none" w="med" len="med"/>
                      <a:tailEnd type="none" w="med" len="med"/>
                    </a:lnB>
                    <a:solidFill>
                      <a:srgbClr val="1B2638"/>
                    </a:solidFill>
                  </a:tcPr>
                </a:tc>
              </a:tr>
            </a:tbl>
          </a:graphicData>
        </a:graphic>
      </p:graphicFrame>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65</a:t>
            </a:fld>
            <a:endParaRPr lang="en-US">
              <a:latin typeface="EB Garamond"/>
              <a:cs typeface="Noto Naskh Arabic"/>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kicker-box"/>
          <p:cNvSpPr/>
          <p:nvPr/>
        </p:nvSpPr>
        <p:spPr>
          <a:xfrm>
            <a:off x="8428025" y="182880"/>
            <a:ext cx="3215030" cy="274320"/>
          </a:xfrm>
          <a:prstGeom prst="rect">
            <a:avLst/>
          </a:prstGeom>
          <a:solidFill>
            <a:srgbClr val="1B3A6B"/>
          </a:solidFill>
          <a:ln w="12700">
            <a:solidFill>
              <a:srgbClr val="E8B84B"/>
            </a:solidFill>
            <a:prstDash val="solid"/>
          </a:ln>
        </p:spPr>
      </p:sp>
      <p:sp>
        <p:nvSpPr>
          <p:cNvPr id="3" name="kicker"/>
          <p:cNvSpPr txBox="1"/>
          <p:nvPr/>
        </p:nvSpPr>
        <p:spPr>
          <a:xfrm>
            <a:off x="8428025" y="182880"/>
            <a:ext cx="3215030"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SUMMARY: SEVEN KEY MESSAGES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خلاصة: سبع رسائل يحملها المرشد</a:t>
            </a:r>
            <a:endParaRPr lang="ar-EG" sz="3000" dirty="0">
              <a:latin typeface="EB Garamond"/>
              <a:cs typeface="Amiri"/>
            </a:endParaRPr>
          </a:p>
        </p:txBody>
      </p:sp>
      <p:sp>
        <p:nvSpPr>
          <p:cNvPr id="5" name="msg-disc-0"/>
          <p:cNvSpPr/>
          <p:nvPr/>
        </p:nvSpPr>
        <p:spPr>
          <a:xfrm>
            <a:off x="10957255" y="1508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6" name="Text 4"/>
          <p:cNvSpPr txBox="1"/>
          <p:nvPr/>
        </p:nvSpPr>
        <p:spPr>
          <a:xfrm>
            <a:off x="10957255" y="1508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١</a:t>
            </a:r>
            <a:endParaRPr lang="en-US" sz="1800" dirty="0">
              <a:latin typeface="EB Garamond"/>
              <a:cs typeface="Noto Naskh Arabic"/>
            </a:endParaRPr>
          </a:p>
        </p:txBody>
      </p:sp>
      <p:sp>
        <p:nvSpPr>
          <p:cNvPr id="7" name="Text 5"/>
          <p:cNvSpPr txBox="1"/>
          <p:nvPr/>
        </p:nvSpPr>
        <p:spPr>
          <a:xfrm>
            <a:off x="6248095" y="1417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الكسوف في آخر الشهر القمري، والخسوف في منتصفه</a:t>
            </a:r>
            <a:endParaRPr lang="ar-EG" sz="1700" dirty="0">
              <a:latin typeface="EB Garamond"/>
              <a:cs typeface="Noto Naskh Arabic"/>
            </a:endParaRPr>
          </a:p>
        </p:txBody>
      </p:sp>
      <p:sp>
        <p:nvSpPr>
          <p:cNvPr id="8" name="msg-disc-1"/>
          <p:cNvSpPr/>
          <p:nvPr/>
        </p:nvSpPr>
        <p:spPr>
          <a:xfrm>
            <a:off x="10957255" y="2651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9" name="Text 7"/>
          <p:cNvSpPr txBox="1"/>
          <p:nvPr/>
        </p:nvSpPr>
        <p:spPr>
          <a:xfrm>
            <a:off x="10957255" y="2651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٢</a:t>
            </a:r>
            <a:endParaRPr lang="en-US" sz="1800" dirty="0">
              <a:latin typeface="EB Garamond"/>
              <a:cs typeface="Noto Naskh Arabic"/>
            </a:endParaRPr>
          </a:p>
        </p:txBody>
      </p:sp>
      <p:sp>
        <p:nvSpPr>
          <p:cNvPr id="10" name="Text 8"/>
          <p:cNvSpPr txBox="1"/>
          <p:nvPr/>
        </p:nvSpPr>
        <p:spPr>
          <a:xfrm>
            <a:off x="6248095" y="2560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الكسوف الكلي كل ١٨ شهرًا في مكان ما، وعلى المدينة نفسها مرة كل قرون</a:t>
            </a:r>
            <a:endParaRPr lang="ar-EG" sz="1700" dirty="0">
              <a:latin typeface="EB Garamond"/>
              <a:cs typeface="Noto Naskh Arabic"/>
            </a:endParaRPr>
          </a:p>
        </p:txBody>
      </p:sp>
      <p:sp>
        <p:nvSpPr>
          <p:cNvPr id="11" name="msg-disc-2"/>
          <p:cNvSpPr/>
          <p:nvPr/>
        </p:nvSpPr>
        <p:spPr>
          <a:xfrm>
            <a:off x="10957255" y="3794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12" name="Text 10"/>
          <p:cNvSpPr txBox="1"/>
          <p:nvPr/>
        </p:nvSpPr>
        <p:spPr>
          <a:xfrm>
            <a:off x="10957255" y="3794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٣</a:t>
            </a:r>
            <a:endParaRPr lang="en-US" sz="1800" dirty="0">
              <a:latin typeface="EB Garamond"/>
              <a:cs typeface="Noto Naskh Arabic"/>
            </a:endParaRPr>
          </a:p>
        </p:txBody>
      </p:sp>
      <p:sp>
        <p:nvSpPr>
          <p:cNvPr id="13" name="Text 11"/>
          <p:cNvSpPr txBox="1"/>
          <p:nvPr/>
        </p:nvSpPr>
        <p:spPr>
          <a:xfrm>
            <a:off x="6248095" y="3703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الخسوف الكلي يُرى من المكان نفسه كل سنتين إلى ثلاث — أقربها ٣١ ديسمبر ٢٠٢٨</a:t>
            </a:r>
            <a:endParaRPr lang="ar-EG" sz="1700" dirty="0">
              <a:latin typeface="EB Garamond"/>
              <a:cs typeface="Noto Naskh Arabic"/>
            </a:endParaRPr>
          </a:p>
        </p:txBody>
      </p:sp>
      <p:sp>
        <p:nvSpPr>
          <p:cNvPr id="14" name="msg-disc-3"/>
          <p:cNvSpPr/>
          <p:nvPr/>
        </p:nvSpPr>
        <p:spPr>
          <a:xfrm>
            <a:off x="10957255" y="4937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15" name="Text 13"/>
          <p:cNvSpPr txBox="1"/>
          <p:nvPr/>
        </p:nvSpPr>
        <p:spPr>
          <a:xfrm>
            <a:off x="10957255" y="4937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٤</a:t>
            </a:r>
            <a:endParaRPr lang="en-US" sz="1800" dirty="0">
              <a:latin typeface="EB Garamond"/>
              <a:cs typeface="Noto Naskh Arabic"/>
            </a:endParaRPr>
          </a:p>
        </p:txBody>
      </p:sp>
      <p:sp>
        <p:nvSpPr>
          <p:cNvPr id="16" name="Text 14"/>
          <p:cNvSpPr txBox="1"/>
          <p:nvPr/>
        </p:nvSpPr>
        <p:spPr>
          <a:xfrm>
            <a:off x="6248095" y="4846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«لا ينكسفان لموت أحد ولا لحياته» — والقاهرة الفاطمية رصدت الكسوف بالطست والأصابع</a:t>
            </a:r>
            <a:endParaRPr lang="ar-EG" sz="1700" dirty="0">
              <a:latin typeface="EB Garamond"/>
              <a:cs typeface="Noto Naskh Arabic"/>
            </a:endParaRPr>
          </a:p>
        </p:txBody>
      </p:sp>
      <p:sp>
        <p:nvSpPr>
          <p:cNvPr id="17" name="msg-disc-4"/>
          <p:cNvSpPr/>
          <p:nvPr/>
        </p:nvSpPr>
        <p:spPr>
          <a:xfrm>
            <a:off x="5257800" y="1508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18" name="Text 16"/>
          <p:cNvSpPr txBox="1"/>
          <p:nvPr/>
        </p:nvSpPr>
        <p:spPr>
          <a:xfrm>
            <a:off x="5257800" y="1508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٥</a:t>
            </a:r>
            <a:endParaRPr lang="en-US" sz="1800" dirty="0">
              <a:latin typeface="EB Garamond"/>
              <a:cs typeface="Noto Naskh Arabic"/>
            </a:endParaRPr>
          </a:p>
        </p:txBody>
      </p:sp>
      <p:sp>
        <p:nvSpPr>
          <p:cNvPr id="19" name="Text 17"/>
          <p:cNvSpPr txBox="1"/>
          <p:nvPr/>
        </p:nvSpPr>
        <p:spPr>
          <a:xfrm>
            <a:off x="548640" y="1417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الأقصر: كلية ٦ د ٢٠ ث من ١٣:٠١:٥٨، لأول مرة منذ ١٣٧٧م</a:t>
            </a:r>
            <a:endParaRPr lang="ar-EG" sz="1700" dirty="0">
              <a:latin typeface="EB Garamond"/>
              <a:cs typeface="Noto Naskh Arabic"/>
            </a:endParaRPr>
          </a:p>
        </p:txBody>
      </p:sp>
      <p:sp>
        <p:nvSpPr>
          <p:cNvPr id="20" name="msg-disc-5"/>
          <p:cNvSpPr/>
          <p:nvPr/>
        </p:nvSpPr>
        <p:spPr>
          <a:xfrm>
            <a:off x="5257800" y="2651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21" name="Text 19"/>
          <p:cNvSpPr txBox="1"/>
          <p:nvPr/>
        </p:nvSpPr>
        <p:spPr>
          <a:xfrm>
            <a:off x="5257800" y="2651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٦</a:t>
            </a:r>
            <a:endParaRPr lang="en-US" sz="1800" dirty="0">
              <a:latin typeface="EB Garamond"/>
              <a:cs typeface="Noto Naskh Arabic"/>
            </a:endParaRPr>
          </a:p>
        </p:txBody>
      </p:sp>
      <p:sp>
        <p:nvSpPr>
          <p:cNvPr id="22" name="Text 20"/>
          <p:cNvSpPr txBox="1"/>
          <p:nvPr/>
        </p:nvSpPr>
        <p:spPr>
          <a:xfrm>
            <a:off x="548640" y="2560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أسوان والقاهرة والغردقة خارج المسار: النظارة لا تُنزع أبدًا</a:t>
            </a:r>
            <a:endParaRPr lang="ar-EG" sz="1700" dirty="0">
              <a:latin typeface="EB Garamond"/>
              <a:cs typeface="Noto Naskh Arabic"/>
            </a:endParaRPr>
          </a:p>
        </p:txBody>
      </p:sp>
      <p:sp>
        <p:nvSpPr>
          <p:cNvPr id="23" name="msg-disc-6"/>
          <p:cNvSpPr/>
          <p:nvPr/>
        </p:nvSpPr>
        <p:spPr>
          <a:xfrm>
            <a:off x="5257800" y="3794760"/>
            <a:ext cx="640080" cy="640080"/>
          </a:xfrm>
          <a:prstGeom prst="ellipse">
            <a:avLst/>
          </a:prstGeom>
          <a:solidFill>
            <a:srgbClr val="24304A"/>
          </a:solidFill>
          <a:ln w="31750">
            <a:solidFill>
              <a:srgbClr val="E8B84B"/>
            </a:solidFill>
            <a:prstDash val="solid"/>
          </a:ln>
          <a:effectLst>
            <a:outerShdw sx="100000" sy="100000" kx="0" ky="0" algn="bl" rotWithShape="0" blurRad="101600" dist="50800" dir="16200000">
              <a:srgbClr val="E8B84B">
                <a:alpha val="35000"/>
              </a:srgbClr>
            </a:outerShdw>
          </a:effectLst>
        </p:spPr>
      </p:sp>
      <p:sp>
        <p:nvSpPr>
          <p:cNvPr id="24" name="Text 22"/>
          <p:cNvSpPr txBox="1"/>
          <p:nvPr/>
        </p:nvSpPr>
        <p:spPr>
          <a:xfrm>
            <a:off x="5257800" y="3794760"/>
            <a:ext cx="640080" cy="640080"/>
          </a:xfrm>
          <a:prstGeom prst="rect">
            <a:avLst/>
          </a:prstGeom>
          <a:noFill/>
          <a:ln/>
        </p:spPr>
        <p:txBody>
          <a:bodyPr wrap="square" lIns="0" tIns="0" rIns="0" bIns="0" rtlCol="0" anchor="ctr"/>
          <a:lstStyle/>
          <a:p>
            <a:pPr rtl="1" algn="ctr" indent="0" marL="0">
              <a:buNone/>
            </a:pPr>
            <a:r>
              <a:rPr lang="en-US" sz="1800" b="1" dirty="0">
                <a:solidFill>
                  <a:srgbClr val="E8B84B"/>
                </a:solidFill>
                <a:latin typeface="EB Garamond"/>
                <a:cs typeface="Noto Naskh Arabic"/>
              </a:rPr>
              <a:t>٧</a:t>
            </a:r>
            <a:endParaRPr lang="en-US" sz="1800" dirty="0">
              <a:latin typeface="EB Garamond"/>
              <a:cs typeface="Noto Naskh Arabic"/>
            </a:endParaRPr>
          </a:p>
        </p:txBody>
      </p:sp>
      <p:sp>
        <p:nvSpPr>
          <p:cNvPr id="25" name="Text 23"/>
          <p:cNvSpPr txBox="1"/>
          <p:nvPr/>
        </p:nvSpPr>
        <p:spPr>
          <a:xfrm>
            <a:off x="548640" y="3703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AF3E0"/>
                </a:solidFill>
                <a:latin typeface="EB Garamond"/>
                <a:cs typeface="Noto Naskh Arabic"/>
              </a:rPr>
              <a:t>الحر والزحام هما الخطر العملي الأكبر يوم الكسوف</a:t>
            </a:r>
            <a:endParaRPr lang="ar-EG" sz="17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66</a:t>
            </a:fld>
            <a:endParaRPr lang="en-US">
              <a:latin typeface="EB Garamond"/>
              <a:cs typeface="Noto Naskh Arabic"/>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kicker-box"/>
          <p:cNvSpPr/>
          <p:nvPr/>
        </p:nvSpPr>
        <p:spPr>
          <a:xfrm>
            <a:off x="9119311" y="182880"/>
            <a:ext cx="2523744" cy="274320"/>
          </a:xfrm>
          <a:prstGeom prst="rect">
            <a:avLst/>
          </a:prstGeom>
          <a:solidFill>
            <a:srgbClr val="1B3A6B"/>
          </a:solidFill>
          <a:ln w="12700">
            <a:solidFill>
              <a:srgbClr val="E8B84B"/>
            </a:solidFill>
            <a:prstDash val="solid"/>
          </a:ln>
        </p:spPr>
      </p:sp>
      <p:sp>
        <p:nvSpPr>
          <p:cNvPr id="3" name="kicker"/>
          <p:cNvSpPr txBox="1"/>
          <p:nvPr/>
        </p:nvSpPr>
        <p:spPr>
          <a:xfrm>
            <a:off x="9119311" y="182880"/>
            <a:ext cx="2523744" cy="274320"/>
          </a:xfrm>
          <a:prstGeom prst="rect">
            <a:avLst/>
          </a:prstGeom>
          <a:noFill/>
          <a:ln/>
        </p:spPr>
        <p:txBody>
          <a:bodyPr wrap="square" lIns="0" tIns="0" rIns="0" bIns="0" rtlCol="0" anchor="ctr"/>
          <a:lstStyle/>
          <a:p>
            <a:pPr algn="ctr" indent="0" marL="0">
              <a:buNone/>
            </a:pPr>
            <a:r>
              <a:rPr lang="en-US" altLang="en-US" sz="900" b="1" spc="200" kern="0" dirty="0">
                <a:solidFill>
                  <a:srgbClr val="E8B84B"/>
                </a:solidFill>
                <a:latin typeface="EB Garamond"/>
                <a:cs typeface="Noto Naskh Arabic"/>
              </a:rPr>
              <a:t>SOURCES &amp; REFERENCES</a:t>
            </a:r>
            <a:endParaRPr lang="en-US" sz="900" dirty="0">
              <a:latin typeface="EB Garamond"/>
              <a:cs typeface="Noto Naskh Arabic"/>
            </a:endParaRPr>
          </a:p>
        </p:txBody>
      </p:sp>
      <p:sp>
        <p:nvSpPr>
          <p:cNvPr id="4" name="Text 1"/>
          <p:cNvSpPr/>
          <p:nvPr>
            <p:ph idx="101" type="title" hasCustomPrompt="1"/>
          </p:nvPr>
        </p:nvSpPr>
        <p:spPr>
          <a:xfrm>
            <a:off x="548640" y="548640"/>
            <a:ext cx="11094415" cy="640080"/>
          </a:xfrm>
          <a:prstGeom prst="rect">
            <a:avLst/>
          </a:prstGeom>
          <a:noFill/>
          <a:ln/>
        </p:spPr>
        <p:txBody>
          <a:bodyPr wrap="square" lIns="0" tIns="0" rIns="0" bIns="0" rtlCol="0" anchor="ctr"/>
          <a:lstStyle/>
          <a:p>
            <a:pPr rtl="1" algn="r" indent="0" marL="0">
              <a:buNone/>
            </a:pPr>
            <a:r>
              <a:rPr lang="ar-EG" altLang="en-US" sz="3000" b="1" dirty="0">
                <a:solidFill>
                  <a:srgbClr val="E8B84B"/>
                </a:solidFill>
                <a:latin typeface="EB Garamond"/>
                <a:cs typeface="Amiri"/>
              </a:rPr>
              <a:t>المصادر</a:t>
            </a:r>
            <a:endParaRPr lang="ar-EG" sz="3000" dirty="0">
              <a:latin typeface="EB Garamond"/>
              <a:cs typeface="Amiri"/>
            </a:endParaRPr>
          </a:p>
        </p:txBody>
      </p:sp>
      <p:sp>
        <p:nvSpPr>
          <p:cNvPr id="5" name="Text 3"/>
          <p:cNvSpPr txBox="1"/>
          <p:nvPr/>
        </p:nvSpPr>
        <p:spPr>
          <a:xfrm>
            <a:off x="548640" y="1463040"/>
            <a:ext cx="11094415" cy="4389120"/>
          </a:xfrm>
          <a:prstGeom prst="rect">
            <a:avLst/>
          </a:prstGeom>
          <a:noFill/>
          <a:ln/>
        </p:spPr>
        <p:txBody>
          <a:bodyPr wrap="square" lIns="0" tIns="0" rIns="0" bIns="0" rtlCol="0" anchor="t"/>
          <a:lstStyle/>
          <a:p>
            <a:pPr rtl="1" algn="r" marL="228600" indent="-228600">
              <a:spcAft>
                <a:spcPts val="1400"/>
              </a:spcAft>
              <a:buSzPct val="100000"/>
              <a:buChar char="•"/>
            </a:pPr>
            <a:r>
              <a:rPr lang="ar-EG" altLang="en-US" sz="1800" b="1" dirty="0">
                <a:solidFill>
                  <a:srgbClr val="F0E0B0"/>
                </a:solidFill>
                <a:latin typeface="EB Garamond"/>
                <a:cs typeface="Noto Naskh Arabic"/>
              </a:rPr>
              <a:t>الكتاب: </a:t>
            </a:r>
            <a:pPr rtl="1" algn="r" indent="0" marL="0">
              <a:buNone/>
            </a:pPr>
            <a:r>
              <a:rPr lang="ar-EG" altLang="en-US" sz="1800" dirty="0">
                <a:solidFill>
                  <a:srgbClr val="F0E0B0"/>
                </a:solidFill>
                <a:latin typeface="EB Garamond"/>
                <a:cs typeface="Noto Naskh Arabic"/>
              </a:rPr>
              <a:t>«الكسوف الكلي للشمس — ٢ أغسطس ٢٠٢٧: دليل علمي مصوّر لمصر والعالم العربي» (أكتوبر ٢٠٢٦) — مصدر الأشكال والجداول والأوقات</a:t>
            </a:r>
            <a:endParaRPr lang="ar-EG" sz="1800" dirty="0">
              <a:latin typeface="EB Garamond"/>
              <a:cs typeface="Noto Naskh Arabic"/>
            </a:endParaRPr>
          </a:p>
          <a:p>
            <a:pPr rtl="1" algn="r" marL="228600" indent="-228600">
              <a:spcAft>
                <a:spcPts val="1400"/>
              </a:spcAft>
              <a:buSzPct val="100000"/>
              <a:buChar char="•"/>
            </a:pPr>
            <a:r>
              <a:rPr lang="ar-EG" altLang="en-US" sz="1800" b="1" dirty="0">
                <a:solidFill>
                  <a:srgbClr val="F0E0B0"/>
                </a:solidFill>
                <a:latin typeface="EB Garamond"/>
                <a:cs typeface="Noto Naskh Arabic"/>
              </a:rPr>
              <a:t>ناسا: </a:t>
            </a:r>
            <a:pPr rtl="1" algn="r" indent="0" marL="0">
              <a:buNone/>
            </a:pPr>
            <a:r>
              <a:rPr lang="ar-EG" altLang="en-US" sz="1800" dirty="0">
                <a:solidFill>
                  <a:srgbClr val="F0E0B0"/>
                </a:solidFill>
                <a:latin typeface="EB Garamond"/>
                <a:cs typeface="Noto Naskh Arabic"/>
              </a:rPr>
              <a:t>عناصر بِسِل لكسوف ٢٠٢٧ (Fred Espenak, NASA GSFC)، وصور ناسا المفتوحة للاستخدام التعليمي</a:t>
            </a:r>
            <a:endParaRPr lang="ar-EG" sz="1800" dirty="0">
              <a:latin typeface="EB Garamond"/>
              <a:cs typeface="Noto Naskh Arabic"/>
            </a:endParaRPr>
          </a:p>
          <a:p>
            <a:pPr rtl="1" algn="r" marL="228600" indent="-228600">
              <a:spcAft>
                <a:spcPts val="1400"/>
              </a:spcAft>
              <a:buSzPct val="100000"/>
              <a:buChar char="•"/>
            </a:pPr>
            <a:r>
              <a:rPr lang="ar-EG" altLang="en-US" sz="1800" b="1" dirty="0">
                <a:solidFill>
                  <a:srgbClr val="F0E0B0"/>
                </a:solidFill>
                <a:latin typeface="EB Garamond"/>
                <a:cs typeface="Noto Naskh Arabic"/>
              </a:rPr>
              <a:t>الحساب: </a:t>
            </a:r>
            <a:pPr rtl="1" algn="r" indent="0" marL="0">
              <a:buNone/>
            </a:pPr>
            <a:r>
              <a:rPr lang="ar-EG" altLang="en-US" sz="1800" dirty="0">
                <a:solidFill>
                  <a:srgbClr val="F0E0B0"/>
                </a:solidFill>
                <a:latin typeface="EB Garamond"/>
                <a:cs typeface="Noto Naskh Arabic"/>
              </a:rPr>
              <a:t>تقويم JPL DE421 (Skyfield)، ونظرية ERFA مع معادلات إسبيناك ومييس لفرق التوقيت ΔT للعصور القديمة</a:t>
            </a:r>
            <a:endParaRPr lang="ar-EG" sz="1800" dirty="0">
              <a:latin typeface="EB Garamond"/>
              <a:cs typeface="Noto Naskh Arabic"/>
            </a:endParaRPr>
          </a:p>
          <a:p>
            <a:pPr rtl="1" algn="r" marL="228600" indent="-228600">
              <a:spcAft>
                <a:spcPts val="1400"/>
              </a:spcAft>
              <a:buSzPct val="100000"/>
              <a:buChar char="•"/>
            </a:pPr>
            <a:r>
              <a:rPr lang="ar-EG" altLang="en-US" sz="1800" b="1" dirty="0">
                <a:solidFill>
                  <a:srgbClr val="F0E0B0"/>
                </a:solidFill>
                <a:latin typeface="EB Garamond"/>
                <a:cs typeface="Noto Naskh Arabic"/>
              </a:rPr>
              <a:t>ابن يونس: </a:t>
            </a:r>
            <a:pPr rtl="1" algn="r" indent="0" marL="0">
              <a:buNone/>
            </a:pPr>
            <a:r>
              <a:rPr lang="ar-EG" altLang="en-US" sz="1800" dirty="0">
                <a:solidFill>
                  <a:srgbClr val="F0E0B0"/>
                </a:solidFill>
                <a:latin typeface="EB Garamond"/>
                <a:cs typeface="Noto Naskh Arabic"/>
              </a:rPr>
              <a:t>«الزيج الحاكمي الكبير»، قطعة مخطوط ليدن، نشرة كوسان دي برسفال، باريس ١٨٠٤</a:t>
            </a:r>
            <a:endParaRPr lang="ar-EG" sz="1800" dirty="0">
              <a:latin typeface="EB Garamond"/>
              <a:cs typeface="Noto Naskh Arabic"/>
            </a:endParaRPr>
          </a:p>
          <a:p>
            <a:pPr rtl="1" algn="r" marL="228600" indent="-228600">
              <a:spcAft>
                <a:spcPts val="1400"/>
              </a:spcAft>
              <a:buSzPct val="100000"/>
              <a:buChar char="•"/>
            </a:pPr>
            <a:r>
              <a:rPr lang="ar-EG" altLang="en-US" sz="1800" b="1" dirty="0">
                <a:solidFill>
                  <a:srgbClr val="F0E0B0"/>
                </a:solidFill>
                <a:latin typeface="EB Garamond"/>
                <a:cs typeface="Noto Naskh Arabic"/>
              </a:rPr>
              <a:t>الحديث: </a:t>
            </a:r>
            <a:pPr rtl="1" algn="r" indent="0" marL="0">
              <a:buNone/>
            </a:pPr>
            <a:r>
              <a:rPr lang="ar-EG" altLang="en-US" sz="1800" dirty="0">
                <a:solidFill>
                  <a:srgbClr val="F0E0B0"/>
                </a:solidFill>
                <a:latin typeface="EB Garamond"/>
                <a:cs typeface="Noto Naskh Arabic"/>
              </a:rPr>
              <a:t>صحيح البخاري، كتاب الكسوف</a:t>
            </a:r>
            <a:endParaRPr lang="ar-EG" sz="1800" dirty="0">
              <a:latin typeface="EB Garamond"/>
              <a:cs typeface="Noto Naskh Arabic"/>
            </a:endParaRPr>
          </a:p>
          <a:p>
            <a:pPr rtl="1" algn="r" marL="228600" indent="-228600">
              <a:spcAft>
                <a:spcPts val="1400"/>
              </a:spcAft>
              <a:buSzPct val="100000"/>
              <a:buChar char="•"/>
            </a:pPr>
            <a:r>
              <a:rPr lang="ar-EG" altLang="en-US" sz="1800" b="1" dirty="0">
                <a:solidFill>
                  <a:srgbClr val="F0E0B0"/>
                </a:solidFill>
                <a:latin typeface="EB Garamond"/>
                <a:cs typeface="Noto Naskh Arabic"/>
              </a:rPr>
              <a:t>مراجع أخرى في الكتاب: </a:t>
            </a:r>
            <a:pPr rtl="1" algn="r" indent="0" marL="0">
              <a:buNone/>
            </a:pPr>
            <a:r>
              <a:rPr lang="ar-EG" altLang="en-US" sz="1800" dirty="0">
                <a:solidFill>
                  <a:srgbClr val="F0E0B0"/>
                </a:solidFill>
                <a:latin typeface="EB Garamond"/>
                <a:cs typeface="Noto Naskh Arabic"/>
              </a:rPr>
              <a:t>Sepharial, Eclipses (1915)؛ Allan Hall, How to Photograph an Eclipse (2017)؛ Jean Meeus</a:t>
            </a:r>
            <a:endParaRPr lang="ar-EG" sz="1800" dirty="0">
              <a:latin typeface="EB Garamond"/>
              <a:cs typeface="Noto Naskh Arabic"/>
            </a:endParaRPr>
          </a:p>
        </p:txBody>
      </p:sp>
      <p:sp>
        <p:nvSpPr>
          <p:cNvPr id="6" name="Text 4"/>
          <p:cNvSpPr txBox="1"/>
          <p:nvPr/>
        </p:nvSpPr>
        <p:spPr>
          <a:xfrm>
            <a:off x="548640" y="5943600"/>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9C8B6E"/>
                </a:solidFill>
                <a:latin typeface="EB Garamond"/>
                <a:cs typeface="Noto Naskh Arabic"/>
              </a:rPr>
              <a:t>حسابات خاصة بهذه المحاضرة: كسوف ٦٣٢م في المدينة، وخسوفات ٢٠٢٨–٢٠٣٠ من القاهرة، ووقت الزوال يوم ٢ أغسطس ٢٠٢٧ — بأدوات الكتاب نفسها</a:t>
            </a:r>
            <a:endParaRPr lang="ar-EG" sz="1000" dirty="0">
              <a:latin typeface="EB Garamond"/>
              <a:cs typeface="Noto Naskh Arabic"/>
            </a:endParaRPr>
          </a:p>
        </p:txBody>
      </p:sp>
      <p:sp>
        <p:nvSpPr>
          <p:cNvPr id="25" name="Slide Number Placeholder 0"/>
          <p:cNvSpPr>
            <a:spLocks noGrp="1"/>
          </p:cNvSpPr>
          <p:nvPr>
            <p:ph type="sldNum" sz="quarter" idx="4294967295"/>
          </p:nvPr>
        </p:nvSpPr>
        <p:spPr>
          <a:xfrm>
            <a:off x="5486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962B"/>
                </a:solidFill>
                <a:latin typeface="EB Garamond"/>
                <a:cs typeface="Noto Naskh Arabic"/>
              </a:defRPr>
            </a:lvl1pPr>
          </a:lstStyle>
          <a:p>
            <a:pPr algn="l"/>
            <a:fld id="{F7021451-1387-4CA6-816F-3879F97B5CBC}" type="slidenum">
              <a:rPr b="0" lang="en-US">
                <a:latin typeface="EB Garamond"/>
                <a:cs typeface="Noto Naskh Arabic"/>
              </a:rPr>
              <a:t>67</a:t>
            </a:fld>
            <a:endParaRPr lang="en-US">
              <a:latin typeface="EB Garamond"/>
              <a:cs typeface="Noto Naskh Arabic"/>
            </a:endParaRPr>
          </a:p>
        </p:txBody>
      </p:sp>
    </p:spTree>
  </p:cSld>
  <p:clrMapOvr>
    <a:masterClrMapping/>
  </p:clrMapOvr>
</p:sld>
</file>

<file path=ppt/theme/theme1.xml><?xml version="1.0" encoding="utf-8"?>
<a:theme xmlns:a="http://schemas.openxmlformats.org/drawingml/2006/main" name="Eclipse 2027 — Gold">
  <a:themeElements>
    <a:clrScheme name="Eclipse 2027 — Gold">
      <a:dk1>
        <a:srgbClr val="130E07"/>
      </a:dk1>
      <a:lt1>
        <a:srgbClr val="F0E0B0"/>
      </a:lt1>
      <a:dk2>
        <a:srgbClr val="161F2F"/>
      </a:dk2>
      <a:lt2>
        <a:srgbClr val="FAF3E0"/>
      </a:lt2>
      <a:accent1>
        <a:srgbClr val="C9962B"/>
      </a:accent1>
      <a:accent2>
        <a:srgbClr val="E8B84B"/>
      </a:accent2>
      <a:accent3>
        <a:srgbClr val="1B3A6B"/>
      </a:accent3>
      <a:accent4>
        <a:srgbClr val="5BAD7A"/>
      </a:accent4>
      <a:accent5>
        <a:srgbClr val="2A5BAD"/>
      </a:accent5>
      <a:accent6>
        <a:srgbClr val="8B3A1A"/>
      </a:accent6>
      <a:hlink>
        <a:srgbClr val="E8B84B"/>
      </a:hlink>
      <a:folHlink>
        <a:srgbClr val="C9962B"/>
      </a:folHlink>
    </a:clrScheme>
    <a:fontScheme name="Eclipse 2027 — Gold">
      <a:majorFont>
        <a:latin typeface="EB Garamond"/>
        <a:ea typeface=""/>
        <a:cs typeface="Amiri"/>
        <a:font script="Jpan" typeface="游ゴシック Light"/>
        <a:font script="Hang" typeface="맑은 고딕"/>
        <a:font script="Hans" typeface="等线 Light"/>
        <a:font script="Hant" typeface="新細明體"/>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EB Garamond"/>
        <a:ea typeface=""/>
        <a:cs typeface="Noto Naskh Arabic"/>
        <a:font script="Jpan" typeface="游ゴシック"/>
        <a:font script="Hang" typeface="맑은 고딕"/>
        <a:font script="Hans" typeface="等线"/>
        <a:font script="Hant" typeface="新細明體"/>
        <a:font script="Arab" typeface="Noto Naskh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الكسوف الكلي للشمس ٢ أغسطس ٢٠٢٧ — محاضرة للمرشدين السياحيين والأثريين</dc:title>
  <dc:subject>الكسوف والخسوف، دوريتهما، الكسوف في الحضارة الإسلامية، كسوف ٢٠٢٧ في مصر</dc:subject>
  <dc:creator>مبنية على كتاب «الكسوف الكلي للشمس — ٢ أغسطس ٢٠٢٧»</dc:creator>
  <cp:lastModifiedBy>مبنية على كتاب «الكسوف الكلي للشمس — ٢ أغسطس ٢٠٢٧»</cp:lastModifiedBy>
  <cp:revision>1</cp:revision>
  <dcterms:created xsi:type="dcterms:W3CDTF">2026-10-24T19:20:56Z</dcterms:created>
  <dcterms:modified xsi:type="dcterms:W3CDTF">2026-10-24T19:20:56Z</dcterms:modified>
</cp:coreProperties>
</file>