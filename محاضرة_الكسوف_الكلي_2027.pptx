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افتتاح" id="{93a8f866-a2f6-6d1b-e30d-fae37f90bac9}">
          <p14:sldIdLst>
            <p14:sldId id="256"/>
            <p14:sldId id="257"/>
            <p14:sldId id="258"/>
          </p14:sldIdLst>
        </p14:section>
        <p14:section name="المرحلة الأولى: تعريف الكسوف والخسوف وهندستهما" id="{c5759941-6082-f9df-9091-dc2edda947be}">
          <p14:sldIdLst>
            <p14:sldId id="259"/>
            <p14:sldId id="260"/>
            <p14:sldId id="261"/>
            <p14:sldId id="262"/>
            <p14:sldId id="263"/>
            <p14:sldId id="264"/>
            <p14:sldId id="265"/>
            <p14:sldId id="266"/>
            <p14:sldId id="267"/>
            <p14:sldId id="268"/>
            <p14:sldId id="269"/>
          </p14:sldIdLst>
        </p14:section>
        <p14:section name="المرحلة الثانية: الكسوف في تاريخ مصر والحضارة الإسلامية" id="{ce891ded-9c27-85e9-3a6f-11a47111d393}">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المرحلة الثالثة: كسوف ٢ أغسطس ٢٠٢٧" id="{15e5866f-24c7-21fe-7c58-826c60462495}">
          <p14:sldIdLst>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Lst>
        </p14:section>
        <p14:section name="الختام" id="{93a9e291-f2da-007a-6851-b8a0b5a1b41d}">
          <p14:sldIdLst>
            <p14:sldId id="318"/>
            <p14:sldId id="319"/>
            <p14:sldId id="320"/>
            <p14:sldId id="321"/>
            <p14:sldId id="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A4A46"/>
                </a:solidFill>
                <a:latin typeface="+mn-lt"/>
              </a:defRPr>
            </a:pPr>
            <a:r>
              <a:rPr sz="1400" b="0" i="0" u="none" strike="noStrike">
                <a:solidFill>
                  <a:srgbClr val="4A4A46"/>
                </a:solidFill>
                <a:latin typeface="+mn-lt"/>
              </a:rPr>
              <a:t>عدد كسوفات الشمس حسب النوع — ٣٣٦ كسوفًا في ١٥٠ سنة</a:t>
            </a:r>
          </a:p>
        </c:rich>
      </c:tx>
      <c:layout/>
      <c:overlay val="0"/>
    </c:title>
    <c:autoTitleDeleted val="0"/>
    <c:plotArea>
      <c:layout/>
      <c:barChart>
        <c:barDir val="col"/>
        <c:grouping val="clustered"/>
        <c:varyColors val="0"/>
        <c:ser>
          <c:idx val="0"/>
          <c:order val="0"/>
          <c:tx>
            <c:strRef>
              <c:f>Sheet1!$B$1</c:f>
              <c:strCache>
                <c:ptCount val="1"/>
                <c:pt idx="0">
                  <c:v>عدد الكسوفات</c:v>
                </c:pt>
              </c:strCache>
            </c:strRef>
          </c:tx>
          <c:spPr>
            <a:solidFill>
              <a:srgbClr val="8A8984"/>
            </a:solidFill>
            <a:effectLst/>
          </c:spPr>
          <c:invertIfNegative val="0"/>
          <c:dLbls>
            <c:numFmt formatCode="#,##0" sourceLinked="0"/>
            <c:txPr>
              <a:bodyPr/>
              <a:lstStyle/>
              <a:p>
                <a:pPr>
                  <a:defRPr b="0" i="0" strike="noStrike" sz="1400" u="none">
                    <a:solidFill>
                      <a:srgbClr val="1F1F1D"/>
                    </a:solidFill>
                    <a:latin typeface="+mn-lt"/>
                  </a:defRPr>
                </a:pPr>
              </a:p>
            </c:txPr>
            <c:showLegendKey val="0"/>
            <c:showVal val="1"/>
            <c:showCatName val="0"/>
            <c:showSerName val="0"/>
            <c:showPercent val="0"/>
            <c:showBubbleSize val="0"/>
            <c:showLeaderLines val="0"/>
          </c:dLbls>
          <c:dPt>
            <c:idx val="0"/>
            <c:invertIfNegative val="0"/>
            <c:bubble3D val="0"/>
            <c:spPr>
              <a:solidFill>
                <a:srgbClr val="8A8984"/>
              </a:solidFill>
              <a:effectLst/>
            </c:spPr>
          </c:dPt>
          <c:dPt>
            <c:idx val="1"/>
            <c:invertIfNegative val="0"/>
            <c:bubble3D val="0"/>
            <c:spPr>
              <a:solidFill>
                <a:srgbClr val="E88A2C"/>
              </a:solidFill>
              <a:effectLst/>
            </c:spPr>
          </c:dPt>
          <c:dPt>
            <c:idx val="2"/>
            <c:invertIfNegative val="0"/>
            <c:bubble3D val="0"/>
            <c:spPr>
              <a:solidFill>
                <a:srgbClr val="0F1B2D"/>
              </a:solidFill>
              <a:effectLst/>
            </c:spPr>
          </c:dPt>
          <c:dPt>
            <c:idx val="3"/>
            <c:invertIfNegative val="0"/>
            <c:bubble3D val="0"/>
            <c:spPr>
              <a:solidFill>
                <a:srgbClr val="1D4E89"/>
              </a:solidFill>
              <a:effectLst/>
            </c:spPr>
          </c:dPt>
          <c:cat>
            <c:multiLvlStrRef>
              <c:f>Sheet1!$A$2:$A$5</c:f>
              <c:multiLvlStrCache>
                <c:ptCount val="4"/>
                <c:lvl>
                  <c:pt idx="0">
                    <c:v>جزئي</c:v>
                  </c:pt>
                  <c:pt idx="1">
                    <c:v>حلقي</c:v>
                  </c:pt>
                  <c:pt idx="2">
                    <c:v>كلي</c:v>
                  </c:pt>
                  <c:pt idx="3">
                    <c:v>هجين</c:v>
                  </c:pt>
                </c:lvl>
              </c:multiLvlStrCache>
            </c:multiLvlStrRef>
          </c:cat>
          <c:val>
            <c:numRef>
              <c:f>Sheet1!$B$2:$B$5</c:f>
              <c:numCache>
                <c:formatCode>General</c:formatCode>
                <c:ptCount val="4"/>
                <c:pt idx="0">
                  <c:v>120</c:v>
                </c:pt>
                <c:pt idx="1">
                  <c:v>106</c:v>
                </c:pt>
                <c:pt idx="2">
                  <c:v>99</c:v>
                </c:pt>
                <c:pt idx="3">
                  <c:v>11</c:v>
                </c:pt>
              </c:numCache>
            </c:numRef>
          </c:val>
        </c:ser>
        <c:dLbls>
          <c:numFmt formatCode="#,##0" sourceLinked="0"/>
          <c:txPr>
            <a:bodyPr/>
            <a:lstStyle/>
            <a:p>
              <a:pPr>
                <a:defRPr b="0" i="0" strike="noStrike" sz="1400" u="none">
                  <a:solidFill>
                    <a:srgbClr val="1F1F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4A4A4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4A46"/>
                </a:solidFill>
                <a:latin typeface="+mn-lt"/>
              </a:defRPr>
            </a:pPr>
            <a:r>
              <a:rPr sz="1300" b="0" i="0" u="none" strike="noStrike">
                <a:solidFill>
                  <a:srgbClr val="4A4A46"/>
                </a:solidFill>
                <a:latin typeface="+mn-lt"/>
              </a:rPr>
              <a:t>نسبة تغطية قرص الشمس عند الذروة (٪)</a:t>
            </a:r>
          </a:p>
        </c:rich>
      </c:tx>
      <c:layout/>
      <c:overlay val="0"/>
    </c:title>
    <c:autoTitleDeleted val="0"/>
    <c:plotArea>
      <c:layout/>
      <c:barChart>
        <c:barDir val="bar"/>
        <c:grouping val="clustered"/>
        <c:varyColors val="0"/>
        <c:ser>
          <c:idx val="0"/>
          <c:order val="0"/>
          <c:tx>
            <c:strRef>
              <c:f>Sheet1!$B$1</c:f>
              <c:strCache>
                <c:ptCount val="1"/>
                <c:pt idx="0">
                  <c:v>نسبة تغطية قرص الشمس ٪</c:v>
                </c:pt>
              </c:strCache>
            </c:strRef>
          </c:tx>
          <c:spPr>
            <a:solidFill>
              <a:srgbClr val="E88A2C"/>
            </a:solidFill>
            <a:effectLst/>
          </c:spPr>
          <c:invertIfNegative val="0"/>
          <c:dLbls>
            <c:numFmt formatCode="0.0" sourceLinked="0"/>
            <c:txPr>
              <a:bodyPr/>
              <a:lstStyle/>
              <a:p>
                <a:pPr>
                  <a:defRPr b="0" i="0" strike="noStrike" sz="1200" u="none">
                    <a:solidFill>
                      <a:srgbClr val="1F1F1D"/>
                    </a:solidFill>
                    <a:latin typeface="+mn-lt"/>
                  </a:defRPr>
                </a:pPr>
              </a:p>
            </c:txPr>
            <c:showLegendKey val="0"/>
            <c:showVal val="1"/>
            <c:showCatName val="0"/>
            <c:showSerName val="0"/>
            <c:showPercent val="0"/>
            <c:showBubbleSize val="0"/>
            <c:showLeaderLines val="0"/>
          </c:dLbls>
          <c:cat>
            <c:multiLvlStrRef>
              <c:f>Sheet1!$A$2:$A$12</c:f>
              <c:multiLvlStrCache>
                <c:ptCount val="11"/>
                <c:lvl>
                  <c:pt idx="0">
                    <c:v>بورسعيد</c:v>
                  </c:pt>
                  <c:pt idx="1">
                    <c:v>أبو سمبل</c:v>
                  </c:pt>
                  <c:pt idx="2">
                    <c:v>الإسكندرية</c:v>
                  </c:pt>
                  <c:pt idx="3">
                    <c:v>القاهرة</c:v>
                  </c:pt>
                  <c:pt idx="4">
                    <c:v>الجيزة</c:v>
                  </c:pt>
                  <c:pt idx="5">
                    <c:v>شرم الشيخ</c:v>
                  </c:pt>
                  <c:pt idx="6">
                    <c:v>بني سويف</c:v>
                  </c:pt>
                  <c:pt idx="7">
                    <c:v>الغردقة</c:v>
                  </c:pt>
                  <c:pt idx="8">
                    <c:v>الخارجة</c:v>
                  </c:pt>
                  <c:pt idx="9">
                    <c:v>سفاجا</c:v>
                  </c:pt>
                  <c:pt idx="10">
                    <c:v>أسوان</c:v>
                  </c:pt>
                </c:lvl>
              </c:multiLvlStrCache>
            </c:multiLvlStrRef>
          </c:cat>
          <c:val>
            <c:numRef>
              <c:f>Sheet1!$B$2:$B$12</c:f>
              <c:numCache>
                <c:formatCode>General</c:formatCode>
                <c:ptCount val="11"/>
                <c:pt idx="0">
                  <c:v>88.5</c:v>
                </c:pt>
                <c:pt idx="1">
                  <c:v>92</c:v>
                </c:pt>
                <c:pt idx="2">
                  <c:v>93.4</c:v>
                </c:pt>
                <c:pt idx="3">
                  <c:v>94.8</c:v>
                </c:pt>
                <c:pt idx="4">
                  <c:v>95</c:v>
                </c:pt>
                <c:pt idx="5">
                  <c:v>95.6</c:v>
                </c:pt>
                <c:pt idx="6">
                  <c:v>98.2</c:v>
                </c:pt>
                <c:pt idx="7">
                  <c:v>98.6</c:v>
                </c:pt>
                <c:pt idx="8">
                  <c:v>99.5</c:v>
                </c:pt>
                <c:pt idx="9">
                  <c:v>99.6</c:v>
                </c:pt>
                <c:pt idx="10">
                  <c:v>99.8</c:v>
                </c:pt>
              </c:numCache>
            </c:numRef>
          </c:val>
        </c:ser>
        <c:dLbls>
          <c:numFmt formatCode="0.0" sourceLinked="0"/>
          <c:txPr>
            <a:bodyPr/>
            <a:lstStyle/>
            <a:p>
              <a:pPr>
                <a:defRPr b="0" i="0" strike="noStrike" sz="1200" u="none">
                  <a:solidFill>
                    <a:srgbClr val="1F1F1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4A46"/>
                </a:solidFill>
                <a:latin typeface="+mn-lt"/>
              </a:defRPr>
            </a:pPr>
            <a:endParaRPr lang="en-US"/>
          </a:p>
        </c:txPr>
        <c:crossAx val="2094734552"/>
        <c:crosses val="autoZero"/>
        <c:auto val="1"/>
        <c:lblAlgn val="ctr"/>
        <c:noMultiLvlLbl val="1"/>
      </c:catAx>
      <c:valAx>
        <c:axId val="2094734552"/>
        <c:scaling>
          <c:orientation val="minMax"/>
          <c:max val="100"/>
          <c:min val="8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الترحيب وتقديم المحاضرة. هدفنا اليوم أن يخرج المرشد السياحي والأثري قادرًا على ثلاثة أمور: أن يشرح للزائر ما سيحدث في السماء بلغة بسيطة دقيقة، وأن يربط الحدث بتاريخ مصر وبالحضارة الإسلامية، وأن يدير مجموعته يوم الكسوف بأمان: متى يلبسون النظارة ومتى ينزعونها، وأين يقفون، وكيف يتقون الحر. كل الأرقام في هذه المحاضرة محسوبة في الكتاب من عناصر بِسِل الرسمية التي نشرتها ناسا لهذا الكسوف، والأوقات كلها بتوقيت مصر الصيفي (التوقيت العالمي + 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بالمفارقة: الأقصر — أغنى مدينة في العالم بالآثار — لم تشهد كسوفًا كليًا منذ نحو ستة قرون ونصف (١٠ يناير ١٣٧٧م بحساب الكتاب، وهو تقدير تقريبي لأن تباطؤ دوران الأرض في العصور الوسطى غير معروف بدقة). والقاهرة لم ترَه منذ ٦ أكتوبر ١٢٤١م. ويوم ٢ أغسطس ٢٠٢٧ تدوم الكلية في الأقصر ٦ دقائق و٢٠ ثانية. دور المرشد: الشرح، والربط بالتاريخ، والسلامة. وسنعود في آخر المحاضرة إلى خطة عملية للمرشد يوم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المحاضرة ثلاث ساعات في ثلاث مراحل: (١) التعريف والهندسة نحو خمسين دقيقة، ثم استراحة؛ (٢) الكسوف في تاريخ مصر وفي الحضارة الإسلامية نحو خمسين دقيقة، ثم استراحة؛ (٣) كسوف ٢٠٢٧ تفصيلًا: المسار والمواعيد، ومراحله، وشكله في الأقصر، والرصد الآمن، والتصوير، وخطة المرشد — نحو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الأولى (نحو خمسين دقيقة): الأساس العلمي. الرسالة التي يحفظها المرشد: الكسوف = القمر يحجب الشمس في آخر الشهر القمري، والخسوف = ظل الأرض يغطي القمر ليلة البدر. ثم الدورية: كسوف كلي في مكان ما كل ١٨ شهرًا تقريبًا، لكن المدينة الواحدة تنتظره قرونًا.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جملة تصلح للسائح: «لو كان القمر أصغر قليلًا أو أبعد قليلًا لما رأينا كسوفًا كليًا قط». النسبة ٤٠٠ إلى ٤٠٠ مصادفة لا قانون، والقمر يبتعد عن الأرض نحو ٣٫٨ سم كل سنة، فبعد مئات الملايين من السنين لن يحدث كسوف كلي. في ٢٠٢٧ القمر قريب من الحضيض، فيبدو أكبر من الشمس بنحو ٤٪ (قدر الكسوف ١٫٠٣٩)، ولهذا تطول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شرح بالرسم: مخروطا الظل. الظل الكامل بقعة صغيرة على الأرض عرضها في ٢٠٢٧ لا يتجاوز ٢٥٩ كيلومترًا، أما شبه الظل فيغطي آلاف الكيلومترات — ولهذا يرى أهل القاهرة والإسكندرية الكسوف جزئيًا فقط. نبّه إلى أن الفرق بين الجزئي والكلي ليس فرقًا في الدرجة بل في النوع: حتى ٩٩٪ ليس كليًا.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ما يُسأل عنه المرشد أكثر من غيره. الفارق الجوهري: الكسوف يقع دائمًا في آخر الشهر الهجري (كسوف ٢٠٢٧ يوافق ٢٨ أو ٢٩ صفر ١٤٤٩هـ بحسب الرؤية)، والخسوف دائمًا في منتصف الشهر ليلة البدر. وفي اللغة يُستعمل اللفظان للشمس والقمر معًا، وقد شاع في الاصطلاح: الكسوف للشمس والخسوف للقمر، كما في قوله تعالى «وَخَسَفَ الْقَمَرُ». أقصى كلية شمسية ممكنة نحو ٧ دقائق و٣٠ ثانية؛ وأطول خسوف كلي للقمر يقارب ساعة و٤٥ 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مفيد: مدار الأرض ومدار القمر طوقان مائلان أحدهما على الآخر قليلًا، يتقاطعان في نقطتين فقط. ولا يصطف الثلاثة على خط واحد إلا عندما يكون القمر عند إحدى النقطتين في المحاق أو البدر. ولهذا يأتي الكسوف والخسوف غالبًا متقاربين: خسوف قبل الكسوف أو بعده بأسبوعين.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المذكورة لمدينة الأقصر بتوقيت مصر الصيفي، محسوبة في الكتاب. المدة الكلية للحدث من أوله إلى آخره ساعتان و٤٦ دقيقة، أما الكلية فست دقائق وعشرون ثانية فقط. ملحوظة: تذكر رواية «أرصاد وأطوار» للأقصر ١٣:٠٢:١٤–١٣:٠٨:٣٦ (٦ د ٢٢ ث)؛ والفرق ثوانٍ مصدره اختلاف موضع النقطة المختارة داخل المدينة وطريقة الحساب. اعتمد في الإرشاد أرقام الكتاب المحسوبة بعناصر ناسا، وأبلغ الزوار بأن يكونوا مستعدين قبل الموعد بدقيقتين.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صور حقيقية من كسوفي ٢٠١٧ و٢٠٢٤. رتّبها للزوار زمنيًا: قبل الكلية بثوانٍ تظهر حبات بيلي ثم الخاتم الماسي — وهنا ما زالت النظارة على العين حتى يختفي آخر ضوء. ثم الكروموسفير الوردي والشواظ عند حافة القمر، ثم الهالة البيضاء الممتدة ملايين الكيلومترات. وفي نهاية الكلية يتكرر الخاتم الماسي في الجهة المقابلة — وهو إشارة لبس النظارة فورًا.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البابليون هذه الدورة من سجلات الكسوف المتراكمة، وسمّاها إدموند هالي «ساروس». أعضاء سلسلة ساروس ١٣٦ المعاصرون: ١٩٥٥ (٧ د ٠٨ ث)، ١٩٧٣ (الكسوف الذي طاردته طائرة الكونكورد)، ١٩٩١، ٢٠٠٩، ثم ٢٠٢٧ (٦ د ٢٣ ث)، ثم ٢٠٤٥. والمدد تتناقص ببطء في هذه السلسلة. وتذكر رواية «أرصاد وأطوار» أن الحُسّاب في القاهرة الفاطمية كانوا يعرفون هذا «الدور» الذي تعود به الكسوفات.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بين ١٩٠١ و٢٠٥٠ وقع ٣٣٦ كسوفًا للشمس بحسب حسابات الكتاب: ١٢٠ جزئيًا، و١٠٦ حلقيًا، و٩٩ كليًا، و١١ هجينًا. أي أن الكسوف الكلي يقع في مكان ما من الأرض كل سنة ونصف تقريبًا، لكنه غالبًا فوق المحيطات أو مناطق نائية. أما النقطة الواحدة فلا يمر بها الكسوف الكلي إلا مرة كل ٣٧٥ سنة في المتوسط (تقدير الفلكي جان ميوس)، مع تفاوت كبير: بعض المدن تراه مرتين في عقود قليلة، وبعضها لا يراه ألف عام.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الحساب أُجري خصيصًا لهذه المحاضرة بالأدوات نفسها التي حُسب بها الكتاب. أفضل خسوف قادم للتدريب: ليلة ٢٠ إلى ٢١ ديسمبر ٢٠٢٩، الذروة نحو ٠٠:٤٣ بتوقيت القاهرة والقمر على ارتفاع نحو ٧٧°، والكلية ٥٥ دقيقة. وخسوف ٣١ ديسمبر ٢٠٢٨ — ليلة رأس السنة — كلي لمدة ٧٢ دقيقة والقمر يرتفع في الشرق بعد الغروب، وهي فرصة سياحية ممتازة. أما خسوف ٢٦ يونيو ٢٠٢٩ فهو من أعمق الخسوفات (قدر ١٫٨٥) لكن ذروته تقع والقمر تحت أفق القاهرة صباحًا. الخسوفان الجزئيان ٦ يوليو ٢٠٢٨ (قدر ٠٫٣٩) و١٥ يونيو ٢٠٣٠ (قدر ٠٫٥١). الأوقات تقريبية بدقيقة.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الأولى.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الثانية (نحو خمسين دقيقة) في جزأين: (أ) الكسوفات التي حدثت في مصر من الأسطورة إلى الحساب، (ب) الكسوف والخسوف في الحضارة الإسلامية. تنبيه منهجي: لا يوجد نص مصري قديم معروف يؤرخ كسوفًا بعينه تأريخًا قاطعًا؛ فكل ربط بين نص وكسوف اجتهاد، والحساب يبيّن ما هو ممكن.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الثانية: نبدأ بسياق عالمي قصير عن سجلات الكسوف، ثم ننتقل إلى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مدخل مهم للأثريين: الكسوف من أدق أدوات التأريخ، لأن الحساب الفلكي يعطي يومه وساعته بلا لبس. كسوف ٧٦٣ ق.م المسجل في قوائم الحكام الآشوريين (في سنة بور-ساجالي) هو المسمار الذي تُعلَّق عليه أزمنة الشرق القديم كله. وقصة طاليس يرويها هيرودوت، وكسوف ثوسيديدس (٣ أغسطس ٤٣١ ق.م) كان حلقيًا رآه أهل أثينا جزئيًا ٨٣٪. مصدر الجدول: كتاب «الكسوفات» لسيفاريال (١٩١٥) بعد تدقيق الكتاب له بالحساب؛ مع التنبيه إلى أن الجانب التنجيمي في ذلك الكتاب معتقد قديم لا 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عند الحديث في مقابر وادي الملوك (حيث كتب العالم الآخر: الأمدوات وكتاب البوابات) يمكن ربط رحلة رع الليلية بالحدث: في ٢ أغسطس ٢٠٢٧ يتحول نهار وادي الملوك إلى ليل لمدة ٦ دقائق و٢٠ ثانية. والرواية «أرصاد وأطوار» تسمي أحد فصولها «اليوم الذي ابتلع فيه الثعبان الشمس كلها» على هذا المعنى.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من أقوى الحكايات لمرشدي المنيا وتل العمارنة: عاصمة إله قرص الشمس آتون شهدت كسوفًا كليًا للشمس. مصدرها رواية «أرصاد وأطوار» التي يقول مؤلفها في ملحقه إن الحساب الفلكي الحديث يثبت وقوع الكسوف، وإن ربطه بالسنة السادسة عشرة غير يقيني. وأعاد الكتاب الحساب بنظرية ERFA مع معادلات إسبيناك ومييس لفرق التوقيت. وفي ٢٠٢٧ يعود الظل إلى تل العمارنة: الكلية هناك ٥ دقائق و٣٣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القراءة للباحثين المحدثين، والحساب في الكتاب أكد أن الحدثين وقعا وكانا مرئيين من صعيد مصر. قف بالزوار في معبد دندرة أمام النسخة المصبوبة في سقف المقصورة، ثم أخبرهم أن الظل الذي نقش الكهنة رمزه سيمر فوق رؤوسهم بعد أكثر من ألفي سنة. وتنقل الرواية أن كهنة دندرة كانوا يقولون في نقوشهم إنهم ينسخون عن «كتاب قديم من زمن الأولين».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تجري أحداث الرواية في قاهرة العزيز بالله والحاكم بأمر الله، ويفصل مؤلفها في ملحق ختامي بين التاريخي والمتخيَّل. أخذنا الأحداث الفلكية التاريخية فقط وأعاد الكتاب حسابها، فجاءت كلها صحيحة. كسوف ٩٩٣م: في الرواية يرصده العزيز بالله في طست ماء في صحن القصر ومعه ابنه الحاكم ابن ثماني سنين، ويصل الخبر من الإسكندرية بأن الناس رأوا النجوم ضحى وصلّوا صلاة الكسوف. كسوف ١٠٠٤م: يصعد الحاكم المقطم ليرى الشمس تغرب مكسوفة خلف الأهرام «قرنين من نار». وبينهما كسوف ٧ أبريل ١٠٠٠م الجزئي (نحو نصف القرص قرب الظهر) الذي يعلّم فيه ابن يونس تلميذه الرصد في الطست. تنبيه للمرشد: الشخصيات المتخيلة (سيف، ريحانة…) والمنامات والنبوءات من خيال الرواية؛ أما التواريخ الفلكية فحقيقية ومحسوبة.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مشهد الخسوف في الرواية من أجمل ما يُروى للزوار ليلًا على الأسطح والمراكب النيلية: «هي مستديرة في كل خسوف رأيته، والقمر عالٍ أو منخفض، في الشرق أو في الغرب. وليس في الدنيا جسم يلقي ظلًا مستديرًا من كل جهة إلا الكرة. هذا ظلنا يا سيف». وهو استدلال قديم على كروية الأرض يعود إلى أرسطو، وكان معروفًا لفلكيي الحضارة الإسلامية. فرق صغير: تؤرخ الرواية خسوف سنة ٣٧٠هـ بالعاشر من شوال، والحساب يضعه في الرابع عشر منه، لأن الخسوف لا يقع إلا والقمر بدر.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المستعر الأعظم (سوبرنوفا) سنة ١٠٠٦م في برج العقرب هو ألمع نجم مستعر في التاريخ المدوَّن، ورآه علي بن رضوان المصري من القاهرة وهو في الثامنة عشرة، فوصف سطوعه بأنه مرتان ونصف إلى ثلاثة أمثال الزهرة، وضوءه أكثر من ربع ضوء القمر. هذه الأحداث مذكورة في ملحق المؤلف «ما هو حقيقي في هذا الكتاب». اقترح على الزوار المهتمين قراءة الرواية قبل 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كسوف ١٧ مايو ١٨٨٢ رُصد من سوهاج، وظهر في صور الكلية مذنب ساطع قرب الشمس سُمّي باسم الخديوي توفيق، ولم يُشاهد إلا في تلك الدقائق. وكسوف السلوم ٢٠٠٦ مقارنة مفيدة للزوار الذين يسألون عن خبرة مصر في استقبال سياحة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للزائر: الكسوف ليس مشهدًا جميلًا فحسب؛ إنه مختبر طبيعي. فيه اكتُشف عنصر كيميائي، وفيه اختُبرت أشهر نظرية في الفيزياء الحديثة. واليوم تصنع المراصد الفضائية كسوفًا صناعيًا بالمِكْسَفة (Coronagraph) مثل SOHO وProba-3، لكن الكسوف الطبيعي ما زال يكشف الهالة الداخلية بوضوح لا تبلغه معظم الأجهزة. وكسوف ١٩٧٣ من سلسلة ساروس ١٣٦ نفسها التي ينتمي إليها كسوف ٢٠٢٧.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تجيب عن سؤال «نفس المكان». التواريخ قبل ١٩٠٠ تقريبية لأن فرق التوقيت ΔT (تباطؤ دوران الأرض) غير معروف بدقة في العصور الوسطى؛ والتواريخ قبل ١٥٨٢ بالتقويم اليولياني. والفكرة للزائر: «أنتم تشهدون ما لم يشهده أهل الأقصر منذ أكثر من ستة قرون». وكذلك تذكر الرواية (الفصل الأخير) أن آخر ظل مر بطيبة كان في العاشر من يناير ١٣٧٧م — متفقة مع الحساب.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الثانية: ثلاث رسائل — الإسلام نزع عن الكسوف صفة النذير، وشرع له عبادة، ثم ازدهر رصده وحسابه علميًا في بغداد والرقة والقاهرة وغزنة.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نص الحديث في صحيح البخاري (كتاب الكسوف) من حديث عائشة رضي الله عنها، وله روايات أخرى عن المغيرة بن شعبة وأبي مسعود. حسبنا لهذه المحاضرة الكسوف المقترن بوفاة إبراهيم ابن النبي ﷺ: كسوف حلقي في ٢٧ يناير ٦٣٢م، رآه أهل المدينة جزئيًا بنسبة احتجاب نحو ٧٧٪ ضحىً والشمس على ارتفاع نحو ١٦° (نحو الثامنة صباحًا بالتوقيت الشمسي المحلي). ويوافق بالتقويم الحسابي ٢٨ أو ٢٩ شوال سنة ١٠هـ. الحساب تقريبي لأن ΔT في القرن السابع غير معروف بدقة، لكن احتجاب نحو ثلاثة أرباع القرص لا يتغير كثيرًا. الرسالة للزائر الأجنبي: قبل أربعة عشر قرنًا أعلن نبي الإسلام أن الكسوف آية كونية لا علاقة لها بموت أحد أو حياته.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عملية مهمة يغفل عنها كثيرون: الزوال في الأقصر يوم ٢ أغسطس ٢٠٢٧ نحو ١٢:٥٥:٤٥ بتوقيت مصر الصيفي، فيُرفع أذان الظهر قرابة ١٢:٥٧–١٣:٠٠، وتبدأ الكلية ١٣:٠١:٥٨. أي أن المساجد ستصلي الظهر ثم صلاة الكسوف في قلب الحدث، وستتجمع حشود قرب المساجد والساحات. خطط لمواقع مجموعتك بعيدًا عن الزحام، واشرح للزائر الأجنبي معنى ما يسمعه من تكبير وصلاة. التاريخ الهجري: الحساب العددي يعطي ٢٨ صفر، وتذكر الرواية ٢٩ صفر ١٤٤٩هـ؛ والفرق يوم بحسب رؤية الهلال.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أسماء يحسن أن يحفظها المرشد. ابن يونس وابن الهيثم عاشا في القاهرة الفاطمية نفسها، وهما شخصيتان تاريخيتان في رواية «أرصاد وأطوار». يذكر ملحق الرواية أن ابن يونس ترك الزيج الحاكمي في ٨١ بابًا وفيه أكثر من مئة رصدة مؤرخة، يميّز رصده من رصد غيره ويكتب أخطاء أسلافه وأخطاء نفسه. وأرصاد الكسوف العربية — مع سجلات بابل والصين — هي اليوم من أدق وسائل قياس فرق التوقيت ΔT، أي تباطؤ دوران الأرض عبر القرون.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النصوص منقولة في ملحق رواية «أرصاد وأطوار» عن «الزيج الكبير الحاكمي» كما نشره كوسان دي برسفال في باريس سنة ١٨٠٤ من مخطوط ليدن. اقرأ للزوار عبارة ابن يونس: «قد رصدت هذا الكسوف أنا وابني أبو الحسن ومُفلِح، فطلعت الشمس منكسفة… ولم يزل الكسوف يزيد… ورصدناها بالماء رصدًا محكمًا، فانجلت فلم يبق فيها من الكسوف شيء». وفي الرواية مشهد يصفع فيه الشيخ تلميذه حين رفع عينه إلى الشمس: «في كل بيت رصدٍ أعمى، كان في شبابه أحمق ظنّ أن نظرة واحدة لا تضر» — وهي أفضل مقدمة لدرس السلامة. تنبيه: طست الماء لا يُنصح به اليوم، فالانعكاس على الماء ما زال ساطعًا مؤذيًا؛ البديل الحديث كاميرا الثقب والنظارة المعتمدة.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العلم بالتاريخ: الحجرة المظلمة (Camera obscura) التي درسها ابن الهيثم في القاهرة هي جدّة الكاميرا الحديثة. وفي الرواية وصف لظلال سعف النخل وقد صارت «أهلّة صغيرة» على البلاط أثناء كسوف ٩٩٣م. اطلب من الزوار في المعابد أن ينظروا إلى ظلال النخيل والأشجار على الأرض قبيل الكلية — سيرون مئات الأهلّة.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تجمع الأثري والفلكي: السجل التاريخي المؤرخ يصحح الحساب الفلكي، والحساب الفلكي يؤرخ السجل. ولهذا تبقى تواريخ ومسارات الكسوفات قبل ١٩٠٠ في الكتاب «تقريبية»، ويُرسم حولها نطاق عدم اليقين كما في كسوف إخناتون. وأرصاد ابن يونس في القاهرة الفاطمية من السجلات التي استعملها علماء القرن العشرين في حساب تباطؤ دوران 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استراحة بعد المرحلة الثانية.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المرحلة الثالثة (نحو ساعة) وهي قلب المحاضرة. كل الأرقام من عناصر بِسِل الرسمية التي نشرتها ناسا (فريد إسبيناك، ΔT = ٧٦ ثانية)، وتحقق منها الكتاب مستقلًا من تقويم JPL DE421 فاتفقت المدد في حدود ثلث ثانية.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الأول من المرحلة الثالثة.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أرقام يحفظها المرشد: أطول مدة ٦ دقائق و٢٣ ثانية، أقصى عرض للمسار ٢٥٩ كم، ١١ دولة، الشمس على ارتفاع ٨١°. كسوف ٢٠٢٧ من أطول الكسوفات الكلية في القرن الحادي والعشرين، وسر طوله ثلاثة: القمر قريب من الحضيض فيبدو كبيرًا، والأرض قرب الأوج فتبدو الشمس أصغر قليلًا، ومحور الظل يمر قريبًا من مركز الأرض (غاما ≈ ٠٫١٤)، فيكون الظل أبطأ فوق صعيد مصر. الظل يلامس الأرض من ٠٨:٢٥ إلى ١١:٤٨ بالتوقيت العالمي.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اللون الأزرق: مدة الكلية، والبرتقالي: نسبة تغطية الشمس خارج المسار. أمثلة من الدول الأخرى للمقارنة (من ملحق الكتاب): طنجة ٤ د ٥٠ ث، طريفة ٤ د ٣٨ ث، الأقصر ٦ د ٢٠ ث، ومكة جزئي، وجدة قريبة من المسار. الرسالة: مصر تحظى بأطول مدة على اليابسة، ومع آثارها وطقسها الصافي في أغسطس تصبح الوجهة الأولى في العالم لهذا الكسوف.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يعبر الظل الكامل مصر من سيوة إلى برنيس في نحو ٣٥ دقيقة فقط. لاحظ كيف يصغر الظل ويتباطأ قرب مصر لأن الشمس شبه عمودية فوقها. سرعة الظل فوق مصر نحو ألفي كيلومتر في الساعة — أي أن الظلام يأتي من جهة الغرب-الشمال الغربي مسرعًا، فوجّه أنظار مجموعتك نحو تلك الجهة قبيل الكلية لترى «جدار الظل» قادمًا.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مصر من أطلس الكتاب: الخطان الأزرقان حدّا مسار الكلية، والخط الأحمر المتقطع خط المركز. كلما اقتربت من الخط الأحمر طالت الكلية. أسوان تقع خارج الحد الجنوبي بقليل، فلا يراها أهل أسوان كلية — انصح مجموعات أسوان بالتوجه شمالًا إلى كوم أمبو (٣ د ٢١ ث) أو إدفو (٥ د ٣٠ ث). وأهل القاهرة يحتاجون إلى السفر جنوبًا: أقرب موقع ممتاز الواحات البحرية (نحو ٣٧٠ كم)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يكثر الخلط بين النقطتين في الإعلام. ناسا تنشر الاثنتين، وتظهر الثانية على خرائطها مقرّبة إلى ٦ د ٢٣ ث. والمنحنى منبسط جدًا: لا يبلغ ٦ د ٢٣ ث كاملة إلا شريط ضيق في الصحراء. فإذا سألك زائر «أين أطول كسوف؟» فالجواب الصادق: «الفرق بين هنا وهناك ثانية أو ثانيتان، ولن تشعر به».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من ملحق الكتاب (جدول المدن المصرية الخمسين). رُتّبت المدن من الأطول كلية إلى الأقصر. ارتفاع الشمس عند الذروة: نجع حمادي ٨١٫٦°، الأقصر ٨١٫٨°، إدفو ٨٢٫٣°، سيوة ٧٥٫٥°. لاحظ أن مدن البحر الأحمر الجنوبية (مرسى علم وبرنيس والشلاتين ٥ د ٣٦ ث) خيار ممتاز للسياحة الشاطئية، أما القصير فعلى حافة المسار (٢ د ٣١ ث) والغردقة وسفاجا خارجه.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الجدول للمرشدين العاملين في القاهرة والإسكندرية وأسوان والبحر الأحمر وسيناء. الاحتجاب (Obscuration) هو النسبة المحجوبة من مساحة قرص الشمس. حتى ٩٩٫٨٪ في أسوان لا يعطي ظلامًا ولا هالة. اقترح على هذه المجموعات الانتقال إلى أقرب نقطة داخل المسار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أخطر رسالة في المحاضرة للسلامة وللتسويق معًا. الفرق بين ٩٩٪ و١٠٠٪ هو الفرق بين «يوم غائم قليلًا» و«ليل في الظهيرة». لا تبع للسائح تجربة كلية في أسوان أو الغردقة أو القاهرة. وفي هذه المدن تبقى النظارة على العين طوال الحدث. اقتراح عملي: مجموعات الغردقة تنتقل جنوبًا إلى القصير أو مرسى علم، ومجموعات أسوان شمالًا إلى كوم أمبو أو إدفو، ومجموعات القاهرة إلى الواحات البحرية أو المنيا.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الثاني من المرحلة الثالثة: الأقصر نموذجًا، ويمكن تطبيق الشرائح نفسها على أي مدينة ببطاقتها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لكل مدينة في الكتاب بطاقة مماثلة (٢٥ بطاقة) — اطبع بطاقة مدينتك واحملها يوم الكسوف. في الأقصر: نحو ساعة و٢٢ دقيقة من الجزئي قبل الكلية، ثم ست دقائق وعشرون ثانية من الكلية، ثم ساعة و١٨ دقيقة من الجزئي بعدها.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«سيناريو» اليوم كاملًا للأقصر، من التماس الأول إلى الرابع. ساعتان و٤٦ دقيقة في المجموع، منها ٦ دقائق و٢٠ ثانية فقط من الكلية. ركّز على الدقيقة الأخيرة قبل الكلية: يأتي ظل القمر من جهة الغرب-الشمال الغربي بسرعة، وقد تظهر خطوط متموجة باهتة على الأرض الفاتحة (الأحزمة الظلية). ثم حبات بيلي والخاتم الماسي: النظارة على العين حتى يختفي آخر ضوء، ثم تُنزع. وعند أول وميض في نهاية الكلية تُلبس فورًا. لمدينة أخرى: أضف الفرق بين أوقاتها وأوقات الأقصر من جدول المدن.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الرسوم محسوبة خصيصًا لهذه المحاضرة من عناصر بِسِل الرسمية (ناسا) لموقع الأقصر: موضع قرص القمر على قرص الشمس في عشر لحظات. يدخل القمر من الحافة الغربية العليا للشمس (يمين الصورة إلى أعلى) ويخرج من الحافة الشرقية السفلى. نسبة الاحتجاب: ١٢:٠٠ ← ١٤٪، ١٢:٢٠ ← ٣٨٪، ١٢:٤٠ ← ٦٨٪، ١٢:٥٥ ← ٩١٪، ثم الكلية ١٣:٠١:٥٨–١٣:٠٨:١٨، ثم ١٣:١٥ ← ٩١٪، ١٣:٣٥ ← ٦٠٪، ١٤:٠٠ ← ٢٤٪، والنهاية ١٤:٢٦:٢٥. قرص القمر أكبر ظاهريًا من قرص الشمس بنحو ٨٪ في قطره، ولهذا تطول الكلية. ولأن الشمس قريبة من سمت الرأس، فإن «أعلى» و«أسفل» يتغيران بحسب اتجاه وقوف الراصد؛ الرسم بالاتجاهات السماوية: الشمال إلى أعلى.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سماء الأقصر لحظة ذروة الكلية (١٣:٠٥) من الكتاب. الشمس في مركز الدائرة تقريبًا (ارتفاعها نحو ٨٢°)، فليُنبَّه الزوار إلى أن ينظروا إلى أعلى، لا إلى الأفق. ويمكن للمرشد أن يجعلها لعبة: «من يرى الزهرة أولًا؟» — وهي أسطع جرم بعد الشمس والقمر، وستكون قريبة جدًا من الشمس المكسوفة. وأوصف الغروب الدائري: الأفق كله برتقالي لأننا نرى خارج حدود الظل في كل اتجاه.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الشريحة هي الأهم للأثريين. يمر مسار الكلية بأغنى بقاع الأرض بالآثار. تذكير: الشمس على ارتفاع ٨١–٨٢° في الأقصر، أي فوق الرأس تقريبًا؛ فلا تتوقع صورة «الشمس المكسوفة فوق المسلة» إلا بعدسة واسعة جدًا من زاوية منخفضة. وأهرام الجيزة خارج المسار (٩٥٪) — صحّح هذا لمن يظن أن الأهرام ستشهد الكلية.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انصح بالمواقع المفتوحة ذات الأفق الواسع لرؤية الظل قادمًا من الغرب. داخل المعابد المسقوفة لن يُرى شيء من السماء. واعلم أن تنظيم المواقع الأثرية يوم الكسوف (ساعات الدخول والأعداد) قرار الجهات المختصة؛ تابع تعليماتها الرسمية.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الواحات البحرية تتبع إداريًا محافظة الجيزة، وتقع داخل مسار الكلية بالكامل. وهي خيار ممتاز للمجموعات القادمة من القاهرة التي لا تريد السفر إلى الصعيد، مع إمكان الجمع بين الكسوف والصحراء البيضاء والسوداء. وكذلك سيوة (٥ د ٢٨ ث) لمن يريد تجربة الواحة ومعبد آمون.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الثالث من المرحلة الثالثة: السلامة.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ضوء الشمس — حتى لو حُجب ٩٩٪ منه — قادر على إتلاف الشبكية دون أن يشعر الإنسان بألم، لأن الشبكية بلا مستقبلات للألم. ابدأ هذه الشريحة بعبارة ابن يونس في الرواية: «في كل بيت رصد أعمى، كان في شبابه أحمق ظنّ أن نظرة واحدة لا تضر». اشترِ النظارات مبكرًا من مصدر موثوق، وافحص كل نظارة قبل التوزيع، واحمل احتياطيًا.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نبّه إلى الفرق بين الرصد القديم والحديث: طست الماء عند ابن يونس كان أفضل المتاح قبل ألف سنة، لكن الانعكاس على الماء يبقى ساطعًا ولا يُعتمد اليوم. ونبّه المصورين: المرشح يوضع أمام العدسة لا خلفها، ويُنزع فقط في الكلية داخل المسار. ومن الأخطاء الشائعة أن يلبس الشخص نظارة الكسوف ثم ينظر عبر منظار بلا مرشح: النظارة لا تحميه حينئذ.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استعمل منبّهًا صوتيًا أو تطبيق Solar Eclipse Timer، وعيّن في كل مجموعة مساعدًا يراقب الوقت. قاعدة بسيطة للزائر: «إذا رأيت أي ضوء أبيض ساطع من الشمس، فالنظارة على عينك». وفي المدن خارج المسار لا توجد لحظة نزع إطلاقًا. وفي الكتاب خطوط زمنية مماثلة لسوهاج وأسيوط وأسوان والقاهرة والغردقة.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اجمع بين العلم والتراث في الرد: الحديث النبوي ينفي النذير، والحساب الفلكي يتنبأ بالكسوف بالثانية قبله بقرون. وفي رواية «أرصاد وأطوار» مشهد ساخر: المنجمون الذين أنذروا الخليفة بموت ملك عند كسوف ٩٩٣م «قبضوا أجرهم مرتين: مرة على الإنذار، ومرة على أن الإنذار لم يقع».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انخفاض الحرارة بضع درجات أثناء الكلية لا يعوّض ساعات الانتظار في الشمس. خطط لوصول المجموعة إلى الموقع قبل التماس الأول بوقت كافٍ، ووفر ظلًا متنقلًا. الخطر الأكبر يوم الكسوف عمليًا هو الإجهاد الحراري والزحام المروري، لا الكسوف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الجزء الرابع من المرحلة الثالثة: التصوير.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سيطلب كثير من الزوار مساعدتهم في التصوير. الشمس في الأقصر على ارتفاع ٨٢° تقريبًا، فصورة «الشمس المكسوفة فوق المعبد» تحتاج عدسة واسعة جدًا وزاوية منخفضة. وفي الكتاب فصل كامل للتصوير: مثلث التعريض (Exposure triangle)، وجداول التعريض المتدرج (Bracketing) لكل ظاهرة، وخطة تصوير ثانية بثانية للأقصر وسوهاج. نصيحة المصورين المحترفين المنقولة في الكتاب عن آلان هول: جرّب الحامل ورأسه في الساعة نفسها قبل الحدث بأيام، لأن التصوير قرب سمت الرأس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خطة التصوير ثانية بثانية للأقصر من الكتاب. القاعدة الذهبية للمصور: ارفع عينيك عن الكاميرا في منتصف الكلية (١٣:٠٥:٠٨) واستمتع. مثلث التعريض (Exposure triangle): فتحة العدسة (Aperture) وزمن الغالق (Shutter speed) والحساسية (ISO). في الكسوف نستعمل الوضع اليدوي لأن الوضع الآلي ينخدع بالسماء المظلمة حول الهالة. وفي الكتاب جداول تعريض محسوبة لكل ظاهرة عند f/5.6 وf/8 وf/11، وخطة مماثلة لسوهاج. تحدي مصر الخاص: الشمس على ارتفاع ٨١–٨٢°، فجرّب الحامل ورأسه قبل الحدث بأيام في الساعة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الشكل يلخص إعدادات كل مرحلة كما في الفصل السابع من الكتاب. ذكّر المصورين بأن أكثر الأخطاء شيوعًا: نسيان نزع المرشح عند الكلية، أو نسيان إعادته بعدها، والتركيز التلقائي (Autofocus) الذي يضيع في الظلام — ثبّت التركيز يدويًا على اللانهاية مسبقًا.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الأوقات في الخطوتين الأخيرتين للأقصر؛ عدّلها حسب بطاقة مدينتك. تدرب على عبارتي «انزعوا النظارات» و«النظارات الآن» بالعربية والإنجليزية: Glasses OFF — totality! / Glasses ON — now! وانتبه إلى أن أذان الظهر وصلاة الكسوف سيقعان في الوقت نفسه تقريبًا. وفي الكتاب فصل كامل عن التطبيقات (Xavier Jubier، Stellarium، PhotoPills، Solar Eclipse Timer) وجدول استعداد زمني.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مسرد ثنائي اللغة للمصطلحات التي سيستعملها المرشد مع الزوار الأجانب. اطبعه بطاقة صغيرة. والمسرد الكامل في ملحق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لخّص الرسائل السبع، ثم افتح باب الأسئلة. ذكّر الحضور بأن جداول جميع المدن المصرية الخمسين، وبطاقات ٢٥ مدينة، وخرائط المحافظات، موجودة في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الأرقام قابلة للتحقق: شيفرة الحساب في مستودع الكتاب.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rtlCol="0"/>
          <a:lstStyle>
            <a:lvl1pPr rtl="1" algn="r" indent="0" marL="0">
              <a:buNone/>
              <a:defRPr lang="ar-EG" altLang="en-US" sz="3200" b="1" dirty="0">
                <a:solidFill>
                  <a:srgbClr val="0F1B2D"/>
                </a:solidFill>
              </a:defRPr>
            </a:lvl1pPr>
          </a:lstStyle>
          <a:p>
            <a:pPr algn="r" indent="0" marL="0">
              <a:buNone/>
            </a:pPr>
            <a:endParaRPr lang="ar-EG" sz="3200" dirty="0"/>
          </a:p>
        </p:txBody>
      </p:sp>
      <p:sp>
        <p:nvSpPr>
          <p:cNvPr id="3" name="Text 0"/>
          <p:cNvSpPr/>
          <p:nvPr/>
        </p:nvSpPr>
        <p:spPr>
          <a:xfrm>
            <a:off x="4754880" y="6419088"/>
            <a:ext cx="6903720" cy="274320"/>
          </a:xfrm>
          <a:prstGeom prst="rect">
            <a:avLst/>
          </a:prstGeom>
          <a:noFill/>
          <a:ln/>
        </p:spPr>
        <p:txBody>
          <a:bodyPr wrap="square" rtlCol="0" anchor="ctr"/>
          <a:lstStyle/>
          <a:p>
            <a:pPr algn="r" indent="0" marL="0">
              <a:buNone/>
            </a:pPr>
            <a:r>
              <a:rPr lang="ar-EG" altLang="en-US" sz="1000" dirty="0">
                <a:solidFill>
                  <a:srgbClr val="8A8984"/>
                </a:solidFill>
              </a:rPr>
              <a:t>كسوف ٢ أغسطس ٢٠٢٧ | محاضرة تأهيلية للمرشدين السياحيين والأثريين</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rtlCol="0"/>
          <a:lstStyle>
            <a:lvl1pPr rtl="1" algn="r" indent="0" marL="0">
              <a:buNone/>
              <a:defRPr lang="ar-EG" altLang="en-US" sz="3200" b="1" dirty="0">
                <a:solidFill>
                  <a:srgbClr val="FFFFFF"/>
                </a:solidFill>
              </a:defRPr>
            </a:lvl1pPr>
          </a:lstStyle>
          <a:p>
            <a:pPr algn="r" indent="0" marL="0">
              <a:buNone/>
            </a:pPr>
            <a:endParaRPr lang="ar-EG" sz="3200" dirty="0"/>
          </a:p>
        </p:txBody>
      </p:sp>
      <p:sp>
        <p:nvSpPr>
          <p:cNvPr id="3" name="Text 0"/>
          <p:cNvSpPr/>
          <p:nvPr/>
        </p:nvSpPr>
        <p:spPr>
          <a:xfrm>
            <a:off x="4754880" y="6419088"/>
            <a:ext cx="6903720" cy="274320"/>
          </a:xfrm>
          <a:prstGeom prst="rect">
            <a:avLst/>
          </a:prstGeom>
          <a:noFill/>
          <a:ln/>
        </p:spPr>
        <p:txBody>
          <a:bodyPr wrap="square" rtlCol="0" anchor="ctr"/>
          <a:lstStyle/>
          <a:p>
            <a:pPr algn="r" indent="0" marL="0">
              <a:buNone/>
            </a:pPr>
            <a:r>
              <a:rPr lang="ar-EG" altLang="en-US" sz="1000" dirty="0">
                <a:solidFill>
                  <a:srgbClr val="8C9AB3"/>
                </a:solidFill>
              </a:rPr>
              <a:t>كسوف ٢ أغسطس ٢٠٢٧ | محاضرة تأهيلية للمرشدين السياحيين والأثريين</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0F1B2D"/>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F1B2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4-1.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3.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corona" descr="الهالة الشمسية أثناء الكلية، صورة ناسا">    </p:cNvPr>
          <p:cNvPicPr>
            <a:picLocks noChangeAspect="1"/>
          </p:cNvPicPr>
          <p:nvPr/>
        </p:nvPicPr>
        <p:blipFill>
          <a:blip r:embed="rId1"/>
          <a:stretch>
            <a:fillRect/>
          </a:stretch>
        </p:blipFill>
        <p:spPr>
          <a:xfrm>
            <a:off x="0" y="1181297"/>
            <a:ext cx="5669280" cy="4495406"/>
          </a:xfrm>
          <a:prstGeom prst="rect">
            <a:avLst/>
          </a:prstGeom>
        </p:spPr>
      </p:pic>
      <p:sp>
        <p:nvSpPr>
          <p:cNvPr id="3" name="Text 0"/>
          <p:cNvSpPr txBox="1"/>
          <p:nvPr/>
        </p:nvSpPr>
        <p:spPr>
          <a:xfrm>
            <a:off x="5852160" y="914400"/>
            <a:ext cx="5806440" cy="457200"/>
          </a:xfrm>
          <a:prstGeom prst="rect">
            <a:avLst/>
          </a:prstGeom>
          <a:noFill/>
          <a:ln/>
        </p:spPr>
        <p:txBody>
          <a:bodyPr wrap="square" lIns="0" tIns="0" rIns="0" bIns="0" rtlCol="0" anchor="ctr"/>
          <a:lstStyle/>
          <a:p>
            <a:pPr rtl="1" algn="r" indent="0" marL="0">
              <a:buNone/>
            </a:pPr>
            <a:r>
              <a:rPr lang="ar-EG" altLang="en-US" sz="1800" b="1" dirty="0">
                <a:solidFill>
                  <a:srgbClr val="F7B733"/>
                </a:solidFill>
              </a:rPr>
              <a:t>محاضرة تأهيلية للمرشدين السياحيين والأثريين</a:t>
            </a:r>
            <a:endParaRPr lang="ar-EG" sz="1800" dirty="0"/>
          </a:p>
        </p:txBody>
      </p:sp>
      <p:sp>
        <p:nvSpPr>
          <p:cNvPr id="4" name="Text 1"/>
          <p:cNvSpPr txBox="1"/>
          <p:nvPr/>
        </p:nvSpPr>
        <p:spPr>
          <a:xfrm>
            <a:off x="5852160" y="1417320"/>
            <a:ext cx="5806440" cy="868680"/>
          </a:xfrm>
          <a:prstGeom prst="rect">
            <a:avLst/>
          </a:prstGeom>
          <a:noFill/>
          <a:ln/>
        </p:spPr>
        <p:txBody>
          <a:bodyPr wrap="square" lIns="0" tIns="0" rIns="0" bIns="0" rtlCol="0" anchor="ctr"/>
          <a:lstStyle/>
          <a:p>
            <a:pPr rtl="1" algn="r" indent="0" marL="0">
              <a:buNone/>
            </a:pPr>
            <a:r>
              <a:rPr lang="ar-EG" altLang="en-US" sz="3800" b="1" dirty="0">
                <a:solidFill>
                  <a:srgbClr val="FFFFFF"/>
                </a:solidFill>
              </a:rPr>
              <a:t>الكسوف الكلي للشمس</a:t>
            </a:r>
            <a:endParaRPr lang="ar-EG" sz="3800" dirty="0"/>
          </a:p>
        </p:txBody>
      </p:sp>
      <p:sp>
        <p:nvSpPr>
          <p:cNvPr id="5" name="Text 2"/>
          <p:cNvSpPr txBox="1"/>
          <p:nvPr/>
        </p:nvSpPr>
        <p:spPr>
          <a:xfrm>
            <a:off x="5852160" y="2331720"/>
            <a:ext cx="5806440" cy="548640"/>
          </a:xfrm>
          <a:prstGeom prst="rect">
            <a:avLst/>
          </a:prstGeom>
          <a:noFill/>
          <a:ln/>
        </p:spPr>
        <p:txBody>
          <a:bodyPr wrap="square" lIns="0" tIns="0" rIns="0" bIns="0" rtlCol="0" anchor="ctr"/>
          <a:lstStyle/>
          <a:p>
            <a:pPr rtl="1" algn="r" indent="0" marL="0">
              <a:buNone/>
            </a:pPr>
            <a:r>
              <a:rPr lang="ar-EG" altLang="en-US" sz="2200" dirty="0">
                <a:solidFill>
                  <a:srgbClr val="C9D6EA"/>
                </a:solidFill>
              </a:rPr>
              <a:t>٢ أغسطس ٢٠٢٧ — كسوف القرن فوق صعيد مصر</a:t>
            </a:r>
            <a:endParaRPr lang="ar-EG" sz="2200" dirty="0"/>
          </a:p>
        </p:txBody>
      </p:sp>
      <p:sp>
        <p:nvSpPr>
          <p:cNvPr id="6" name="Text 3"/>
          <p:cNvSpPr txBox="1"/>
          <p:nvPr/>
        </p:nvSpPr>
        <p:spPr>
          <a:xfrm>
            <a:off x="5852160" y="2880360"/>
            <a:ext cx="5806440" cy="502920"/>
          </a:xfrm>
          <a:prstGeom prst="rect">
            <a:avLst/>
          </a:prstGeom>
          <a:noFill/>
          <a:ln/>
        </p:spPr>
        <p:txBody>
          <a:bodyPr wrap="square" lIns="0" tIns="0" rIns="0" bIns="0" rtlCol="0" anchor="ctr"/>
          <a:lstStyle/>
          <a:p>
            <a:pPr algn="r" indent="0" marL="0">
              <a:buNone/>
            </a:pPr>
            <a:r>
              <a:rPr lang="en-US" altLang="en-US" sz="1400" i="1" dirty="0">
                <a:solidFill>
                  <a:srgbClr val="F7B733"/>
                </a:solidFill>
              </a:rPr>
              <a:t>The Total Solar Eclipse of 2 August 2027 — a training lecture for tour guides &amp; archaeologists</a:t>
            </a:r>
            <a:endParaRPr lang="en-US" sz="1400" dirty="0"/>
          </a:p>
        </p:txBody>
      </p:sp>
      <p:sp>
        <p:nvSpPr>
          <p:cNvPr id="7" name="Text 4"/>
          <p:cNvSpPr txBox="1"/>
          <p:nvPr/>
        </p:nvSpPr>
        <p:spPr>
          <a:xfrm>
            <a:off x="5852160" y="3566160"/>
            <a:ext cx="5806440" cy="1371600"/>
          </a:xfrm>
          <a:prstGeom prst="rect">
            <a:avLst/>
          </a:prstGeom>
          <a:noFill/>
          <a:ln/>
        </p:spPr>
        <p:txBody>
          <a:bodyPr wrap="square" lIns="0" tIns="0" rIns="0" bIns="0" rtlCol="0" anchor="t"/>
          <a:lstStyle/>
          <a:p>
            <a:pPr rtl="1" algn="r" indent="0" marL="0">
              <a:spcAft>
                <a:spcPts val="600"/>
              </a:spcAft>
              <a:buNone/>
            </a:pPr>
            <a:r>
              <a:rPr lang="ar-EG" altLang="en-US" sz="1600" dirty="0">
                <a:solidFill>
                  <a:srgbClr val="E8ECF3"/>
                </a:solidFill>
              </a:rPr>
              <a:t>الكسوف والخسوف: كيف يحدثان وكم مرة يتكرران</a:t>
            </a:r>
            <a:endParaRPr lang="en-US" sz="1600" dirty="0"/>
          </a:p>
          <a:p>
            <a:pPr rtl="1" algn="r" indent="0" marL="0">
              <a:spcAft>
                <a:spcPts val="600"/>
              </a:spcAft>
              <a:buNone/>
            </a:pPr>
            <a:r>
              <a:rPr lang="ar-EG" altLang="en-US" sz="1600" dirty="0">
                <a:solidFill>
                  <a:srgbClr val="E8ECF3"/>
                </a:solidFill>
              </a:rPr>
              <a:t>الكسوف والخسوف في الحضارة الإسلامية وفي القاهرة الفاطمية</a:t>
            </a:r>
            <a:endParaRPr lang="en-US" sz="1600" dirty="0"/>
          </a:p>
          <a:p>
            <a:pPr rtl="1" algn="r" indent="0" marL="0">
              <a:spcAft>
                <a:spcPts val="600"/>
              </a:spcAft>
              <a:buNone/>
            </a:pPr>
            <a:r>
              <a:rPr lang="ar-EG" altLang="en-US" sz="1600" dirty="0">
                <a:solidFill>
                  <a:srgbClr val="E8ECF3"/>
                </a:solidFill>
              </a:rPr>
              <a:t>مسار كسوف ٢٠٢٧ ومواعيده في المدن والمواقع الأثرية المصرية</a:t>
            </a:r>
            <a:endParaRPr lang="en-US" sz="1600" dirty="0"/>
          </a:p>
        </p:txBody>
      </p:sp>
      <p:sp>
        <p:nvSpPr>
          <p:cNvPr id="8" name="Text 5"/>
          <p:cNvSpPr txBox="1"/>
          <p:nvPr/>
        </p:nvSpPr>
        <p:spPr>
          <a:xfrm>
            <a:off x="5852160" y="5394960"/>
            <a:ext cx="5806440" cy="548640"/>
          </a:xfrm>
          <a:prstGeom prst="rect">
            <a:avLst/>
          </a:prstGeom>
          <a:noFill/>
          <a:ln/>
        </p:spPr>
        <p:txBody>
          <a:bodyPr wrap="square" lIns="0" tIns="0" rIns="0" bIns="0" rtlCol="0" anchor="ctr"/>
          <a:lstStyle/>
          <a:p>
            <a:pPr rtl="1" algn="r" indent="0" marL="0">
              <a:buNone/>
            </a:pPr>
            <a:r>
              <a:rPr lang="ar-EG" altLang="en-US" sz="1200" dirty="0">
                <a:solidFill>
                  <a:srgbClr val="8C9AB3"/>
                </a:solidFill>
              </a:rPr>
              <a:t>المادة العلمية: كتاب «الكسوف الكلي للشمس — ٢ أغسطس ٢٠٢٧» ورواية «أرصاد وأطوار»</a:t>
            </a:r>
            <a:endParaRPr lang="ar-EG" sz="1200" dirty="0"/>
          </a:p>
        </p:txBody>
      </p:sp>
      <p:sp>
        <p:nvSpPr>
          <p:cNvPr id="9" name="Text 6"/>
          <p:cNvSpPr txBox="1"/>
          <p:nvPr/>
        </p:nvSpPr>
        <p:spPr>
          <a:xfrm>
            <a:off x="228600" y="6446520"/>
            <a:ext cx="3657600" cy="274320"/>
          </a:xfrm>
          <a:prstGeom prst="rect">
            <a:avLst/>
          </a:prstGeom>
          <a:noFill/>
          <a:ln/>
        </p:spPr>
        <p:txBody>
          <a:bodyPr wrap="square" lIns="0" tIns="0" rIns="0" bIns="0" rtlCol="0" anchor="ctr"/>
          <a:lstStyle/>
          <a:p>
            <a:pPr algn="l" indent="0" marL="0">
              <a:buNone/>
            </a:pPr>
            <a:r>
              <a:rPr lang="en-US" sz="900" dirty="0">
                <a:solidFill>
                  <a:srgbClr val="C9D6EA"/>
                </a:solidFill>
              </a:rPr>
              <a:t>صورة الخلفية: ناسا (NASA/Aubrey Gemignani)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لماذا يهمّ هذا الحدث المرشد السياحي؟</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Why this event matters to tour guides</a:t>
            </a:r>
            <a:endParaRPr lang="en-US" sz="1400" dirty="0"/>
          </a:p>
        </p:txBody>
      </p:sp>
      <p:sp>
        <p:nvSpPr>
          <p:cNvPr id="4" name="why-card-1"/>
          <p:cNvSpPr/>
          <p:nvPr/>
        </p:nvSpPr>
        <p:spPr>
          <a:xfrm>
            <a:off x="807689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why-disc-1"/>
          <p:cNvSpPr/>
          <p:nvPr/>
        </p:nvSpPr>
        <p:spPr>
          <a:xfrm>
            <a:off x="1072865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830549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rPr>
              <a:t>٦ د ٢٠ ث</a:t>
            </a:r>
            <a:endParaRPr lang="ar-EG" sz="3600" dirty="0"/>
          </a:p>
        </p:txBody>
      </p:sp>
      <p:sp>
        <p:nvSpPr>
          <p:cNvPr id="7" name="Text 5"/>
          <p:cNvSpPr txBox="1"/>
          <p:nvPr/>
        </p:nvSpPr>
        <p:spPr>
          <a:xfrm>
            <a:off x="830549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rPr>
              <a:t>مدة الكلية في الأقصر</a:t>
            </a:r>
            <a:endParaRPr lang="ar-EG" sz="1700" dirty="0"/>
          </a:p>
        </p:txBody>
      </p:sp>
      <p:sp>
        <p:nvSpPr>
          <p:cNvPr id="8" name="Text 6"/>
          <p:cNvSpPr txBox="1"/>
          <p:nvPr/>
        </p:nvSpPr>
        <p:spPr>
          <a:xfrm>
            <a:off x="830549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rPr>
              <a:t>الكرنك ووادي الملوك والدير البحري داخل الظل الكامل، والشمس شبه عمودية فوق الرأس</a:t>
            </a:r>
            <a:endParaRPr lang="ar-EG" sz="1400" dirty="0"/>
          </a:p>
        </p:txBody>
      </p:sp>
      <p:sp>
        <p:nvSpPr>
          <p:cNvPr id="9" name="why-card-2"/>
          <p:cNvSpPr/>
          <p:nvPr/>
        </p:nvSpPr>
        <p:spPr>
          <a:xfrm>
            <a:off x="428213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0" name="why-disc-2"/>
          <p:cNvSpPr/>
          <p:nvPr/>
        </p:nvSpPr>
        <p:spPr>
          <a:xfrm>
            <a:off x="693389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451073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rPr>
              <a:t>٦٥٠ سنة</a:t>
            </a:r>
            <a:endParaRPr lang="ar-EG" sz="3600" dirty="0"/>
          </a:p>
        </p:txBody>
      </p:sp>
      <p:sp>
        <p:nvSpPr>
          <p:cNvPr id="12" name="Text 10"/>
          <p:cNvSpPr txBox="1"/>
          <p:nvPr/>
        </p:nvSpPr>
        <p:spPr>
          <a:xfrm>
            <a:off x="451073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rPr>
              <a:t>منذ آخر كسوف كلي فوق الأقصر</a:t>
            </a:r>
            <a:endParaRPr lang="ar-EG" sz="1700" dirty="0"/>
          </a:p>
        </p:txBody>
      </p:sp>
      <p:sp>
        <p:nvSpPr>
          <p:cNvPr id="13" name="Text 11"/>
          <p:cNvSpPr txBox="1"/>
          <p:nvPr/>
        </p:nvSpPr>
        <p:spPr>
          <a:xfrm>
            <a:off x="451073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rPr>
              <a:t>آخر كلية مرت بطيبة كانت في ١٠ يناير ١٣٧٧م تقريبًا، والقاهرة منذ ١٢٤١م</a:t>
            </a:r>
            <a:endParaRPr lang="ar-EG" sz="1400" dirty="0"/>
          </a:p>
        </p:txBody>
      </p:sp>
      <p:sp>
        <p:nvSpPr>
          <p:cNvPr id="14" name="why-card-3"/>
          <p:cNvSpPr/>
          <p:nvPr/>
        </p:nvSpPr>
        <p:spPr>
          <a:xfrm>
            <a:off x="487375" y="1417320"/>
            <a:ext cx="3566160" cy="3291840"/>
          </a:xfrm>
          <a:prstGeom prst="roundRect">
            <a:avLst>
              <a:gd name="adj" fmla="val 3333"/>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5" name="why-disc-3"/>
          <p:cNvSpPr/>
          <p:nvPr/>
        </p:nvSpPr>
        <p:spPr>
          <a:xfrm>
            <a:off x="3139135" y="1645920"/>
            <a:ext cx="594360" cy="59436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715975" y="2331720"/>
            <a:ext cx="3108960" cy="777240"/>
          </a:xfrm>
          <a:prstGeom prst="rect">
            <a:avLst/>
          </a:prstGeom>
          <a:noFill/>
          <a:ln/>
        </p:spPr>
        <p:txBody>
          <a:bodyPr wrap="square" lIns="0" tIns="0" rIns="0" bIns="0" rtlCol="0" anchor="ctr"/>
          <a:lstStyle/>
          <a:p>
            <a:pPr rtl="1" algn="r" indent="0" marL="0">
              <a:buNone/>
            </a:pPr>
            <a:r>
              <a:rPr lang="ar-EG" altLang="en-US" sz="3600" b="1" dirty="0">
                <a:solidFill>
                  <a:srgbClr val="E88A2C"/>
                </a:solidFill>
              </a:rPr>
              <a:t>ملايين</a:t>
            </a:r>
            <a:endParaRPr lang="ar-EG" sz="3600" dirty="0"/>
          </a:p>
        </p:txBody>
      </p:sp>
      <p:sp>
        <p:nvSpPr>
          <p:cNvPr id="17" name="Text 15"/>
          <p:cNvSpPr txBox="1"/>
          <p:nvPr/>
        </p:nvSpPr>
        <p:spPr>
          <a:xfrm>
            <a:off x="715975" y="3108960"/>
            <a:ext cx="3108960" cy="457200"/>
          </a:xfrm>
          <a:prstGeom prst="rect">
            <a:avLst/>
          </a:prstGeom>
          <a:noFill/>
          <a:ln/>
        </p:spPr>
        <p:txBody>
          <a:bodyPr wrap="square" lIns="0" tIns="0" rIns="0" bIns="0" rtlCol="0" anchor="ctr"/>
          <a:lstStyle/>
          <a:p>
            <a:pPr rtl="1" algn="r" indent="0" marL="0">
              <a:buNone/>
            </a:pPr>
            <a:r>
              <a:rPr lang="ar-EG" altLang="en-US" sz="1700" b="1" dirty="0">
                <a:solidFill>
                  <a:srgbClr val="0F1B2D"/>
                </a:solidFill>
              </a:rPr>
              <a:t>زائر متوقَّع في الصعيد</a:t>
            </a:r>
            <a:endParaRPr lang="ar-EG" sz="1700" dirty="0"/>
          </a:p>
        </p:txBody>
      </p:sp>
      <p:sp>
        <p:nvSpPr>
          <p:cNvPr id="18" name="Text 16"/>
          <p:cNvSpPr txBox="1"/>
          <p:nvPr/>
        </p:nvSpPr>
        <p:spPr>
          <a:xfrm>
            <a:off x="715975" y="3566160"/>
            <a:ext cx="3108960" cy="1051560"/>
          </a:xfrm>
          <a:prstGeom prst="rect">
            <a:avLst/>
          </a:prstGeom>
          <a:noFill/>
          <a:ln/>
        </p:spPr>
        <p:txBody>
          <a:bodyPr wrap="square" lIns="0" tIns="0" rIns="0" bIns="0" rtlCol="0" anchor="t"/>
          <a:lstStyle/>
          <a:p>
            <a:pPr rtl="1" algn="r" indent="0" marL="0">
              <a:buNone/>
            </a:pPr>
            <a:r>
              <a:rPr lang="ar-EG" altLang="en-US" sz="1400" dirty="0">
                <a:solidFill>
                  <a:srgbClr val="4A4A46"/>
                </a:solidFill>
              </a:rPr>
              <a:t>سيأتي الزوار من أجل ست دقائق؛ المرشد هو من يحوّلها إلى تجربة آمنة لا تُنسى</a:t>
            </a:r>
            <a:endParaRPr lang="ar-EG" sz="1400" dirty="0"/>
          </a:p>
        </p:txBody>
      </p:sp>
      <p:sp>
        <p:nvSpPr>
          <p:cNvPr id="19" name="why-question"/>
          <p:cNvSpPr/>
          <p:nvPr/>
        </p:nvSpPr>
        <p:spPr>
          <a:xfrm>
            <a:off x="548640" y="4983480"/>
            <a:ext cx="11094415" cy="1051560"/>
          </a:xfrm>
          <a:prstGeom prst="roundRect">
            <a:avLst>
              <a:gd name="adj" fmla="val 10435"/>
            </a:avLst>
          </a:prstGeom>
          <a:solidFill>
            <a:srgbClr val="0F1B2D"/>
          </a:solidFill>
          <a:ln w="9525">
            <a:solidFill>
              <a:srgbClr val="0F1B2D"/>
            </a:solidFill>
            <a:prstDash val="solid"/>
          </a:ln>
        </p:spPr>
      </p:sp>
      <p:sp>
        <p:nvSpPr>
          <p:cNvPr id="20" name="Text 18"/>
          <p:cNvSpPr txBox="1"/>
          <p:nvPr/>
        </p:nvSpPr>
        <p:spPr>
          <a:xfrm>
            <a:off x="868680" y="5029200"/>
            <a:ext cx="10454335" cy="960120"/>
          </a:xfrm>
          <a:prstGeom prst="rect">
            <a:avLst/>
          </a:prstGeom>
          <a:noFill/>
          <a:ln/>
        </p:spPr>
        <p:txBody>
          <a:bodyPr wrap="square" lIns="0" tIns="0" rIns="0" bIns="0" rtlCol="0" anchor="ctr"/>
          <a:lstStyle/>
          <a:p>
            <a:pPr rtl="1" algn="r" indent="0" marL="0">
              <a:buNone/>
            </a:pPr>
            <a:r>
              <a:rPr lang="ar-EG" altLang="en-US" sz="1700" b="1" dirty="0">
                <a:solidFill>
                  <a:srgbClr val="F7B733"/>
                </a:solidFill>
              </a:rPr>
              <a:t>السؤال الذي سيسمعه كل مرشد يوم الكسوف: </a:t>
            </a:r>
            <a:pPr rtl="1" algn="r" indent="0" marL="0">
              <a:buNone/>
            </a:pPr>
            <a:r>
              <a:rPr lang="ar-EG" altLang="en-US" sz="1700" dirty="0">
                <a:solidFill>
                  <a:srgbClr val="FFFFFF"/>
                </a:solidFill>
              </a:rPr>
              <a:t>«متى أنزع النظارة؟ وهل أرى الكسوف كليًا من هنا؟» — هذه المحاضرة تعطيك الجواب لكل مدينة وموقع أثري.</a:t>
            </a:r>
            <a:endParaRPr lang="en-US" sz="17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خطة المحاضرة: ثلاث مراحل في ثلاث ساعات</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Lecture plan: three stages in three hours</a:t>
            </a:r>
            <a:endParaRPr lang="en-US" sz="1400" dirty="0"/>
          </a:p>
        </p:txBody>
      </p:sp>
      <p:sp>
        <p:nvSpPr>
          <p:cNvPr id="4" name="stage-card-١"/>
          <p:cNvSpPr/>
          <p:nvPr/>
        </p:nvSpPr>
        <p:spPr>
          <a:xfrm>
            <a:off x="8122615"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stage-disc-١"/>
          <p:cNvSpPr/>
          <p:nvPr/>
        </p:nvSpPr>
        <p:spPr>
          <a:xfrm>
            <a:off x="10591495"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10591495"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rPr>
              <a:t>١</a:t>
            </a:r>
            <a:endParaRPr lang="en-US" sz="2600" dirty="0"/>
          </a:p>
        </p:txBody>
      </p:sp>
      <p:sp>
        <p:nvSpPr>
          <p:cNvPr id="7" name="Text 5"/>
          <p:cNvSpPr txBox="1"/>
          <p:nvPr/>
        </p:nvSpPr>
        <p:spPr>
          <a:xfrm>
            <a:off x="8351215"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rPr>
              <a:t>المرحلة الأولى</a:t>
            </a:r>
            <a:endParaRPr lang="ar-EG" sz="1800" dirty="0"/>
          </a:p>
        </p:txBody>
      </p:sp>
      <p:sp>
        <p:nvSpPr>
          <p:cNvPr id="8" name="Text 6"/>
          <p:cNvSpPr txBox="1"/>
          <p:nvPr/>
        </p:nvSpPr>
        <p:spPr>
          <a:xfrm>
            <a:off x="8351215"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rPr>
              <a:t>٠:٠٠ – ٠:٥٠</a:t>
            </a:r>
            <a:endParaRPr lang="ar-EG" sz="1500" dirty="0"/>
          </a:p>
        </p:txBody>
      </p:sp>
      <p:sp>
        <p:nvSpPr>
          <p:cNvPr id="9" name="Text 7"/>
          <p:cNvSpPr txBox="1"/>
          <p:nvPr/>
        </p:nvSpPr>
        <p:spPr>
          <a:xfrm>
            <a:off x="8351215"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rPr>
              <a:t>تعريف الكسوف والخسوف وهندستهما</a:t>
            </a:r>
            <a:endParaRPr lang="ar-EG" sz="1800" dirty="0"/>
          </a:p>
        </p:txBody>
      </p:sp>
      <p:sp>
        <p:nvSpPr>
          <p:cNvPr id="10" name="Text 8"/>
          <p:cNvSpPr txBox="1"/>
          <p:nvPr/>
        </p:nvSpPr>
        <p:spPr>
          <a:xfrm>
            <a:off x="8351215"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rPr>
              <a:t>الظل وأنواع الكسوف، الكسوف والخسوف، العقدتان والمواسم، التماسات الأربعة وظواهر الكلية، دورة ساروس، وكم يتكرر الكسوف في العالم وعلى المكان نفسه</a:t>
            </a:r>
            <a:endParaRPr lang="ar-EG" sz="1400" dirty="0"/>
          </a:p>
        </p:txBody>
      </p:sp>
      <p:sp>
        <p:nvSpPr>
          <p:cNvPr id="11" name="stage-card-٢"/>
          <p:cNvSpPr/>
          <p:nvPr/>
        </p:nvSpPr>
        <p:spPr>
          <a:xfrm>
            <a:off x="4355287"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2" name="stage-disc-٢"/>
          <p:cNvSpPr/>
          <p:nvPr/>
        </p:nvSpPr>
        <p:spPr>
          <a:xfrm>
            <a:off x="6824167"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3" name="Text 11"/>
          <p:cNvSpPr txBox="1"/>
          <p:nvPr/>
        </p:nvSpPr>
        <p:spPr>
          <a:xfrm>
            <a:off x="6824167"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rPr>
              <a:t>٢</a:t>
            </a:r>
            <a:endParaRPr lang="en-US" sz="2600" dirty="0"/>
          </a:p>
        </p:txBody>
      </p:sp>
      <p:sp>
        <p:nvSpPr>
          <p:cNvPr id="14" name="Text 12"/>
          <p:cNvSpPr txBox="1"/>
          <p:nvPr/>
        </p:nvSpPr>
        <p:spPr>
          <a:xfrm>
            <a:off x="4583887"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rPr>
              <a:t>المرحلة الثانية</a:t>
            </a:r>
            <a:endParaRPr lang="ar-EG" sz="1800" dirty="0"/>
          </a:p>
        </p:txBody>
      </p:sp>
      <p:sp>
        <p:nvSpPr>
          <p:cNvPr id="15" name="Text 13"/>
          <p:cNvSpPr txBox="1"/>
          <p:nvPr/>
        </p:nvSpPr>
        <p:spPr>
          <a:xfrm>
            <a:off x="4583887"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rPr>
              <a:t>١:٠٠ – ١:٥٠</a:t>
            </a:r>
            <a:endParaRPr lang="ar-EG" sz="1500" dirty="0"/>
          </a:p>
        </p:txBody>
      </p:sp>
      <p:sp>
        <p:nvSpPr>
          <p:cNvPr id="16" name="Text 14"/>
          <p:cNvSpPr txBox="1"/>
          <p:nvPr/>
        </p:nvSpPr>
        <p:spPr>
          <a:xfrm>
            <a:off x="4583887"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rPr>
              <a:t>الكسوف في تاريخ مصر والحضارة الإسلامية</a:t>
            </a:r>
            <a:endParaRPr lang="ar-EG" sz="1800" dirty="0"/>
          </a:p>
        </p:txBody>
      </p:sp>
      <p:sp>
        <p:nvSpPr>
          <p:cNvPr id="17" name="Text 15"/>
          <p:cNvSpPr txBox="1"/>
          <p:nvPr/>
        </p:nvSpPr>
        <p:spPr>
          <a:xfrm>
            <a:off x="4583887"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rPr>
              <a:t>أ) الكسوفات التي حدثت في مصر: من رع وإخناتون ودندرة إلى القاهرة الفاطمية وسوهاج ١٨٨٢ والسلوم ٢٠٠٦</a:t>
            </a:r>
            <a:endParaRPr lang="ar-EG" sz="1400" dirty="0"/>
          </a:p>
          <a:p>
            <a:pPr rtl="1" algn="r" indent="0" marL="0">
              <a:buNone/>
            </a:pPr>
            <a:r>
              <a:rPr lang="ar-EG" altLang="en-US" sz="1400" dirty="0">
                <a:solidFill>
                  <a:srgbClr val="4A4A46"/>
                </a:solidFill>
              </a:rPr>
              <a:t>ب) الحديث النبوي وصلاة الكسوف وابن يونس وابن الهيثم</a:t>
            </a:r>
            <a:endParaRPr lang="ar-EG" sz="1400" dirty="0"/>
          </a:p>
        </p:txBody>
      </p:sp>
      <p:sp>
        <p:nvSpPr>
          <p:cNvPr id="18" name="stage-card-٣"/>
          <p:cNvSpPr/>
          <p:nvPr/>
        </p:nvSpPr>
        <p:spPr>
          <a:xfrm>
            <a:off x="587959" y="1417320"/>
            <a:ext cx="3520440" cy="4160520"/>
          </a:xfrm>
          <a:prstGeom prst="roundRect">
            <a:avLst>
              <a:gd name="adj" fmla="val 311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9" name="stage-disc-٣"/>
          <p:cNvSpPr/>
          <p:nvPr/>
        </p:nvSpPr>
        <p:spPr>
          <a:xfrm>
            <a:off x="3056839" y="1645920"/>
            <a:ext cx="777240" cy="77724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0" name="Text 18"/>
          <p:cNvSpPr txBox="1"/>
          <p:nvPr/>
        </p:nvSpPr>
        <p:spPr>
          <a:xfrm>
            <a:off x="3056839" y="1645920"/>
            <a:ext cx="777240" cy="777240"/>
          </a:xfrm>
          <a:prstGeom prst="rect">
            <a:avLst/>
          </a:prstGeom>
          <a:noFill/>
          <a:ln/>
        </p:spPr>
        <p:txBody>
          <a:bodyPr wrap="square" lIns="0" tIns="0" rIns="0" bIns="0" rtlCol="0" anchor="ctr"/>
          <a:lstStyle/>
          <a:p>
            <a:pPr rtl="1" algn="ctr" indent="0" marL="0">
              <a:buNone/>
            </a:pPr>
            <a:r>
              <a:rPr lang="en-US" sz="2600" b="1" dirty="0">
                <a:solidFill>
                  <a:srgbClr val="F7B733"/>
                </a:solidFill>
              </a:rPr>
              <a:t>٣</a:t>
            </a:r>
            <a:endParaRPr lang="en-US" sz="2600" dirty="0"/>
          </a:p>
        </p:txBody>
      </p:sp>
      <p:sp>
        <p:nvSpPr>
          <p:cNvPr id="21" name="Text 19"/>
          <p:cNvSpPr txBox="1"/>
          <p:nvPr/>
        </p:nvSpPr>
        <p:spPr>
          <a:xfrm>
            <a:off x="816559" y="1645920"/>
            <a:ext cx="2148840" cy="384048"/>
          </a:xfrm>
          <a:prstGeom prst="rect">
            <a:avLst/>
          </a:prstGeom>
          <a:noFill/>
          <a:ln/>
        </p:spPr>
        <p:txBody>
          <a:bodyPr wrap="square" lIns="0" tIns="0" rIns="0" bIns="0" rtlCol="0" anchor="ctr"/>
          <a:lstStyle/>
          <a:p>
            <a:pPr rtl="1" algn="r" indent="0" marL="0">
              <a:buNone/>
            </a:pPr>
            <a:r>
              <a:rPr lang="ar-EG" altLang="en-US" sz="1800" b="1" dirty="0">
                <a:solidFill>
                  <a:srgbClr val="E88A2C"/>
                </a:solidFill>
              </a:rPr>
              <a:t>المرحلة الثالثة</a:t>
            </a:r>
            <a:endParaRPr lang="ar-EG" sz="1800" dirty="0"/>
          </a:p>
        </p:txBody>
      </p:sp>
      <p:sp>
        <p:nvSpPr>
          <p:cNvPr id="22" name="Text 20"/>
          <p:cNvSpPr txBox="1"/>
          <p:nvPr/>
        </p:nvSpPr>
        <p:spPr>
          <a:xfrm>
            <a:off x="816559" y="2029968"/>
            <a:ext cx="2148840" cy="347472"/>
          </a:xfrm>
          <a:prstGeom prst="rect">
            <a:avLst/>
          </a:prstGeom>
          <a:noFill/>
          <a:ln/>
        </p:spPr>
        <p:txBody>
          <a:bodyPr wrap="square" lIns="0" tIns="0" rIns="0" bIns="0" rtlCol="0" anchor="ctr"/>
          <a:lstStyle/>
          <a:p>
            <a:pPr rtl="1" algn="r" indent="0" marL="0">
              <a:buNone/>
            </a:pPr>
            <a:r>
              <a:rPr lang="ar-EG" altLang="en-US" sz="1500" dirty="0">
                <a:solidFill>
                  <a:srgbClr val="8A8984"/>
                </a:solidFill>
              </a:rPr>
              <a:t>٢:٠٠ – ٣:٠٠</a:t>
            </a:r>
            <a:endParaRPr lang="ar-EG" sz="1500" dirty="0"/>
          </a:p>
        </p:txBody>
      </p:sp>
      <p:sp>
        <p:nvSpPr>
          <p:cNvPr id="23" name="Text 21"/>
          <p:cNvSpPr txBox="1"/>
          <p:nvPr/>
        </p:nvSpPr>
        <p:spPr>
          <a:xfrm>
            <a:off x="816559" y="2560320"/>
            <a:ext cx="3063240" cy="777240"/>
          </a:xfrm>
          <a:prstGeom prst="rect">
            <a:avLst/>
          </a:prstGeom>
          <a:noFill/>
          <a:ln/>
        </p:spPr>
        <p:txBody>
          <a:bodyPr wrap="square" lIns="0" tIns="0" rIns="0" bIns="0" rtlCol="0" anchor="t"/>
          <a:lstStyle/>
          <a:p>
            <a:pPr rtl="1" algn="r" indent="0" marL="0">
              <a:buNone/>
            </a:pPr>
            <a:r>
              <a:rPr lang="ar-EG" altLang="en-US" sz="1800" b="1" dirty="0">
                <a:solidFill>
                  <a:srgbClr val="0F1B2D"/>
                </a:solidFill>
              </a:rPr>
              <a:t>كسوف ٢ أغسطس ٢٠٢٧: الرصد والتصوير</a:t>
            </a:r>
            <a:endParaRPr lang="ar-EG" sz="1800" dirty="0"/>
          </a:p>
        </p:txBody>
      </p:sp>
      <p:sp>
        <p:nvSpPr>
          <p:cNvPr id="24" name="Text 22"/>
          <p:cNvSpPr txBox="1"/>
          <p:nvPr/>
        </p:nvSpPr>
        <p:spPr>
          <a:xfrm>
            <a:off x="816559" y="3337560"/>
            <a:ext cx="3063240" cy="2148840"/>
          </a:xfrm>
          <a:prstGeom prst="rect">
            <a:avLst/>
          </a:prstGeom>
          <a:noFill/>
          <a:ln/>
        </p:spPr>
        <p:txBody>
          <a:bodyPr wrap="square" lIns="0" tIns="0" rIns="0" bIns="0" rtlCol="0" anchor="t"/>
          <a:lstStyle/>
          <a:p>
            <a:pPr rtl="1" algn="r" indent="0" marL="0">
              <a:buNone/>
            </a:pPr>
            <a:r>
              <a:rPr lang="ar-EG" altLang="en-US" sz="1400" dirty="0">
                <a:solidFill>
                  <a:srgbClr val="4A4A46"/>
                </a:solidFill>
              </a:rPr>
              <a:t>المسار ومواعيده في مدن مصر، مراحله كاملة، كيف يبدو في الأقصر وشكل الشمس في كل مرحلة، الرصد الآمن، التصوير بالهاتف والكاميرا، وخطة المرشد</a:t>
            </a:r>
            <a:endParaRPr lang="ar-EG" sz="1400" dirty="0"/>
          </a:p>
        </p:txBody>
      </p:sp>
      <p:sp>
        <p:nvSpPr>
          <p:cNvPr id="25" name="Text 23"/>
          <p:cNvSpPr txBox="1"/>
          <p:nvPr/>
        </p:nvSpPr>
        <p:spPr>
          <a:xfrm>
            <a:off x="548640" y="5715000"/>
            <a:ext cx="11094415" cy="365760"/>
          </a:xfrm>
          <a:prstGeom prst="rect">
            <a:avLst/>
          </a:prstGeom>
          <a:noFill/>
          <a:ln/>
        </p:spPr>
        <p:txBody>
          <a:bodyPr wrap="square" lIns="0" tIns="0" rIns="0" bIns="0" rtlCol="0" anchor="ctr"/>
          <a:lstStyle/>
          <a:p>
            <a:pPr rtl="1" algn="r" indent="0" marL="0">
              <a:buNone/>
            </a:pPr>
            <a:r>
              <a:rPr lang="ar-EG" altLang="en-US" sz="1500" i="1" dirty="0">
                <a:solidFill>
                  <a:srgbClr val="1D4E89"/>
                </a:solidFill>
              </a:rPr>
              <a:t>استراحتان من ١٠ دقائق بعد المرحلتين الأولى والثانية</a:t>
            </a:r>
            <a:endParaRPr lang="ar-EG"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rPr>
              <a:t>١</a:t>
            </a:r>
            <a:endParaRPr lang="en-US" sz="7200" dirty="0"/>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rPr>
              <a:t>المرحلة الأولى: تعريف الكسوف والخسوف وهندستهما</a:t>
            </a:r>
            <a:endParaRPr lang="ar-EG" sz="3400" dirty="0"/>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rPr>
              <a:t>الساعة الأولى (٠:٠٠ – ٠:٥٠): كيف يحدثان؟ وكم مرة يتكرران في العالم وعلى المكان نفسه؟</a:t>
            </a:r>
            <a:endParaRPr lang="ar-EG" sz="1700" dirty="0"/>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rPr>
              <a:t>Stage 1 — Definitions and the geometry of eclipses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مصادفة كونية: قرصان بالحجم نفسه</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A cosmic coincidence: two discs of the same apparent size</a:t>
            </a:r>
            <a:endParaRPr lang="en-US" sz="1400" dirty="0"/>
          </a:p>
        </p:txBody>
      </p:sp>
      <p:pic>
        <p:nvPicPr>
          <p:cNvPr id="4" name="coincidence" descr="coincidence">    </p:cNvPr>
          <p:cNvPicPr>
            <a:picLocks noChangeAspect="1"/>
          </p:cNvPicPr>
          <p:nvPr/>
        </p:nvPicPr>
        <p:blipFill>
          <a:blip r:embed="rId1"/>
          <a:stretch>
            <a:fillRect/>
          </a:stretch>
        </p:blipFill>
        <p:spPr>
          <a:xfrm>
            <a:off x="548640" y="1740789"/>
            <a:ext cx="5897880" cy="3833622"/>
          </a:xfrm>
          <a:prstGeom prst="rect">
            <a:avLst/>
          </a:prstGeom>
        </p:spPr>
      </p:pic>
      <p:sp>
        <p:nvSpPr>
          <p:cNvPr id="5" name="Text 2"/>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rPr>
              <a:t>لماذا يمكن أن يحدث كسوف كلي أصلًا؟</a:t>
            </a:r>
            <a:endParaRPr lang="ar-EG" sz="2000" dirty="0"/>
          </a:p>
        </p:txBody>
      </p:sp>
      <p:sp>
        <p:nvSpPr>
          <p:cNvPr id="6" name="Text 3"/>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٤٠٠ مرة: </a:t>
            </a:r>
            <a:pPr rtl="1" algn="r" indent="0" marL="0">
              <a:buNone/>
            </a:pPr>
            <a:r>
              <a:rPr lang="ar-EG" altLang="en-US" sz="1600" dirty="0">
                <a:solidFill>
                  <a:srgbClr val="1F1F1D"/>
                </a:solidFill>
              </a:rPr>
              <a:t>قطر الشمس أكبر من قطر القمر بنحو ٤٠٠ مرة، وهي أبعد عنا بنحو ٤٠٠ مرة أيضًا — قطر زاوي نصف درجة (Angular diameter)</a:t>
            </a:r>
            <a:endParaRPr lang="ar-EG" sz="1600" dirty="0"/>
          </a:p>
          <a:p>
            <a:pPr rtl="1" algn="r" marL="228600" indent="-228600">
              <a:spcAft>
                <a:spcPts val="800"/>
              </a:spcAft>
              <a:buSzPct val="100000"/>
              <a:buChar char="•"/>
            </a:pPr>
            <a:r>
              <a:rPr lang="ar-EG" altLang="en-US" sz="1600" b="1" dirty="0">
                <a:solidFill>
                  <a:srgbClr val="1F1F1D"/>
                </a:solidFill>
              </a:rPr>
              <a:t>النتيجة: </a:t>
            </a:r>
            <a:pPr rtl="1" algn="r" indent="0" marL="0">
              <a:buNone/>
            </a:pPr>
            <a:r>
              <a:rPr lang="ar-EG" altLang="en-US" sz="1600" dirty="0">
                <a:solidFill>
                  <a:srgbClr val="1F1F1D"/>
                </a:solidFill>
              </a:rPr>
              <a:t>يبدو القرصان في السماء بالحجم نفسه تقريبًا: نحو نصف درجة</a:t>
            </a:r>
            <a:endParaRPr lang="ar-EG" sz="1600" dirty="0"/>
          </a:p>
          <a:p>
            <a:pPr rtl="1" algn="r" marL="228600" indent="-228600">
              <a:spcAft>
                <a:spcPts val="800"/>
              </a:spcAft>
              <a:buSzPct val="100000"/>
              <a:buChar char="•"/>
            </a:pPr>
            <a:r>
              <a:rPr lang="ar-EG" altLang="en-US" sz="1600" b="1" dirty="0">
                <a:solidFill>
                  <a:srgbClr val="1F1F1D"/>
                </a:solidFill>
              </a:rPr>
              <a:t>القمر قريب — الحضيض (Perigee): </a:t>
            </a:r>
            <a:pPr rtl="1" algn="r" indent="0" marL="0">
              <a:buNone/>
            </a:pPr>
            <a:r>
              <a:rPr lang="ar-EG" altLang="en-US" sz="1600" dirty="0">
                <a:solidFill>
                  <a:srgbClr val="1F1F1D"/>
                </a:solidFill>
              </a:rPr>
              <a:t>يبدو أكبر من الشمس فيحجبها كلها ← كسوف كلي (Total)</a:t>
            </a:r>
            <a:endParaRPr lang="ar-EG" sz="1600" dirty="0"/>
          </a:p>
          <a:p>
            <a:pPr rtl="1" algn="r" marL="228600" indent="-228600">
              <a:spcAft>
                <a:spcPts val="800"/>
              </a:spcAft>
              <a:buSzPct val="100000"/>
              <a:buChar char="•"/>
            </a:pPr>
            <a:r>
              <a:rPr lang="ar-EG" altLang="en-US" sz="1600" b="1" dirty="0">
                <a:solidFill>
                  <a:srgbClr val="1F1F1D"/>
                </a:solidFill>
              </a:rPr>
              <a:t>القمر بعيد — الأوج (Apogee): </a:t>
            </a:r>
            <a:pPr rtl="1" algn="r" indent="0" marL="0">
              <a:buNone/>
            </a:pPr>
            <a:r>
              <a:rPr lang="ar-EG" altLang="en-US" sz="1600" dirty="0">
                <a:solidFill>
                  <a:srgbClr val="1F1F1D"/>
                </a:solidFill>
              </a:rPr>
              <a:t>تبقى حلقة مضيئة حوله ← كسوف حلقي (Annular)</a:t>
            </a:r>
            <a:endParaRPr lang="ar-EG" sz="1600" dirty="0"/>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كتاب «الكسوف الكلي للشمس — ٢٠٢٧»، الشكل ١-١</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الظل الكامل وشبه الظل وأنواع الكسوف</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Umbra, penumbra and the types of solar eclipse</a:t>
            </a:r>
            <a:endParaRPr lang="en-US" sz="1400" dirty="0"/>
          </a:p>
        </p:txBody>
      </p:sp>
      <p:pic>
        <p:nvPicPr>
          <p:cNvPr id="4" name="shadowGeom" descr="shadowGeom">    </p:cNvPr>
          <p:cNvPicPr>
            <a:picLocks noChangeAspect="1"/>
          </p:cNvPicPr>
          <p:nvPr/>
        </p:nvPicPr>
        <p:blipFill>
          <a:blip r:embed="rId1"/>
          <a:stretch>
            <a:fillRect/>
          </a:stretch>
        </p:blipFill>
        <p:spPr>
          <a:xfrm>
            <a:off x="548640" y="2011398"/>
            <a:ext cx="5897880" cy="3292405"/>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الظل الكامل (Umbra): </a:t>
            </a:r>
            <a:pPr rtl="1" algn="r" indent="0" marL="0">
              <a:buNone/>
            </a:pPr>
            <a:r>
              <a:rPr lang="ar-EG" altLang="en-US" sz="1600" dirty="0">
                <a:solidFill>
                  <a:srgbClr val="1F1F1D"/>
                </a:solidFill>
              </a:rPr>
              <a:t>لا يصله أي ضوء من قرص الشمس؛ من يقف فيه يرى كسوفًا كليًا</a:t>
            </a:r>
            <a:endParaRPr lang="ar-EG" sz="1600" dirty="0"/>
          </a:p>
          <a:p>
            <a:pPr rtl="1" algn="r" marL="228600" indent="-228600">
              <a:spcAft>
                <a:spcPts val="800"/>
              </a:spcAft>
              <a:buSzPct val="100000"/>
              <a:buChar char="•"/>
            </a:pPr>
            <a:r>
              <a:rPr lang="ar-EG" altLang="en-US" sz="1600" b="1" dirty="0">
                <a:solidFill>
                  <a:srgbClr val="1F1F1D"/>
                </a:solidFill>
              </a:rPr>
              <a:t>شبه الظل (Penumbra): </a:t>
            </a:r>
            <a:pPr rtl="1" algn="r" indent="0" marL="0">
              <a:buNone/>
            </a:pPr>
            <a:r>
              <a:rPr lang="ar-EG" altLang="en-US" sz="1600" dirty="0">
                <a:solidFill>
                  <a:srgbClr val="1F1F1D"/>
                </a:solidFill>
              </a:rPr>
              <a:t>يحجب جزءًا من القرص فقط؛ من يقف فيه يرى كسوفًا جزئيًا</a:t>
            </a:r>
            <a:endParaRPr lang="ar-EG" sz="1600" dirty="0"/>
          </a:p>
          <a:p>
            <a:pPr rtl="1" algn="r" marL="228600" indent="-228600">
              <a:spcAft>
                <a:spcPts val="800"/>
              </a:spcAft>
              <a:buSzPct val="100000"/>
              <a:buChar char="•"/>
            </a:pPr>
            <a:r>
              <a:rPr lang="ar-EG" altLang="en-US" sz="1600" b="1" dirty="0">
                <a:solidFill>
                  <a:srgbClr val="1F1F1D"/>
                </a:solidFill>
              </a:rPr>
              <a:t>الظل المضاد (Antumbra): </a:t>
            </a:r>
            <a:pPr rtl="1" algn="r" indent="0" marL="0">
              <a:buNone/>
            </a:pPr>
            <a:r>
              <a:rPr lang="ar-EG" altLang="en-US" sz="1600" dirty="0">
                <a:solidFill>
                  <a:srgbClr val="1F1F1D"/>
                </a:solidFill>
              </a:rPr>
              <a:t>إذا لم يبلغ رأس الظل الأرض نرى حلقة من نار: كسوف حلقي</a:t>
            </a:r>
            <a:endParaRPr lang="ar-EG" sz="1600" dirty="0"/>
          </a:p>
          <a:p>
            <a:pPr rtl="1" algn="r" marL="228600" indent="-228600">
              <a:spcAft>
                <a:spcPts val="800"/>
              </a:spcAft>
              <a:buSzPct val="100000"/>
              <a:buChar char="•"/>
            </a:pPr>
            <a:r>
              <a:rPr lang="ar-EG" altLang="en-US" sz="1600" b="1" dirty="0">
                <a:solidFill>
                  <a:srgbClr val="1F1F1D"/>
                </a:solidFill>
              </a:rPr>
              <a:t>الهجين (Hybrid): </a:t>
            </a:r>
            <a:pPr rtl="1" algn="r" indent="0" marL="0">
              <a:buNone/>
            </a:pPr>
            <a:r>
              <a:rPr lang="ar-EG" altLang="en-US" sz="1600" dirty="0">
                <a:solidFill>
                  <a:srgbClr val="1F1F1D"/>
                </a:solidFill>
              </a:rPr>
              <a:t>حلقي في جزء من المسار وكلي في جزء آخر، مثل كسوف ١٠٠٤م فوق القاهرة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٤-١ من الكتاب: مخروطا ظل القمر</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الكسوف والخسوف: ما الفرق؟</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Solar eclipse vs. lunar eclipse</a:t>
            </a:r>
            <a:endParaRPr lang="en-US" sz="1400" dirty="0"/>
          </a:p>
        </p:txBody>
      </p:sp>
      <p:sp>
        <p:nvSpPr>
          <p:cNvPr id="4" name="compare-0"/>
          <p:cNvSpPr/>
          <p:nvPr/>
        </p:nvSpPr>
        <p:spPr>
          <a:xfrm>
            <a:off x="6293815" y="1371600"/>
            <a:ext cx="5349240" cy="4617720"/>
          </a:xfrm>
          <a:prstGeom prst="roundRect">
            <a:avLst>
              <a:gd name="adj" fmla="val 237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compare-icon-0"/>
          <p:cNvSpPr/>
          <p:nvPr/>
        </p:nvSpPr>
        <p:spPr>
          <a:xfrm>
            <a:off x="10774375" y="1627632"/>
            <a:ext cx="548640" cy="548640"/>
          </a:xfrm>
          <a:prstGeom prst="ellipse">
            <a:avLst/>
          </a:prstGeom>
          <a:solidFill>
            <a:srgbClr val="0F1B2D"/>
          </a:solidFill>
          <a:ln w="31750">
            <a:solidFill>
              <a:srgbClr val="E88A2C"/>
            </a:solidFill>
            <a:prstDash val="solid"/>
          </a:ln>
        </p:spPr>
      </p:sp>
      <p:sp>
        <p:nvSpPr>
          <p:cNvPr id="6" name="Text 4"/>
          <p:cNvSpPr txBox="1"/>
          <p:nvPr/>
        </p:nvSpPr>
        <p:spPr>
          <a:xfrm>
            <a:off x="6568135"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E88A2C"/>
                </a:solidFill>
              </a:rPr>
              <a:t>كسوف الشمس</a:t>
            </a:r>
            <a:endParaRPr lang="ar-EG" sz="2400" dirty="0"/>
          </a:p>
        </p:txBody>
      </p:sp>
      <p:sp>
        <p:nvSpPr>
          <p:cNvPr id="7" name="Text 5"/>
          <p:cNvSpPr txBox="1"/>
          <p:nvPr/>
        </p:nvSpPr>
        <p:spPr>
          <a:xfrm>
            <a:off x="6568135"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8A8984"/>
                </a:solidFill>
              </a:rPr>
              <a:t>Solar eclipse</a:t>
            </a:r>
            <a:endParaRPr lang="en-US" sz="1300" dirty="0"/>
          </a:p>
        </p:txBody>
      </p:sp>
      <p:sp>
        <p:nvSpPr>
          <p:cNvPr id="8" name="Text 6"/>
          <p:cNvSpPr txBox="1"/>
          <p:nvPr/>
        </p:nvSpPr>
        <p:spPr>
          <a:xfrm>
            <a:off x="9951415"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الترتيب</a:t>
            </a:r>
            <a:endParaRPr lang="ar-EG" sz="1500" dirty="0"/>
          </a:p>
        </p:txBody>
      </p:sp>
      <p:sp>
        <p:nvSpPr>
          <p:cNvPr id="9" name="Text 7"/>
          <p:cNvSpPr txBox="1"/>
          <p:nvPr/>
        </p:nvSpPr>
        <p:spPr>
          <a:xfrm>
            <a:off x="6568135"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الشمس ← القمر ← الأرض</a:t>
            </a:r>
            <a:endParaRPr lang="ar-EG" sz="1500" dirty="0"/>
          </a:p>
        </p:txBody>
      </p:sp>
      <p:sp>
        <p:nvSpPr>
          <p:cNvPr id="10" name="Text 8"/>
          <p:cNvSpPr txBox="1"/>
          <p:nvPr/>
        </p:nvSpPr>
        <p:spPr>
          <a:xfrm>
            <a:off x="9951415"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متى؟</a:t>
            </a:r>
            <a:endParaRPr lang="ar-EG" sz="1500" dirty="0"/>
          </a:p>
        </p:txBody>
      </p:sp>
      <p:sp>
        <p:nvSpPr>
          <p:cNvPr id="11" name="Text 9"/>
          <p:cNvSpPr txBox="1"/>
          <p:nvPr/>
        </p:nvSpPr>
        <p:spPr>
          <a:xfrm>
            <a:off x="6568135"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عند المحاق: آخر الشهر القمري (٢٨ أو ٢٩)</a:t>
            </a:r>
            <a:endParaRPr lang="ar-EG" sz="1500" dirty="0"/>
          </a:p>
        </p:txBody>
      </p:sp>
      <p:sp>
        <p:nvSpPr>
          <p:cNvPr id="12" name="Text 10"/>
          <p:cNvSpPr txBox="1"/>
          <p:nvPr/>
        </p:nvSpPr>
        <p:spPr>
          <a:xfrm>
            <a:off x="9951415"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من يراه؟</a:t>
            </a:r>
            <a:endParaRPr lang="ar-EG" sz="1500" dirty="0"/>
          </a:p>
        </p:txBody>
      </p:sp>
      <p:sp>
        <p:nvSpPr>
          <p:cNvPr id="13" name="Text 11"/>
          <p:cNvSpPr txBox="1"/>
          <p:nvPr/>
        </p:nvSpPr>
        <p:spPr>
          <a:xfrm>
            <a:off x="6568135"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شريط ضيق على الأرض (الكلي)، وما حوله جزئيًا</a:t>
            </a:r>
            <a:endParaRPr lang="ar-EG" sz="1500" dirty="0"/>
          </a:p>
        </p:txBody>
      </p:sp>
      <p:sp>
        <p:nvSpPr>
          <p:cNvPr id="14" name="Text 12"/>
          <p:cNvSpPr txBox="1"/>
          <p:nvPr/>
        </p:nvSpPr>
        <p:spPr>
          <a:xfrm>
            <a:off x="9951415"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مدة الكلية</a:t>
            </a:r>
            <a:endParaRPr lang="ar-EG" sz="1500" dirty="0"/>
          </a:p>
        </p:txBody>
      </p:sp>
      <p:sp>
        <p:nvSpPr>
          <p:cNvPr id="15" name="Text 13"/>
          <p:cNvSpPr txBox="1"/>
          <p:nvPr/>
        </p:nvSpPr>
        <p:spPr>
          <a:xfrm>
            <a:off x="6568135"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دقائق: أقصاها نحو ٧ دقائق ونصف</a:t>
            </a:r>
            <a:endParaRPr lang="ar-EG" sz="1500" dirty="0"/>
          </a:p>
        </p:txBody>
      </p:sp>
      <p:sp>
        <p:nvSpPr>
          <p:cNvPr id="16" name="Text 14"/>
          <p:cNvSpPr txBox="1"/>
          <p:nvPr/>
        </p:nvSpPr>
        <p:spPr>
          <a:xfrm>
            <a:off x="9951415"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السلامة</a:t>
            </a:r>
            <a:endParaRPr lang="ar-EG" sz="1500" dirty="0"/>
          </a:p>
        </p:txBody>
      </p:sp>
      <p:sp>
        <p:nvSpPr>
          <p:cNvPr id="17" name="Text 15"/>
          <p:cNvSpPr txBox="1"/>
          <p:nvPr/>
        </p:nvSpPr>
        <p:spPr>
          <a:xfrm>
            <a:off x="6568135"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لا يُنظر إليه إلا بنظارة معتمدة، إلا لحظة الكلية</a:t>
            </a:r>
            <a:endParaRPr lang="ar-EG" sz="1500" dirty="0"/>
          </a:p>
        </p:txBody>
      </p:sp>
      <p:sp>
        <p:nvSpPr>
          <p:cNvPr id="18" name="compare-1"/>
          <p:cNvSpPr/>
          <p:nvPr/>
        </p:nvSpPr>
        <p:spPr>
          <a:xfrm>
            <a:off x="548640" y="1371600"/>
            <a:ext cx="5349240" cy="4617720"/>
          </a:xfrm>
          <a:prstGeom prst="roundRect">
            <a:avLst>
              <a:gd name="adj" fmla="val 237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9" name="compare-icon-1"/>
          <p:cNvSpPr/>
          <p:nvPr/>
        </p:nvSpPr>
        <p:spPr>
          <a:xfrm>
            <a:off x="5029200" y="1627632"/>
            <a:ext cx="548640" cy="548640"/>
          </a:xfrm>
          <a:prstGeom prst="ellipse">
            <a:avLst/>
          </a:prstGeom>
          <a:solidFill>
            <a:srgbClr val="8E3B2A"/>
          </a:solidFill>
          <a:ln w="31750">
            <a:solidFill>
              <a:srgbClr val="1D4E89"/>
            </a:solidFill>
            <a:prstDash val="solid"/>
          </a:ln>
        </p:spPr>
      </p:sp>
      <p:sp>
        <p:nvSpPr>
          <p:cNvPr id="20" name="Text 18"/>
          <p:cNvSpPr txBox="1"/>
          <p:nvPr/>
        </p:nvSpPr>
        <p:spPr>
          <a:xfrm>
            <a:off x="822960" y="1536192"/>
            <a:ext cx="4069080" cy="457200"/>
          </a:xfrm>
          <a:prstGeom prst="rect">
            <a:avLst/>
          </a:prstGeom>
          <a:noFill/>
          <a:ln/>
        </p:spPr>
        <p:txBody>
          <a:bodyPr wrap="square" lIns="0" tIns="0" rIns="0" bIns="0" rtlCol="0" anchor="ctr"/>
          <a:lstStyle/>
          <a:p>
            <a:pPr rtl="1" algn="r" indent="0" marL="0">
              <a:buNone/>
            </a:pPr>
            <a:r>
              <a:rPr lang="ar-EG" altLang="en-US" sz="2400" b="1" dirty="0">
                <a:solidFill>
                  <a:srgbClr val="1D4E89"/>
                </a:solidFill>
              </a:rPr>
              <a:t>خسوف القمر</a:t>
            </a:r>
            <a:endParaRPr lang="ar-EG" sz="2400" dirty="0"/>
          </a:p>
        </p:txBody>
      </p:sp>
      <p:sp>
        <p:nvSpPr>
          <p:cNvPr id="21" name="Text 19"/>
          <p:cNvSpPr txBox="1"/>
          <p:nvPr/>
        </p:nvSpPr>
        <p:spPr>
          <a:xfrm>
            <a:off x="822960" y="1975104"/>
            <a:ext cx="4069080" cy="274320"/>
          </a:xfrm>
          <a:prstGeom prst="rect">
            <a:avLst/>
          </a:prstGeom>
          <a:noFill/>
          <a:ln/>
        </p:spPr>
        <p:txBody>
          <a:bodyPr wrap="square" lIns="0" tIns="0" rIns="0" bIns="0" rtlCol="0" anchor="ctr"/>
          <a:lstStyle/>
          <a:p>
            <a:pPr algn="r" indent="0" marL="0">
              <a:buNone/>
            </a:pPr>
            <a:r>
              <a:rPr lang="en-US" altLang="en-US" sz="1300" i="1" dirty="0">
                <a:solidFill>
                  <a:srgbClr val="8A8984"/>
                </a:solidFill>
              </a:rPr>
              <a:t>Lunar eclipse</a:t>
            </a:r>
            <a:endParaRPr lang="en-US" sz="1300" dirty="0"/>
          </a:p>
        </p:txBody>
      </p:sp>
      <p:sp>
        <p:nvSpPr>
          <p:cNvPr id="22" name="Text 20"/>
          <p:cNvSpPr txBox="1"/>
          <p:nvPr/>
        </p:nvSpPr>
        <p:spPr>
          <a:xfrm>
            <a:off x="4206240" y="2377440"/>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الترتيب</a:t>
            </a:r>
            <a:endParaRPr lang="ar-EG" sz="1500" dirty="0"/>
          </a:p>
        </p:txBody>
      </p:sp>
      <p:sp>
        <p:nvSpPr>
          <p:cNvPr id="23" name="Text 21"/>
          <p:cNvSpPr txBox="1"/>
          <p:nvPr/>
        </p:nvSpPr>
        <p:spPr>
          <a:xfrm>
            <a:off x="822960" y="2377440"/>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الشمس ← الأرض ← القمر</a:t>
            </a:r>
            <a:endParaRPr lang="ar-EG" sz="1500" dirty="0"/>
          </a:p>
        </p:txBody>
      </p:sp>
      <p:sp>
        <p:nvSpPr>
          <p:cNvPr id="24" name="Text 22"/>
          <p:cNvSpPr txBox="1"/>
          <p:nvPr/>
        </p:nvSpPr>
        <p:spPr>
          <a:xfrm>
            <a:off x="4206240" y="3090672"/>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متى؟</a:t>
            </a:r>
            <a:endParaRPr lang="ar-EG" sz="1500" dirty="0"/>
          </a:p>
        </p:txBody>
      </p:sp>
      <p:sp>
        <p:nvSpPr>
          <p:cNvPr id="25" name="Text 23"/>
          <p:cNvSpPr txBox="1"/>
          <p:nvPr/>
        </p:nvSpPr>
        <p:spPr>
          <a:xfrm>
            <a:off x="822960" y="3090672"/>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عند البدر: منتصف الشهر القمري (١٤ أو ١٥)</a:t>
            </a:r>
            <a:endParaRPr lang="ar-EG" sz="1500" dirty="0"/>
          </a:p>
        </p:txBody>
      </p:sp>
      <p:sp>
        <p:nvSpPr>
          <p:cNvPr id="26" name="Text 24"/>
          <p:cNvSpPr txBox="1"/>
          <p:nvPr/>
        </p:nvSpPr>
        <p:spPr>
          <a:xfrm>
            <a:off x="4206240" y="3803904"/>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من يراه؟</a:t>
            </a:r>
            <a:endParaRPr lang="ar-EG" sz="1500" dirty="0"/>
          </a:p>
        </p:txBody>
      </p:sp>
      <p:sp>
        <p:nvSpPr>
          <p:cNvPr id="27" name="Text 25"/>
          <p:cNvSpPr txBox="1"/>
          <p:nvPr/>
        </p:nvSpPr>
        <p:spPr>
          <a:xfrm>
            <a:off x="822960" y="3803904"/>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كل من كان القمر فوق أفقه: نصف الكرة الأرضية</a:t>
            </a:r>
            <a:endParaRPr lang="ar-EG" sz="1500" dirty="0"/>
          </a:p>
        </p:txBody>
      </p:sp>
      <p:sp>
        <p:nvSpPr>
          <p:cNvPr id="28" name="Text 26"/>
          <p:cNvSpPr txBox="1"/>
          <p:nvPr/>
        </p:nvSpPr>
        <p:spPr>
          <a:xfrm>
            <a:off x="4206240" y="4517136"/>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مدة الكلية</a:t>
            </a:r>
            <a:endParaRPr lang="ar-EG" sz="1500" dirty="0"/>
          </a:p>
        </p:txBody>
      </p:sp>
      <p:sp>
        <p:nvSpPr>
          <p:cNvPr id="29" name="Text 27"/>
          <p:cNvSpPr txBox="1"/>
          <p:nvPr/>
        </p:nvSpPr>
        <p:spPr>
          <a:xfrm>
            <a:off x="822960" y="4517136"/>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قد تبلغ ساعة وأربعين دقيقة</a:t>
            </a:r>
            <a:endParaRPr lang="ar-EG" sz="1500" dirty="0"/>
          </a:p>
        </p:txBody>
      </p:sp>
      <p:sp>
        <p:nvSpPr>
          <p:cNvPr id="30" name="Text 28"/>
          <p:cNvSpPr txBox="1"/>
          <p:nvPr/>
        </p:nvSpPr>
        <p:spPr>
          <a:xfrm>
            <a:off x="4206240" y="5230368"/>
            <a:ext cx="1417320" cy="594360"/>
          </a:xfrm>
          <a:prstGeom prst="rect">
            <a:avLst/>
          </a:prstGeom>
          <a:noFill/>
          <a:ln/>
        </p:spPr>
        <p:txBody>
          <a:bodyPr wrap="square" lIns="0" tIns="0" rIns="0" bIns="0" rtlCol="0" anchor="t"/>
          <a:lstStyle/>
          <a:p>
            <a:pPr rtl="1" algn="r" indent="0" marL="0">
              <a:buNone/>
            </a:pPr>
            <a:r>
              <a:rPr lang="ar-EG" altLang="en-US" sz="1500" b="1" dirty="0">
                <a:solidFill>
                  <a:srgbClr val="0F1B2D"/>
                </a:solidFill>
              </a:rPr>
              <a:t>السلامة</a:t>
            </a:r>
            <a:endParaRPr lang="ar-EG" sz="1500" dirty="0"/>
          </a:p>
        </p:txBody>
      </p:sp>
      <p:sp>
        <p:nvSpPr>
          <p:cNvPr id="31" name="Text 29"/>
          <p:cNvSpPr txBox="1"/>
          <p:nvPr/>
        </p:nvSpPr>
        <p:spPr>
          <a:xfrm>
            <a:off x="822960" y="5230368"/>
            <a:ext cx="3246120" cy="640080"/>
          </a:xfrm>
          <a:prstGeom prst="rect">
            <a:avLst/>
          </a:prstGeom>
          <a:noFill/>
          <a:ln/>
        </p:spPr>
        <p:txBody>
          <a:bodyPr wrap="square" lIns="0" tIns="0" rIns="0" bIns="0" rtlCol="0" anchor="t"/>
          <a:lstStyle/>
          <a:p>
            <a:pPr rtl="1" algn="r" indent="0" marL="0">
              <a:buNone/>
            </a:pPr>
            <a:r>
              <a:rPr lang="ar-EG" altLang="en-US" sz="1500" dirty="0">
                <a:solidFill>
                  <a:srgbClr val="1F1F1D"/>
                </a:solidFill>
              </a:rPr>
              <a:t>آمن تمامًا بالعين المجردة، ويحمرّ القمر</a:t>
            </a:r>
            <a:endParaRPr lang="ar-EG"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لماذا لا يحدث الكسوف كل شهر؟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Why not every month? Orbital inclination, lunar nodes and eclipse seasons</a:t>
            </a:r>
            <a:endParaRPr lang="en-US" sz="1400" dirty="0"/>
          </a:p>
        </p:txBody>
      </p:sp>
      <p:pic>
        <p:nvPicPr>
          <p:cNvPr id="4" name="inclination" descr="inclination">    </p:cNvPr>
          <p:cNvPicPr>
            <a:picLocks noChangeAspect="1"/>
          </p:cNvPicPr>
          <p:nvPr/>
        </p:nvPicPr>
        <p:blipFill>
          <a:blip r:embed="rId1"/>
          <a:stretch>
            <a:fillRect/>
          </a:stretch>
        </p:blipFill>
        <p:spPr>
          <a:xfrm>
            <a:off x="548640" y="1943745"/>
            <a:ext cx="5897880" cy="3427709"/>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ميل المدار ٥° (Inclination): </a:t>
            </a:r>
            <a:pPr rtl="1" algn="r" indent="0" marL="0">
              <a:buNone/>
            </a:pPr>
            <a:r>
              <a:rPr lang="ar-EG" altLang="en-US" sz="1600" dirty="0">
                <a:solidFill>
                  <a:srgbClr val="1F1F1D"/>
                </a:solidFill>
              </a:rPr>
              <a:t>مدار القمر مائل نحو خمس درجات على مدار الأرض، فيمر القمر في أغلب الشهور فوق الشمس أو تحتها</a:t>
            </a:r>
            <a:endParaRPr lang="ar-EG" sz="1600" dirty="0"/>
          </a:p>
          <a:p>
            <a:pPr rtl="1" algn="r" marL="228600" indent="-228600">
              <a:spcAft>
                <a:spcPts val="800"/>
              </a:spcAft>
              <a:buSzPct val="100000"/>
              <a:buChar char="•"/>
            </a:pPr>
            <a:r>
              <a:rPr lang="ar-EG" altLang="en-US" sz="1600" b="1" dirty="0">
                <a:solidFill>
                  <a:srgbClr val="1F1F1D"/>
                </a:solidFill>
              </a:rPr>
              <a:t>العقدتان (Lunar nodes): </a:t>
            </a:r>
            <a:pPr rtl="1" algn="r" indent="0" marL="0">
              <a:buNone/>
            </a:pPr>
            <a:r>
              <a:rPr lang="ar-EG" altLang="en-US" sz="1600" dirty="0">
                <a:solidFill>
                  <a:srgbClr val="1F1F1D"/>
                </a:solidFill>
              </a:rPr>
              <a:t>لا يقع الكسوف إلا إذا وافق المحاقُ وجودَ القمر قرب إحدى نقطتي تقاطع المدارين</a:t>
            </a:r>
            <a:endParaRPr lang="ar-EG" sz="1600" dirty="0"/>
          </a:p>
          <a:p>
            <a:pPr rtl="1" algn="r" marL="228600" indent="-228600">
              <a:spcAft>
                <a:spcPts val="800"/>
              </a:spcAft>
              <a:buSzPct val="100000"/>
              <a:buChar char="•"/>
            </a:pPr>
            <a:r>
              <a:rPr lang="ar-EG" altLang="en-US" sz="1600" b="1" dirty="0">
                <a:solidFill>
                  <a:srgbClr val="1F1F1D"/>
                </a:solidFill>
              </a:rPr>
              <a:t>موسما الكسوف (Eclipse seasons): </a:t>
            </a:r>
            <a:pPr rtl="1" algn="r" indent="0" marL="0">
              <a:buNone/>
            </a:pPr>
            <a:r>
              <a:rPr lang="ar-EG" altLang="en-US" sz="1600" dirty="0">
                <a:solidFill>
                  <a:srgbClr val="1F1F1D"/>
                </a:solidFill>
              </a:rPr>
              <a:t>مرتان كل عام تقريبًا؛ في ٢٠٢٧ موسم فبراير (كسوف حلقي) وموسم يوليو–أغسطس (كسوفنا الكلي)</a:t>
            </a:r>
            <a:endParaRPr lang="ar-EG" sz="1600" dirty="0"/>
          </a:p>
          <a:p>
            <a:pPr rtl="1" algn="r" marL="228600" indent="-228600">
              <a:spcAft>
                <a:spcPts val="800"/>
              </a:spcAft>
              <a:buSzPct val="100000"/>
              <a:buChar char="•"/>
            </a:pPr>
            <a:r>
              <a:rPr lang="ar-EG" altLang="en-US" sz="1600" b="1" dirty="0">
                <a:solidFill>
                  <a:srgbClr val="1F1F1D"/>
                </a:solidFill>
              </a:rPr>
              <a:t>في السنة: </a:t>
            </a:r>
            <a:pPr rtl="1" algn="r" indent="0" marL="0">
              <a:buNone/>
            </a:pPr>
            <a:r>
              <a:rPr lang="ar-EG" altLang="en-US" sz="1600" dirty="0">
                <a:solidFill>
                  <a:srgbClr val="1F1F1D"/>
                </a:solidFill>
              </a:rPr>
              <a:t>كسوفان للشمس على الأقل وخمسة على الأكثر، ومجموع الكسوفات والخسوفات لا يزيد على سبعة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٧-١ من الكتاب: ميل مدار القمر وعقدتاه</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مراحل الكسوف الكلي: التماسات الأربعة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Phases of a total eclipse: the four contacts (C1–C4)</a:t>
            </a:r>
            <a:endParaRPr lang="en-US" sz="1400" dirty="0"/>
          </a:p>
        </p:txBody>
      </p:sp>
      <p:pic>
        <p:nvPicPr>
          <p:cNvPr id="4" name="contacts" descr="contacts">    </p:cNvPr>
          <p:cNvPicPr>
            <a:picLocks noChangeAspect="1"/>
          </p:cNvPicPr>
          <p:nvPr/>
        </p:nvPicPr>
        <p:blipFill>
          <a:blip r:embed="rId1"/>
          <a:stretch>
            <a:fillRect/>
          </a:stretch>
        </p:blipFill>
        <p:spPr>
          <a:xfrm>
            <a:off x="548640" y="2217823"/>
            <a:ext cx="5897880" cy="2879553"/>
          </a:xfrm>
          <a:prstGeom prst="rect">
            <a:avLst/>
          </a:prstGeom>
        </p:spPr>
      </p:pic>
      <p:sp>
        <p:nvSpPr>
          <p:cNvPr id="5" name="Text 2"/>
          <p:cNvSpPr txBox="1"/>
          <p:nvPr/>
        </p:nvSpPr>
        <p:spPr>
          <a:xfrm>
            <a:off x="6766560" y="1325880"/>
            <a:ext cx="487649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rPr>
              <a:t>مثال: الأقصر يوم ٢ أغسطس ٢٠٢٧</a:t>
            </a:r>
            <a:endParaRPr lang="ar-EG" sz="2000" dirty="0"/>
          </a:p>
        </p:txBody>
      </p:sp>
      <p:sp>
        <p:nvSpPr>
          <p:cNvPr id="6" name="Text 3"/>
          <p:cNvSpPr txBox="1"/>
          <p:nvPr/>
        </p:nvSpPr>
        <p:spPr>
          <a:xfrm>
            <a:off x="6766560" y="2194560"/>
            <a:ext cx="487649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التماس الأول C1 — First contact (١١:٤٠:٠٧): </a:t>
            </a:r>
            <a:pPr rtl="1" algn="r" indent="0" marL="0">
              <a:buNone/>
            </a:pPr>
            <a:r>
              <a:rPr lang="ar-EG" altLang="en-US" sz="1500" dirty="0">
                <a:solidFill>
                  <a:srgbClr val="1F1F1D"/>
                </a:solidFill>
              </a:rPr>
              <a:t>القمر يلمس حافة الشمس — يبدأ الجزئي</a:t>
            </a:r>
            <a:endParaRPr lang="ar-EG" sz="1500" dirty="0"/>
          </a:p>
          <a:p>
            <a:pPr rtl="1" algn="r" marL="228600" indent="-228600">
              <a:spcAft>
                <a:spcPts val="800"/>
              </a:spcAft>
              <a:buSzPct val="100000"/>
              <a:buChar char="•"/>
            </a:pPr>
            <a:r>
              <a:rPr lang="ar-EG" altLang="en-US" sz="1500" b="1" dirty="0">
                <a:solidFill>
                  <a:srgbClr val="1F1F1D"/>
                </a:solidFill>
              </a:rPr>
              <a:t>التماس الثاني C2 — Second contact (١٣:٠١:٥٨): </a:t>
            </a:r>
            <a:pPr rtl="1" algn="r" indent="0" marL="0">
              <a:buNone/>
            </a:pPr>
            <a:r>
              <a:rPr lang="ar-EG" altLang="en-US" sz="1500" dirty="0">
                <a:solidFill>
                  <a:srgbClr val="1F1F1D"/>
                </a:solidFill>
              </a:rPr>
              <a:t>يكتمل الحجب — تبدأ الكلية وتُنزع النظارة</a:t>
            </a:r>
            <a:endParaRPr lang="ar-EG" sz="1500" dirty="0"/>
          </a:p>
          <a:p>
            <a:pPr rtl="1" algn="r" marL="228600" indent="-228600">
              <a:spcAft>
                <a:spcPts val="800"/>
              </a:spcAft>
              <a:buSzPct val="100000"/>
              <a:buChar char="•"/>
            </a:pPr>
            <a:r>
              <a:rPr lang="ar-EG" altLang="en-US" sz="1500" b="1" dirty="0">
                <a:solidFill>
                  <a:srgbClr val="1F1F1D"/>
                </a:solidFill>
              </a:rPr>
              <a:t>الذروة — Maximum (١٣:٠٥:٠٨): </a:t>
            </a:r>
            <a:pPr rtl="1" algn="r" indent="0" marL="0">
              <a:buNone/>
            </a:pPr>
            <a:r>
              <a:rPr lang="ar-EG" altLang="en-US" sz="1500" dirty="0">
                <a:solidFill>
                  <a:srgbClr val="1F1F1D"/>
                </a:solidFill>
              </a:rPr>
              <a:t>منتصف الكلية والشمس على ارتفاع ٨٢° تقريبًا</a:t>
            </a:r>
            <a:endParaRPr lang="ar-EG" sz="1500" dirty="0"/>
          </a:p>
          <a:p>
            <a:pPr rtl="1" algn="r" marL="228600" indent="-228600">
              <a:spcAft>
                <a:spcPts val="800"/>
              </a:spcAft>
              <a:buSzPct val="100000"/>
              <a:buChar char="•"/>
            </a:pPr>
            <a:r>
              <a:rPr lang="ar-EG" altLang="en-US" sz="1500" b="1" dirty="0">
                <a:solidFill>
                  <a:srgbClr val="1F1F1D"/>
                </a:solidFill>
              </a:rPr>
              <a:t>التماس الثالث C3 — Third contact (١٣:٠٨:١٨): </a:t>
            </a:r>
            <a:pPr rtl="1" algn="r" indent="0" marL="0">
              <a:buNone/>
            </a:pPr>
            <a:r>
              <a:rPr lang="ar-EG" altLang="en-US" sz="1500" dirty="0">
                <a:solidFill>
                  <a:srgbClr val="1F1F1D"/>
                </a:solidFill>
              </a:rPr>
              <a:t>يعود أول شعاع — تُلبس النظارة فورًا</a:t>
            </a:r>
            <a:endParaRPr lang="ar-EG" sz="1500" dirty="0"/>
          </a:p>
          <a:p>
            <a:pPr rtl="1" algn="r" marL="228600" indent="-228600">
              <a:spcAft>
                <a:spcPts val="800"/>
              </a:spcAft>
              <a:buSzPct val="100000"/>
              <a:buChar char="•"/>
            </a:pPr>
            <a:r>
              <a:rPr lang="ar-EG" altLang="en-US" sz="1500" b="1" dirty="0">
                <a:solidFill>
                  <a:srgbClr val="1F1F1D"/>
                </a:solidFill>
              </a:rPr>
              <a:t>التماس الرابع C4 — Fourth contact (١٤:٢٦:٢٥): </a:t>
            </a:r>
            <a:pPr rtl="1" algn="r" indent="0" marL="0">
              <a:buNone/>
            </a:pPr>
            <a:r>
              <a:rPr lang="ar-EG" altLang="en-US" sz="1500" dirty="0">
                <a:solidFill>
                  <a:srgbClr val="1F1F1D"/>
                </a:solidFill>
              </a:rPr>
              <a:t>ينفصل القرصان وينتهي الكسوف</a:t>
            </a:r>
            <a:endParaRPr lang="ar-EG" sz="1500" dirty="0"/>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١٠-١ من الكتاب؛ الأوقات بتوقيت مصر الصيفي (ت.ع +٣)</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ما سيراه الزوار خلال الكلية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What visitors will see during totality</a:t>
            </a:r>
            <a:endParaRPr lang="en-US" sz="1400" dirty="0"/>
          </a:p>
        </p:txBody>
      </p:sp>
      <p:sp>
        <p:nvSpPr>
          <p:cNvPr id="4" name="photo-card-0"/>
          <p:cNvSpPr/>
          <p:nvPr/>
        </p:nvSpPr>
        <p:spPr>
          <a:xfrm>
            <a:off x="9037015" y="1371600"/>
            <a:ext cx="2606040" cy="4389120"/>
          </a:xfrm>
          <a:prstGeom prst="rect">
            <a:avLst/>
          </a:prstGeom>
          <a:solidFill>
            <a:srgbClr val="1A2A44"/>
          </a:solidFill>
          <a:ln w="9525">
            <a:solidFill>
              <a:srgbClr val="24385A"/>
            </a:solidFill>
            <a:prstDash val="solid"/>
          </a:ln>
        </p:spPr>
      </p:sp>
      <p:pic>
        <p:nvPicPr>
          <p:cNvPr id="5" name="photo-diamond" descr="الخاتم الماسي (Diamond ring)">    </p:cNvPr>
          <p:cNvPicPr>
            <a:picLocks noChangeAspect="1"/>
          </p:cNvPicPr>
          <p:nvPr/>
        </p:nvPicPr>
        <p:blipFill>
          <a:blip r:embed="rId1"/>
          <a:srcRect l="23176" r="23176" t="0" b="0"/>
          <a:stretch/>
        </p:blipFill>
        <p:spPr>
          <a:xfrm>
            <a:off x="9037015" y="1371600"/>
            <a:ext cx="2606040" cy="3291840"/>
          </a:xfrm>
          <a:prstGeom prst="rect">
            <a:avLst/>
          </a:prstGeom>
        </p:spPr>
      </p:pic>
      <p:sp>
        <p:nvSpPr>
          <p:cNvPr id="6" name="Text 3"/>
          <p:cNvSpPr txBox="1"/>
          <p:nvPr/>
        </p:nvSpPr>
        <p:spPr>
          <a:xfrm>
            <a:off x="917417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rPr>
              <a:t>الخاتم الماسي</a:t>
            </a:r>
            <a:endParaRPr lang="ar-EG" sz="1700" dirty="0"/>
          </a:p>
        </p:txBody>
      </p:sp>
      <p:sp>
        <p:nvSpPr>
          <p:cNvPr id="7" name="Text 4"/>
          <p:cNvSpPr txBox="1"/>
          <p:nvPr/>
        </p:nvSpPr>
        <p:spPr>
          <a:xfrm>
            <a:off x="917417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rPr>
              <a:t>Diamond ring</a:t>
            </a:r>
            <a:endParaRPr lang="en-US" sz="1200" dirty="0"/>
          </a:p>
        </p:txBody>
      </p:sp>
      <p:sp>
        <p:nvSpPr>
          <p:cNvPr id="8" name="Text 5"/>
          <p:cNvSpPr txBox="1"/>
          <p:nvPr/>
        </p:nvSpPr>
        <p:spPr>
          <a:xfrm>
            <a:off x="917417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rPr>
              <a:t>لحظة قبل الكلية وبعدها مباشرة</a:t>
            </a:r>
            <a:endParaRPr lang="ar-EG" sz="1200" dirty="0"/>
          </a:p>
        </p:txBody>
      </p:sp>
      <p:sp>
        <p:nvSpPr>
          <p:cNvPr id="9" name="photo-card-1"/>
          <p:cNvSpPr/>
          <p:nvPr/>
        </p:nvSpPr>
        <p:spPr>
          <a:xfrm>
            <a:off x="6248095" y="1371600"/>
            <a:ext cx="2606040" cy="4389120"/>
          </a:xfrm>
          <a:prstGeom prst="rect">
            <a:avLst/>
          </a:prstGeom>
          <a:solidFill>
            <a:srgbClr val="1A2A44"/>
          </a:solidFill>
          <a:ln w="9525">
            <a:solidFill>
              <a:srgbClr val="24385A"/>
            </a:solidFill>
            <a:prstDash val="solid"/>
          </a:ln>
        </p:spPr>
      </p:sp>
      <p:pic>
        <p:nvPicPr>
          <p:cNvPr id="10" name="photo-beads" descr="حبات بيلي (Baily's beads)">    </p:cNvPr>
          <p:cNvPicPr>
            <a:picLocks noChangeAspect="1"/>
          </p:cNvPicPr>
          <p:nvPr/>
        </p:nvPicPr>
        <p:blipFill>
          <a:blip r:embed="rId2"/>
          <a:srcRect l="24317" r="24317" t="0" b="0"/>
          <a:stretch/>
        </p:blipFill>
        <p:spPr>
          <a:xfrm>
            <a:off x="6248095" y="1371600"/>
            <a:ext cx="2606040" cy="3291840"/>
          </a:xfrm>
          <a:prstGeom prst="rect">
            <a:avLst/>
          </a:prstGeom>
        </p:spPr>
      </p:pic>
      <p:sp>
        <p:nvSpPr>
          <p:cNvPr id="11" name="Text 7"/>
          <p:cNvSpPr txBox="1"/>
          <p:nvPr/>
        </p:nvSpPr>
        <p:spPr>
          <a:xfrm>
            <a:off x="638525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rPr>
              <a:t>حبات بيلي</a:t>
            </a:r>
            <a:endParaRPr lang="ar-EG" sz="1700" dirty="0"/>
          </a:p>
        </p:txBody>
      </p:sp>
      <p:sp>
        <p:nvSpPr>
          <p:cNvPr id="12" name="Text 8"/>
          <p:cNvSpPr txBox="1"/>
          <p:nvPr/>
        </p:nvSpPr>
        <p:spPr>
          <a:xfrm>
            <a:off x="638525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rPr>
              <a:t>Baily's beads</a:t>
            </a:r>
            <a:endParaRPr lang="en-US" sz="1200" dirty="0"/>
          </a:p>
        </p:txBody>
      </p:sp>
      <p:sp>
        <p:nvSpPr>
          <p:cNvPr id="13" name="Text 9"/>
          <p:cNvSpPr txBox="1"/>
          <p:nvPr/>
        </p:nvSpPr>
        <p:spPr>
          <a:xfrm>
            <a:off x="638525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rPr>
              <a:t>ضوء الشمس عبر وديان حافة القمر</a:t>
            </a:r>
            <a:endParaRPr lang="ar-EG" sz="1200" dirty="0"/>
          </a:p>
        </p:txBody>
      </p:sp>
      <p:sp>
        <p:nvSpPr>
          <p:cNvPr id="14" name="photo-card-2"/>
          <p:cNvSpPr/>
          <p:nvPr/>
        </p:nvSpPr>
        <p:spPr>
          <a:xfrm>
            <a:off x="3459175" y="1371600"/>
            <a:ext cx="2606040" cy="4389120"/>
          </a:xfrm>
          <a:prstGeom prst="rect">
            <a:avLst/>
          </a:prstGeom>
          <a:solidFill>
            <a:srgbClr val="1A2A44"/>
          </a:solidFill>
          <a:ln w="9525">
            <a:solidFill>
              <a:srgbClr val="24385A"/>
            </a:solidFill>
            <a:prstDash val="solid"/>
          </a:ln>
        </p:spPr>
      </p:sp>
      <p:pic>
        <p:nvPicPr>
          <p:cNvPr id="15" name="photo-corona" descr="الهالة (Corona)">    </p:cNvPr>
          <p:cNvPicPr>
            <a:picLocks noChangeAspect="1"/>
          </p:cNvPicPr>
          <p:nvPr/>
        </p:nvPicPr>
        <p:blipFill>
          <a:blip r:embed="rId3"/>
          <a:srcRect l="18613" r="18613" t="0" b="0"/>
          <a:stretch/>
        </p:blipFill>
        <p:spPr>
          <a:xfrm>
            <a:off x="3459175" y="1371600"/>
            <a:ext cx="2606040" cy="3291840"/>
          </a:xfrm>
          <a:prstGeom prst="rect">
            <a:avLst/>
          </a:prstGeom>
        </p:spPr>
      </p:pic>
      <p:sp>
        <p:nvSpPr>
          <p:cNvPr id="16" name="Text 11"/>
          <p:cNvSpPr txBox="1"/>
          <p:nvPr/>
        </p:nvSpPr>
        <p:spPr>
          <a:xfrm>
            <a:off x="359633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rPr>
              <a:t>الهالة</a:t>
            </a:r>
            <a:endParaRPr lang="ar-EG" sz="1700" dirty="0"/>
          </a:p>
        </p:txBody>
      </p:sp>
      <p:sp>
        <p:nvSpPr>
          <p:cNvPr id="17" name="Text 12"/>
          <p:cNvSpPr txBox="1"/>
          <p:nvPr/>
        </p:nvSpPr>
        <p:spPr>
          <a:xfrm>
            <a:off x="359633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rPr>
              <a:t>Corona</a:t>
            </a:r>
            <a:endParaRPr lang="en-US" sz="1200" dirty="0"/>
          </a:p>
        </p:txBody>
      </p:sp>
      <p:sp>
        <p:nvSpPr>
          <p:cNvPr id="18" name="Text 13"/>
          <p:cNvSpPr txBox="1"/>
          <p:nvPr/>
        </p:nvSpPr>
        <p:spPr>
          <a:xfrm>
            <a:off x="359633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rPr>
              <a:t>الغلاف الخارجي للشمس، لا يُرى إلا في الكلية</a:t>
            </a:r>
            <a:endParaRPr lang="ar-EG" sz="1200" dirty="0"/>
          </a:p>
        </p:txBody>
      </p:sp>
      <p:sp>
        <p:nvSpPr>
          <p:cNvPr id="19" name="photo-card-3"/>
          <p:cNvSpPr/>
          <p:nvPr/>
        </p:nvSpPr>
        <p:spPr>
          <a:xfrm>
            <a:off x="670255" y="1371600"/>
            <a:ext cx="2606040" cy="4389120"/>
          </a:xfrm>
          <a:prstGeom prst="rect">
            <a:avLst/>
          </a:prstGeom>
          <a:solidFill>
            <a:srgbClr val="1A2A44"/>
          </a:solidFill>
          <a:ln w="9525">
            <a:solidFill>
              <a:srgbClr val="24385A"/>
            </a:solidFill>
            <a:prstDash val="solid"/>
          </a:ln>
        </p:spPr>
      </p:sp>
      <p:pic>
        <p:nvPicPr>
          <p:cNvPr id="20" name="photo-prom" descr="الشواظ (Prominences)">    </p:cNvPr>
          <p:cNvPicPr>
            <a:picLocks noChangeAspect="1"/>
          </p:cNvPicPr>
          <p:nvPr/>
        </p:nvPicPr>
        <p:blipFill>
          <a:blip r:embed="rId4"/>
          <a:srcRect l="17284" r="17284" t="0" b="0"/>
          <a:stretch/>
        </p:blipFill>
        <p:spPr>
          <a:xfrm>
            <a:off x="670255" y="1371600"/>
            <a:ext cx="2606040" cy="3291840"/>
          </a:xfrm>
          <a:prstGeom prst="rect">
            <a:avLst/>
          </a:prstGeom>
        </p:spPr>
      </p:pic>
      <p:sp>
        <p:nvSpPr>
          <p:cNvPr id="21" name="Text 15"/>
          <p:cNvSpPr txBox="1"/>
          <p:nvPr/>
        </p:nvSpPr>
        <p:spPr>
          <a:xfrm>
            <a:off x="807415" y="4718304"/>
            <a:ext cx="2331720" cy="347472"/>
          </a:xfrm>
          <a:prstGeom prst="rect">
            <a:avLst/>
          </a:prstGeom>
          <a:noFill/>
          <a:ln/>
        </p:spPr>
        <p:txBody>
          <a:bodyPr wrap="square" lIns="0" tIns="0" rIns="0" bIns="0" rtlCol="0" anchor="ctr"/>
          <a:lstStyle/>
          <a:p>
            <a:pPr rtl="1" algn="r" indent="0" marL="0">
              <a:buNone/>
            </a:pPr>
            <a:r>
              <a:rPr lang="ar-EG" altLang="en-US" sz="1700" b="1" dirty="0">
                <a:solidFill>
                  <a:srgbClr val="F7B733"/>
                </a:solidFill>
              </a:rPr>
              <a:t>الشواظ</a:t>
            </a:r>
            <a:endParaRPr lang="ar-EG" sz="1700" dirty="0"/>
          </a:p>
        </p:txBody>
      </p:sp>
      <p:sp>
        <p:nvSpPr>
          <p:cNvPr id="22" name="Text 16"/>
          <p:cNvSpPr txBox="1"/>
          <p:nvPr/>
        </p:nvSpPr>
        <p:spPr>
          <a:xfrm>
            <a:off x="807415" y="5047488"/>
            <a:ext cx="2331720" cy="237744"/>
          </a:xfrm>
          <a:prstGeom prst="rect">
            <a:avLst/>
          </a:prstGeom>
          <a:noFill/>
          <a:ln/>
        </p:spPr>
        <p:txBody>
          <a:bodyPr wrap="square" lIns="0" tIns="0" rIns="0" bIns="0" rtlCol="0" anchor="ctr"/>
          <a:lstStyle/>
          <a:p>
            <a:pPr algn="r" indent="0" marL="0">
              <a:buNone/>
            </a:pPr>
            <a:r>
              <a:rPr lang="en-US" altLang="en-US" sz="1200" i="1" dirty="0">
                <a:solidFill>
                  <a:srgbClr val="C9D6EA"/>
                </a:solidFill>
              </a:rPr>
              <a:t>Prominences</a:t>
            </a:r>
            <a:endParaRPr lang="en-US" sz="1200" dirty="0"/>
          </a:p>
        </p:txBody>
      </p:sp>
      <p:sp>
        <p:nvSpPr>
          <p:cNvPr id="23" name="Text 17"/>
          <p:cNvSpPr txBox="1"/>
          <p:nvPr/>
        </p:nvSpPr>
        <p:spPr>
          <a:xfrm>
            <a:off x="807415" y="5303520"/>
            <a:ext cx="2331720" cy="438912"/>
          </a:xfrm>
          <a:prstGeom prst="rect">
            <a:avLst/>
          </a:prstGeom>
          <a:noFill/>
          <a:ln/>
        </p:spPr>
        <p:txBody>
          <a:bodyPr wrap="square" lIns="0" tIns="0" rIns="0" bIns="0" rtlCol="0" anchor="t"/>
          <a:lstStyle/>
          <a:p>
            <a:pPr rtl="1" algn="r" indent="0" marL="0">
              <a:buNone/>
            </a:pPr>
            <a:r>
              <a:rPr lang="ar-EG" altLang="en-US" sz="1200" dirty="0">
                <a:solidFill>
                  <a:srgbClr val="E8ECF3"/>
                </a:solidFill>
              </a:rPr>
              <a:t>ألسنة حمراء فوق الكروموسفير (Chromosphere) عند حافة القمر</a:t>
            </a:r>
            <a:endParaRPr lang="ar-EG" sz="1200" dirty="0"/>
          </a:p>
        </p:txBody>
      </p:sp>
      <p:sp>
        <p:nvSpPr>
          <p:cNvPr id="24" name="Text 18"/>
          <p:cNvSpPr txBox="1"/>
          <p:nvPr/>
        </p:nvSpPr>
        <p:spPr>
          <a:xfrm>
            <a:off x="548640" y="598932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rPr>
              <a:t>صور ناسا للاستخدام التعليمي: NASA/Aubrey Gemignani (الخاتم، الحبات، الهالة)، NASA/Keegan Barber (الشواظ)</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دورة ساروس: الكسوف يعود بعد ١٨ سنة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Saros cycle: eclipses repeat every 18 years</a:t>
            </a:r>
            <a:endParaRPr lang="en-US" sz="1400" dirty="0"/>
          </a:p>
        </p:txBody>
      </p:sp>
      <p:pic>
        <p:nvPicPr>
          <p:cNvPr id="4" name="saros" descr="saros">    </p:cNvPr>
          <p:cNvPicPr>
            <a:picLocks noChangeAspect="1"/>
          </p:cNvPicPr>
          <p:nvPr/>
        </p:nvPicPr>
        <p:blipFill>
          <a:blip r:embed="rId1"/>
          <a:stretch>
            <a:fillRect/>
          </a:stretch>
        </p:blipFill>
        <p:spPr>
          <a:xfrm>
            <a:off x="548640" y="1943745"/>
            <a:ext cx="5897880" cy="3427709"/>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٦٥٨٥٫٣ يومًا (Saros = 223 synodic months): </a:t>
            </a:r>
            <a:pPr rtl="1" algn="r" indent="0" marL="0">
              <a:buNone/>
            </a:pPr>
            <a:r>
              <a:rPr lang="ar-EG" altLang="en-US" sz="1600" dirty="0">
                <a:solidFill>
                  <a:srgbClr val="1F1F1D"/>
                </a:solidFill>
              </a:rPr>
              <a:t>١٨ سنة و١١ يومًا و٨ ساعات تقريبًا، تعود بعدها الشمس والقمر والعقدة إلى الوضع نفسه</a:t>
            </a:r>
            <a:endParaRPr lang="ar-EG" sz="1600" dirty="0"/>
          </a:p>
          <a:p>
            <a:pPr rtl="1" algn="r" marL="228600" indent="-228600">
              <a:spcAft>
                <a:spcPts val="800"/>
              </a:spcAft>
              <a:buSzPct val="100000"/>
              <a:buChar char="•"/>
            </a:pPr>
            <a:r>
              <a:rPr lang="ar-EG" altLang="en-US" sz="1600" b="1" dirty="0">
                <a:solidFill>
                  <a:srgbClr val="1F1F1D"/>
                </a:solidFill>
              </a:rPr>
              <a:t>الثلث يوم: </a:t>
            </a:r>
            <a:pPr rtl="1" algn="r" indent="0" marL="0">
              <a:buNone/>
            </a:pPr>
            <a:r>
              <a:rPr lang="ar-EG" altLang="en-US" sz="1600" dirty="0">
                <a:solidFill>
                  <a:srgbClr val="1F1F1D"/>
                </a:solidFill>
              </a:rPr>
              <a:t>بسبب الساعات الثماني يقع الكسوف التالي أبعد غربًا بنحو ١٢٠° طولًا</a:t>
            </a:r>
            <a:endParaRPr lang="ar-EG" sz="1600" dirty="0"/>
          </a:p>
          <a:p>
            <a:pPr rtl="1" algn="r" marL="228600" indent="-228600">
              <a:spcAft>
                <a:spcPts val="800"/>
              </a:spcAft>
              <a:buSzPct val="100000"/>
              <a:buChar char="•"/>
            </a:pPr>
            <a:r>
              <a:rPr lang="ar-EG" altLang="en-US" sz="1600" b="1" dirty="0">
                <a:solidFill>
                  <a:srgbClr val="1F1F1D"/>
                </a:solidFill>
              </a:rPr>
              <a:t>٥٤ سنة وشهر: </a:t>
            </a:r>
            <a:pPr rtl="1" algn="r" indent="0" marL="0">
              <a:buNone/>
            </a:pPr>
            <a:r>
              <a:rPr lang="ar-EG" altLang="en-US" sz="1600" dirty="0">
                <a:solidFill>
                  <a:srgbClr val="1F1F1D"/>
                </a:solidFill>
              </a:rPr>
              <a:t>بعد ثلاث دورات (Exeligmos) يعود الكسوف قريبًا من خط الطول نفسه</a:t>
            </a:r>
            <a:endParaRPr lang="ar-EG" sz="1600" dirty="0"/>
          </a:p>
          <a:p>
            <a:pPr rtl="1" algn="r" marL="228600" indent="-228600">
              <a:spcAft>
                <a:spcPts val="800"/>
              </a:spcAft>
              <a:buSzPct val="100000"/>
              <a:buChar char="•"/>
            </a:pPr>
            <a:r>
              <a:rPr lang="ar-EG" altLang="en-US" sz="1600" b="1" dirty="0">
                <a:solidFill>
                  <a:srgbClr val="1F1F1D"/>
                </a:solidFill>
              </a:rPr>
              <a:t>سلسلة ساروس ١٣٦ (Saros 136): </a:t>
            </a:r>
            <a:pPr rtl="1" algn="r" indent="0" marL="0">
              <a:buNone/>
            </a:pPr>
            <a:r>
              <a:rPr lang="ar-EG" altLang="en-US" sz="1600" dirty="0">
                <a:solidFill>
                  <a:srgbClr val="1F1F1D"/>
                </a:solidFill>
              </a:rPr>
              <a:t>كسوف ٢٠٢٧ من عائلة كسوف ٢٠ يونيو ١٩٥٥ أطول كسوف في القرن العشرين؛ والتالي ١٢ أغسطس ٢٠٤٥</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٢٢-١ من الكتاب: الأشهر الثلاثة المتوافقة في دورة ساروس</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كسوف الشمس في العالم بالأرقام (١٩٠١–٢٠٥٠)</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Solar eclipses worldwide in numbers, 1901–2050</a:t>
            </a:r>
            <a:endParaRPr lang="en-US" sz="1400" dirty="0"/>
          </a:p>
        </p:txBody>
      </p:sp>
      <p:graphicFrame>
        <p:nvGraphicFramePr>
          <p:cNvPr id="4" name="chart-eclipse-types" descr=""/>
          <p:cNvGraphicFramePr/>
          <p:nvPr/>
        </p:nvGraphicFramePr>
        <p:xfrm>
          <a:off x="548640" y="137160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5" name="stat-0"/>
          <p:cNvSpPr/>
          <p:nvPr/>
        </p:nvSpPr>
        <p:spPr>
          <a:xfrm>
            <a:off x="7223760" y="1417320"/>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6" name="Text 3"/>
          <p:cNvSpPr txBox="1"/>
          <p:nvPr/>
        </p:nvSpPr>
        <p:spPr>
          <a:xfrm>
            <a:off x="7406640" y="1527048"/>
            <a:ext cx="4053535" cy="685800"/>
          </a:xfrm>
          <a:prstGeom prst="rect">
            <a:avLst/>
          </a:prstGeom>
          <a:noFill/>
          <a:ln/>
        </p:spPr>
        <p:txBody>
          <a:bodyPr wrap="square" lIns="0" tIns="0" rIns="0" bIns="0" rtlCol="0" anchor="ctr"/>
          <a:lstStyle/>
          <a:p>
            <a:pPr rtl="1" algn="r" indent="0" marL="0">
              <a:buNone/>
            </a:pPr>
            <a:r>
              <a:rPr lang="ar-EG" altLang="en-US" sz="3000" b="1" dirty="0">
                <a:solidFill>
                  <a:srgbClr val="E88A2C"/>
                </a:solidFill>
              </a:rPr>
              <a:t>≈ ٢٫٢</a:t>
            </a:r>
            <a:endParaRPr lang="ar-EG" sz="3000" dirty="0"/>
          </a:p>
        </p:txBody>
      </p:sp>
      <p:sp>
        <p:nvSpPr>
          <p:cNvPr id="7" name="Text 4"/>
          <p:cNvSpPr txBox="1"/>
          <p:nvPr/>
        </p:nvSpPr>
        <p:spPr>
          <a:xfrm>
            <a:off x="7406640" y="2194560"/>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rPr>
              <a:t>كسوف للشمس كل سنة في المتوسط</a:t>
            </a:r>
            <a:endParaRPr lang="ar-EG" sz="1500" dirty="0"/>
          </a:p>
        </p:txBody>
      </p:sp>
      <p:sp>
        <p:nvSpPr>
          <p:cNvPr id="8" name="stat-1"/>
          <p:cNvSpPr/>
          <p:nvPr/>
        </p:nvSpPr>
        <p:spPr>
          <a:xfrm>
            <a:off x="7223760" y="2953512"/>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9" name="Text 6"/>
          <p:cNvSpPr txBox="1"/>
          <p:nvPr/>
        </p:nvSpPr>
        <p:spPr>
          <a:xfrm>
            <a:off x="7406640" y="3063240"/>
            <a:ext cx="4053535" cy="685800"/>
          </a:xfrm>
          <a:prstGeom prst="rect">
            <a:avLst/>
          </a:prstGeom>
          <a:noFill/>
          <a:ln/>
        </p:spPr>
        <p:txBody>
          <a:bodyPr wrap="square" lIns="0" tIns="0" rIns="0" bIns="0" rtlCol="0" anchor="ctr"/>
          <a:lstStyle/>
          <a:p>
            <a:pPr rtl="1" algn="r" indent="0" marL="0">
              <a:buNone/>
            </a:pPr>
            <a:r>
              <a:rPr lang="ar-EG" altLang="en-US" sz="3000" b="1" dirty="0">
                <a:solidFill>
                  <a:srgbClr val="E88A2C"/>
                </a:solidFill>
              </a:rPr>
              <a:t>كل ١٨ شهرًا</a:t>
            </a:r>
            <a:endParaRPr lang="ar-EG" sz="3000" dirty="0"/>
          </a:p>
        </p:txBody>
      </p:sp>
      <p:sp>
        <p:nvSpPr>
          <p:cNvPr id="10" name="Text 7"/>
          <p:cNvSpPr txBox="1"/>
          <p:nvPr/>
        </p:nvSpPr>
        <p:spPr>
          <a:xfrm>
            <a:off x="7406640" y="3730752"/>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rPr>
              <a:t>يقع كسوف كلي في مكان ما على الأرض</a:t>
            </a:r>
            <a:endParaRPr lang="ar-EG" sz="1500" dirty="0"/>
          </a:p>
        </p:txBody>
      </p:sp>
      <p:sp>
        <p:nvSpPr>
          <p:cNvPr id="11" name="stat-2"/>
          <p:cNvSpPr/>
          <p:nvPr/>
        </p:nvSpPr>
        <p:spPr>
          <a:xfrm>
            <a:off x="7223760" y="4489704"/>
            <a:ext cx="4419295" cy="1371600"/>
          </a:xfrm>
          <a:prstGeom prst="roundRect">
            <a:avLst>
              <a:gd name="adj" fmla="val 8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2" name="Text 9"/>
          <p:cNvSpPr txBox="1"/>
          <p:nvPr/>
        </p:nvSpPr>
        <p:spPr>
          <a:xfrm>
            <a:off x="7406640" y="4599432"/>
            <a:ext cx="4053535" cy="685800"/>
          </a:xfrm>
          <a:prstGeom prst="rect">
            <a:avLst/>
          </a:prstGeom>
          <a:noFill/>
          <a:ln/>
        </p:spPr>
        <p:txBody>
          <a:bodyPr wrap="square" lIns="0" tIns="0" rIns="0" bIns="0" rtlCol="0" anchor="ctr"/>
          <a:lstStyle/>
          <a:p>
            <a:pPr rtl="1" algn="r" indent="0" marL="0">
              <a:buNone/>
            </a:pPr>
            <a:r>
              <a:rPr lang="ar-EG" altLang="en-US" sz="3000" b="1" dirty="0">
                <a:solidFill>
                  <a:srgbClr val="B3261E"/>
                </a:solidFill>
              </a:rPr>
              <a:t>≈ ٣٧٥ سنة</a:t>
            </a:r>
            <a:endParaRPr lang="ar-EG" sz="3000" dirty="0"/>
          </a:p>
        </p:txBody>
      </p:sp>
      <p:sp>
        <p:nvSpPr>
          <p:cNvPr id="13" name="Text 10"/>
          <p:cNvSpPr txBox="1"/>
          <p:nvPr/>
        </p:nvSpPr>
        <p:spPr>
          <a:xfrm>
            <a:off x="7406640" y="5266944"/>
            <a:ext cx="4053535" cy="457200"/>
          </a:xfrm>
          <a:prstGeom prst="rect">
            <a:avLst/>
          </a:prstGeom>
          <a:noFill/>
          <a:ln/>
        </p:spPr>
        <p:txBody>
          <a:bodyPr wrap="square" lIns="0" tIns="0" rIns="0" bIns="0" rtlCol="0" anchor="ctr"/>
          <a:lstStyle/>
          <a:p>
            <a:pPr rtl="1" algn="r" indent="0" marL="0">
              <a:buNone/>
            </a:pPr>
            <a:r>
              <a:rPr lang="ar-EG" altLang="en-US" sz="1500" dirty="0">
                <a:solidFill>
                  <a:srgbClr val="4A4A46"/>
                </a:solidFill>
              </a:rPr>
              <a:t>متوسط عودة الكسوف الكلي إلى النقطة نفسها</a:t>
            </a:r>
            <a:endParaRPr lang="ar-EG" sz="1500" dirty="0"/>
          </a:p>
        </p:txBody>
      </p:sp>
      <p:sp>
        <p:nvSpPr>
          <p:cNvPr id="14" name="Text 11"/>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المصدر: حسابات الكتاب من تقويم JPL DE421؛ ومتوسط العودة إلى النقطة نفسها تقدير جان ميوس (Meeus)</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الخسوف: أكثر حظًّا لأهل المكان الواحد</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Lunar eclipses: periodicity and upcoming eclipses seen from Cairo</a:t>
            </a:r>
            <a:endParaRPr lang="en-US" sz="1400" dirty="0"/>
          </a:p>
        </p:txBody>
      </p:sp>
      <p:sp>
        <p:nvSpPr>
          <p:cNvPr id="4" name="Text 2"/>
          <p:cNvSpPr txBox="1"/>
          <p:nvPr/>
        </p:nvSpPr>
        <p:spPr>
          <a:xfrm>
            <a:off x="6995160" y="1371600"/>
            <a:ext cx="4647895" cy="457200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نصف الأرض يراه (Night side): </a:t>
            </a:r>
            <a:pPr rtl="1" algn="r" indent="0" marL="0">
              <a:buNone/>
            </a:pPr>
            <a:r>
              <a:rPr lang="ar-EG" altLang="en-US" sz="1500" dirty="0">
                <a:solidFill>
                  <a:srgbClr val="1F1F1D"/>
                </a:solidFill>
              </a:rPr>
              <a:t>كل من كان القمر فوق أفقه يرى الخسوف، فلا يحتاج إلى السفر</a:t>
            </a:r>
            <a:endParaRPr lang="ar-EG" sz="1500" dirty="0"/>
          </a:p>
          <a:p>
            <a:pPr rtl="1" algn="r" marL="228600" indent="-228600">
              <a:spcAft>
                <a:spcPts val="800"/>
              </a:spcAft>
              <a:buSzPct val="100000"/>
              <a:buChar char="•"/>
            </a:pPr>
            <a:r>
              <a:rPr lang="ar-EG" altLang="en-US" sz="1500" b="1" dirty="0">
                <a:solidFill>
                  <a:srgbClr val="1F1F1D"/>
                </a:solidFill>
              </a:rPr>
              <a:t>الخسوف الكلي (Total lunar eclipse): </a:t>
            </a:r>
            <a:pPr rtl="1" algn="r" indent="0" marL="0">
              <a:buNone/>
            </a:pPr>
            <a:r>
              <a:rPr lang="ar-EG" altLang="en-US" sz="1500" dirty="0">
                <a:solidFill>
                  <a:srgbClr val="1F1F1D"/>
                </a:solidFill>
              </a:rPr>
              <a:t>يراه المكان الواحد مرة كل سنتين إلى ثلاث في المتوسط، مقابل قرون للكسوف الكلي</a:t>
            </a:r>
            <a:endParaRPr lang="ar-EG" sz="1500" dirty="0"/>
          </a:p>
          <a:p>
            <a:pPr rtl="1" algn="r" marL="228600" indent="-228600">
              <a:spcAft>
                <a:spcPts val="800"/>
              </a:spcAft>
              <a:buSzPct val="100000"/>
              <a:buChar char="•"/>
            </a:pPr>
            <a:r>
              <a:rPr lang="ar-EG" altLang="en-US" sz="1500" b="1" dirty="0">
                <a:solidFill>
                  <a:srgbClr val="1F1F1D"/>
                </a:solidFill>
              </a:rPr>
              <a:t>القمر الدموي (Blood Moon): </a:t>
            </a:r>
            <a:pPr rtl="1" algn="r" indent="0" marL="0">
              <a:buNone/>
            </a:pPr>
            <a:r>
              <a:rPr lang="ar-EG" altLang="en-US" sz="1500" dirty="0">
                <a:solidFill>
                  <a:srgbClr val="1F1F1D"/>
                </a:solidFill>
              </a:rPr>
              <a:t>لا يختفي القمر في الكلية بل يحمرّ بضوء الشروق والغروب المنكسر في جو الأرض</a:t>
            </a:r>
            <a:endParaRPr lang="ar-EG" sz="1500" dirty="0"/>
          </a:p>
          <a:p>
            <a:pPr rtl="1" algn="r" marL="228600" indent="-228600">
              <a:spcAft>
                <a:spcPts val="800"/>
              </a:spcAft>
              <a:buSzPct val="100000"/>
              <a:buChar char="•"/>
            </a:pPr>
            <a:r>
              <a:rPr lang="ar-EG" altLang="en-US" sz="1500" b="1" dirty="0">
                <a:solidFill>
                  <a:srgbClr val="1F1F1D"/>
                </a:solidFill>
              </a:rPr>
              <a:t>تدريب للمرشد: </a:t>
            </a:r>
            <a:pPr rtl="1" algn="r" indent="0" marL="0">
              <a:buNone/>
            </a:pPr>
            <a:r>
              <a:rPr lang="ar-EG" altLang="en-US" sz="1500" dirty="0">
                <a:solidFill>
                  <a:srgbClr val="1F1F1D"/>
                </a:solidFill>
              </a:rPr>
              <a:t>الخسوفان الكليان القادمان فوق مصر فرصة لتدريب المجموعات قبل كل موسم</a:t>
            </a:r>
            <a:endParaRPr lang="ar-EG" sz="1500" dirty="0"/>
          </a:p>
        </p:txBody>
      </p:sp>
      <p:graphicFrame>
        <p:nvGraphicFramePr>
          <p:cNvPr id="14" name="lunar-table"/>
          <p:cNvGraphicFramePr>
            <a:graphicFrameLocks noGrp="1"/>
          </p:cNvGraphicFramePr>
          <p:nvPr>
            <p:extLst>
              <p:ext uri="{D42A27DB-BD31-4B8C-83A1-F6EECF244321}">
                <p14:modId xmlns:p14="http://schemas.microsoft.com/office/powerpoint/2010/main" val="1579011935"/>
              </p:ext>
            </p:extLst>
          </p:nvPr>
        </p:nvGraphicFramePr>
        <p:xfrm>
          <a:off x="548640" y="1417320"/>
          <a:ext cx="6172200" cy="914400"/>
        </p:xfrm>
        <a:graphic>
          <a:graphicData uri="http://schemas.openxmlformats.org/drawingml/2006/table">
            <a:tbl>
              <a:tblPr/>
              <a:tblGrid>
                <a:gridCol w="1234440"/>
                <a:gridCol w="822960"/>
                <a:gridCol w="1051560"/>
                <a:gridCol w="960120"/>
                <a:gridCol w="2103120"/>
              </a:tblGrid>
              <a:tr h="566928">
                <a:tc>
                  <a:txBody>
                    <a:bodyPr/>
                    <a:lstStyle/>
                    <a:p>
                      <a:pPr rtl="1" algn="ctr" indent="0" marL="0">
                        <a:buNone/>
                      </a:pPr>
                      <a:r>
                        <a:rPr lang="ar-EG" altLang="en-US" sz="1300" b="1" dirty="0">
                          <a:solidFill>
                            <a:srgbClr val="FFFFFF"/>
                          </a:solidFill>
                        </a:rPr>
                        <a:t>التاريخ</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النوع</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الذروة (القاهرة)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مدة الكلية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الرؤية من القاهرة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0F1B2D"/>
                    </a:solidFill>
                  </a:tcPr>
                </a:tc>
              </a:tr>
              <a:tr h="566928">
                <a:tc>
                  <a:txBody>
                    <a:bodyPr/>
                    <a:lstStyle/>
                    <a:p>
                      <a:pPr rtl="1" algn="ctr" indent="0" marL="0">
                        <a:buNone/>
                      </a:pPr>
                      <a:r>
                        <a:rPr lang="ar-EG" altLang="en-US" sz="1300" b="1" dirty="0">
                          <a:solidFill>
                            <a:srgbClr val="0F1B2D"/>
                          </a:solidFill>
                        </a:rPr>
                        <a:t>٦ يوليو ٢٠٢٨</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جزئي صغير</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٢١:٢٠</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القمر فوق الأفق منذ أول المساء</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rPr>
                        <a:t>٣١ ديسمبر ٢٠٢٨</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كلي</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١٨:٥٣</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٧٢ دقيقة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القمر منخفض في الشرق بعد الغروب</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rPr>
                        <a:t>٢٦ يونيو ٢٠٢٩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كلي عميق</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٠٦:٢٢</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١٠٣ دقائق</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القمر تحت الأفق وقت الذروة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rPr>
                        <a:t>٢٠/٢١ ديسمبر ٢٠٢٩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كلي</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٠٠:٤٣</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٥٥ دقيقة</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ممتاز: القمر قرب سمت الرأس</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r h="566928">
                <a:tc>
                  <a:txBody>
                    <a:bodyPr/>
                    <a:lstStyle/>
                    <a:p>
                      <a:pPr rtl="1" algn="ctr" indent="0" marL="0">
                        <a:buNone/>
                      </a:pPr>
                      <a:r>
                        <a:rPr lang="ar-EG" altLang="en-US" sz="1300" b="1" dirty="0">
                          <a:solidFill>
                            <a:srgbClr val="0F1B2D"/>
                          </a:solidFill>
                        </a:rPr>
                        <a:t>١٥ يونيو ٢٠٣٠</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جزئي</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٢١:٣٣</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جيد بعد الغروب</a:t>
                      </a:r>
                      <a:endParaRPr lang="ar-EG" sz="1300" dirty="0"/>
                    </a:p>
                  </a:txBody>
                  <a:tcPr marL="91440" marR="91440" marT="45720" marB="45720" anchor="ctr">
                    <a:lnL w="9525" cap="flat" cmpd="sng" algn="ctr">
                      <a:solidFill>
                        <a:srgbClr val="E4E2DC"/>
                      </a:solidFill>
                      <a:prstDash val="solid"/>
                      <a:round/>
                      <a:headEnd type="none" w="med" len="med"/>
                      <a:tailEnd type="none" w="med" len="med"/>
                    </a:lnL>
                    <a:lnR w="9525" cap="flat" cmpd="sng" algn="ctr">
                      <a:solidFill>
                        <a:srgbClr val="E4E2DC"/>
                      </a:solidFill>
                      <a:prstDash val="solid"/>
                      <a:round/>
                      <a:headEnd type="none" w="med" len="med"/>
                      <a:tailEnd type="none" w="med" len="med"/>
                    </a:lnR>
                    <a:lnT w="9525" cap="flat" cmpd="sng" algn="ctr">
                      <a:solidFill>
                        <a:srgbClr val="E4E2DC"/>
                      </a:solidFill>
                      <a:prstDash val="solid"/>
                      <a:round/>
                      <a:headEnd type="none" w="med" len="med"/>
                      <a:tailEnd type="none" w="med" len="med"/>
                    </a:lnT>
                    <a:lnB w="9525" cap="flat" cmpd="sng" algn="ctr">
                      <a:solidFill>
                        <a:srgbClr val="E4E2DC"/>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486400"/>
            <a:ext cx="617220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حسابات خاصة بهذه المحاضرة بأدوات الكتاب (DE421)؛ الأوقات بتوقيت القاهرة: شتاءً ت.ع+٢ وصيفًا ت.ع+٣ بافتراض استمرار التوقيت الصيفي</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F7B733"/>
                </a:solidFill>
              </a:rPr>
              <a:t>استراحة — ١٠ دقائق</a:t>
            </a:r>
            <a:endParaRPr lang="en-US" sz="3600" dirty="0"/>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C9D6EA"/>
                </a:solidFill>
              </a:rPr>
              <a:t>Break — 10 minutes</a:t>
            </a:r>
            <a:endParaRPr lang="en-US" sz="1600" dirty="0"/>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FFFFF"/>
                </a:solidFill>
              </a:rPr>
              <a:t>بعد الاستراحة: الكسوف في تاريخ مصر والحضارة الإسلامية</a:t>
            </a:r>
            <a:endParaRPr lang="en-US" sz="1800" dirty="0"/>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8C9AB3"/>
                </a:solidFill>
              </a:rPr>
              <a:t>صورة: مراحل كسوف ٢٠٢٤ — ناسا (NASA/Aubrey Gemignani)</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rPr>
              <a:t>٢</a:t>
            </a:r>
            <a:endParaRPr lang="en-US" sz="7200" dirty="0"/>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rPr>
              <a:t>المرحلة الثانية: الكسوف في تاريخ مصر والحضارة الإسلامية</a:t>
            </a:r>
            <a:endParaRPr lang="ar-EG" sz="3400" dirty="0"/>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rPr>
              <a:t>الساعة الثانية (١:٠٠ – ١:٥٠): من رع وإخناتون إلى ابن يونس، ومن الحديث النبوي إلى صلاة الكسوف</a:t>
            </a:r>
            <a:endParaRPr lang="ar-EG" sz="1700" dirty="0"/>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rPr>
              <a:t>Stage 2 — Eclipses in Egypt's history and in Islamic civilization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٢-أ</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الكسوفات التي حدثت في مصر</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Eclipses that happened over Egypt</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من الأسطورة وسجلات العالم القديم إلى إخناتون ودندرة، فالقاهرة الفاطمية، فبعثات سوهاج والسلوم</a:t>
            </a:r>
            <a:endParaRPr lang="ar-EG"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سجلات الكسوف في العالم القديم</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Eclipse records of the ancient world</a:t>
            </a:r>
            <a:endParaRPr lang="en-US" sz="1400" dirty="0"/>
          </a:p>
        </p:txBody>
      </p:sp>
      <p:pic>
        <p:nvPicPr>
          <p:cNvPr id="4" name="ancientRecords" descr="ancientRecords">    </p:cNvPr>
          <p:cNvPicPr>
            <a:picLocks noChangeAspect="1"/>
          </p:cNvPicPr>
          <p:nvPr/>
        </p:nvPicPr>
        <p:blipFill>
          <a:blip r:embed="rId1"/>
          <a:stretch>
            <a:fillRect/>
          </a:stretch>
        </p:blipFill>
        <p:spPr>
          <a:xfrm>
            <a:off x="588653" y="1325880"/>
            <a:ext cx="5497814"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الصين: </a:t>
            </a:r>
            <a:pPr rtl="1" algn="r" indent="0" marL="0">
              <a:buNone/>
            </a:pPr>
            <a:r>
              <a:rPr lang="ar-EG" altLang="en-US" sz="1500" dirty="0">
                <a:solidFill>
                  <a:srgbClr val="1F1F1D"/>
                </a:solidFill>
              </a:rPr>
              <a:t>عظام العرافة (Oracle bones) زمن أسرة شانغ نحو ١٢٠٠ ق.م، وقصة الفلكيين «هسي وهو»</a:t>
            </a:r>
            <a:endParaRPr lang="ar-EG" sz="1500" dirty="0"/>
          </a:p>
          <a:p>
            <a:pPr rtl="1" algn="r" marL="228600" indent="-228600">
              <a:spcAft>
                <a:spcPts val="800"/>
              </a:spcAft>
              <a:buSzPct val="100000"/>
              <a:buChar char="•"/>
            </a:pPr>
            <a:r>
              <a:rPr lang="ar-EG" altLang="en-US" sz="1500" b="1" dirty="0">
                <a:solidFill>
                  <a:srgbClr val="1F1F1D"/>
                </a:solidFill>
              </a:rPr>
              <a:t>أوغاريت: </a:t>
            </a:r>
            <a:pPr rtl="1" algn="r" indent="0" marL="0">
              <a:buNone/>
            </a:pPr>
            <a:r>
              <a:rPr lang="ar-EG" altLang="en-US" sz="1500" dirty="0">
                <a:solidFill>
                  <a:srgbClr val="1F1F1D"/>
                </a:solidFill>
              </a:rPr>
              <a:t>لوح طيني يصف اختفاء الشمس نهارًا، يُربط بكسوف نحو ١٢٢٣ ق.م (والتاريخ مختلف فيه)</a:t>
            </a:r>
            <a:endParaRPr lang="ar-EG" sz="1500" dirty="0"/>
          </a:p>
          <a:p>
            <a:pPr rtl="1" algn="r" marL="228600" indent="-228600">
              <a:spcAft>
                <a:spcPts val="800"/>
              </a:spcAft>
              <a:buSzPct val="100000"/>
              <a:buChar char="•"/>
            </a:pPr>
            <a:r>
              <a:rPr lang="ar-EG" altLang="en-US" sz="1500" b="1" dirty="0">
                <a:solidFill>
                  <a:srgbClr val="1F1F1D"/>
                </a:solidFill>
              </a:rPr>
              <a:t>آشور: </a:t>
            </a:r>
            <a:pPr rtl="1" algn="r" indent="0" marL="0">
              <a:buNone/>
            </a:pPr>
            <a:r>
              <a:rPr lang="ar-EG" altLang="en-US" sz="1500" dirty="0">
                <a:solidFill>
                  <a:srgbClr val="1F1F1D"/>
                </a:solidFill>
              </a:rPr>
              <a:t>كسوف ١٥ يونيو ٧٦٣ ق.م في «سجلات الأعوام» (Eponym chronicle): مرتكز تأريخ الشرق القديم</a:t>
            </a:r>
            <a:endParaRPr lang="ar-EG" sz="1500" dirty="0"/>
          </a:p>
          <a:p>
            <a:pPr rtl="1" algn="r" marL="228600" indent="-228600">
              <a:spcAft>
                <a:spcPts val="800"/>
              </a:spcAft>
              <a:buSzPct val="100000"/>
              <a:buChar char="•"/>
            </a:pPr>
            <a:r>
              <a:rPr lang="ar-EG" altLang="en-US" sz="1500" b="1" dirty="0">
                <a:solidFill>
                  <a:srgbClr val="1F1F1D"/>
                </a:solidFill>
              </a:rPr>
              <a:t>الإغريق: </a:t>
            </a:r>
            <a:pPr rtl="1" algn="r" indent="0" marL="0">
              <a:buNone/>
            </a:pPr>
            <a:r>
              <a:rPr lang="ar-EG" altLang="en-US" sz="1500" dirty="0">
                <a:solidFill>
                  <a:srgbClr val="1F1F1D"/>
                </a:solidFill>
              </a:rPr>
              <a:t>كسوف ٢٨ مايو ٥٨٥ ق.م أوقف معركة الميديين والليديين، ونُسب التنبؤ به إلى طاليس</a:t>
            </a:r>
            <a:endParaRPr lang="ar-EG" sz="1500" dirty="0"/>
          </a:p>
          <a:p>
            <a:pPr rtl="1" algn="r" marL="228600" indent="-228600">
              <a:spcAft>
                <a:spcPts val="800"/>
              </a:spcAft>
              <a:buSzPct val="100000"/>
              <a:buChar char="•"/>
            </a:pPr>
            <a:r>
              <a:rPr lang="ar-EG" altLang="en-US" sz="1500" b="1" dirty="0">
                <a:solidFill>
                  <a:srgbClr val="1F1F1D"/>
                </a:solidFill>
              </a:rPr>
              <a:t>بابل: </a:t>
            </a:r>
            <a:pPr rtl="1" algn="r" indent="0" marL="0">
              <a:buNone/>
            </a:pPr>
            <a:r>
              <a:rPr lang="ar-EG" altLang="en-US" sz="1500" dirty="0">
                <a:solidFill>
                  <a:srgbClr val="1F1F1D"/>
                </a:solidFill>
              </a:rPr>
              <a:t>رصد الكهنة الكسوفات قرونًا فاكتشفوا تكرارها كل ١٨ سنة (ساروس)</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١٣-٢ من الكتاب: أشهر سجلات الكسوف المكتوبة في العالم القديم</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رع وأبوفيس: الثعبان الذي يحاول ابتلاع الشمس</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Ra and Apophis: the serpent that tries to swallow the Sun</a:t>
            </a:r>
            <a:endParaRPr lang="en-US" sz="1400" dirty="0"/>
          </a:p>
        </p:txBody>
      </p:sp>
      <p:pic>
        <p:nvPicPr>
          <p:cNvPr id="4" name="raApophis" descr="raApophis">    </p:cNvPr>
          <p:cNvPicPr>
            <a:picLocks noChangeAspect="1"/>
          </p:cNvPicPr>
          <p:nvPr/>
        </p:nvPicPr>
        <p:blipFill>
          <a:blip r:embed="rId1"/>
          <a:stretch>
            <a:fillRect/>
          </a:stretch>
        </p:blipFill>
        <p:spPr>
          <a:xfrm>
            <a:off x="886823" y="1325880"/>
            <a:ext cx="5221513" cy="4663440"/>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الأسطورة: </a:t>
            </a:r>
            <a:pPr rtl="1" algn="r" indent="0" marL="0">
              <a:buNone/>
            </a:pPr>
            <a:r>
              <a:rPr lang="ar-EG" altLang="en-US" sz="1600" dirty="0">
                <a:solidFill>
                  <a:srgbClr val="1F1F1D"/>
                </a:solidFill>
              </a:rPr>
              <a:t>يبحر رع في قاربه كل ليلة عبر العالم السفلي، ويحاول الثعبان أبوفيس ابتلاعه</a:t>
            </a:r>
            <a:endParaRPr lang="ar-EG" sz="1600" dirty="0"/>
          </a:p>
          <a:p>
            <a:pPr rtl="1" algn="r" marL="228600" indent="-228600">
              <a:spcAft>
                <a:spcPts val="800"/>
              </a:spcAft>
              <a:buSzPct val="100000"/>
              <a:buChar char="•"/>
            </a:pPr>
            <a:r>
              <a:rPr lang="ar-EG" altLang="en-US" sz="1600" b="1" dirty="0">
                <a:solidFill>
                  <a:srgbClr val="1F1F1D"/>
                </a:solidFill>
              </a:rPr>
              <a:t>قراءة محتملة: </a:t>
            </a:r>
            <a:pPr rtl="1" algn="r" indent="0" marL="0">
              <a:buNone/>
            </a:pPr>
            <a:r>
              <a:rPr lang="ar-EG" altLang="en-US" sz="1600" dirty="0">
                <a:solidFill>
                  <a:srgbClr val="1F1F1D"/>
                </a:solidFill>
              </a:rPr>
              <a:t>يربط بعض الباحثين الأسطورة بالظواهر التي تحجب الشمس كالكسوف والعواصف</a:t>
            </a:r>
            <a:endParaRPr lang="ar-EG" sz="1600" dirty="0"/>
          </a:p>
          <a:p>
            <a:pPr rtl="1" algn="r" marL="228600" indent="-228600">
              <a:spcAft>
                <a:spcPts val="800"/>
              </a:spcAft>
              <a:buSzPct val="100000"/>
              <a:buChar char="•"/>
            </a:pPr>
            <a:r>
              <a:rPr lang="ar-EG" altLang="en-US" sz="1600" b="1" dirty="0">
                <a:solidFill>
                  <a:srgbClr val="1F1F1D"/>
                </a:solidFill>
              </a:rPr>
              <a:t>للمرشد: </a:t>
            </a:r>
            <a:pPr rtl="1" algn="r" indent="0" marL="0">
              <a:buNone/>
            </a:pPr>
            <a:r>
              <a:rPr lang="ar-EG" altLang="en-US" sz="1600" dirty="0">
                <a:solidFill>
                  <a:srgbClr val="1F1F1D"/>
                </a:solidFill>
              </a:rPr>
              <a:t>استعملها مدخلًا للحكاية، مع التنبيه إلى أن الربط بالكسوف تفسير حديث لا نص صريح</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٢-٣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«كسوف إخناتون»: ١٤ مايو ١٣٣٨ ق.م فوق العمارنة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“Akhenaten eclipse”: 14 May 1338 BC over Amarna</a:t>
            </a:r>
            <a:endParaRPr lang="en-US" sz="1400" dirty="0"/>
          </a:p>
        </p:txBody>
      </p:sp>
      <p:pic>
        <p:nvPicPr>
          <p:cNvPr id="4" name="akhenaten" descr="akhenaten">    </p:cNvPr>
          <p:cNvPicPr>
            <a:picLocks noChangeAspect="1"/>
          </p:cNvPicPr>
          <p:nvPr/>
        </p:nvPicPr>
        <p:blipFill>
          <a:blip r:embed="rId1"/>
          <a:stretch>
            <a:fillRect/>
          </a:stretch>
        </p:blipFill>
        <p:spPr>
          <a:xfrm>
            <a:off x="945331" y="1325880"/>
            <a:ext cx="4784459"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الحساب (Retrocalculation): </a:t>
            </a:r>
            <a:pPr rtl="1" algn="r" indent="0" marL="0">
              <a:buNone/>
            </a:pPr>
            <a:r>
              <a:rPr lang="ar-EG" altLang="en-US" sz="1600" dirty="0">
                <a:solidFill>
                  <a:srgbClr val="1F1F1D"/>
                </a:solidFill>
              </a:rPr>
              <a:t>كسوف كلي مرّ ظله فوق أخت-آتون (تل العمارنة) بعد الظهر بقليل، والشمس على ارتفاع ٥٧°</a:t>
            </a:r>
            <a:endParaRPr lang="ar-EG" sz="1600" dirty="0"/>
          </a:p>
          <a:p>
            <a:pPr rtl="1" algn="r" marL="228600" indent="-228600">
              <a:spcAft>
                <a:spcPts val="800"/>
              </a:spcAft>
              <a:buSzPct val="100000"/>
              <a:buChar char="•"/>
            </a:pPr>
            <a:r>
              <a:rPr lang="ar-EG" altLang="en-US" sz="1600" b="1" dirty="0">
                <a:solidFill>
                  <a:srgbClr val="1F1F1D"/>
                </a:solidFill>
              </a:rPr>
              <a:t>المدة: </a:t>
            </a:r>
            <a:pPr rtl="1" algn="r" indent="0" marL="0">
              <a:buNone/>
            </a:pPr>
            <a:r>
              <a:rPr lang="ar-EG" altLang="en-US" sz="1600" dirty="0">
                <a:solidFill>
                  <a:srgbClr val="1F1F1D"/>
                </a:solidFill>
              </a:rPr>
              <a:t>نحو ٥ دقائق ونصف بحساب الكتاب، ونحو ٤ دقائق ونصف في الرواية</a:t>
            </a:r>
            <a:endParaRPr lang="ar-EG" sz="1600" dirty="0"/>
          </a:p>
          <a:p>
            <a:pPr rtl="1" algn="r" marL="228600" indent="-228600">
              <a:spcAft>
                <a:spcPts val="800"/>
              </a:spcAft>
              <a:buSzPct val="100000"/>
              <a:buChar char="•"/>
            </a:pPr>
            <a:r>
              <a:rPr lang="ar-EG" altLang="en-US" sz="1600" b="1" dirty="0">
                <a:solidFill>
                  <a:srgbClr val="1F1F1D"/>
                </a:solidFill>
              </a:rPr>
              <a:t>عدم اليقين (ΔT, Delta T): </a:t>
            </a:r>
            <a:pPr rtl="1" algn="r" indent="0" marL="0">
              <a:buNone/>
            </a:pPr>
            <a:r>
              <a:rPr lang="ar-EG" altLang="en-US" sz="1600" dirty="0">
                <a:solidFill>
                  <a:srgbClr val="1F1F1D"/>
                </a:solidFill>
              </a:rPr>
              <a:t>خطأ في فرق التوقيت بنحو ٨٠٠ ثانية يجعل المدة بين ٤ د ٤٧ ث و٦ د ١٣ ث، وتبقى العمارنة داخل الكلية</a:t>
            </a:r>
            <a:endParaRPr lang="ar-EG" sz="1600" dirty="0"/>
          </a:p>
          <a:p>
            <a:pPr rtl="1" algn="r" marL="228600" indent="-228600">
              <a:spcAft>
                <a:spcPts val="800"/>
              </a:spcAft>
              <a:buSzPct val="100000"/>
              <a:buChar char="•"/>
            </a:pPr>
            <a:r>
              <a:rPr lang="ar-EG" altLang="en-US" sz="1600" b="1" dirty="0">
                <a:solidFill>
                  <a:srgbClr val="1F1F1D"/>
                </a:solidFill>
              </a:rPr>
              <a:t>تنبيه: </a:t>
            </a:r>
            <a:pPr rtl="1" algn="r" indent="0" marL="0">
              <a:buNone/>
            </a:pPr>
            <a:r>
              <a:rPr lang="ar-EG" altLang="en-US" sz="1600" dirty="0">
                <a:solidFill>
                  <a:srgbClr val="1F1F1D"/>
                </a:solidFill>
              </a:rPr>
              <a:t>ربطه بالسنة ١٦ من حكم إخناتون اختيار روائي، لا يثبته نص مصري مؤرخ</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٤-٣ من الكتاب (محسوب، بالتقويم اليولياني)</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سقف دندرة: كسوف وخسوف منقوشان في الحجر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Dendera zodiac: a solar and a lunar eclipse carved in stone</a:t>
            </a:r>
            <a:endParaRPr lang="en-US" sz="1400" dirty="0"/>
          </a:p>
        </p:txBody>
      </p:sp>
      <p:pic>
        <p:nvPicPr>
          <p:cNvPr id="4" name="dendera" descr="dendera">    </p:cNvPr>
          <p:cNvPicPr>
            <a:picLocks noChangeAspect="1"/>
          </p:cNvPicPr>
          <p:nvPr/>
        </p:nvPicPr>
        <p:blipFill>
          <a:blip r:embed="rId1"/>
          <a:stretch>
            <a:fillRect/>
          </a:stretch>
        </p:blipFill>
        <p:spPr>
          <a:xfrm>
            <a:off x="548640" y="1382142"/>
            <a:ext cx="5852160" cy="4550915"/>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السقف الدائري (Dendera zodiac): </a:t>
            </a:r>
            <a:pPr rtl="1" algn="r" indent="0" marL="0">
              <a:buNone/>
            </a:pPr>
            <a:r>
              <a:rPr lang="ar-EG" altLang="en-US" sz="1600" dirty="0">
                <a:solidFill>
                  <a:srgbClr val="1F1F1D"/>
                </a:solidFill>
              </a:rPr>
              <a:t>بطلمي من نحو ٥٠ ق.م، نُقل إلى باريس سنة ١٨٢١ وهو اليوم في اللوفر، وفي المعبد نسخة مصبوبة</a:t>
            </a:r>
            <a:endParaRPr lang="ar-EG" sz="1600" dirty="0"/>
          </a:p>
          <a:p>
            <a:pPr rtl="1" algn="r" marL="228600" indent="-228600">
              <a:spcAft>
                <a:spcPts val="800"/>
              </a:spcAft>
              <a:buSzPct val="100000"/>
              <a:buChar char="•"/>
            </a:pPr>
            <a:r>
              <a:rPr lang="ar-EG" altLang="en-US" sz="1600" b="1" dirty="0">
                <a:solidFill>
                  <a:srgbClr val="1F1F1D"/>
                </a:solidFill>
              </a:rPr>
              <a:t>قرص الكسوف: </a:t>
            </a:r>
            <a:pPr rtl="1" algn="r" indent="0" marL="0">
              <a:buNone/>
            </a:pPr>
            <a:r>
              <a:rPr lang="ar-EG" altLang="en-US" sz="1600" dirty="0">
                <a:solidFill>
                  <a:srgbClr val="1F1F1D"/>
                </a:solidFill>
              </a:rPr>
              <a:t>إيزيس تمسك قردًا من ذيله ← كسوف ٧ مارس ٥١ ق.م (حلقي، رآه أهل دندرة جزئيًا ١٧٪ عصرًا)</a:t>
            </a:r>
            <a:endParaRPr lang="ar-EG" sz="1600" dirty="0"/>
          </a:p>
          <a:p>
            <a:pPr rtl="1" algn="r" marL="228600" indent="-228600">
              <a:spcAft>
                <a:spcPts val="800"/>
              </a:spcAft>
              <a:buSzPct val="100000"/>
              <a:buChar char="•"/>
            </a:pPr>
            <a:r>
              <a:rPr lang="ar-EG" altLang="en-US" sz="1600" b="1" dirty="0">
                <a:solidFill>
                  <a:srgbClr val="1F1F1D"/>
                </a:solidFill>
              </a:rPr>
              <a:t>قرص الخسوف: </a:t>
            </a:r>
            <a:pPr rtl="1" algn="r" indent="0" marL="0">
              <a:buNone/>
            </a:pPr>
            <a:r>
              <a:rPr lang="ar-EG" altLang="en-US" sz="1600" dirty="0">
                <a:solidFill>
                  <a:srgbClr val="1F1F1D"/>
                </a:solidFill>
              </a:rPr>
              <a:t>عين حورس ← خسوف كلي للقمر ٢٥ سبتمبر ٥٢ ق.م (قدر ١٫٨١)</a:t>
            </a:r>
            <a:endParaRPr lang="ar-EG" sz="1600" dirty="0"/>
          </a:p>
          <a:p>
            <a:pPr rtl="1" algn="r" marL="228600" indent="-228600">
              <a:spcAft>
                <a:spcPts val="800"/>
              </a:spcAft>
              <a:buSzPct val="100000"/>
              <a:buChar char="•"/>
            </a:pPr>
            <a:r>
              <a:rPr lang="ar-EG" altLang="en-US" sz="1600" b="1" dirty="0">
                <a:solidFill>
                  <a:srgbClr val="1F1F1D"/>
                </a:solidFill>
              </a:rPr>
              <a:t>٢٠٢٧: </a:t>
            </a:r>
            <a:pPr rtl="1" algn="r" indent="0" marL="0">
              <a:buNone/>
            </a:pPr>
            <a:r>
              <a:rPr lang="ar-EG" altLang="en-US" sz="1600" dirty="0">
                <a:solidFill>
                  <a:srgbClr val="1F1F1D"/>
                </a:solidFill>
              </a:rPr>
              <a:t>الكلية في دندرة ٦ دقائق و١٤ ثانية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٥-٣ من الكتاب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سماء القاهرة الفاطمية كما في رواية «أرصاد وأطوار»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sky of Fatimid Cairo in the novel “Arsad wa Atwar”</a:t>
            </a:r>
            <a:endParaRPr lang="en-US" sz="1400" dirty="0"/>
          </a:p>
        </p:txBody>
      </p:sp>
      <p:pic>
        <p:nvPicPr>
          <p:cNvPr id="4" name="e993" descr="e993">    </p:cNvPr>
          <p:cNvPicPr>
            <a:picLocks noChangeAspect="1"/>
          </p:cNvPicPr>
          <p:nvPr/>
        </p:nvPicPr>
        <p:blipFill>
          <a:blip r:embed="rId1"/>
          <a:stretch>
            <a:fillRect/>
          </a:stretch>
        </p:blipFill>
        <p:spPr>
          <a:xfrm>
            <a:off x="6880802" y="1325880"/>
            <a:ext cx="4252076" cy="3931920"/>
          </a:xfrm>
          <a:prstGeom prst="rect">
            <a:avLst/>
          </a:prstGeom>
        </p:spPr>
      </p:pic>
      <p:pic>
        <p:nvPicPr>
          <p:cNvPr id="5" name="e1004" descr="e1004">    </p:cNvPr>
          <p:cNvPicPr>
            <a:picLocks noChangeAspect="1"/>
          </p:cNvPicPr>
          <p:nvPr/>
        </p:nvPicPr>
        <p:blipFill>
          <a:blip r:embed="rId2"/>
          <a:stretch>
            <a:fillRect/>
          </a:stretch>
        </p:blipFill>
        <p:spPr>
          <a:xfrm>
            <a:off x="1074362" y="1325880"/>
            <a:ext cx="4252076" cy="3931920"/>
          </a:xfrm>
          <a:prstGeom prst="rect">
            <a:avLst/>
          </a:prstGeom>
        </p:spPr>
      </p:pic>
      <p:sp>
        <p:nvSpPr>
          <p:cNvPr id="6" name="Text 2"/>
          <p:cNvSpPr txBox="1"/>
          <p:nvPr/>
        </p:nvSpPr>
        <p:spPr>
          <a:xfrm>
            <a:off x="635508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0F1B2D"/>
                </a:solidFill>
              </a:rPr>
              <a:t>٢٠ أغسطس ٩٩٣م (٢٩ جمادى الآخرة ٣٨٣هـ): </a:t>
            </a:r>
            <a:pPr rtl="1" algn="r" indent="0" marL="0">
              <a:buNone/>
            </a:pPr>
            <a:r>
              <a:rPr lang="ar-EG" altLang="en-US" sz="1400" dirty="0">
                <a:solidFill>
                  <a:srgbClr val="1F1F1D"/>
                </a:solidFill>
              </a:rPr>
              <a:t>كسوف كلي مرّ ظله قبالة الساحل الشمالي، وبلغ في القاهرة ٩٦٪ ضحى</a:t>
            </a:r>
            <a:endParaRPr lang="en-US" sz="1400" dirty="0"/>
          </a:p>
        </p:txBody>
      </p:sp>
      <p:sp>
        <p:nvSpPr>
          <p:cNvPr id="7" name="Text 3"/>
          <p:cNvSpPr txBox="1"/>
          <p:nvPr/>
        </p:nvSpPr>
        <p:spPr>
          <a:xfrm>
            <a:off x="548640" y="5349240"/>
            <a:ext cx="5303520" cy="685800"/>
          </a:xfrm>
          <a:prstGeom prst="rect">
            <a:avLst/>
          </a:prstGeom>
          <a:noFill/>
          <a:ln/>
        </p:spPr>
        <p:txBody>
          <a:bodyPr wrap="square" lIns="0" tIns="0" rIns="0" bIns="0" rtlCol="0" anchor="t"/>
          <a:lstStyle/>
          <a:p>
            <a:pPr rtl="1" algn="r" indent="0" marL="0">
              <a:buNone/>
            </a:pPr>
            <a:r>
              <a:rPr lang="ar-EG" altLang="en-US" sz="1400" b="1" dirty="0">
                <a:solidFill>
                  <a:srgbClr val="0F1B2D"/>
                </a:solidFill>
              </a:rPr>
              <a:t>٢٤ يناير ١٠٠٤م (٢٩ ربيع الأول ٣٩٤هـ): </a:t>
            </a:r>
            <a:pPr rtl="1" algn="r" indent="0" marL="0">
              <a:buNone/>
            </a:pPr>
            <a:r>
              <a:rPr lang="ar-EG" altLang="en-US" sz="1400" dirty="0">
                <a:solidFill>
                  <a:srgbClr val="1F1F1D"/>
                </a:solidFill>
              </a:rPr>
              <a:t>كسوف هجين، غربت فيه الشمس على القاهرة مكسوفة ٩٧٪ خلف الأهرام</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خسوف ١ مارس ١٠٠٢م: ظل الأرض المستدير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total lunar eclipse of 1 March 1002: Earth's round shadow</a:t>
            </a:r>
            <a:endParaRPr lang="en-US" sz="1400" dirty="0"/>
          </a:p>
        </p:txBody>
      </p:sp>
      <p:pic>
        <p:nvPicPr>
          <p:cNvPr id="4" name="lunarCairo" descr="lunarCairo">    </p:cNvPr>
          <p:cNvPicPr>
            <a:picLocks noChangeAspect="1"/>
          </p:cNvPicPr>
          <p:nvPr/>
        </p:nvPicPr>
        <p:blipFill>
          <a:blip r:embed="rId1"/>
          <a:stretch>
            <a:fillRect/>
          </a:stretch>
        </p:blipFill>
        <p:spPr>
          <a:xfrm>
            <a:off x="548640" y="1731712"/>
            <a:ext cx="6035040" cy="3851776"/>
          </a:xfrm>
          <a:prstGeom prst="rect">
            <a:avLst/>
          </a:prstGeom>
        </p:spPr>
      </p:pic>
      <p:sp>
        <p:nvSpPr>
          <p:cNvPr id="5" name="Text 2"/>
          <p:cNvSpPr txBox="1"/>
          <p:nvPr/>
        </p:nvSpPr>
        <p:spPr>
          <a:xfrm>
            <a:off x="6903720" y="1371600"/>
            <a:ext cx="47393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الحدث: </a:t>
            </a:r>
            <a:pPr rtl="1" algn="r" indent="0" marL="0">
              <a:buNone/>
            </a:pPr>
            <a:r>
              <a:rPr lang="ar-EG" altLang="en-US" sz="1600" dirty="0">
                <a:solidFill>
                  <a:srgbClr val="1F1F1D"/>
                </a:solidFill>
              </a:rPr>
              <a:t>خسوف كلي للقمر ليلة ١٤ ربيع الآخر ٣٩٢هـ، رُئي كاملًا من القاهرة</a:t>
            </a:r>
            <a:endParaRPr lang="ar-EG" sz="1600" dirty="0"/>
          </a:p>
          <a:p>
            <a:pPr rtl="1" algn="r" marL="228600" indent="-228600">
              <a:spcAft>
                <a:spcPts val="800"/>
              </a:spcAft>
              <a:buSzPct val="100000"/>
              <a:buChar char="•"/>
            </a:pPr>
            <a:r>
              <a:rPr lang="ar-EG" altLang="en-US" sz="1600" b="1" dirty="0">
                <a:solidFill>
                  <a:srgbClr val="1F1F1D"/>
                </a:solidFill>
              </a:rPr>
              <a:t>الدرس — ظل الأرض (Earth's umbra): </a:t>
            </a:r>
            <a:pPr rtl="1" algn="r" indent="0" marL="0">
              <a:buNone/>
            </a:pPr>
            <a:r>
              <a:rPr lang="ar-EG" altLang="en-US" sz="1600" dirty="0">
                <a:solidFill>
                  <a:srgbClr val="1F1F1D"/>
                </a:solidFill>
              </a:rPr>
              <a:t>حافة ظل الأرض على القمر مستديرة دائمًا، والجسم الوحيد الذي يلقي ظلًا مستديرًا من كل جهة هو الكرة</a:t>
            </a:r>
            <a:endParaRPr lang="ar-EG" sz="1600" dirty="0"/>
          </a:p>
          <a:p>
            <a:pPr rtl="1" algn="r" marL="228600" indent="-228600">
              <a:spcAft>
                <a:spcPts val="800"/>
              </a:spcAft>
              <a:buSzPct val="100000"/>
              <a:buChar char="•"/>
            </a:pPr>
            <a:r>
              <a:rPr lang="ar-EG" altLang="en-US" sz="1600" b="1" dirty="0">
                <a:solidFill>
                  <a:srgbClr val="1F1F1D"/>
                </a:solidFill>
              </a:rPr>
              <a:t>لماذا يحمرّ؟ </a:t>
            </a:r>
            <a:pPr rtl="1" algn="r" indent="0" marL="0">
              <a:buNone/>
            </a:pPr>
            <a:r>
              <a:rPr lang="ar-EG" altLang="en-US" sz="1600" dirty="0">
                <a:solidFill>
                  <a:srgbClr val="1F1F1D"/>
                </a:solidFill>
              </a:rPr>
              <a:t>في الرواية يقول ابن يونس للخليفة: «لا أعلم» — ونعرف اليوم أنه ضوء الشمس المنكسر في جو الأرض</a:t>
            </a:r>
            <a:endParaRPr lang="ar-EG" sz="1600" dirty="0"/>
          </a:p>
          <a:p>
            <a:pPr rtl="1" algn="r" marL="228600" indent="-228600">
              <a:spcAft>
                <a:spcPts val="800"/>
              </a:spcAft>
              <a:buSzPct val="100000"/>
              <a:buChar char="•"/>
            </a:pPr>
            <a:r>
              <a:rPr lang="ar-EG" altLang="en-US" sz="1600" b="1" dirty="0">
                <a:solidFill>
                  <a:srgbClr val="1F1F1D"/>
                </a:solidFill>
              </a:rPr>
              <a:t>خسوفات أخرى: </a:t>
            </a:r>
            <a:pPr rtl="1" algn="r" indent="0" marL="0">
              <a:buNone/>
            </a:pPr>
            <a:r>
              <a:rPr lang="ar-EG" altLang="en-US" sz="1600" dirty="0">
                <a:solidFill>
                  <a:srgbClr val="1F1F1D"/>
                </a:solidFill>
              </a:rPr>
              <a:t>٦ نوفمبر ٩٧٩م (ربيع الآخر ٣٦٩هـ) و٢٢ أبريل ٩٨١م (شوال ٣٧٠هـ)، جزئيان</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١٢-٣ من الكتاب: خسوفات القمر كما رُئيت من القاهرة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الرواية والحساب: جدول التحقق</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Novel vs. computation: verification table</a:t>
            </a:r>
            <a:endParaRPr lang="en-US" sz="1400" dirty="0"/>
          </a:p>
        </p:txBody>
      </p:sp>
      <p:pic>
        <p:nvPicPr>
          <p:cNvPr id="4" name="novelTable" descr="novelTable">    </p:cNvPr>
          <p:cNvPicPr>
            <a:picLocks noChangeAspect="1"/>
          </p:cNvPicPr>
          <p:nvPr/>
        </p:nvPicPr>
        <p:blipFill>
          <a:blip r:embed="rId1"/>
          <a:stretch>
            <a:fillRect/>
          </a:stretch>
        </p:blipFill>
        <p:spPr>
          <a:xfrm>
            <a:off x="826808" y="1325880"/>
            <a:ext cx="5295824" cy="4663440"/>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كل الأحداث صحيحة: </a:t>
            </a:r>
            <a:pPr rtl="1" algn="r" indent="0" marL="0">
              <a:buNone/>
            </a:pPr>
            <a:r>
              <a:rPr lang="ar-EG" altLang="en-US" sz="1500" dirty="0">
                <a:solidFill>
                  <a:srgbClr val="1F1F1D"/>
                </a:solidFill>
              </a:rPr>
              <a:t>ستة كسوفات وخسوفات في القاهرة الفاطمية، وكسوف إخناتون، وقرصا دندرة</a:t>
            </a:r>
            <a:endParaRPr lang="ar-EG" sz="1500" dirty="0"/>
          </a:p>
          <a:p>
            <a:pPr rtl="1" algn="r" marL="228600" indent="-228600">
              <a:spcAft>
                <a:spcPts val="800"/>
              </a:spcAft>
              <a:buSzPct val="100000"/>
              <a:buChar char="•"/>
            </a:pPr>
            <a:r>
              <a:rPr lang="ar-EG" altLang="en-US" sz="1500" b="1" dirty="0">
                <a:solidFill>
                  <a:srgbClr val="1F1F1D"/>
                </a:solidFill>
              </a:rPr>
              <a:t>فروق صغيرة: </a:t>
            </a:r>
            <a:pPr rtl="1" algn="r" indent="0" marL="0">
              <a:buNone/>
            </a:pPr>
            <a:r>
              <a:rPr lang="ar-EG" altLang="en-US" sz="1500" dirty="0">
                <a:solidFill>
                  <a:srgbClr val="1F1F1D"/>
                </a:solidFill>
              </a:rPr>
              <a:t>تاريخ خسوف ٣٧٠هـ، ومدة كلية إخناتون، وثانيتان في مدة الأقصر ٢٠٢٧</a:t>
            </a:r>
            <a:endParaRPr lang="ar-EG" sz="1500" dirty="0"/>
          </a:p>
          <a:p>
            <a:pPr rtl="1" algn="r" marL="228600" indent="-228600">
              <a:spcAft>
                <a:spcPts val="800"/>
              </a:spcAft>
              <a:buSzPct val="100000"/>
              <a:buChar char="•"/>
            </a:pPr>
            <a:r>
              <a:rPr lang="ar-EG" altLang="en-US" sz="1500" b="1" dirty="0">
                <a:solidFill>
                  <a:srgbClr val="1F1F1D"/>
                </a:solidFill>
              </a:rPr>
              <a:t>أحداث سماوية أخرى: </a:t>
            </a:r>
            <a:pPr rtl="1" algn="r" indent="0" marL="0">
              <a:buNone/>
            </a:pPr>
            <a:r>
              <a:rPr lang="ar-EG" altLang="en-US" sz="1500" dirty="0">
                <a:solidFill>
                  <a:srgbClr val="1F1F1D"/>
                </a:solidFill>
              </a:rPr>
              <a:t>قران الزهرة وعطارد ١٩ مايو ١٠٠٠م رصده ابن يونس، والمستعر الأعظم ٣٠ أبريل ١٠٠٦م رصده علي بن رضوان</a:t>
            </a:r>
            <a:endParaRPr lang="ar-EG" sz="1500" dirty="0"/>
          </a:p>
          <a:p>
            <a:pPr rtl="1" algn="r" marL="228600" indent="-228600">
              <a:spcAft>
                <a:spcPts val="800"/>
              </a:spcAft>
              <a:buSzPct val="100000"/>
              <a:buChar char="•"/>
            </a:pPr>
            <a:r>
              <a:rPr lang="ar-EG" altLang="en-US" sz="1500" b="1" dirty="0">
                <a:solidFill>
                  <a:srgbClr val="1F1F1D"/>
                </a:solidFill>
              </a:rPr>
              <a:t>للمرشد: </a:t>
            </a:r>
            <a:pPr rtl="1" algn="r" indent="0" marL="0">
              <a:buNone/>
            </a:pPr>
            <a:r>
              <a:rPr lang="ar-EG" altLang="en-US" sz="1500" dirty="0">
                <a:solidFill>
                  <a:srgbClr val="1F1F1D"/>
                </a:solidFill>
              </a:rPr>
              <a:t>الرواية مدخل قصصي ممتاز، مع الفصل الواضح بين التاريخي والمتخيل</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١٣-٣ من الكتاب: الكسوفات والخسوفات الحقيقية في الرواية مقارنة بالحساب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مصر الحديثة وبعثات الكسوف</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Modern Egypt and eclipse expeditions</a:t>
            </a:r>
            <a:endParaRPr lang="en-US" sz="1400" dirty="0"/>
          </a:p>
        </p:txBody>
      </p:sp>
      <p:pic>
        <p:nvPicPr>
          <p:cNvPr id="4" name="sohag1882" descr="sohag1882">    </p:cNvPr>
          <p:cNvPicPr>
            <a:picLocks noChangeAspect="1"/>
          </p:cNvPicPr>
          <p:nvPr/>
        </p:nvPicPr>
        <p:blipFill>
          <a:blip r:embed="rId1"/>
          <a:stretch>
            <a:fillRect/>
          </a:stretch>
        </p:blipFill>
        <p:spPr>
          <a:xfrm>
            <a:off x="714559" y="1325880"/>
            <a:ext cx="5566041" cy="4663440"/>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سوهاج ١٨٨٢: </a:t>
            </a:r>
            <a:pPr rtl="1" algn="r" indent="0" marL="0">
              <a:buNone/>
            </a:pPr>
            <a:r>
              <a:rPr lang="ar-EG" altLang="en-US" sz="1600" dirty="0">
                <a:solidFill>
                  <a:srgbClr val="1F1F1D"/>
                </a:solidFill>
              </a:rPr>
              <a:t>بعثات أوروبية ترصد الكلية فتكشف مذنبًا قرب الشمس لم يُرَ قبلها ولا بعدها، سُمّي «مذنب توفيق»</a:t>
            </a:r>
            <a:endParaRPr lang="ar-EG" sz="1600" dirty="0"/>
          </a:p>
          <a:p>
            <a:pPr rtl="1" algn="r" marL="228600" indent="-228600">
              <a:spcAft>
                <a:spcPts val="800"/>
              </a:spcAft>
              <a:buSzPct val="100000"/>
              <a:buChar char="•"/>
            </a:pPr>
            <a:r>
              <a:rPr lang="ar-EG" altLang="en-US" sz="1600" b="1" dirty="0">
                <a:solidFill>
                  <a:srgbClr val="1F1F1D"/>
                </a:solidFill>
              </a:rPr>
              <a:t>أسوان ١٩٠٥: </a:t>
            </a:r>
            <a:pPr rtl="1" algn="r" indent="0" marL="0">
              <a:buNone/>
            </a:pPr>
            <a:r>
              <a:rPr lang="ar-EG" altLang="en-US" sz="1600" dirty="0">
                <a:solidFill>
                  <a:srgbClr val="1F1F1D"/>
                </a:solidFill>
              </a:rPr>
              <a:t>آخر كسوف كلي فوق أسوان (٣٠ أغسطس)</a:t>
            </a:r>
            <a:endParaRPr lang="ar-EG" sz="1600" dirty="0"/>
          </a:p>
          <a:p>
            <a:pPr rtl="1" algn="r" marL="228600" indent="-228600">
              <a:spcAft>
                <a:spcPts val="800"/>
              </a:spcAft>
              <a:buSzPct val="100000"/>
              <a:buChar char="•"/>
            </a:pPr>
            <a:r>
              <a:rPr lang="ar-EG" altLang="en-US" sz="1600" b="1" dirty="0">
                <a:solidFill>
                  <a:srgbClr val="1F1F1D"/>
                </a:solidFill>
              </a:rPr>
              <a:t>السلوم ٢٠٠٦: </a:t>
            </a:r>
            <a:pPr rtl="1" algn="r" indent="0" marL="0">
              <a:buNone/>
            </a:pPr>
            <a:r>
              <a:rPr lang="ar-EG" altLang="en-US" sz="1600" dirty="0">
                <a:solidFill>
                  <a:srgbClr val="1F1F1D"/>
                </a:solidFill>
              </a:rPr>
              <a:t>كسوف ٢٩ مارس الكلي جمع الآلاف في الصحراء الغربية</a:t>
            </a:r>
            <a:endParaRPr lang="ar-EG" sz="1600" dirty="0"/>
          </a:p>
          <a:p>
            <a:pPr rtl="1" algn="r" marL="228600" indent="-228600">
              <a:spcAft>
                <a:spcPts val="800"/>
              </a:spcAft>
              <a:buSzPct val="100000"/>
              <a:buChar char="•"/>
            </a:pPr>
            <a:r>
              <a:rPr lang="ar-EG" altLang="en-US" sz="1600" b="1" dirty="0">
                <a:solidFill>
                  <a:srgbClr val="1F1F1D"/>
                </a:solidFill>
              </a:rPr>
              <a:t>٢٠٢٧: </a:t>
            </a:r>
            <a:pPr rtl="1" algn="r" indent="0" marL="0">
              <a:buNone/>
            </a:pPr>
            <a:r>
              <a:rPr lang="ar-EG" altLang="en-US" sz="1600" dirty="0">
                <a:solidFill>
                  <a:srgbClr val="1F1F1D"/>
                </a:solidFill>
              </a:rPr>
              <a:t>أطول وأوسع من ٢٠٠٦، ويمر بقلب مصر السياحية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١٥-٣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كسوفات صنعت العلم</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Eclipses that made science: helium (1868) and relativity (1919)</a:t>
            </a:r>
            <a:endParaRPr lang="en-US" sz="1400" dirty="0"/>
          </a:p>
        </p:txBody>
      </p:sp>
      <p:pic>
        <p:nvPicPr>
          <p:cNvPr id="4" name="eddington" descr="eddington">    </p:cNvPr>
          <p:cNvPicPr>
            <a:picLocks noChangeAspect="1"/>
          </p:cNvPicPr>
          <p:nvPr/>
        </p:nvPicPr>
        <p:blipFill>
          <a:blip r:embed="rId1"/>
          <a:stretch>
            <a:fillRect/>
          </a:stretch>
        </p:blipFill>
        <p:spPr>
          <a:xfrm>
            <a:off x="548640" y="1957031"/>
            <a:ext cx="5852160" cy="3401138"/>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١٧١٥ — هالي (Halley): </a:t>
            </a:r>
            <a:pPr rtl="1" algn="r" indent="0" marL="0">
              <a:buNone/>
            </a:pPr>
            <a:r>
              <a:rPr lang="ar-EG" altLang="en-US" sz="1500" dirty="0">
                <a:solidFill>
                  <a:srgbClr val="1F1F1D"/>
                </a:solidFill>
              </a:rPr>
              <a:t>أول خريطة تتنبأ بمسار الظل فوق إنجلترا، وجاء التنبؤ قريبًا جدًا من الواقع</a:t>
            </a:r>
            <a:endParaRPr lang="ar-EG" sz="1500" dirty="0"/>
          </a:p>
          <a:p>
            <a:pPr rtl="1" algn="r" marL="228600" indent="-228600">
              <a:spcAft>
                <a:spcPts val="800"/>
              </a:spcAft>
              <a:buSzPct val="100000"/>
              <a:buChar char="•"/>
            </a:pPr>
            <a:r>
              <a:rPr lang="ar-EG" altLang="en-US" sz="1500" b="1" dirty="0">
                <a:solidFill>
                  <a:srgbClr val="1F1F1D"/>
                </a:solidFill>
              </a:rPr>
              <a:t>١٨٥١ — أول صورة: </a:t>
            </a:r>
            <a:pPr rtl="1" algn="r" indent="0" marL="0">
              <a:buNone/>
            </a:pPr>
            <a:r>
              <a:rPr lang="ar-EG" altLang="en-US" sz="1500" dirty="0">
                <a:solidFill>
                  <a:srgbClr val="1F1F1D"/>
                </a:solidFill>
              </a:rPr>
              <a:t>التقط بيركوفسكي في كونيغسبرغ أول صورة فوتوغرافية ناجحة للكلية</a:t>
            </a:r>
            <a:endParaRPr lang="ar-EG" sz="1500" dirty="0"/>
          </a:p>
          <a:p>
            <a:pPr rtl="1" algn="r" marL="228600" indent="-228600">
              <a:spcAft>
                <a:spcPts val="800"/>
              </a:spcAft>
              <a:buSzPct val="100000"/>
              <a:buChar char="•"/>
            </a:pPr>
            <a:r>
              <a:rPr lang="ar-EG" altLang="en-US" sz="1500" b="1" dirty="0">
                <a:solidFill>
                  <a:srgbClr val="1F1F1D"/>
                </a:solidFill>
              </a:rPr>
              <a:t>١٨٦٨ — الهيليوم (Helium): </a:t>
            </a:r>
            <a:pPr rtl="1" algn="r" indent="0" marL="0">
              <a:buNone/>
            </a:pPr>
            <a:r>
              <a:rPr lang="ar-EG" altLang="en-US" sz="1500" dirty="0">
                <a:solidFill>
                  <a:srgbClr val="1F1F1D"/>
                </a:solidFill>
              </a:rPr>
              <a:t>خط أصفر في طيف الشواظ (Spectrum) كشف عنصرًا جديدًا سُمّي باسم الشمس</a:t>
            </a:r>
            <a:endParaRPr lang="ar-EG" sz="1500" dirty="0"/>
          </a:p>
          <a:p>
            <a:pPr rtl="1" algn="r" marL="228600" indent="-228600">
              <a:spcAft>
                <a:spcPts val="800"/>
              </a:spcAft>
              <a:buSzPct val="100000"/>
              <a:buChar char="•"/>
            </a:pPr>
            <a:r>
              <a:rPr lang="ar-EG" altLang="en-US" sz="1500" b="1" dirty="0">
                <a:solidFill>
                  <a:srgbClr val="1F1F1D"/>
                </a:solidFill>
              </a:rPr>
              <a:t>١٩١٩ — أينشتاين: </a:t>
            </a:r>
            <a:pPr rtl="1" algn="r" indent="0" marL="0">
              <a:buNone/>
            </a:pPr>
            <a:r>
              <a:rPr lang="ar-EG" altLang="en-US" sz="1500" dirty="0">
                <a:solidFill>
                  <a:srgbClr val="1F1F1D"/>
                </a:solidFill>
              </a:rPr>
              <a:t>بعثتا إدنغتون قاستا انحناء ضوء النجوم قرب الشمس (١٫٧٥″)، فأيّدتا النسبية العامة (General relativity)</a:t>
            </a:r>
            <a:endParaRPr lang="ar-EG" sz="1500" dirty="0"/>
          </a:p>
          <a:p>
            <a:pPr rtl="1" algn="r" marL="228600" indent="-228600">
              <a:spcAft>
                <a:spcPts val="800"/>
              </a:spcAft>
              <a:buSzPct val="100000"/>
              <a:buChar char="•"/>
            </a:pPr>
            <a:r>
              <a:rPr lang="ar-EG" altLang="en-US" sz="1500" b="1" dirty="0">
                <a:solidFill>
                  <a:srgbClr val="1F1F1D"/>
                </a:solidFill>
              </a:rPr>
              <a:t>١٩٧٣ — الكونكورد: </a:t>
            </a:r>
            <a:pPr rtl="1" algn="r" indent="0" marL="0">
              <a:buNone/>
            </a:pPr>
            <a:r>
              <a:rPr lang="ar-EG" altLang="en-US" sz="1500" dirty="0">
                <a:solidFill>
                  <a:srgbClr val="1F1F1D"/>
                </a:solidFill>
              </a:rPr>
              <a:t>طائرة طاردت الظل ٧٤ دقيقة من الكلية فوق الصحراء الكبرى</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١٠-٢ من الكتاب: تجربة إدنغتون ١٩١٩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على المكان نفسه: متى رأت مدن مصر الكسوف الكلي؟</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Recurrence at one place: when did Egypt's cities last see totality?</a:t>
            </a:r>
            <a:endParaRPr lang="en-US" sz="1400" dirty="0"/>
          </a:p>
        </p:txBody>
      </p:sp>
      <p:pic>
        <p:nvPicPr>
          <p:cNvPr id="4" name="lastTotal" descr="lastTotal">    </p:cNvPr>
          <p:cNvPicPr>
            <a:picLocks noChangeAspect="1"/>
          </p:cNvPicPr>
          <p:nvPr/>
        </p:nvPicPr>
        <p:blipFill>
          <a:blip r:embed="rId1"/>
          <a:stretch>
            <a:fillRect/>
          </a:stretch>
        </p:blipFill>
        <p:spPr>
          <a:xfrm>
            <a:off x="548640" y="1834071"/>
            <a:ext cx="6126480" cy="3647058"/>
          </a:xfrm>
          <a:prstGeom prst="rect">
            <a:avLst/>
          </a:prstGeom>
        </p:spPr>
      </p:pic>
      <p:sp>
        <p:nvSpPr>
          <p:cNvPr id="5" name="Text 2"/>
          <p:cNvSpPr txBox="1"/>
          <p:nvPr/>
        </p:nvSpPr>
        <p:spPr>
          <a:xfrm>
            <a:off x="6995160" y="1371600"/>
            <a:ext cx="46478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القاهرة والإسكندرية: </a:t>
            </a:r>
            <a:pPr rtl="1" algn="r" indent="0" marL="0">
              <a:buNone/>
            </a:pPr>
            <a:r>
              <a:rPr lang="ar-EG" altLang="en-US" sz="1600" dirty="0">
                <a:solidFill>
                  <a:srgbClr val="1F1F1D"/>
                </a:solidFill>
              </a:rPr>
              <a:t>آخر كلية في ٦ أكتوبر ١٢٤١م — وفي ٢٠٢٧ جزئي فقط</a:t>
            </a:r>
            <a:endParaRPr lang="ar-EG" sz="1600" dirty="0"/>
          </a:p>
          <a:p>
            <a:pPr rtl="1" algn="r" marL="228600" indent="-228600">
              <a:spcAft>
                <a:spcPts val="800"/>
              </a:spcAft>
              <a:buSzPct val="100000"/>
              <a:buChar char="•"/>
            </a:pPr>
            <a:r>
              <a:rPr lang="ar-EG" altLang="en-US" sz="1600" b="1" dirty="0">
                <a:solidFill>
                  <a:srgbClr val="1F1F1D"/>
                </a:solidFill>
              </a:rPr>
              <a:t>الأقصر: </a:t>
            </a:r>
            <a:pPr rtl="1" algn="r" indent="0" marL="0">
              <a:buNone/>
            </a:pPr>
            <a:r>
              <a:rPr lang="ar-EG" altLang="en-US" sz="1600" dirty="0">
                <a:solidFill>
                  <a:srgbClr val="1F1F1D"/>
                </a:solidFill>
              </a:rPr>
              <a:t>آخر كلية في ١٠ يناير ١٣٧٧م — ثم ٢ أغسطس ٢٠٢٧</a:t>
            </a:r>
            <a:endParaRPr lang="ar-EG" sz="1600" dirty="0"/>
          </a:p>
          <a:p>
            <a:pPr rtl="1" algn="r" marL="228600" indent="-228600">
              <a:spcAft>
                <a:spcPts val="800"/>
              </a:spcAft>
              <a:buSzPct val="100000"/>
              <a:buChar char="•"/>
            </a:pPr>
            <a:r>
              <a:rPr lang="ar-EG" altLang="en-US" sz="1600" b="1" dirty="0">
                <a:solidFill>
                  <a:srgbClr val="1F1F1D"/>
                </a:solidFill>
              </a:rPr>
              <a:t>أسوان: </a:t>
            </a:r>
            <a:pPr rtl="1" algn="r" indent="0" marL="0">
              <a:buNone/>
            </a:pPr>
            <a:r>
              <a:rPr lang="ar-EG" altLang="en-US" sz="1600" dirty="0">
                <a:solidFill>
                  <a:srgbClr val="1F1F1D"/>
                </a:solidFill>
              </a:rPr>
              <a:t>آخر كلية في ٣٠ أغسطس ١٩٠٥ — وفي ٢٠٢٧ جزئي ٩٩٫٨٪</a:t>
            </a:r>
            <a:endParaRPr lang="ar-EG" sz="1600" dirty="0"/>
          </a:p>
          <a:p>
            <a:pPr rtl="1" algn="r" marL="228600" indent="-228600">
              <a:spcAft>
                <a:spcPts val="800"/>
              </a:spcAft>
              <a:buSzPct val="100000"/>
              <a:buChar char="•"/>
            </a:pPr>
            <a:r>
              <a:rPr lang="ar-EG" altLang="en-US" sz="1600" b="1" dirty="0">
                <a:solidFill>
                  <a:srgbClr val="1F1F1D"/>
                </a:solidFill>
              </a:rPr>
              <a:t>السلوم: </a:t>
            </a:r>
            <a:pPr rtl="1" algn="r" indent="0" marL="0">
              <a:buNone/>
            </a:pPr>
            <a:r>
              <a:rPr lang="ar-EG" altLang="en-US" sz="1600" dirty="0">
                <a:solidFill>
                  <a:srgbClr val="1F1F1D"/>
                </a:solidFill>
              </a:rPr>
              <a:t>رأت الكلية في ٢٩ مارس ٢٠٠٦ (٤ دقائق تقريبًا)</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٢٣-٣ من الكتاب (محسوب: ERFA قبل ١٩٠٠ وDE421 بعدها)</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٢-ب</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الكسوف والخسوف في الحضارة الإسلامية</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Eclipses in Islamic civilization</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من حديث «لا ينكسفان لموت أحد» وصلاة الكسوف إلى أرصاد ابن يونس وابن الهيثم في القاهرة</a:t>
            </a:r>
            <a:endParaRPr lang="ar-EG"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«لا ينكسفان لموت أحد ولا لحياته»</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“They are not eclipsed for anyone's death or life” — the eclipse of 632 CE</a:t>
            </a:r>
            <a:endParaRPr lang="en-US" sz="1400" dirty="0"/>
          </a:p>
        </p:txBody>
      </p:sp>
      <p:sp>
        <p:nvSpPr>
          <p:cNvPr id="4" name="hadith-card"/>
          <p:cNvSpPr/>
          <p:nvPr/>
        </p:nvSpPr>
        <p:spPr>
          <a:xfrm>
            <a:off x="4892040" y="1371600"/>
            <a:ext cx="6751015" cy="2788920"/>
          </a:xfrm>
          <a:prstGeom prst="roundRect">
            <a:avLst>
              <a:gd name="adj" fmla="val 3934"/>
            </a:avLst>
          </a:prstGeom>
          <a:solidFill>
            <a:srgbClr val="0F1B2D"/>
          </a:solidFill>
          <a:ln w="9525">
            <a:solidFill>
              <a:srgbClr val="0F1B2D"/>
            </a:solidFill>
            <a:prstDash val="solid"/>
          </a:ln>
        </p:spPr>
      </p:sp>
      <p:sp>
        <p:nvSpPr>
          <p:cNvPr id="5" name="Text 3"/>
          <p:cNvSpPr txBox="1"/>
          <p:nvPr/>
        </p:nvSpPr>
        <p:spPr>
          <a:xfrm>
            <a:off x="5166360" y="1508760"/>
            <a:ext cx="6202375" cy="2514600"/>
          </a:xfrm>
          <a:prstGeom prst="rect">
            <a:avLst/>
          </a:prstGeom>
          <a:noFill/>
          <a:ln/>
        </p:spPr>
        <p:txBody>
          <a:bodyPr wrap="square" lIns="0" tIns="0" rIns="0" bIns="0" rtlCol="0" anchor="ctr"/>
          <a:lstStyle/>
          <a:p>
            <a:pPr rtl="1" algn="r" indent="0" marL="0">
              <a:spcAft>
                <a:spcPts val="1000"/>
              </a:spcAft>
              <a:buNone/>
            </a:pPr>
            <a:r>
              <a:rPr lang="ar-EG" altLang="en-US" sz="2100" dirty="0">
                <a:solidFill>
                  <a:srgbClr val="FFFFFF"/>
                </a:solidFill>
              </a:rPr>
              <a:t>«إِنَّ الشَّمْسَ وَالْقَمَرَ آيَتَانِ مِنْ آيَاتِ اللَّهِ، لَا يَنْكَسِفَانِ لِمَوْتِ أَحَدٍ وَلَا لِحَيَاتِهِ، فَإِذَا رَأَيْتُمْ ذَلِكَ فَادْعُوا اللَّهَ وَكَبِّرُوا وَصَلُّوا وَتَصَدَّقُوا»</a:t>
            </a:r>
            <a:endParaRPr lang="en-US" sz="2100" dirty="0"/>
          </a:p>
          <a:p>
            <a:pPr rtl="1" algn="r" indent="0" marL="0">
              <a:spcAft>
                <a:spcPts val="1000"/>
              </a:spcAft>
              <a:buNone/>
            </a:pPr>
            <a:r>
              <a:rPr lang="ar-EG" altLang="en-US" sz="1400" dirty="0">
                <a:solidFill>
                  <a:srgbClr val="F7B733"/>
                </a:solidFill>
              </a:rPr>
              <a:t>صحيح البخاري، من حديث عائشة رضي الله عنها</a:t>
            </a:r>
            <a:endParaRPr lang="en-US" sz="2100" dirty="0"/>
          </a:p>
        </p:txBody>
      </p:sp>
      <p:sp>
        <p:nvSpPr>
          <p:cNvPr id="6" name="Text 4"/>
          <p:cNvSpPr txBox="1"/>
          <p:nvPr/>
        </p:nvSpPr>
        <p:spPr>
          <a:xfrm>
            <a:off x="4892040" y="4343400"/>
            <a:ext cx="6751015" cy="169164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600" b="1" dirty="0">
                <a:solidFill>
                  <a:srgbClr val="1F1F1D"/>
                </a:solidFill>
              </a:rPr>
              <a:t>المناسبة: </a:t>
            </a:r>
            <a:pPr rtl="1" algn="r" indent="0" marL="0">
              <a:buNone/>
            </a:pPr>
            <a:r>
              <a:rPr lang="ar-EG" altLang="en-US" sz="1600" dirty="0">
                <a:solidFill>
                  <a:srgbClr val="1F1F1D"/>
                </a:solidFill>
              </a:rPr>
              <a:t>انكسفت الشمس يوم مات إبراهيم ابن النبي ﷺ، فقال الناس: انكسفت لموته</a:t>
            </a:r>
            <a:endParaRPr lang="ar-EG" sz="1600" dirty="0"/>
          </a:p>
          <a:p>
            <a:pPr rtl="1" algn="r" marL="228600" indent="-228600">
              <a:spcAft>
                <a:spcPts val="1000"/>
              </a:spcAft>
              <a:buSzPct val="100000"/>
              <a:buChar char="•"/>
            </a:pPr>
            <a:r>
              <a:rPr lang="ar-EG" altLang="en-US" sz="1600" b="1" dirty="0">
                <a:solidFill>
                  <a:srgbClr val="1F1F1D"/>
                </a:solidFill>
              </a:rPr>
              <a:t>الرسالة: </a:t>
            </a:r>
            <a:pPr rtl="1" algn="r" indent="0" marL="0">
              <a:buNone/>
            </a:pPr>
            <a:r>
              <a:rPr lang="ar-EG" altLang="en-US" sz="1600" dirty="0">
                <a:solidFill>
                  <a:srgbClr val="1F1F1D"/>
                </a:solidFill>
              </a:rPr>
              <a:t>قطع الصلة بين الكسوف وأحداث البشر — موقف علمي سابق لعصره</a:t>
            </a:r>
            <a:endParaRPr lang="ar-EG" sz="1600" dirty="0"/>
          </a:p>
          <a:p>
            <a:pPr rtl="1" algn="r" marL="228600" indent="-228600">
              <a:spcAft>
                <a:spcPts val="1000"/>
              </a:spcAft>
              <a:buSzPct val="100000"/>
              <a:buChar char="•"/>
            </a:pPr>
            <a:r>
              <a:rPr lang="ar-EG" altLang="en-US" sz="1600" b="1" dirty="0">
                <a:solidFill>
                  <a:srgbClr val="1F1F1D"/>
                </a:solidFill>
              </a:rPr>
              <a:t>للمرشد: </a:t>
            </a:r>
            <a:pPr rtl="1" algn="r" indent="0" marL="0">
              <a:buNone/>
            </a:pPr>
            <a:r>
              <a:rPr lang="ar-EG" altLang="en-US" sz="1600" dirty="0">
                <a:solidFill>
                  <a:srgbClr val="1F1F1D"/>
                </a:solidFill>
              </a:rPr>
              <a:t>جواب جاهز لكل سؤال عن «نحس» الكسوف أو تأثيره في المصائر</a:t>
            </a:r>
            <a:endParaRPr lang="ar-EG" sz="1600" dirty="0"/>
          </a:p>
        </p:txBody>
      </p:sp>
      <p:sp>
        <p:nvSpPr>
          <p:cNvPr id="7" name="calc-632"/>
          <p:cNvSpPr/>
          <p:nvPr/>
        </p:nvSpPr>
        <p:spPr>
          <a:xfrm>
            <a:off x="548640" y="1371600"/>
            <a:ext cx="4114800" cy="4663440"/>
          </a:xfrm>
          <a:prstGeom prst="roundRect">
            <a:avLst>
              <a:gd name="adj" fmla="val 2667"/>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calc-disc"/>
          <p:cNvSpPr/>
          <p:nvPr/>
        </p:nvSpPr>
        <p:spPr>
          <a:xfrm>
            <a:off x="3794760" y="1572768"/>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9" name="Text 7"/>
          <p:cNvSpPr txBox="1"/>
          <p:nvPr/>
        </p:nvSpPr>
        <p:spPr>
          <a:xfrm>
            <a:off x="777240" y="1600200"/>
            <a:ext cx="2926080" cy="548640"/>
          </a:xfrm>
          <a:prstGeom prst="rect">
            <a:avLst/>
          </a:prstGeom>
          <a:noFill/>
          <a:ln/>
        </p:spPr>
        <p:txBody>
          <a:bodyPr wrap="square" lIns="0" tIns="0" rIns="0" bIns="0" rtlCol="0" anchor="ctr"/>
          <a:lstStyle/>
          <a:p>
            <a:pPr rtl="1" algn="r" indent="0" marL="0">
              <a:buNone/>
            </a:pPr>
            <a:r>
              <a:rPr lang="ar-EG" altLang="en-US" sz="1900" b="1" dirty="0">
                <a:solidFill>
                  <a:srgbClr val="1D4E89"/>
                </a:solidFill>
              </a:rPr>
              <a:t>ماذا يقول الحساب؟</a:t>
            </a:r>
            <a:endParaRPr lang="ar-EG" sz="1900" dirty="0"/>
          </a:p>
        </p:txBody>
      </p:sp>
      <p:sp>
        <p:nvSpPr>
          <p:cNvPr id="10" name="Text 8"/>
          <p:cNvSpPr txBox="1"/>
          <p:nvPr/>
        </p:nvSpPr>
        <p:spPr>
          <a:xfrm>
            <a:off x="777240" y="237744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التاريخ</a:t>
            </a:r>
            <a:endParaRPr lang="ar-EG" sz="1300" dirty="0"/>
          </a:p>
        </p:txBody>
      </p:sp>
      <p:sp>
        <p:nvSpPr>
          <p:cNvPr id="11" name="Text 9"/>
          <p:cNvSpPr txBox="1"/>
          <p:nvPr/>
        </p:nvSpPr>
        <p:spPr>
          <a:xfrm>
            <a:off x="777240" y="267919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rPr>
              <a:t>٢٧ يناير ٦٣٢م (أواخر شوال ١٠هـ)</a:t>
            </a:r>
            <a:endParaRPr lang="ar-EG" sz="1500" dirty="0"/>
          </a:p>
        </p:txBody>
      </p:sp>
      <p:sp>
        <p:nvSpPr>
          <p:cNvPr id="12" name="Text 10"/>
          <p:cNvSpPr txBox="1"/>
          <p:nvPr/>
        </p:nvSpPr>
        <p:spPr>
          <a:xfrm>
            <a:off x="777240" y="324612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النوع</a:t>
            </a:r>
            <a:endParaRPr lang="ar-EG" sz="1300" dirty="0"/>
          </a:p>
        </p:txBody>
      </p:sp>
      <p:sp>
        <p:nvSpPr>
          <p:cNvPr id="13" name="Text 11"/>
          <p:cNvSpPr txBox="1"/>
          <p:nvPr/>
        </p:nvSpPr>
        <p:spPr>
          <a:xfrm>
            <a:off x="777240" y="354787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rPr>
              <a:t>كسوف حلقي مرّ مساره جنوب الجزيرة</a:t>
            </a:r>
            <a:endParaRPr lang="ar-EG" sz="1500" dirty="0"/>
          </a:p>
        </p:txBody>
      </p:sp>
      <p:sp>
        <p:nvSpPr>
          <p:cNvPr id="14" name="Text 12"/>
          <p:cNvSpPr txBox="1"/>
          <p:nvPr/>
        </p:nvSpPr>
        <p:spPr>
          <a:xfrm>
            <a:off x="777240" y="411480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في المدينة</a:t>
            </a:r>
            <a:endParaRPr lang="ar-EG" sz="1300" dirty="0"/>
          </a:p>
        </p:txBody>
      </p:sp>
      <p:sp>
        <p:nvSpPr>
          <p:cNvPr id="15" name="Text 13"/>
          <p:cNvSpPr txBox="1"/>
          <p:nvPr/>
        </p:nvSpPr>
        <p:spPr>
          <a:xfrm>
            <a:off x="777240" y="441655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rPr>
              <a:t>جزئي، حُجب نحو ٧٧٪ من قرص الشمس</a:t>
            </a:r>
            <a:endParaRPr lang="ar-EG" sz="1500" dirty="0"/>
          </a:p>
        </p:txBody>
      </p:sp>
      <p:sp>
        <p:nvSpPr>
          <p:cNvPr id="16" name="Text 14"/>
          <p:cNvSpPr txBox="1"/>
          <p:nvPr/>
        </p:nvSpPr>
        <p:spPr>
          <a:xfrm>
            <a:off x="777240" y="4983480"/>
            <a:ext cx="3657600" cy="32004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الوقت</a:t>
            </a:r>
            <a:endParaRPr lang="ar-EG" sz="1300" dirty="0"/>
          </a:p>
        </p:txBody>
      </p:sp>
      <p:sp>
        <p:nvSpPr>
          <p:cNvPr id="17" name="Text 15"/>
          <p:cNvSpPr txBox="1"/>
          <p:nvPr/>
        </p:nvSpPr>
        <p:spPr>
          <a:xfrm>
            <a:off x="777240" y="5285232"/>
            <a:ext cx="3657600" cy="502920"/>
          </a:xfrm>
          <a:prstGeom prst="rect">
            <a:avLst/>
          </a:prstGeom>
          <a:noFill/>
          <a:ln/>
        </p:spPr>
        <p:txBody>
          <a:bodyPr wrap="square" lIns="0" tIns="0" rIns="0" bIns="0" rtlCol="0" anchor="t"/>
          <a:lstStyle/>
          <a:p>
            <a:pPr rtl="1" algn="r" indent="0" marL="0">
              <a:buNone/>
            </a:pPr>
            <a:r>
              <a:rPr lang="ar-EG" altLang="en-US" sz="1500" dirty="0">
                <a:solidFill>
                  <a:srgbClr val="1F1F1D"/>
                </a:solidFill>
              </a:rPr>
              <a:t>ضحى، نحو الثامنة صباحًا بالتوقيت المحلي</a:t>
            </a:r>
            <a:endParaRPr lang="ar-EG" sz="1500" dirty="0"/>
          </a:p>
        </p:txBody>
      </p:sp>
      <p:sp>
        <p:nvSpPr>
          <p:cNvPr id="18" name="Text 16"/>
          <p:cNvSpPr txBox="1"/>
          <p:nvPr/>
        </p:nvSpPr>
        <p:spPr>
          <a:xfrm>
            <a:off x="548640" y="6053328"/>
            <a:ext cx="411480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حساب خاص بالمحاضرة (ERFA + ΔT لإسبيناك ومييس)، تقريبي لبعد العهد</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صلاة الكسوف والخسوف — ووقت الظهر يوم ٢٠٢٧</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eclipse prayer (Salat al-Kusuf) and Dhuhr time on eclipse day</a:t>
            </a:r>
            <a:endParaRPr lang="en-US" sz="1400" dirty="0"/>
          </a:p>
        </p:txBody>
      </p:sp>
      <p:sp>
        <p:nvSpPr>
          <p:cNvPr id="4" name="prayer-0"/>
          <p:cNvSpPr/>
          <p:nvPr/>
        </p:nvSpPr>
        <p:spPr>
          <a:xfrm>
            <a:off x="5623560" y="1371600"/>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9905695" y="1463040"/>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rPr>
              <a:t>سنة مؤكدة</a:t>
            </a:r>
            <a:endParaRPr lang="ar-EG" sz="1600" dirty="0"/>
          </a:p>
        </p:txBody>
      </p:sp>
      <p:sp>
        <p:nvSpPr>
          <p:cNvPr id="6" name="Text 4"/>
          <p:cNvSpPr txBox="1"/>
          <p:nvPr/>
        </p:nvSpPr>
        <p:spPr>
          <a:xfrm>
            <a:off x="5806440" y="1444752"/>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rPr>
              <a:t>صلاة جماعة في المسجد عند حدوث الكسوف أو الخسوف، ووقتها من بدئه حتى ينجلي</a:t>
            </a:r>
            <a:endParaRPr lang="ar-EG" sz="1400" dirty="0"/>
          </a:p>
        </p:txBody>
      </p:sp>
      <p:sp>
        <p:nvSpPr>
          <p:cNvPr id="7" name="prayer-1"/>
          <p:cNvSpPr/>
          <p:nvPr/>
        </p:nvSpPr>
        <p:spPr>
          <a:xfrm>
            <a:off x="5623560" y="2395728"/>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9905695" y="2487168"/>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rPr>
              <a:t>صفتها</a:t>
            </a:r>
            <a:endParaRPr lang="ar-EG" sz="1600" dirty="0"/>
          </a:p>
        </p:txBody>
      </p:sp>
      <p:sp>
        <p:nvSpPr>
          <p:cNvPr id="9" name="Text 7"/>
          <p:cNvSpPr txBox="1"/>
          <p:nvPr/>
        </p:nvSpPr>
        <p:spPr>
          <a:xfrm>
            <a:off x="5806440" y="2468880"/>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rPr>
              <a:t>ركعتان، في كل ركعة قيامان وركوعان عند الجمهور، مع إطالة القراءة</a:t>
            </a:r>
            <a:endParaRPr lang="ar-EG" sz="1400" dirty="0"/>
          </a:p>
        </p:txBody>
      </p:sp>
      <p:sp>
        <p:nvSpPr>
          <p:cNvPr id="10" name="prayer-2"/>
          <p:cNvSpPr/>
          <p:nvPr/>
        </p:nvSpPr>
        <p:spPr>
          <a:xfrm>
            <a:off x="5623560" y="3419856"/>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9905695" y="3511296"/>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rPr>
              <a:t>مع الصلاة</a:t>
            </a:r>
            <a:endParaRPr lang="ar-EG" sz="1600" dirty="0"/>
          </a:p>
        </p:txBody>
      </p:sp>
      <p:sp>
        <p:nvSpPr>
          <p:cNvPr id="12" name="Text 10"/>
          <p:cNvSpPr txBox="1"/>
          <p:nvPr/>
        </p:nvSpPr>
        <p:spPr>
          <a:xfrm>
            <a:off x="5806440" y="3493008"/>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rPr>
              <a:t>الدعاء والتكبير والصدقة، وخطبة يُذكَّر فيها الناس، كما في الحديث</a:t>
            </a:r>
            <a:endParaRPr lang="ar-EG" sz="1400" dirty="0"/>
          </a:p>
        </p:txBody>
      </p:sp>
      <p:sp>
        <p:nvSpPr>
          <p:cNvPr id="13" name="prayer-3"/>
          <p:cNvSpPr/>
          <p:nvPr/>
        </p:nvSpPr>
        <p:spPr>
          <a:xfrm>
            <a:off x="5623560" y="4443984"/>
            <a:ext cx="6019495" cy="914400"/>
          </a:xfrm>
          <a:prstGeom prst="roundRect">
            <a:avLst>
              <a:gd name="adj" fmla="val 1200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9905695" y="4535424"/>
            <a:ext cx="1554480" cy="731520"/>
          </a:xfrm>
          <a:prstGeom prst="rect">
            <a:avLst/>
          </a:prstGeom>
          <a:noFill/>
          <a:ln/>
        </p:spPr>
        <p:txBody>
          <a:bodyPr wrap="square" lIns="0" tIns="0" rIns="0" bIns="0" rtlCol="0" anchor="ctr"/>
          <a:lstStyle/>
          <a:p>
            <a:pPr rtl="1" algn="r" indent="0" marL="0">
              <a:buNone/>
            </a:pPr>
            <a:r>
              <a:rPr lang="ar-EG" altLang="en-US" sz="1600" b="1" dirty="0">
                <a:solidFill>
                  <a:srgbClr val="0F1B2D"/>
                </a:solidFill>
              </a:rPr>
              <a:t>المصطلح</a:t>
            </a:r>
            <a:endParaRPr lang="ar-EG" sz="1600" dirty="0"/>
          </a:p>
        </p:txBody>
      </p:sp>
      <p:sp>
        <p:nvSpPr>
          <p:cNvPr id="15" name="Text 13"/>
          <p:cNvSpPr txBox="1"/>
          <p:nvPr/>
        </p:nvSpPr>
        <p:spPr>
          <a:xfrm>
            <a:off x="5806440" y="4517136"/>
            <a:ext cx="4007815" cy="777240"/>
          </a:xfrm>
          <a:prstGeom prst="rect">
            <a:avLst/>
          </a:prstGeom>
          <a:noFill/>
          <a:ln/>
        </p:spPr>
        <p:txBody>
          <a:bodyPr wrap="square" lIns="0" tIns="0" rIns="0" bIns="0" rtlCol="0" anchor="ctr"/>
          <a:lstStyle/>
          <a:p>
            <a:pPr rtl="1" algn="r" indent="0" marL="0">
              <a:buNone/>
            </a:pPr>
            <a:r>
              <a:rPr lang="ar-EG" altLang="en-US" sz="1400" dirty="0">
                <a:solidFill>
                  <a:srgbClr val="1F1F1D"/>
                </a:solidFill>
              </a:rPr>
              <a:t>يُستعمل اللفظان في اللغة للنيّرين، واشتهر: الكسوف للشمس والخسوف للقمر «وَخَسَفَ الْقَمَرُ» (القيامة: ٨)</a:t>
            </a:r>
            <a:endParaRPr lang="ar-EG" sz="1400" dirty="0"/>
          </a:p>
        </p:txBody>
      </p:sp>
      <p:sp>
        <p:nvSpPr>
          <p:cNvPr id="16" name="dhuhr-card"/>
          <p:cNvSpPr/>
          <p:nvPr/>
        </p:nvSpPr>
        <p:spPr>
          <a:xfrm>
            <a:off x="548640" y="1371600"/>
            <a:ext cx="4800600" cy="3977640"/>
          </a:xfrm>
          <a:prstGeom prst="roundRect">
            <a:avLst>
              <a:gd name="adj" fmla="val 2759"/>
            </a:avLst>
          </a:prstGeom>
          <a:solidFill>
            <a:srgbClr val="0F1B2D"/>
          </a:solidFill>
          <a:ln w="9525">
            <a:solidFill>
              <a:srgbClr val="0F1B2D"/>
            </a:solidFill>
            <a:prstDash val="solid"/>
          </a:ln>
        </p:spPr>
      </p:sp>
      <p:sp>
        <p:nvSpPr>
          <p:cNvPr id="17" name="Text 15"/>
          <p:cNvSpPr txBox="1"/>
          <p:nvPr/>
        </p:nvSpPr>
        <p:spPr>
          <a:xfrm>
            <a:off x="822960" y="1554480"/>
            <a:ext cx="4251960" cy="502920"/>
          </a:xfrm>
          <a:prstGeom prst="rect">
            <a:avLst/>
          </a:prstGeom>
          <a:noFill/>
          <a:ln/>
        </p:spPr>
        <p:txBody>
          <a:bodyPr wrap="square" lIns="0" tIns="0" rIns="0" bIns="0" rtlCol="0" anchor="ctr"/>
          <a:lstStyle/>
          <a:p>
            <a:pPr rtl="1" algn="r" indent="0" marL="0">
              <a:buNone/>
            </a:pPr>
            <a:r>
              <a:rPr lang="ar-EG" altLang="en-US" sz="1800" b="1" dirty="0">
                <a:solidFill>
                  <a:srgbClr val="F7B733"/>
                </a:solidFill>
              </a:rPr>
              <a:t>انتبه: الكلية بعد أذان الظهر بدقائق</a:t>
            </a:r>
            <a:endParaRPr lang="ar-EG" sz="1800" dirty="0"/>
          </a:p>
        </p:txBody>
      </p:sp>
      <p:sp>
        <p:nvSpPr>
          <p:cNvPr id="18" name="Text 16"/>
          <p:cNvSpPr txBox="1"/>
          <p:nvPr/>
        </p:nvSpPr>
        <p:spPr>
          <a:xfrm>
            <a:off x="365760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rPr>
              <a:t>المدينة</a:t>
            </a:r>
            <a:endParaRPr lang="en-US" sz="1300" dirty="0"/>
          </a:p>
        </p:txBody>
      </p:sp>
      <p:sp>
        <p:nvSpPr>
          <p:cNvPr id="19" name="Text 17"/>
          <p:cNvSpPr txBox="1"/>
          <p:nvPr/>
        </p:nvSpPr>
        <p:spPr>
          <a:xfrm>
            <a:off x="224028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rPr>
              <a:t>الزوال</a:t>
            </a:r>
            <a:endParaRPr lang="en-US" sz="1300" dirty="0"/>
          </a:p>
        </p:txBody>
      </p:sp>
      <p:sp>
        <p:nvSpPr>
          <p:cNvPr id="20" name="Text 18"/>
          <p:cNvSpPr txBox="1"/>
          <p:nvPr/>
        </p:nvSpPr>
        <p:spPr>
          <a:xfrm>
            <a:off x="822960" y="2194560"/>
            <a:ext cx="1417320" cy="457200"/>
          </a:xfrm>
          <a:prstGeom prst="rect">
            <a:avLst/>
          </a:prstGeom>
          <a:noFill/>
          <a:ln/>
        </p:spPr>
        <p:txBody>
          <a:bodyPr wrap="square" lIns="0" tIns="0" rIns="0" bIns="0" rtlCol="0" anchor="ctr"/>
          <a:lstStyle/>
          <a:p>
            <a:pPr rtl="1" algn="ctr" indent="0" marL="0">
              <a:buNone/>
            </a:pPr>
            <a:r>
              <a:rPr lang="en-US" sz="1300" b="1" dirty="0">
                <a:solidFill>
                  <a:srgbClr val="8C9AB3"/>
                </a:solidFill>
              </a:rPr>
              <a:t>بداية الكلية</a:t>
            </a:r>
            <a:endParaRPr lang="en-US" sz="1300" dirty="0"/>
          </a:p>
        </p:txBody>
      </p:sp>
      <p:sp>
        <p:nvSpPr>
          <p:cNvPr id="21" name="Text 19"/>
          <p:cNvSpPr txBox="1"/>
          <p:nvPr/>
        </p:nvSpPr>
        <p:spPr>
          <a:xfrm>
            <a:off x="3657600" y="274320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rPr>
              <a:t>الأقصر</a:t>
            </a:r>
            <a:endParaRPr lang="en-US" sz="1500" dirty="0"/>
          </a:p>
        </p:txBody>
      </p:sp>
      <p:sp>
        <p:nvSpPr>
          <p:cNvPr id="22" name="Text 20"/>
          <p:cNvSpPr txBox="1"/>
          <p:nvPr/>
        </p:nvSpPr>
        <p:spPr>
          <a:xfrm>
            <a:off x="2240280" y="274320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rPr>
              <a:t>١٢:٥٦</a:t>
            </a:r>
            <a:endParaRPr lang="en-US" sz="1500" dirty="0"/>
          </a:p>
        </p:txBody>
      </p:sp>
      <p:sp>
        <p:nvSpPr>
          <p:cNvPr id="23" name="Text 21"/>
          <p:cNvSpPr txBox="1"/>
          <p:nvPr/>
        </p:nvSpPr>
        <p:spPr>
          <a:xfrm>
            <a:off x="822960" y="274320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rPr>
              <a:t>١٣:٠١:٥٨</a:t>
            </a:r>
            <a:endParaRPr lang="en-US" sz="1500" dirty="0"/>
          </a:p>
        </p:txBody>
      </p:sp>
      <p:sp>
        <p:nvSpPr>
          <p:cNvPr id="24" name="Text 22"/>
          <p:cNvSpPr txBox="1"/>
          <p:nvPr/>
        </p:nvSpPr>
        <p:spPr>
          <a:xfrm>
            <a:off x="3657600" y="329184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rPr>
              <a:t>سوهاج</a:t>
            </a:r>
            <a:endParaRPr lang="en-US" sz="1500" dirty="0"/>
          </a:p>
        </p:txBody>
      </p:sp>
      <p:sp>
        <p:nvSpPr>
          <p:cNvPr id="25" name="Text 23"/>
          <p:cNvSpPr txBox="1"/>
          <p:nvPr/>
        </p:nvSpPr>
        <p:spPr>
          <a:xfrm>
            <a:off x="2240280" y="329184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rPr>
              <a:t>١٢:٥٩</a:t>
            </a:r>
            <a:endParaRPr lang="en-US" sz="1500" dirty="0"/>
          </a:p>
        </p:txBody>
      </p:sp>
      <p:sp>
        <p:nvSpPr>
          <p:cNvPr id="26" name="Text 24"/>
          <p:cNvSpPr txBox="1"/>
          <p:nvPr/>
        </p:nvSpPr>
        <p:spPr>
          <a:xfrm>
            <a:off x="822960" y="329184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rPr>
              <a:t>١٢:٥٨:٣٨</a:t>
            </a:r>
            <a:endParaRPr lang="en-US" sz="1500" dirty="0"/>
          </a:p>
        </p:txBody>
      </p:sp>
      <p:sp>
        <p:nvSpPr>
          <p:cNvPr id="27" name="Text 25"/>
          <p:cNvSpPr txBox="1"/>
          <p:nvPr/>
        </p:nvSpPr>
        <p:spPr>
          <a:xfrm>
            <a:off x="3657600" y="384048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rPr>
              <a:t>أسوان</a:t>
            </a:r>
            <a:endParaRPr lang="en-US" sz="1500" dirty="0"/>
          </a:p>
        </p:txBody>
      </p:sp>
      <p:sp>
        <p:nvSpPr>
          <p:cNvPr id="28" name="Text 26"/>
          <p:cNvSpPr txBox="1"/>
          <p:nvPr/>
        </p:nvSpPr>
        <p:spPr>
          <a:xfrm>
            <a:off x="2240280" y="384048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rPr>
              <a:t>١٢:٥٥</a:t>
            </a:r>
            <a:endParaRPr lang="en-US" sz="1500" dirty="0"/>
          </a:p>
        </p:txBody>
      </p:sp>
      <p:sp>
        <p:nvSpPr>
          <p:cNvPr id="29" name="Text 27"/>
          <p:cNvSpPr txBox="1"/>
          <p:nvPr/>
        </p:nvSpPr>
        <p:spPr>
          <a:xfrm>
            <a:off x="822960" y="384048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rPr>
              <a:t>جزئي ٩٩٫٨٪</a:t>
            </a:r>
            <a:endParaRPr lang="en-US" sz="1500" dirty="0"/>
          </a:p>
        </p:txBody>
      </p:sp>
      <p:sp>
        <p:nvSpPr>
          <p:cNvPr id="30" name="Text 28"/>
          <p:cNvSpPr txBox="1"/>
          <p:nvPr/>
        </p:nvSpPr>
        <p:spPr>
          <a:xfrm>
            <a:off x="3657600" y="4389120"/>
            <a:ext cx="1417320" cy="457200"/>
          </a:xfrm>
          <a:prstGeom prst="rect">
            <a:avLst/>
          </a:prstGeom>
          <a:noFill/>
          <a:ln/>
        </p:spPr>
        <p:txBody>
          <a:bodyPr wrap="square" lIns="0" tIns="0" rIns="0" bIns="0" rtlCol="0" anchor="ctr"/>
          <a:lstStyle/>
          <a:p>
            <a:pPr rtl="1" algn="ctr" indent="0" marL="0">
              <a:buNone/>
            </a:pPr>
            <a:r>
              <a:rPr lang="en-US" sz="1500" b="1" dirty="0">
                <a:solidFill>
                  <a:srgbClr val="FFFFFF"/>
                </a:solidFill>
              </a:rPr>
              <a:t>القاهرة</a:t>
            </a:r>
            <a:endParaRPr lang="en-US" sz="1500" dirty="0"/>
          </a:p>
        </p:txBody>
      </p:sp>
      <p:sp>
        <p:nvSpPr>
          <p:cNvPr id="31" name="Text 29"/>
          <p:cNvSpPr txBox="1"/>
          <p:nvPr/>
        </p:nvSpPr>
        <p:spPr>
          <a:xfrm>
            <a:off x="2240280" y="4389120"/>
            <a:ext cx="1417320" cy="457200"/>
          </a:xfrm>
          <a:prstGeom prst="rect">
            <a:avLst/>
          </a:prstGeom>
          <a:noFill/>
          <a:ln/>
        </p:spPr>
        <p:txBody>
          <a:bodyPr wrap="square" lIns="0" tIns="0" rIns="0" bIns="0" rtlCol="0" anchor="ctr"/>
          <a:lstStyle/>
          <a:p>
            <a:pPr rtl="1" algn="ctr" indent="0" marL="0">
              <a:buNone/>
            </a:pPr>
            <a:r>
              <a:rPr lang="en-US" sz="1500" dirty="0">
                <a:solidFill>
                  <a:srgbClr val="FFFFFF"/>
                </a:solidFill>
              </a:rPr>
              <a:t>١٣:٠١</a:t>
            </a:r>
            <a:endParaRPr lang="en-US" sz="1500" dirty="0"/>
          </a:p>
        </p:txBody>
      </p:sp>
      <p:sp>
        <p:nvSpPr>
          <p:cNvPr id="32" name="Text 30"/>
          <p:cNvSpPr txBox="1"/>
          <p:nvPr/>
        </p:nvSpPr>
        <p:spPr>
          <a:xfrm>
            <a:off x="822960" y="4389120"/>
            <a:ext cx="1417320" cy="457200"/>
          </a:xfrm>
          <a:prstGeom prst="rect">
            <a:avLst/>
          </a:prstGeom>
          <a:noFill/>
          <a:ln/>
        </p:spPr>
        <p:txBody>
          <a:bodyPr wrap="square" lIns="0" tIns="0" rIns="0" bIns="0" rtlCol="0" anchor="ctr"/>
          <a:lstStyle/>
          <a:p>
            <a:pPr rtl="1" algn="ctr" indent="0" marL="0">
              <a:buNone/>
            </a:pPr>
            <a:r>
              <a:rPr lang="en-US" sz="1500" dirty="0">
                <a:solidFill>
                  <a:srgbClr val="F7B733"/>
                </a:solidFill>
              </a:rPr>
              <a:t>جزئي ٩٤٫٨٪</a:t>
            </a:r>
            <a:endParaRPr lang="en-US" sz="1500" dirty="0"/>
          </a:p>
        </p:txBody>
      </p:sp>
      <p:sp>
        <p:nvSpPr>
          <p:cNvPr id="33" name="Text 31"/>
          <p:cNvSpPr txBox="1"/>
          <p:nvPr/>
        </p:nvSpPr>
        <p:spPr>
          <a:xfrm>
            <a:off x="822960" y="4709160"/>
            <a:ext cx="4251960" cy="548640"/>
          </a:xfrm>
          <a:prstGeom prst="rect">
            <a:avLst/>
          </a:prstGeom>
          <a:noFill/>
          <a:ln/>
        </p:spPr>
        <p:txBody>
          <a:bodyPr wrap="square" lIns="0" tIns="0" rIns="0" bIns="0" rtlCol="0" anchor="ctr"/>
          <a:lstStyle/>
          <a:p>
            <a:pPr rtl="1" algn="r" indent="0" marL="0">
              <a:buNone/>
            </a:pPr>
            <a:r>
              <a:rPr lang="ar-EG" altLang="en-US" sz="1200" dirty="0">
                <a:solidFill>
                  <a:srgbClr val="C9D6EA"/>
                </a:solidFill>
              </a:rPr>
              <a:t>الزوال (منتصف النهار الشمسي) محسوب لهذه المحاضرة، ويُرفع الأذان بعده بدقائق.</a:t>
            </a:r>
            <a:endParaRPr lang="ar-EG" sz="1200" dirty="0"/>
          </a:p>
        </p:txBody>
      </p:sp>
      <p:sp>
        <p:nvSpPr>
          <p:cNvPr id="34" name="Text 32"/>
          <p:cNvSpPr txBox="1"/>
          <p:nvPr/>
        </p:nvSpPr>
        <p:spPr>
          <a:xfrm>
            <a:off x="548640" y="5486400"/>
            <a:ext cx="11094415" cy="457200"/>
          </a:xfrm>
          <a:prstGeom prst="rect">
            <a:avLst/>
          </a:prstGeom>
          <a:noFill/>
          <a:ln/>
        </p:spPr>
        <p:txBody>
          <a:bodyPr wrap="square" lIns="0" tIns="0" rIns="0" bIns="0" rtlCol="0" anchor="ctr"/>
          <a:lstStyle/>
          <a:p>
            <a:pPr rtl="1" algn="r" indent="0" marL="0">
              <a:buNone/>
            </a:pPr>
            <a:r>
              <a:rPr lang="ar-EG" altLang="en-US" sz="1500" b="1" dirty="0">
                <a:solidFill>
                  <a:srgbClr val="1D4E89"/>
                </a:solidFill>
              </a:rPr>
              <a:t>الإثنين ٢ أغسطس ٢٠٢٧ = ٢٨ أو ٢٩ صفر ١٤٤٩هـ (آخر الشهر، كما في كل كسوف)</a:t>
            </a:r>
            <a:endParaRPr lang="ar-EG"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علماء مسلمون رصدوا الكسوف وحسبوه</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Muslim astronomers who observed and computed eclipses</a:t>
            </a:r>
            <a:endParaRPr lang="en-US" sz="1400" dirty="0"/>
          </a:p>
        </p:txBody>
      </p:sp>
      <p:sp>
        <p:nvSpPr>
          <p:cNvPr id="4" name="scholar-0"/>
          <p:cNvSpPr/>
          <p:nvPr/>
        </p:nvSpPr>
        <p:spPr>
          <a:xfrm>
            <a:off x="6293815" y="137160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5" name="scholar-disc-0"/>
          <p:cNvSpPr/>
          <p:nvPr/>
        </p:nvSpPr>
        <p:spPr>
          <a:xfrm>
            <a:off x="10728655" y="160020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6522415"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rPr>
              <a:t>البتّاني</a:t>
            </a:r>
            <a:endParaRPr lang="ar-EG" sz="2100" dirty="0"/>
          </a:p>
        </p:txBody>
      </p:sp>
      <p:sp>
        <p:nvSpPr>
          <p:cNvPr id="7" name="Text 5"/>
          <p:cNvSpPr txBox="1"/>
          <p:nvPr/>
        </p:nvSpPr>
        <p:spPr>
          <a:xfrm>
            <a:off x="6522415"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الرقة (ت ٣١٧هـ/٩٢٩م)</a:t>
            </a:r>
            <a:endParaRPr lang="ar-EG" sz="1300" dirty="0"/>
          </a:p>
        </p:txBody>
      </p:sp>
      <p:sp>
        <p:nvSpPr>
          <p:cNvPr id="8" name="Text 6"/>
          <p:cNvSpPr txBox="1"/>
          <p:nvPr/>
        </p:nvSpPr>
        <p:spPr>
          <a:xfrm>
            <a:off x="6522415"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rPr>
              <a:t>أرصاد مؤرخة للكسوف والخسوف؛ لاحظ تغير القطر الظاهري للشمس والقمر فقال بإمكان الكسوف الحلقي</a:t>
            </a:r>
            <a:endParaRPr lang="ar-EG" sz="1400" dirty="0"/>
          </a:p>
        </p:txBody>
      </p:sp>
      <p:sp>
        <p:nvSpPr>
          <p:cNvPr id="9" name="scholar-1"/>
          <p:cNvSpPr/>
          <p:nvPr/>
        </p:nvSpPr>
        <p:spPr>
          <a:xfrm>
            <a:off x="548640" y="137160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0" name="scholar-disc-1"/>
          <p:cNvSpPr/>
          <p:nvPr/>
        </p:nvSpPr>
        <p:spPr>
          <a:xfrm>
            <a:off x="4983480" y="160020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777240" y="155448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rPr>
              <a:t>ابن يونس</a:t>
            </a:r>
            <a:endParaRPr lang="ar-EG" sz="2100" dirty="0"/>
          </a:p>
        </p:txBody>
      </p:sp>
      <p:sp>
        <p:nvSpPr>
          <p:cNvPr id="12" name="Text 10"/>
          <p:cNvSpPr txBox="1"/>
          <p:nvPr/>
        </p:nvSpPr>
        <p:spPr>
          <a:xfrm>
            <a:off x="777240" y="199339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القاهرة (ت ٣٩٩هـ/١٠٠٩م)</a:t>
            </a:r>
            <a:endParaRPr lang="ar-EG" sz="1300" dirty="0"/>
          </a:p>
        </p:txBody>
      </p:sp>
      <p:sp>
        <p:nvSpPr>
          <p:cNvPr id="13" name="Text 11"/>
          <p:cNvSpPr txBox="1"/>
          <p:nvPr/>
        </p:nvSpPr>
        <p:spPr>
          <a:xfrm>
            <a:off x="777240" y="237744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rPr>
              <a:t>«الزيج الحاكمي الكبير» في ٨١ بابًا وأكثر من مئة رصدة مؤرخة؛ أرصاده للكسوف تُستعمل اليوم لقياس تباطؤ دوران الأرض</a:t>
            </a:r>
            <a:endParaRPr lang="ar-EG" sz="1400" dirty="0"/>
          </a:p>
        </p:txBody>
      </p:sp>
      <p:sp>
        <p:nvSpPr>
          <p:cNvPr id="14" name="scholar-2"/>
          <p:cNvSpPr/>
          <p:nvPr/>
        </p:nvSpPr>
        <p:spPr>
          <a:xfrm>
            <a:off x="6293815" y="374904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5" name="scholar-disc-2"/>
          <p:cNvSpPr/>
          <p:nvPr/>
        </p:nvSpPr>
        <p:spPr>
          <a:xfrm>
            <a:off x="10728655" y="397764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6522415"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rPr>
              <a:t>ابن الهيثم</a:t>
            </a:r>
            <a:endParaRPr lang="ar-EG" sz="2100" dirty="0"/>
          </a:p>
        </p:txBody>
      </p:sp>
      <p:sp>
        <p:nvSpPr>
          <p:cNvPr id="17" name="Text 15"/>
          <p:cNvSpPr txBox="1"/>
          <p:nvPr/>
        </p:nvSpPr>
        <p:spPr>
          <a:xfrm>
            <a:off x="6522415"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البصرة والقاهرة (ت نحو ١٠٤٠م)</a:t>
            </a:r>
            <a:endParaRPr lang="ar-EG" sz="1300" dirty="0"/>
          </a:p>
        </p:txBody>
      </p:sp>
      <p:sp>
        <p:nvSpPr>
          <p:cNvPr id="18" name="Text 16"/>
          <p:cNvSpPr txBox="1"/>
          <p:nvPr/>
        </p:nvSpPr>
        <p:spPr>
          <a:xfrm>
            <a:off x="6522415"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rPr>
              <a:t>«مقالة في صورة الكسوف»: درس صورة الشمس المكسوفة عبر ثقب في الحجرة المظلمة — أصل كاميرا الثقب الآمنة</a:t>
            </a:r>
            <a:endParaRPr lang="ar-EG" sz="1400" dirty="0"/>
          </a:p>
        </p:txBody>
      </p:sp>
      <p:sp>
        <p:nvSpPr>
          <p:cNvPr id="19" name="scholar-3"/>
          <p:cNvSpPr/>
          <p:nvPr/>
        </p:nvSpPr>
        <p:spPr>
          <a:xfrm>
            <a:off x="548640" y="3749040"/>
            <a:ext cx="5349240" cy="2148840"/>
          </a:xfrm>
          <a:prstGeom prst="roundRect">
            <a:avLst>
              <a:gd name="adj" fmla="val 5106"/>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20" name="scholar-disc-3"/>
          <p:cNvSpPr/>
          <p:nvPr/>
        </p:nvSpPr>
        <p:spPr>
          <a:xfrm>
            <a:off x="4983480" y="3977640"/>
            <a:ext cx="640080" cy="640080"/>
          </a:xfrm>
          <a:prstGeom prst="ellipse">
            <a:avLst/>
          </a:prstGeom>
          <a:solidFill>
            <a:srgbClr val="0F1B2D"/>
          </a:solidFill>
          <a:ln w="25400">
            <a:solidFill>
              <a:srgbClr val="F7B733"/>
            </a:solidFill>
            <a:prstDash val="solid"/>
          </a:ln>
          <a:effectLst>
            <a:outerShdw sx="100000" sy="100000" kx="0" ky="0" algn="bl" rotWithShape="0" blurRad="101600" dist="50800" dir="16200000">
              <a:srgbClr val="F7B733">
                <a:alpha val="35000"/>
              </a:srgbClr>
            </a:outerShdw>
          </a:effectLst>
        </p:spPr>
      </p:sp>
      <p:sp>
        <p:nvSpPr>
          <p:cNvPr id="21" name="Text 19"/>
          <p:cNvSpPr txBox="1"/>
          <p:nvPr/>
        </p:nvSpPr>
        <p:spPr>
          <a:xfrm>
            <a:off x="777240" y="3931920"/>
            <a:ext cx="4023360" cy="457200"/>
          </a:xfrm>
          <a:prstGeom prst="rect">
            <a:avLst/>
          </a:prstGeom>
          <a:noFill/>
          <a:ln/>
        </p:spPr>
        <p:txBody>
          <a:bodyPr wrap="square" lIns="0" tIns="0" rIns="0" bIns="0" rtlCol="0" anchor="ctr"/>
          <a:lstStyle/>
          <a:p>
            <a:pPr rtl="1" algn="r" indent="0" marL="0">
              <a:buNone/>
            </a:pPr>
            <a:r>
              <a:rPr lang="ar-EG" altLang="en-US" sz="2100" b="1" dirty="0">
                <a:solidFill>
                  <a:srgbClr val="0F1B2D"/>
                </a:solidFill>
              </a:rPr>
              <a:t>البيروني</a:t>
            </a:r>
            <a:endParaRPr lang="ar-EG" sz="2100" dirty="0"/>
          </a:p>
        </p:txBody>
      </p:sp>
      <p:sp>
        <p:nvSpPr>
          <p:cNvPr id="22" name="Text 20"/>
          <p:cNvSpPr txBox="1"/>
          <p:nvPr/>
        </p:nvSpPr>
        <p:spPr>
          <a:xfrm>
            <a:off x="777240" y="4370832"/>
            <a:ext cx="4023360" cy="365760"/>
          </a:xfrm>
          <a:prstGeom prst="rect">
            <a:avLst/>
          </a:prstGeom>
          <a:noFill/>
          <a:ln/>
        </p:spPr>
        <p:txBody>
          <a:bodyPr wrap="square" lIns="0" tIns="0" rIns="0" bIns="0" rtlCol="0" anchor="ctr"/>
          <a:lstStyle/>
          <a:p>
            <a:pPr rtl="1" algn="r" indent="0" marL="0">
              <a:buNone/>
            </a:pPr>
            <a:r>
              <a:rPr lang="ar-EG" altLang="en-US" sz="1300" b="1" dirty="0">
                <a:solidFill>
                  <a:srgbClr val="E88A2C"/>
                </a:solidFill>
              </a:rPr>
              <a:t>خوارزم وغزنة (ت ٤٤٠هـ/١٠٤٨م)</a:t>
            </a:r>
            <a:endParaRPr lang="ar-EG" sz="1300" dirty="0"/>
          </a:p>
        </p:txBody>
      </p:sp>
      <p:sp>
        <p:nvSpPr>
          <p:cNvPr id="23" name="Text 21"/>
          <p:cNvSpPr txBox="1"/>
          <p:nvPr/>
        </p:nvSpPr>
        <p:spPr>
          <a:xfrm>
            <a:off x="777240" y="4754880"/>
            <a:ext cx="4892040" cy="1051560"/>
          </a:xfrm>
          <a:prstGeom prst="rect">
            <a:avLst/>
          </a:prstGeom>
          <a:noFill/>
          <a:ln/>
        </p:spPr>
        <p:txBody>
          <a:bodyPr wrap="square" lIns="0" tIns="0" rIns="0" bIns="0" rtlCol="0" anchor="t"/>
          <a:lstStyle/>
          <a:p>
            <a:pPr rtl="1" algn="r" indent="0" marL="0">
              <a:buNone/>
            </a:pPr>
            <a:r>
              <a:rPr lang="ar-EG" altLang="en-US" sz="1400" dirty="0">
                <a:solidFill>
                  <a:srgbClr val="1F1F1D"/>
                </a:solidFill>
              </a:rPr>
              <a:t>أرصاد دقيقة للكسوف، ونبّه إلى خطر النظر المباشر إلى الشمس وفضّل رصد صورتها في الماء</a:t>
            </a:r>
            <a:endParaRPr lang="ar-EG"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كيف رصد ابن يونس الكسوف في القاهرة؟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How Ibn Yunus observed eclipses in Fatimid Cairo</a:t>
            </a:r>
            <a:endParaRPr lang="en-US" sz="1400" dirty="0"/>
          </a:p>
        </p:txBody>
      </p:sp>
      <p:pic>
        <p:nvPicPr>
          <p:cNvPr id="4" name="ibnYunus" descr="ibnYunus">    </p:cNvPr>
          <p:cNvPicPr>
            <a:picLocks noChangeAspect="1"/>
          </p:cNvPicPr>
          <p:nvPr/>
        </p:nvPicPr>
        <p:blipFill>
          <a:blip r:embed="rId1"/>
          <a:stretch>
            <a:fillRect/>
          </a:stretch>
        </p:blipFill>
        <p:spPr>
          <a:xfrm>
            <a:off x="595789" y="1325880"/>
            <a:ext cx="5392103"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طست الماء (Water basin): </a:t>
            </a:r>
            <a:pPr rtl="1" algn="r" indent="0" marL="0">
              <a:buNone/>
            </a:pPr>
            <a:r>
              <a:rPr lang="ar-EG" altLang="en-US" sz="1500" dirty="0">
                <a:solidFill>
                  <a:srgbClr val="1F1F1D"/>
                </a:solidFill>
              </a:rPr>
              <a:t>يُنظر إلى صورة الشمس في طست نحاس مملوء ماءً، لا إليها مباشرة</a:t>
            </a:r>
            <a:endParaRPr lang="ar-EG" sz="1500" dirty="0"/>
          </a:p>
          <a:p>
            <a:pPr rtl="1" algn="r" marL="228600" indent="-228600">
              <a:spcAft>
                <a:spcPts val="800"/>
              </a:spcAft>
              <a:buSzPct val="100000"/>
              <a:buChar char="•"/>
            </a:pPr>
            <a:r>
              <a:rPr lang="ar-EG" altLang="en-US" sz="1500" b="1" dirty="0">
                <a:solidFill>
                  <a:srgbClr val="1F1F1D"/>
                </a:solidFill>
              </a:rPr>
              <a:t>الأصابع (Digits): </a:t>
            </a:r>
            <a:pPr rtl="1" algn="r" indent="0" marL="0">
              <a:buNone/>
            </a:pPr>
            <a:r>
              <a:rPr lang="ar-EG" altLang="en-US" sz="1500" dirty="0">
                <a:solidFill>
                  <a:srgbClr val="1F1F1D"/>
                </a:solidFill>
              </a:rPr>
              <a:t>يُقاس المنكسف بالأصابع: اثنا عشر إصبعًا لقطر القرص كله</a:t>
            </a:r>
            <a:endParaRPr lang="ar-EG" sz="1500" dirty="0"/>
          </a:p>
          <a:p>
            <a:pPr rtl="1" algn="r" marL="228600" indent="-228600">
              <a:spcAft>
                <a:spcPts val="800"/>
              </a:spcAft>
              <a:buSzPct val="100000"/>
              <a:buChar char="•"/>
            </a:pPr>
            <a:r>
              <a:rPr lang="ar-EG" altLang="en-US" sz="1500" b="1" dirty="0">
                <a:solidFill>
                  <a:srgbClr val="1F1F1D"/>
                </a:solidFill>
              </a:rPr>
              <a:t>التوقيت: </a:t>
            </a:r>
            <a:pPr rtl="1" algn="r" indent="0" marL="0">
              <a:buNone/>
            </a:pPr>
            <a:r>
              <a:rPr lang="ar-EG" altLang="en-US" sz="1500" dirty="0">
                <a:solidFill>
                  <a:srgbClr val="1F1F1D"/>
                </a:solidFill>
              </a:rPr>
              <a:t>بارتفاع الشمس بظل شاخص، أو بارتفاع نجم معلوم كالسماك الرامح ليلًا</a:t>
            </a:r>
            <a:endParaRPr lang="ar-EG" sz="1500" dirty="0"/>
          </a:p>
          <a:p>
            <a:pPr rtl="1" algn="r" marL="228600" indent="-228600">
              <a:spcAft>
                <a:spcPts val="800"/>
              </a:spcAft>
              <a:buSzPct val="100000"/>
              <a:buChar char="•"/>
            </a:pPr>
            <a:r>
              <a:rPr lang="ar-EG" altLang="en-US" sz="1500" b="1" dirty="0">
                <a:solidFill>
                  <a:srgbClr val="1F1F1D"/>
                </a:solidFill>
              </a:rPr>
              <a:t>التأريخ مرتين: </a:t>
            </a:r>
            <a:pPr rtl="1" algn="r" indent="0" marL="0">
              <a:buNone/>
            </a:pPr>
            <a:r>
              <a:rPr lang="ar-EG" altLang="en-US" sz="1500" dirty="0">
                <a:solidFill>
                  <a:srgbClr val="1F1F1D"/>
                </a:solidFill>
              </a:rPr>
              <a:t>بالهجري وبسنيّ يزدجرد الفارسية التي لا كبيس فيها</a:t>
            </a:r>
            <a:endParaRPr lang="ar-EG" sz="1500" dirty="0"/>
          </a:p>
          <a:p>
            <a:pPr rtl="1" algn="r" marL="228600" indent="-228600">
              <a:spcAft>
                <a:spcPts val="800"/>
              </a:spcAft>
              <a:buSzPct val="100000"/>
              <a:buChar char="•"/>
            </a:pPr>
            <a:r>
              <a:rPr lang="ar-EG" altLang="en-US" sz="1500" b="1" dirty="0">
                <a:solidFill>
                  <a:srgbClr val="1F1F1D"/>
                </a:solidFill>
              </a:rPr>
              <a:t>الأمانة: </a:t>
            </a:r>
            <a:pPr rtl="1" algn="r" indent="0" marL="0">
              <a:buNone/>
            </a:pPr>
            <a:r>
              <a:rPr lang="ar-EG" altLang="en-US" sz="1500" dirty="0">
                <a:solidFill>
                  <a:srgbClr val="1F1F1D"/>
                </a:solidFill>
              </a:rPr>
              <a:t>«وكانت أصابع الكسوف مساوية لما أوجبه الحساب»، ويثبت خطأه ثم تصحيحه</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٧-٣ من الكتاب؛ النصوص من ملحق رواية «أرصاد وأطوار» عن طبعة كوسان دي برسفال (١٨٠٤)</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من ابن الهيثم إلى أهلّة الأشجار: الرصد عبر الثقب</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From Ibn al-Haytham to tree crescents: the camera obscura / pinhole</a:t>
            </a:r>
            <a:endParaRPr lang="en-US" sz="1400" dirty="0"/>
          </a:p>
        </p:txBody>
      </p:sp>
      <p:pic>
        <p:nvPicPr>
          <p:cNvPr id="4" name="haytham" descr="haytham">    </p:cNvPr>
          <p:cNvPicPr>
            <a:picLocks noChangeAspect="1"/>
          </p:cNvPicPr>
          <p:nvPr/>
        </p:nvPicPr>
        <p:blipFill>
          <a:blip r:embed="rId1"/>
          <a:stretch>
            <a:fillRect/>
          </a:stretch>
        </p:blipFill>
        <p:spPr>
          <a:xfrm>
            <a:off x="548640" y="1813645"/>
            <a:ext cx="5897880" cy="3687910"/>
          </a:xfrm>
          <a:prstGeom prst="rect">
            <a:avLst/>
          </a:prstGeom>
        </p:spPr>
      </p:pic>
      <p:sp>
        <p:nvSpPr>
          <p:cNvPr id="5" name="Text 2"/>
          <p:cNvSpPr txBox="1"/>
          <p:nvPr/>
        </p:nvSpPr>
        <p:spPr>
          <a:xfrm>
            <a:off x="6766560" y="1371600"/>
            <a:ext cx="48764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المبدأ — الحجرة المظلمة (Camera obscura): </a:t>
            </a:r>
            <a:pPr rtl="1" algn="r" indent="0" marL="0">
              <a:buNone/>
            </a:pPr>
            <a:r>
              <a:rPr lang="ar-EG" altLang="en-US" sz="1600" dirty="0">
                <a:solidFill>
                  <a:srgbClr val="1F1F1D"/>
                </a:solidFill>
              </a:rPr>
              <a:t>ثقب صغير في جدار حجرة مظلمة يرسم على الحائط المقابل صورة مقلوبة للشمس المكسوفة</a:t>
            </a:r>
            <a:endParaRPr lang="ar-EG" sz="1600" dirty="0"/>
          </a:p>
          <a:p>
            <a:pPr rtl="1" algn="r" marL="228600" indent="-228600">
              <a:spcAft>
                <a:spcPts val="800"/>
              </a:spcAft>
              <a:buSzPct val="100000"/>
              <a:buChar char="•"/>
            </a:pPr>
            <a:r>
              <a:rPr lang="ar-EG" altLang="en-US" sz="1600" b="1" dirty="0">
                <a:solidFill>
                  <a:srgbClr val="1F1F1D"/>
                </a:solidFill>
              </a:rPr>
              <a:t>ابن الهيثم: </a:t>
            </a:r>
            <a:pPr rtl="1" algn="r" indent="0" marL="0">
              <a:buNone/>
            </a:pPr>
            <a:r>
              <a:rPr lang="ar-EG" altLang="en-US" sz="1600" dirty="0">
                <a:solidFill>
                  <a:srgbClr val="1F1F1D"/>
                </a:solidFill>
              </a:rPr>
              <a:t>لاحظ أن صورة الكسوف تحتفظ بشكل الهلال مهما كان شكل الثقب إذا صغر</a:t>
            </a:r>
            <a:endParaRPr lang="ar-EG" sz="1600" dirty="0"/>
          </a:p>
          <a:p>
            <a:pPr rtl="1" algn="r" marL="228600" indent="-228600">
              <a:spcAft>
                <a:spcPts val="800"/>
              </a:spcAft>
              <a:buSzPct val="100000"/>
              <a:buChar char="•"/>
            </a:pPr>
            <a:r>
              <a:rPr lang="ar-EG" altLang="en-US" sz="1600" b="1" dirty="0">
                <a:solidFill>
                  <a:srgbClr val="1F1F1D"/>
                </a:solidFill>
              </a:rPr>
              <a:t>اليوم — كاميرا الثقب (Pinhole): </a:t>
            </a:r>
            <a:pPr rtl="1" algn="r" indent="0" marL="0">
              <a:buNone/>
            </a:pPr>
            <a:r>
              <a:rPr lang="ar-EG" altLang="en-US" sz="1600" dirty="0">
                <a:solidFill>
                  <a:srgbClr val="1F1F1D"/>
                </a:solidFill>
              </a:rPr>
              <a:t>مصفاة المطبخ أو أوراق الشجر ترسم عشرات الأهلّة على الأرض أثناء الجزئي</a:t>
            </a:r>
            <a:endParaRPr lang="ar-EG" sz="1600" dirty="0"/>
          </a:p>
          <a:p>
            <a:pPr rtl="1" algn="r" marL="228600" indent="-228600">
              <a:spcAft>
                <a:spcPts val="800"/>
              </a:spcAft>
              <a:buSzPct val="100000"/>
              <a:buChar char="•"/>
            </a:pPr>
            <a:r>
              <a:rPr lang="ar-EG" altLang="en-US" sz="1600" b="1" dirty="0">
                <a:solidFill>
                  <a:srgbClr val="1F1F1D"/>
                </a:solidFill>
              </a:rPr>
              <a:t>للمرشد: </a:t>
            </a:r>
            <a:pPr rtl="1" algn="r" indent="0" marL="0">
              <a:buNone/>
            </a:pPr>
            <a:r>
              <a:rPr lang="ar-EG" altLang="en-US" sz="1600" dirty="0">
                <a:solidFill>
                  <a:srgbClr val="1F1F1D"/>
                </a:solidFill>
              </a:rPr>
              <a:t>نشاط آمن لكل الأعمار في الساعة الأولى من الكسوف</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٦-٣ من الكتاب: مبدأ الحجرة المظلمة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فرق التوقيت ΔT: السجلات القديمة تقيس دوران الأرض</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Delta T: ancient records measure Earth's slowing rotation</a:t>
            </a:r>
            <a:endParaRPr lang="en-US" sz="1400" dirty="0"/>
          </a:p>
        </p:txBody>
      </p:sp>
      <p:pic>
        <p:nvPicPr>
          <p:cNvPr id="4" name="deltaT" descr="deltaT">    </p:cNvPr>
          <p:cNvPicPr>
            <a:picLocks noChangeAspect="1"/>
          </p:cNvPicPr>
          <p:nvPr/>
        </p:nvPicPr>
        <p:blipFill>
          <a:blip r:embed="rId1"/>
          <a:stretch>
            <a:fillRect/>
          </a:stretch>
        </p:blipFill>
        <p:spPr>
          <a:xfrm>
            <a:off x="548640" y="1957031"/>
            <a:ext cx="5852160" cy="3401138"/>
          </a:xfrm>
          <a:prstGeom prst="rect">
            <a:avLst/>
          </a:prstGeom>
        </p:spPr>
      </p:pic>
      <p:sp>
        <p:nvSpPr>
          <p:cNvPr id="5" name="Text 2"/>
          <p:cNvSpPr txBox="1"/>
          <p:nvPr/>
        </p:nvSpPr>
        <p:spPr>
          <a:xfrm>
            <a:off x="6720840" y="1371600"/>
            <a:ext cx="49222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الفكرة: </a:t>
            </a:r>
            <a:pPr rtl="1" algn="r" indent="0" marL="0">
              <a:buNone/>
            </a:pPr>
            <a:r>
              <a:rPr lang="ar-EG" altLang="en-US" sz="1600" dirty="0">
                <a:solidFill>
                  <a:srgbClr val="1F1F1D"/>
                </a:solidFill>
              </a:rPr>
              <a:t>دوران الأرض يتباطأ ببطء بفعل المد والجزر، فيتراكم فرق بين الزمن المنتظم وزمن الدوران</a:t>
            </a:r>
            <a:endParaRPr lang="ar-EG" sz="1600" dirty="0"/>
          </a:p>
          <a:p>
            <a:pPr rtl="1" algn="r" marL="228600" indent="-228600">
              <a:spcAft>
                <a:spcPts val="800"/>
              </a:spcAft>
              <a:buSzPct val="100000"/>
              <a:buChar char="•"/>
            </a:pPr>
            <a:r>
              <a:rPr lang="ar-EG" altLang="en-US" sz="1600" b="1" dirty="0">
                <a:solidFill>
                  <a:srgbClr val="1F1F1D"/>
                </a:solidFill>
              </a:rPr>
              <a:t>المقدار: </a:t>
            </a:r>
            <a:pPr rtl="1" algn="r" indent="0" marL="0">
              <a:buNone/>
            </a:pPr>
            <a:r>
              <a:rPr lang="ar-EG" altLang="en-US" sz="1600" dirty="0">
                <a:solidFill>
                  <a:srgbClr val="1F1F1D"/>
                </a:solidFill>
              </a:rPr>
              <a:t>نحو ست ساعات في القرن الثامن قبل الميلاد</a:t>
            </a:r>
            <a:endParaRPr lang="ar-EG" sz="1600" dirty="0"/>
          </a:p>
          <a:p>
            <a:pPr rtl="1" algn="r" marL="228600" indent="-228600">
              <a:spcAft>
                <a:spcPts val="800"/>
              </a:spcAft>
              <a:buSzPct val="100000"/>
              <a:buChar char="•"/>
            </a:pPr>
            <a:r>
              <a:rPr lang="ar-EG" altLang="en-US" sz="1600" b="1" dirty="0">
                <a:solidFill>
                  <a:srgbClr val="1F1F1D"/>
                </a:solidFill>
              </a:rPr>
              <a:t>الأثر: </a:t>
            </a:r>
            <a:pPr rtl="1" algn="r" indent="0" marL="0">
              <a:buNone/>
            </a:pPr>
            <a:r>
              <a:rPr lang="ar-EG" altLang="en-US" sz="1600" dirty="0">
                <a:solidFill>
                  <a:srgbClr val="1F1F1D"/>
                </a:solidFill>
              </a:rPr>
              <a:t>الأرض تدور ١٥° كل ساعة، فخطأ ساعة واحدة يزيح مسار الكسوف القديم نحو ١٥° طولًا</a:t>
            </a:r>
            <a:endParaRPr lang="ar-EG" sz="1600" dirty="0"/>
          </a:p>
          <a:p>
            <a:pPr rtl="1" algn="r" marL="228600" indent="-228600">
              <a:spcAft>
                <a:spcPts val="800"/>
              </a:spcAft>
              <a:buSzPct val="100000"/>
              <a:buChar char="•"/>
            </a:pPr>
            <a:r>
              <a:rPr lang="ar-EG" altLang="en-US" sz="1600" b="1" dirty="0">
                <a:solidFill>
                  <a:srgbClr val="1F1F1D"/>
                </a:solidFill>
              </a:rPr>
              <a:t>القيمة الأثرية: </a:t>
            </a:r>
            <a:pPr rtl="1" algn="r" indent="0" marL="0">
              <a:buNone/>
            </a:pPr>
            <a:r>
              <a:rPr lang="ar-EG" altLang="en-US" sz="1600" dirty="0">
                <a:solidFill>
                  <a:srgbClr val="1F1F1D"/>
                </a:solidFill>
              </a:rPr>
              <a:t>مقارنة الكسوف المدوَّن (في بابل والصين وزيج ابن يونس) بالحساب هي أدق مقياس لـ ΔT</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١٤-٢ من الكتاب: منحنى ΔT عبر ثلاثة آلاف عام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break-sequence" descr="مراحل الكسوف، صورة ناسا">    </p:cNvPr>
          <p:cNvPicPr>
            <a:picLocks noChangeAspect="1"/>
          </p:cNvPicPr>
          <p:nvPr/>
        </p:nvPicPr>
        <p:blipFill>
          <a:blip r:embed="rId1"/>
          <a:stretch>
            <a:fillRect/>
          </a:stretch>
        </p:blipFill>
        <p:spPr>
          <a:xfrm>
            <a:off x="3561369" y="822960"/>
            <a:ext cx="5068957" cy="3291840"/>
          </a:xfrm>
          <a:prstGeom prst="rect">
            <a:avLst/>
          </a:prstGeom>
        </p:spPr>
      </p:pic>
      <p:sp>
        <p:nvSpPr>
          <p:cNvPr id="3" name="Text 0"/>
          <p:cNvSpPr txBox="1"/>
          <p:nvPr/>
        </p:nvSpPr>
        <p:spPr>
          <a:xfrm>
            <a:off x="548640" y="4389120"/>
            <a:ext cx="11094415" cy="731520"/>
          </a:xfrm>
          <a:prstGeom prst="rect">
            <a:avLst/>
          </a:prstGeom>
          <a:noFill/>
          <a:ln/>
        </p:spPr>
        <p:txBody>
          <a:bodyPr wrap="square" lIns="0" tIns="0" rIns="0" bIns="0" rtlCol="0" anchor="ctr"/>
          <a:lstStyle/>
          <a:p>
            <a:pPr rtl="1" algn="ctr" indent="0" marL="0">
              <a:buNone/>
            </a:pPr>
            <a:r>
              <a:rPr lang="en-US" sz="3600" b="1" dirty="0">
                <a:solidFill>
                  <a:srgbClr val="F7B733"/>
                </a:solidFill>
              </a:rPr>
              <a:t>استراحة — ١٠ دقائق</a:t>
            </a:r>
            <a:endParaRPr lang="en-US" sz="3600" dirty="0"/>
          </a:p>
        </p:txBody>
      </p:sp>
      <p:sp>
        <p:nvSpPr>
          <p:cNvPr id="4" name="Text 1"/>
          <p:cNvSpPr txBox="1"/>
          <p:nvPr/>
        </p:nvSpPr>
        <p:spPr>
          <a:xfrm>
            <a:off x="548640" y="5074920"/>
            <a:ext cx="11094415" cy="365760"/>
          </a:xfrm>
          <a:prstGeom prst="rect">
            <a:avLst/>
          </a:prstGeom>
          <a:noFill/>
          <a:ln/>
        </p:spPr>
        <p:txBody>
          <a:bodyPr wrap="square" lIns="0" tIns="0" rIns="0" bIns="0" rtlCol="0" anchor="ctr"/>
          <a:lstStyle/>
          <a:p>
            <a:pPr algn="ctr" indent="0" marL="0">
              <a:buNone/>
            </a:pPr>
            <a:r>
              <a:rPr lang="en-US" sz="1600" i="1" dirty="0">
                <a:solidFill>
                  <a:srgbClr val="C9D6EA"/>
                </a:solidFill>
              </a:rPr>
              <a:t>Break — 10 minutes</a:t>
            </a:r>
            <a:endParaRPr lang="en-US" sz="1600" dirty="0"/>
          </a:p>
        </p:txBody>
      </p:sp>
      <p:sp>
        <p:nvSpPr>
          <p:cNvPr id="5" name="Text 2"/>
          <p:cNvSpPr txBox="1"/>
          <p:nvPr/>
        </p:nvSpPr>
        <p:spPr>
          <a:xfrm>
            <a:off x="548640" y="5577840"/>
            <a:ext cx="11094415" cy="457200"/>
          </a:xfrm>
          <a:prstGeom prst="rect">
            <a:avLst/>
          </a:prstGeom>
          <a:noFill/>
          <a:ln/>
        </p:spPr>
        <p:txBody>
          <a:bodyPr wrap="square" lIns="0" tIns="0" rIns="0" bIns="0" rtlCol="0" anchor="ctr"/>
          <a:lstStyle/>
          <a:p>
            <a:pPr rtl="1" algn="ctr" indent="0" marL="0">
              <a:buNone/>
            </a:pPr>
            <a:r>
              <a:rPr lang="en-US" sz="1800" dirty="0">
                <a:solidFill>
                  <a:srgbClr val="FFFFFF"/>
                </a:solidFill>
              </a:rPr>
              <a:t>بعد الاستراحة: كسوف ٢ أغسطس ٢٠٢٧: الرصد والتصوير</a:t>
            </a:r>
            <a:endParaRPr lang="en-US" sz="1800" dirty="0"/>
          </a:p>
        </p:txBody>
      </p:sp>
      <p:sp>
        <p:nvSpPr>
          <p:cNvPr id="6" name="Text 3"/>
          <p:cNvSpPr txBox="1"/>
          <p:nvPr/>
        </p:nvSpPr>
        <p:spPr>
          <a:xfrm>
            <a:off x="548640" y="6355080"/>
            <a:ext cx="11094415" cy="274320"/>
          </a:xfrm>
          <a:prstGeom prst="rect">
            <a:avLst/>
          </a:prstGeom>
          <a:noFill/>
          <a:ln/>
        </p:spPr>
        <p:txBody>
          <a:bodyPr wrap="square" lIns="0" tIns="0" rIns="0" bIns="0" rtlCol="0" anchor="ctr"/>
          <a:lstStyle/>
          <a:p>
            <a:pPr rtl="1" algn="ctr" indent="0" marL="0">
              <a:buNone/>
            </a:pPr>
            <a:r>
              <a:rPr lang="en-US" sz="1000" dirty="0">
                <a:solidFill>
                  <a:srgbClr val="8C9AB3"/>
                </a:solidFill>
              </a:rPr>
              <a:t>صورة: مراحل كسوف ٢٠٢٤ — ناسا (NASA/Aubrey Gemignani)</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corona-glow"/>
          <p:cNvSpPr/>
          <p:nvPr/>
        </p:nvSpPr>
        <p:spPr>
          <a:xfrm>
            <a:off x="914400" y="1417320"/>
            <a:ext cx="4023360" cy="4023360"/>
          </a:xfrm>
          <a:prstGeom prst="ellipse">
            <a:avLst/>
          </a:prstGeom>
          <a:solidFill>
            <a:srgbClr val="F7B733">
              <a:alpha val="18000"/>
            </a:srgbClr>
          </a:solidFill>
          <a:ln w="12700">
            <a:solidFill>
              <a:srgbClr val="F7B733"/>
            </a:solidFill>
            <a:prstDash val="solid"/>
          </a:ln>
        </p:spPr>
      </p:sp>
      <p:sp>
        <p:nvSpPr>
          <p:cNvPr id="3" name="corona-inner"/>
          <p:cNvSpPr/>
          <p:nvPr/>
        </p:nvSpPr>
        <p:spPr>
          <a:xfrm>
            <a:off x="1234440" y="1737360"/>
            <a:ext cx="3383280" cy="3383280"/>
          </a:xfrm>
          <a:prstGeom prst="ellipse">
            <a:avLst/>
          </a:prstGeom>
          <a:solidFill>
            <a:srgbClr val="F7B733">
              <a:alpha val="40000"/>
            </a:srgbClr>
          </a:solidFill>
          <a:ln w="12700">
            <a:solidFill>
              <a:srgbClr val="F7B733"/>
            </a:solidFill>
            <a:prstDash val="solid"/>
          </a:ln>
        </p:spPr>
      </p:sp>
      <p:sp>
        <p:nvSpPr>
          <p:cNvPr id="4" name="section-disc"/>
          <p:cNvSpPr/>
          <p:nvPr/>
        </p:nvSpPr>
        <p:spPr>
          <a:xfrm>
            <a:off x="1463040" y="1965960"/>
            <a:ext cx="2926080" cy="2926080"/>
          </a:xfrm>
          <a:prstGeom prst="ellipse">
            <a:avLst/>
          </a:prstGeom>
          <a:solidFill>
            <a:srgbClr val="0F1B2D"/>
          </a:solidFill>
          <a:ln w="5080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463040" y="1965960"/>
            <a:ext cx="2926080" cy="2926080"/>
          </a:xfrm>
          <a:prstGeom prst="rect">
            <a:avLst/>
          </a:prstGeom>
          <a:noFill/>
          <a:ln/>
        </p:spPr>
        <p:txBody>
          <a:bodyPr wrap="square" lIns="0" tIns="0" rIns="0" bIns="0" rtlCol="0" anchor="ctr"/>
          <a:lstStyle/>
          <a:p>
            <a:pPr rtl="1" algn="ctr" indent="0" marL="0">
              <a:buNone/>
            </a:pPr>
            <a:r>
              <a:rPr lang="en-US" sz="7200" b="1" dirty="0">
                <a:solidFill>
                  <a:srgbClr val="F7B733"/>
                </a:solidFill>
              </a:rPr>
              <a:t>٣</a:t>
            </a:r>
            <a:endParaRPr lang="en-US" sz="7200" dirty="0"/>
          </a:p>
        </p:txBody>
      </p:sp>
      <p:sp>
        <p:nvSpPr>
          <p:cNvPr id="6" name="Text 4"/>
          <p:cNvSpPr txBox="1"/>
          <p:nvPr/>
        </p:nvSpPr>
        <p:spPr>
          <a:xfrm>
            <a:off x="5394960" y="1691640"/>
            <a:ext cx="6263640" cy="1828800"/>
          </a:xfrm>
          <a:prstGeom prst="rect">
            <a:avLst/>
          </a:prstGeom>
          <a:noFill/>
          <a:ln/>
        </p:spPr>
        <p:txBody>
          <a:bodyPr wrap="square" lIns="0" tIns="0" rIns="0" bIns="0" rtlCol="0" anchor="b"/>
          <a:lstStyle/>
          <a:p>
            <a:pPr rtl="1" algn="r" indent="0" marL="0">
              <a:buNone/>
            </a:pPr>
            <a:r>
              <a:rPr lang="ar-EG" altLang="en-US" sz="3400" b="1" dirty="0">
                <a:solidFill>
                  <a:srgbClr val="FFFFFF"/>
                </a:solidFill>
              </a:rPr>
              <a:t>المرحلة الثالثة: كسوف ٢ أغسطس ٢٠٢٧</a:t>
            </a:r>
            <a:endParaRPr lang="ar-EG" sz="3400" dirty="0"/>
          </a:p>
        </p:txBody>
      </p:sp>
      <p:sp>
        <p:nvSpPr>
          <p:cNvPr id="7" name="Text 5"/>
          <p:cNvSpPr txBox="1"/>
          <p:nvPr/>
        </p:nvSpPr>
        <p:spPr>
          <a:xfrm>
            <a:off x="5394960" y="3611880"/>
            <a:ext cx="6263640" cy="914400"/>
          </a:xfrm>
          <a:prstGeom prst="rect">
            <a:avLst/>
          </a:prstGeom>
          <a:noFill/>
          <a:ln/>
        </p:spPr>
        <p:txBody>
          <a:bodyPr wrap="square" lIns="0" tIns="0" rIns="0" bIns="0" rtlCol="0" anchor="t"/>
          <a:lstStyle/>
          <a:p>
            <a:pPr rtl="1" algn="r" indent="0" marL="0">
              <a:buNone/>
            </a:pPr>
            <a:r>
              <a:rPr lang="ar-EG" altLang="en-US" sz="1700" dirty="0">
                <a:solidFill>
                  <a:srgbClr val="C9D6EA"/>
                </a:solidFill>
              </a:rPr>
              <a:t>الساعة الثالثة (٢:٠٠ – ٣:٠٠): المسار والمواعيد في مصر، المراحل كاملة، شكله في الأقصر، الرصد الآمن والتصوير</a:t>
            </a:r>
            <a:endParaRPr lang="ar-EG" sz="1700" dirty="0"/>
          </a:p>
        </p:txBody>
      </p:sp>
      <p:sp>
        <p:nvSpPr>
          <p:cNvPr id="8" name="Text 6"/>
          <p:cNvSpPr txBox="1"/>
          <p:nvPr/>
        </p:nvSpPr>
        <p:spPr>
          <a:xfrm>
            <a:off x="5394960" y="4572000"/>
            <a:ext cx="6263640" cy="548640"/>
          </a:xfrm>
          <a:prstGeom prst="rect">
            <a:avLst/>
          </a:prstGeom>
          <a:noFill/>
          <a:ln/>
        </p:spPr>
        <p:txBody>
          <a:bodyPr wrap="square" lIns="0" tIns="0" rIns="0" bIns="0" rtlCol="0" anchor="ctr"/>
          <a:lstStyle/>
          <a:p>
            <a:pPr algn="r" indent="0" marL="0">
              <a:buNone/>
            </a:pPr>
            <a:r>
              <a:rPr lang="en-US" altLang="en-US" sz="1600" i="1" dirty="0">
                <a:solidFill>
                  <a:srgbClr val="F7B733"/>
                </a:solidFill>
              </a:rPr>
              <a:t>Stage 3 — The 2 August 2027 eclipse: timing, observing, photographing</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٣-أ</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المسار ومواعيده في مصر</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The path and the times across Egypt</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من الأطلسي إلى المحيط الهندي، ثم مدينة مدينة داخل المسار وخارجه</a:t>
            </a:r>
            <a:endParaRPr lang="ar-EG"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الحدث بالأرقام</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The eclipse of 2 August 2027 in numbers</a:t>
            </a:r>
            <a:endParaRPr lang="en-US" sz="1400" dirty="0"/>
          </a:p>
        </p:txBody>
      </p:sp>
      <p:sp>
        <p:nvSpPr>
          <p:cNvPr id="4" name="num-0"/>
          <p:cNvSpPr/>
          <p:nvPr/>
        </p:nvSpPr>
        <p:spPr>
          <a:xfrm>
            <a:off x="8122615" y="1371600"/>
            <a:ext cx="3520440" cy="2240280"/>
          </a:xfrm>
          <a:prstGeom prst="roundRect">
            <a:avLst>
              <a:gd name="adj" fmla="val 4898"/>
            </a:avLst>
          </a:prstGeom>
          <a:solidFill>
            <a:srgbClr val="1A2A44"/>
          </a:solidFill>
          <a:ln w="9525">
            <a:solidFill>
              <a:srgbClr val="24385A"/>
            </a:solidFill>
            <a:prstDash val="solid"/>
          </a:ln>
        </p:spPr>
      </p:sp>
      <p:sp>
        <p:nvSpPr>
          <p:cNvPr id="5" name="Text 3"/>
          <p:cNvSpPr txBox="1"/>
          <p:nvPr/>
        </p:nvSpPr>
        <p:spPr>
          <a:xfrm>
            <a:off x="839693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٦ د ٢٣ ث</a:t>
            </a:r>
            <a:endParaRPr lang="ar-EG" sz="4000" dirty="0"/>
          </a:p>
        </p:txBody>
      </p:sp>
      <p:sp>
        <p:nvSpPr>
          <p:cNvPr id="6" name="Text 4"/>
          <p:cNvSpPr txBox="1"/>
          <p:nvPr/>
        </p:nvSpPr>
        <p:spPr>
          <a:xfrm>
            <a:off x="839693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أطول مدة للكلية (Max. duration)</a:t>
            </a:r>
            <a:endParaRPr lang="ar-EG" sz="1500" dirty="0"/>
          </a:p>
        </p:txBody>
      </p:sp>
      <p:sp>
        <p:nvSpPr>
          <p:cNvPr id="7" name="Text 5"/>
          <p:cNvSpPr txBox="1"/>
          <p:nvPr/>
        </p:nvSpPr>
        <p:spPr>
          <a:xfrm>
            <a:off x="839693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غرب طهطا بمحافظة سوهاج</a:t>
            </a:r>
            <a:endParaRPr lang="ar-EG" sz="1400" dirty="0"/>
          </a:p>
        </p:txBody>
      </p:sp>
      <p:sp>
        <p:nvSpPr>
          <p:cNvPr id="8" name="num-1"/>
          <p:cNvSpPr/>
          <p:nvPr/>
        </p:nvSpPr>
        <p:spPr>
          <a:xfrm>
            <a:off x="4373575" y="1371600"/>
            <a:ext cx="3520440" cy="2240280"/>
          </a:xfrm>
          <a:prstGeom prst="roundRect">
            <a:avLst>
              <a:gd name="adj" fmla="val 4898"/>
            </a:avLst>
          </a:prstGeom>
          <a:solidFill>
            <a:srgbClr val="1A2A44"/>
          </a:solidFill>
          <a:ln w="9525">
            <a:solidFill>
              <a:srgbClr val="24385A"/>
            </a:solidFill>
            <a:prstDash val="solid"/>
          </a:ln>
        </p:spPr>
      </p:sp>
      <p:sp>
        <p:nvSpPr>
          <p:cNvPr id="9" name="Text 7"/>
          <p:cNvSpPr txBox="1"/>
          <p:nvPr/>
        </p:nvSpPr>
        <p:spPr>
          <a:xfrm>
            <a:off x="464789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٢٥٩ كم</a:t>
            </a:r>
            <a:endParaRPr lang="ar-EG" sz="4000" dirty="0"/>
          </a:p>
        </p:txBody>
      </p:sp>
      <p:sp>
        <p:nvSpPr>
          <p:cNvPr id="10" name="Text 8"/>
          <p:cNvSpPr txBox="1"/>
          <p:nvPr/>
        </p:nvSpPr>
        <p:spPr>
          <a:xfrm>
            <a:off x="464789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أقصى عرض للمسار (Path width)</a:t>
            </a:r>
            <a:endParaRPr lang="ar-EG" sz="1500" dirty="0"/>
          </a:p>
        </p:txBody>
      </p:sp>
      <p:sp>
        <p:nvSpPr>
          <p:cNvPr id="11" name="Text 9"/>
          <p:cNvSpPr txBox="1"/>
          <p:nvPr/>
        </p:nvSpPr>
        <p:spPr>
          <a:xfrm>
            <a:off x="464789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قرب خط عرض ٢٢° شمالًا</a:t>
            </a:r>
            <a:endParaRPr lang="ar-EG" sz="1400" dirty="0"/>
          </a:p>
        </p:txBody>
      </p:sp>
      <p:sp>
        <p:nvSpPr>
          <p:cNvPr id="12" name="num-2"/>
          <p:cNvSpPr/>
          <p:nvPr/>
        </p:nvSpPr>
        <p:spPr>
          <a:xfrm>
            <a:off x="624535" y="1371600"/>
            <a:ext cx="3520440" cy="2240280"/>
          </a:xfrm>
          <a:prstGeom prst="roundRect">
            <a:avLst>
              <a:gd name="adj" fmla="val 4898"/>
            </a:avLst>
          </a:prstGeom>
          <a:solidFill>
            <a:srgbClr val="1A2A44"/>
          </a:solidFill>
          <a:ln w="9525">
            <a:solidFill>
              <a:srgbClr val="24385A"/>
            </a:solidFill>
            <a:prstDash val="solid"/>
          </a:ln>
        </p:spPr>
      </p:sp>
      <p:sp>
        <p:nvSpPr>
          <p:cNvPr id="13" name="Text 11"/>
          <p:cNvSpPr txBox="1"/>
          <p:nvPr/>
        </p:nvSpPr>
        <p:spPr>
          <a:xfrm>
            <a:off x="898855" y="164592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١١ دولة</a:t>
            </a:r>
            <a:endParaRPr lang="ar-EG" sz="4000" dirty="0"/>
          </a:p>
        </p:txBody>
      </p:sp>
      <p:sp>
        <p:nvSpPr>
          <p:cNvPr id="14" name="Text 12"/>
          <p:cNvSpPr txBox="1"/>
          <p:nvPr/>
        </p:nvSpPr>
        <p:spPr>
          <a:xfrm>
            <a:off x="898855" y="256032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يمر بها مسار الكلية</a:t>
            </a:r>
            <a:endParaRPr lang="ar-EG" sz="1500" dirty="0"/>
          </a:p>
        </p:txBody>
      </p:sp>
      <p:sp>
        <p:nvSpPr>
          <p:cNvPr id="15" name="Text 13"/>
          <p:cNvSpPr txBox="1"/>
          <p:nvPr/>
        </p:nvSpPr>
        <p:spPr>
          <a:xfrm>
            <a:off x="898855" y="301752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من إسبانيا إلى الصومال</a:t>
            </a:r>
            <a:endParaRPr lang="ar-EG" sz="1400" dirty="0"/>
          </a:p>
        </p:txBody>
      </p:sp>
      <p:sp>
        <p:nvSpPr>
          <p:cNvPr id="16" name="num-3"/>
          <p:cNvSpPr/>
          <p:nvPr/>
        </p:nvSpPr>
        <p:spPr>
          <a:xfrm>
            <a:off x="8122615" y="3840480"/>
            <a:ext cx="3520440" cy="2240280"/>
          </a:xfrm>
          <a:prstGeom prst="roundRect">
            <a:avLst>
              <a:gd name="adj" fmla="val 4898"/>
            </a:avLst>
          </a:prstGeom>
          <a:solidFill>
            <a:srgbClr val="1A2A44"/>
          </a:solidFill>
          <a:ln w="9525">
            <a:solidFill>
              <a:srgbClr val="24385A"/>
            </a:solidFill>
            <a:prstDash val="solid"/>
          </a:ln>
        </p:spPr>
      </p:sp>
      <p:sp>
        <p:nvSpPr>
          <p:cNvPr id="17" name="Text 15"/>
          <p:cNvSpPr txBox="1"/>
          <p:nvPr/>
        </p:nvSpPr>
        <p:spPr>
          <a:xfrm>
            <a:off x="839693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٨١°</a:t>
            </a:r>
            <a:endParaRPr lang="ar-EG" sz="4000" dirty="0"/>
          </a:p>
        </p:txBody>
      </p:sp>
      <p:sp>
        <p:nvSpPr>
          <p:cNvPr id="18" name="Text 16"/>
          <p:cNvSpPr txBox="1"/>
          <p:nvPr/>
        </p:nvSpPr>
        <p:spPr>
          <a:xfrm>
            <a:off x="839693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ارتفاع الشمس (Sun altitude)</a:t>
            </a:r>
            <a:endParaRPr lang="ar-EG" sz="1500" dirty="0"/>
          </a:p>
        </p:txBody>
      </p:sp>
      <p:sp>
        <p:nvSpPr>
          <p:cNvPr id="19" name="Text 17"/>
          <p:cNvSpPr txBox="1"/>
          <p:nvPr/>
        </p:nvSpPr>
        <p:spPr>
          <a:xfrm>
            <a:off x="839693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الشمس شبه عمودية فوق الرأس</a:t>
            </a:r>
            <a:endParaRPr lang="ar-EG" sz="1400" dirty="0"/>
          </a:p>
        </p:txBody>
      </p:sp>
      <p:sp>
        <p:nvSpPr>
          <p:cNvPr id="20" name="num-4"/>
          <p:cNvSpPr/>
          <p:nvPr/>
        </p:nvSpPr>
        <p:spPr>
          <a:xfrm>
            <a:off x="4373575" y="3840480"/>
            <a:ext cx="3520440" cy="2240280"/>
          </a:xfrm>
          <a:prstGeom prst="roundRect">
            <a:avLst>
              <a:gd name="adj" fmla="val 4898"/>
            </a:avLst>
          </a:prstGeom>
          <a:solidFill>
            <a:srgbClr val="1A2A44"/>
          </a:solidFill>
          <a:ln w="9525">
            <a:solidFill>
              <a:srgbClr val="24385A"/>
            </a:solidFill>
            <a:prstDash val="solid"/>
          </a:ln>
        </p:spPr>
      </p:sp>
      <p:sp>
        <p:nvSpPr>
          <p:cNvPr id="21" name="Text 19"/>
          <p:cNvSpPr txBox="1"/>
          <p:nvPr/>
        </p:nvSpPr>
        <p:spPr>
          <a:xfrm>
            <a:off x="464789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١٫٠٣٩</a:t>
            </a:r>
            <a:endParaRPr lang="ar-EG" sz="4000" dirty="0"/>
          </a:p>
        </p:txBody>
      </p:sp>
      <p:sp>
        <p:nvSpPr>
          <p:cNvPr id="22" name="Text 20"/>
          <p:cNvSpPr txBox="1"/>
          <p:nvPr/>
        </p:nvSpPr>
        <p:spPr>
          <a:xfrm>
            <a:off x="464789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قدر الكسوف (Magnitude)</a:t>
            </a:r>
            <a:endParaRPr lang="ar-EG" sz="1500" dirty="0"/>
          </a:p>
        </p:txBody>
      </p:sp>
      <p:sp>
        <p:nvSpPr>
          <p:cNvPr id="23" name="Text 21"/>
          <p:cNvSpPr txBox="1"/>
          <p:nvPr/>
        </p:nvSpPr>
        <p:spPr>
          <a:xfrm>
            <a:off x="464789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القمر أكبر ظاهريًا من الشمس بنحو ٤٪</a:t>
            </a:r>
            <a:endParaRPr lang="ar-EG" sz="1400" dirty="0"/>
          </a:p>
        </p:txBody>
      </p:sp>
      <p:sp>
        <p:nvSpPr>
          <p:cNvPr id="24" name="num-5"/>
          <p:cNvSpPr/>
          <p:nvPr/>
        </p:nvSpPr>
        <p:spPr>
          <a:xfrm>
            <a:off x="624535" y="3840480"/>
            <a:ext cx="3520440" cy="2240280"/>
          </a:xfrm>
          <a:prstGeom prst="roundRect">
            <a:avLst>
              <a:gd name="adj" fmla="val 4898"/>
            </a:avLst>
          </a:prstGeom>
          <a:solidFill>
            <a:srgbClr val="1A2A44"/>
          </a:solidFill>
          <a:ln w="9525">
            <a:solidFill>
              <a:srgbClr val="24385A"/>
            </a:solidFill>
            <a:prstDash val="solid"/>
          </a:ln>
        </p:spPr>
      </p:sp>
      <p:sp>
        <p:nvSpPr>
          <p:cNvPr id="25" name="Text 23"/>
          <p:cNvSpPr txBox="1"/>
          <p:nvPr/>
        </p:nvSpPr>
        <p:spPr>
          <a:xfrm>
            <a:off x="898855" y="4114800"/>
            <a:ext cx="2971800" cy="868680"/>
          </a:xfrm>
          <a:prstGeom prst="rect">
            <a:avLst/>
          </a:prstGeom>
          <a:noFill/>
          <a:ln/>
        </p:spPr>
        <p:txBody>
          <a:bodyPr wrap="square" lIns="0" tIns="0" rIns="0" bIns="0" rtlCol="0" anchor="ctr"/>
          <a:lstStyle/>
          <a:p>
            <a:pPr rtl="1" algn="r" indent="0" marL="0">
              <a:buNone/>
            </a:pPr>
            <a:r>
              <a:rPr lang="ar-EG" altLang="en-US" sz="4000" b="1" dirty="0">
                <a:solidFill>
                  <a:srgbClr val="F7B733"/>
                </a:solidFill>
              </a:rPr>
              <a:t>٣ س ٢٣ د</a:t>
            </a:r>
            <a:endParaRPr lang="ar-EG" sz="4000" dirty="0"/>
          </a:p>
        </p:txBody>
      </p:sp>
      <p:sp>
        <p:nvSpPr>
          <p:cNvPr id="26" name="Text 24"/>
          <p:cNvSpPr txBox="1"/>
          <p:nvPr/>
        </p:nvSpPr>
        <p:spPr>
          <a:xfrm>
            <a:off x="898855" y="5029200"/>
            <a:ext cx="2971800" cy="457200"/>
          </a:xfrm>
          <a:prstGeom prst="rect">
            <a:avLst/>
          </a:prstGeom>
          <a:noFill/>
          <a:ln/>
        </p:spPr>
        <p:txBody>
          <a:bodyPr wrap="square" lIns="0" tIns="0" rIns="0" bIns="0" rtlCol="0" anchor="ctr"/>
          <a:lstStyle/>
          <a:p>
            <a:pPr rtl="1" algn="r" indent="0" marL="0">
              <a:buNone/>
            </a:pPr>
            <a:r>
              <a:rPr lang="ar-EG" altLang="en-US" sz="1500" b="1" dirty="0">
                <a:solidFill>
                  <a:srgbClr val="FFFFFF"/>
                </a:solidFill>
              </a:rPr>
              <a:t>عمر الظل على الأرض</a:t>
            </a:r>
            <a:endParaRPr lang="ar-EG" sz="1500" dirty="0"/>
          </a:p>
        </p:txBody>
      </p:sp>
      <p:sp>
        <p:nvSpPr>
          <p:cNvPr id="27" name="Text 25"/>
          <p:cNvSpPr txBox="1"/>
          <p:nvPr/>
        </p:nvSpPr>
        <p:spPr>
          <a:xfrm>
            <a:off x="898855" y="5486400"/>
            <a:ext cx="2971800" cy="411480"/>
          </a:xfrm>
          <a:prstGeom prst="rect">
            <a:avLst/>
          </a:prstGeom>
          <a:noFill/>
          <a:ln/>
        </p:spPr>
        <p:txBody>
          <a:bodyPr wrap="square" lIns="0" tIns="0" rIns="0" bIns="0" rtlCol="0" anchor="ctr"/>
          <a:lstStyle/>
          <a:p>
            <a:pPr rtl="1" algn="r" indent="0" marL="0">
              <a:buNone/>
            </a:pPr>
            <a:r>
              <a:rPr lang="ar-EG" altLang="en-US" sz="1400" dirty="0">
                <a:solidFill>
                  <a:srgbClr val="C9D6EA"/>
                </a:solidFill>
              </a:rPr>
              <a:t>من ١١:٢٥ إلى ١٤:٤٨ بتوقيت مصر</a:t>
            </a:r>
            <a:endParaRPr lang="ar-EG"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المسار من الأطلسي إلى المحيط الهندي</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Path of totality: from the Atlantic to the Indian Ocean</a:t>
            </a:r>
            <a:endParaRPr lang="en-US" sz="1400" dirty="0"/>
          </a:p>
        </p:txBody>
      </p:sp>
      <p:pic>
        <p:nvPicPr>
          <p:cNvPr id="4" name="regional" descr="regional">    </p:cNvPr>
          <p:cNvPicPr>
            <a:picLocks noChangeAspect="1"/>
          </p:cNvPicPr>
          <p:nvPr/>
        </p:nvPicPr>
        <p:blipFill>
          <a:blip r:embed="rId1"/>
          <a:stretch>
            <a:fillRect/>
          </a:stretch>
        </p:blipFill>
        <p:spPr>
          <a:xfrm>
            <a:off x="548640" y="1521562"/>
            <a:ext cx="6675120" cy="4272077"/>
          </a:xfrm>
          <a:prstGeom prst="rect">
            <a:avLst/>
          </a:prstGeom>
        </p:spPr>
      </p:pic>
      <p:sp>
        <p:nvSpPr>
          <p:cNvPr id="5" name="Text 2"/>
          <p:cNvSpPr txBox="1"/>
          <p:nvPr/>
        </p:nvSpPr>
        <p:spPr>
          <a:xfrm>
            <a:off x="7543800" y="1371600"/>
            <a:ext cx="409925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البداية: </a:t>
            </a:r>
            <a:pPr rtl="1" algn="r" indent="0" marL="0">
              <a:buNone/>
            </a:pPr>
            <a:r>
              <a:rPr lang="ar-EG" altLang="en-US" sz="1500" dirty="0">
                <a:solidFill>
                  <a:srgbClr val="1F1F1D"/>
                </a:solidFill>
              </a:rPr>
              <a:t>فجرًا في المحيط الأطلسي، ثم مضيق جبل طارق وجنوب إسبانيا</a:t>
            </a:r>
            <a:endParaRPr lang="ar-EG" sz="1500" dirty="0"/>
          </a:p>
          <a:p>
            <a:pPr rtl="1" algn="r" marL="228600" indent="-228600">
              <a:spcAft>
                <a:spcPts val="800"/>
              </a:spcAft>
              <a:buSzPct val="100000"/>
              <a:buChar char="•"/>
            </a:pPr>
            <a:r>
              <a:rPr lang="ar-EG" altLang="en-US" sz="1500" b="1" dirty="0">
                <a:solidFill>
                  <a:srgbClr val="1F1F1D"/>
                </a:solidFill>
              </a:rPr>
              <a:t>شمال أفريقيا: </a:t>
            </a:r>
            <a:pPr rtl="1" algn="r" indent="0" marL="0">
              <a:buNone/>
            </a:pPr>
            <a:r>
              <a:rPr lang="ar-EG" altLang="en-US" sz="1500" dirty="0">
                <a:solidFill>
                  <a:srgbClr val="1F1F1D"/>
                </a:solidFill>
              </a:rPr>
              <a:t>شمال المغرب والجزائر وتونس وليبيا</a:t>
            </a:r>
            <a:endParaRPr lang="ar-EG" sz="1500" dirty="0"/>
          </a:p>
          <a:p>
            <a:pPr rtl="1" algn="r" marL="228600" indent="-228600">
              <a:spcAft>
                <a:spcPts val="800"/>
              </a:spcAft>
              <a:buSzPct val="100000"/>
              <a:buChar char="•"/>
            </a:pPr>
            <a:r>
              <a:rPr lang="ar-EG" altLang="en-US" sz="1500" b="1" dirty="0">
                <a:solidFill>
                  <a:srgbClr val="1F1F1D"/>
                </a:solidFill>
              </a:rPr>
              <a:t>الذروة: </a:t>
            </a:r>
            <a:pPr rtl="1" algn="r" indent="0" marL="0">
              <a:buNone/>
            </a:pPr>
            <a:r>
              <a:rPr lang="ar-EG" altLang="en-US" sz="1500" dirty="0">
                <a:solidFill>
                  <a:srgbClr val="1F1F1D"/>
                </a:solidFill>
              </a:rPr>
              <a:t>فوق صعيد مصر قرب الظهر</a:t>
            </a:r>
            <a:endParaRPr lang="ar-EG" sz="1500" dirty="0"/>
          </a:p>
          <a:p>
            <a:pPr rtl="1" algn="r" marL="228600" indent="-228600">
              <a:spcAft>
                <a:spcPts val="800"/>
              </a:spcAft>
              <a:buSzPct val="100000"/>
              <a:buChar char="•"/>
            </a:pPr>
            <a:r>
              <a:rPr lang="ar-EG" altLang="en-US" sz="1500" b="1" dirty="0">
                <a:solidFill>
                  <a:srgbClr val="1F1F1D"/>
                </a:solidFill>
              </a:rPr>
              <a:t>النهاية: </a:t>
            </a:r>
            <a:pPr rtl="1" algn="r" indent="0" marL="0">
              <a:buNone/>
            </a:pPr>
            <a:r>
              <a:rPr lang="ar-EG" altLang="en-US" sz="1500" dirty="0">
                <a:solidFill>
                  <a:srgbClr val="1F1F1D"/>
                </a:solidFill>
              </a:rPr>
              <a:t>السعودية واليمن والصومال، ثم المحيط الهندي</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خريطة ٢ من أطلس الكتاب (بالعربية،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رحلة الظل فوق مصر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Moon's umbra crossing Egypt</a:t>
            </a:r>
            <a:endParaRPr lang="en-US" sz="1400" dirty="0"/>
          </a:p>
        </p:txBody>
      </p:sp>
      <p:pic>
        <p:nvPicPr>
          <p:cNvPr id="4" name="snapshots" descr="snapshots">    </p:cNvPr>
          <p:cNvPicPr>
            <a:picLocks noChangeAspect="1"/>
          </p:cNvPicPr>
          <p:nvPr/>
        </p:nvPicPr>
        <p:blipFill>
          <a:blip r:embed="rId1"/>
          <a:stretch>
            <a:fillRect/>
          </a:stretch>
        </p:blipFill>
        <p:spPr>
          <a:xfrm>
            <a:off x="778539" y="1325880"/>
            <a:ext cx="5118043" cy="4663440"/>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١٢:٤٢: </a:t>
            </a:r>
            <a:pPr rtl="1" algn="r" indent="0" marL="0">
              <a:buNone/>
            </a:pPr>
            <a:r>
              <a:rPr lang="ar-EG" altLang="en-US" sz="1600" dirty="0">
                <a:solidFill>
                  <a:srgbClr val="1F1F1D"/>
                </a:solidFill>
              </a:rPr>
              <a:t>يدخل الظل الكامل مصر من الغرب، فتبدأ الكلية في سيوة</a:t>
            </a:r>
            <a:endParaRPr lang="ar-EG" sz="1600" dirty="0"/>
          </a:p>
          <a:p>
            <a:pPr rtl="1" algn="r" marL="228600" indent="-228600">
              <a:spcAft>
                <a:spcPts val="800"/>
              </a:spcAft>
              <a:buSzPct val="100000"/>
              <a:buChar char="•"/>
            </a:pPr>
            <a:r>
              <a:rPr lang="ar-EG" altLang="en-US" sz="1600" b="1" dirty="0">
                <a:solidFill>
                  <a:srgbClr val="1F1F1D"/>
                </a:solidFill>
              </a:rPr>
              <a:t>١٢:٥٠: </a:t>
            </a:r>
            <a:pPr rtl="1" algn="r" indent="0" marL="0">
              <a:buNone/>
            </a:pPr>
            <a:r>
              <a:rPr lang="ar-EG" altLang="en-US" sz="1600" dirty="0">
                <a:solidFill>
                  <a:srgbClr val="1F1F1D"/>
                </a:solidFill>
              </a:rPr>
              <a:t>الواحات البحرية</a:t>
            </a:r>
            <a:endParaRPr lang="ar-EG" sz="1600" dirty="0"/>
          </a:p>
          <a:p>
            <a:pPr rtl="1" algn="r" marL="228600" indent="-228600">
              <a:spcAft>
                <a:spcPts val="800"/>
              </a:spcAft>
              <a:buSzPct val="100000"/>
              <a:buChar char="•"/>
            </a:pPr>
            <a:r>
              <a:rPr lang="ar-EG" altLang="en-US" sz="1600" b="1" dirty="0">
                <a:solidFill>
                  <a:srgbClr val="1F1F1D"/>
                </a:solidFill>
              </a:rPr>
              <a:t>١٢:٥٧–١٣:٠٢: </a:t>
            </a:r>
            <a:pPr rtl="1" algn="r" indent="0" marL="0">
              <a:buNone/>
            </a:pPr>
            <a:r>
              <a:rPr lang="ar-EG" altLang="en-US" sz="1600" dirty="0">
                <a:solidFill>
                  <a:srgbClr val="1F1F1D"/>
                </a:solidFill>
              </a:rPr>
              <a:t>المنيا وأسيوط وسوهاج والأقصر</a:t>
            </a:r>
            <a:endParaRPr lang="ar-EG" sz="1600" dirty="0"/>
          </a:p>
          <a:p>
            <a:pPr rtl="1" algn="r" marL="228600" indent="-228600">
              <a:spcAft>
                <a:spcPts val="800"/>
              </a:spcAft>
              <a:buSzPct val="100000"/>
              <a:buChar char="•"/>
            </a:pPr>
            <a:r>
              <a:rPr lang="ar-EG" altLang="en-US" sz="1600" b="1" dirty="0">
                <a:solidFill>
                  <a:srgbClr val="1F1F1D"/>
                </a:solidFill>
              </a:rPr>
              <a:t>١٣:٠٦: </a:t>
            </a:r>
            <a:pPr rtl="1" algn="r" indent="0" marL="0">
              <a:buNone/>
            </a:pPr>
            <a:r>
              <a:rPr lang="ar-EG" altLang="en-US" sz="1600" dirty="0">
                <a:solidFill>
                  <a:srgbClr val="1F1F1D"/>
                </a:solidFill>
              </a:rPr>
              <a:t>القصير على البحر الأحمر</a:t>
            </a:r>
            <a:endParaRPr lang="ar-EG" sz="1600" dirty="0"/>
          </a:p>
          <a:p>
            <a:pPr rtl="1" algn="r" marL="228600" indent="-228600">
              <a:spcAft>
                <a:spcPts val="800"/>
              </a:spcAft>
              <a:buSzPct val="100000"/>
              <a:buChar char="•"/>
            </a:pPr>
            <a:r>
              <a:rPr lang="ar-EG" altLang="en-US" sz="1600" b="1" dirty="0">
                <a:solidFill>
                  <a:srgbClr val="1F1F1D"/>
                </a:solidFill>
              </a:rPr>
              <a:t>١٣:١٧: </a:t>
            </a:r>
            <a:pPr rtl="1" algn="r" indent="0" marL="0">
              <a:buNone/>
            </a:pPr>
            <a:r>
              <a:rPr lang="ar-EG" altLang="en-US" sz="1600" dirty="0">
                <a:solidFill>
                  <a:srgbClr val="1F1F1D"/>
                </a:solidFill>
              </a:rPr>
              <a:t>آخر الكلية في برنيس، ثم يعبر الظل البحر الأحمر إلى السعودية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٤-٤ من الكتاب: مواقع الظل كل ربع ساعة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مسار الكلية فوق مصر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Path of totality over Egypt</a:t>
            </a:r>
            <a:endParaRPr lang="en-US" sz="1400" dirty="0"/>
          </a:p>
        </p:txBody>
      </p:sp>
      <p:pic>
        <p:nvPicPr>
          <p:cNvPr id="4" name="egypt" descr="egypt">    </p:cNvPr>
          <p:cNvPicPr>
            <a:picLocks noChangeAspect="1"/>
          </p:cNvPicPr>
          <p:nvPr/>
        </p:nvPicPr>
        <p:blipFill>
          <a:blip r:embed="rId1"/>
          <a:stretch>
            <a:fillRect/>
          </a:stretch>
        </p:blipFill>
        <p:spPr>
          <a:xfrm>
            <a:off x="1194033" y="1234440"/>
            <a:ext cx="6298734" cy="4846320"/>
          </a:xfrm>
          <a:prstGeom prst="rect">
            <a:avLst/>
          </a:prstGeom>
        </p:spPr>
      </p:pic>
      <p:sp>
        <p:nvSpPr>
          <p:cNvPr id="5" name="Text 2"/>
          <p:cNvSpPr txBox="1"/>
          <p:nvPr/>
        </p:nvSpPr>
        <p:spPr>
          <a:xfrm>
            <a:off x="8366760" y="1325880"/>
            <a:ext cx="3276295" cy="4709160"/>
          </a:xfrm>
          <a:prstGeom prst="rect">
            <a:avLst/>
          </a:prstGeom>
          <a:noFill/>
          <a:ln/>
        </p:spPr>
        <p:txBody>
          <a:bodyPr wrap="square" lIns="0" tIns="0" rIns="0" bIns="0" rtlCol="0" anchor="t"/>
          <a:lstStyle/>
          <a:p>
            <a:pPr rtl="1" algn="r" marL="228600" indent="-228600">
              <a:spcAft>
                <a:spcPts val="1000"/>
              </a:spcAft>
              <a:buSzPct val="100000"/>
              <a:buChar char="•"/>
            </a:pPr>
            <a:r>
              <a:rPr lang="ar-EG" altLang="en-US" sz="1500" b="1" dirty="0">
                <a:solidFill>
                  <a:srgbClr val="1F1F1D"/>
                </a:solidFill>
              </a:rPr>
              <a:t>داخل المسار (Path of totality): </a:t>
            </a:r>
            <a:pPr rtl="1" algn="r" indent="0" marL="0">
              <a:buNone/>
            </a:pPr>
            <a:r>
              <a:rPr lang="ar-EG" altLang="en-US" sz="1500" dirty="0">
                <a:solidFill>
                  <a:srgbClr val="1F1F1D"/>
                </a:solidFill>
              </a:rPr>
              <a:t>سيوة، الواحات البحرية، المنيا، أسيوط، سوهاج، قنا، الأقصر، إدفو، كوم أمبو، القصير، مرسى علم، برنيس</a:t>
            </a:r>
            <a:endParaRPr lang="ar-EG" sz="1500" dirty="0"/>
          </a:p>
          <a:p>
            <a:pPr rtl="1" algn="r" marL="228600" indent="-228600">
              <a:spcAft>
                <a:spcPts val="1000"/>
              </a:spcAft>
              <a:buSzPct val="100000"/>
              <a:buChar char="•"/>
            </a:pPr>
            <a:r>
              <a:rPr lang="ar-EG" altLang="en-US" sz="1500" b="1" dirty="0">
                <a:solidFill>
                  <a:srgbClr val="1F1F1D"/>
                </a:solidFill>
              </a:rPr>
              <a:t>على الحافة: </a:t>
            </a:r>
            <a:pPr rtl="1" algn="r" indent="0" marL="0">
              <a:buNone/>
            </a:pPr>
            <a:r>
              <a:rPr lang="ar-EG" altLang="en-US" sz="1500" dirty="0">
                <a:solidFill>
                  <a:srgbClr val="1F1F1D"/>
                </a:solidFill>
              </a:rPr>
              <a:t>أسوان ٩٩٫٨٪ والخارجة ٩٩٫٥٪ وسفاجا ٩٩٫٦٪ — جزئي رغم القرب</a:t>
            </a:r>
            <a:endParaRPr lang="ar-EG" sz="1500" dirty="0"/>
          </a:p>
          <a:p>
            <a:pPr rtl="1" algn="r" marL="228600" indent="-228600">
              <a:spcAft>
                <a:spcPts val="1000"/>
              </a:spcAft>
              <a:buSzPct val="100000"/>
              <a:buChar char="•"/>
            </a:pPr>
            <a:r>
              <a:rPr lang="ar-EG" altLang="en-US" sz="1500" b="1" dirty="0">
                <a:solidFill>
                  <a:srgbClr val="1F1F1D"/>
                </a:solidFill>
              </a:rPr>
              <a:t>خارجه: </a:t>
            </a:r>
            <a:pPr rtl="1" algn="r" indent="0" marL="0">
              <a:buNone/>
            </a:pPr>
            <a:r>
              <a:rPr lang="ar-EG" altLang="en-US" sz="1500" dirty="0">
                <a:solidFill>
                  <a:srgbClr val="1F1F1D"/>
                </a:solidFill>
              </a:rPr>
              <a:t>القاهرة ٩٤٫٨٪ والإسكندرية ٩٣٫٤٪ والغردقة ٩٨٫٦٪</a:t>
            </a:r>
            <a:endParaRPr lang="ar-EG" sz="1500" dirty="0"/>
          </a:p>
          <a:p>
            <a:pPr rtl="1" algn="r" marL="228600" indent="-228600">
              <a:spcAft>
                <a:spcPts val="1000"/>
              </a:spcAft>
              <a:buSzPct val="100000"/>
              <a:buChar char="•"/>
            </a:pPr>
            <a:r>
              <a:rPr lang="ar-EG" altLang="en-US" sz="1500" b="1" dirty="0">
                <a:solidFill>
                  <a:srgbClr val="1F1F1D"/>
                </a:solidFill>
              </a:rPr>
              <a:t>النجمة: </a:t>
            </a:r>
            <a:pPr rtl="1" algn="r" indent="0" marL="0">
              <a:buNone/>
            </a:pPr>
            <a:r>
              <a:rPr lang="ar-EG" altLang="en-US" sz="1500" dirty="0">
                <a:solidFill>
                  <a:srgbClr val="1F1F1D"/>
                </a:solidFill>
              </a:rPr>
              <a:t>نقطة أطول مدة (Greatest duration)؛ والمعيّن: نقطة أعظم كسوف (Greatest eclipse)</a:t>
            </a:r>
            <a:endParaRPr lang="ar-EG"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أطول مدة أم أعظم كسوف؟</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Greatest duration vs. greatest eclipse</a:t>
            </a:r>
            <a:endParaRPr lang="en-US" sz="1400" dirty="0"/>
          </a:p>
        </p:txBody>
      </p:sp>
      <p:pic>
        <p:nvPicPr>
          <p:cNvPr id="4" name="longest" descr="longest">    </p:cNvPr>
          <p:cNvPicPr>
            <a:picLocks noChangeAspect="1"/>
          </p:cNvPicPr>
          <p:nvPr/>
        </p:nvPicPr>
        <p:blipFill>
          <a:blip r:embed="rId1"/>
          <a:stretch>
            <a:fillRect/>
          </a:stretch>
        </p:blipFill>
        <p:spPr>
          <a:xfrm>
            <a:off x="607023" y="1325880"/>
            <a:ext cx="5278194" cy="4663440"/>
          </a:xfrm>
          <a:prstGeom prst="rect">
            <a:avLst/>
          </a:prstGeom>
        </p:spPr>
      </p:pic>
      <p:sp>
        <p:nvSpPr>
          <p:cNvPr id="5" name="Text 2"/>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400" b="1" dirty="0">
                <a:solidFill>
                  <a:srgbClr val="1F1F1D"/>
                </a:solidFill>
              </a:rPr>
              <a:t>أطول مدة (Greatest duration): </a:t>
            </a:r>
            <a:pPr rtl="1" algn="r" indent="0" marL="0">
              <a:buNone/>
            </a:pPr>
            <a:r>
              <a:rPr lang="ar-EG" altLang="en-US" sz="1400" dirty="0">
                <a:solidFill>
                  <a:srgbClr val="1F1F1D"/>
                </a:solidFill>
              </a:rPr>
              <a:t>٦ د ٢٣٫٢ ث عند ٢٦°٤٨٫٨′ ش و٣١°٠٨٫٠′ ق، في الصحراء نحو ٣٦ كم غرب طهطا، الساعة ١٣:٠٠:٢١</a:t>
            </a:r>
            <a:endParaRPr lang="ar-EG" sz="1400" dirty="0"/>
          </a:p>
          <a:p>
            <a:pPr rtl="1" algn="r" marL="228600" indent="-228600">
              <a:spcAft>
                <a:spcPts val="800"/>
              </a:spcAft>
              <a:buSzPct val="100000"/>
              <a:buChar char="•"/>
            </a:pPr>
            <a:r>
              <a:rPr lang="ar-EG" altLang="en-US" sz="1400" b="1" dirty="0">
                <a:solidFill>
                  <a:srgbClr val="1F1F1D"/>
                </a:solidFill>
              </a:rPr>
              <a:t>أعظم كسوف (Greatest eclipse): </a:t>
            </a:r>
            <a:pPr rtl="1" algn="r" indent="0" marL="0">
              <a:buNone/>
            </a:pPr>
            <a:r>
              <a:rPr lang="ar-EG" altLang="en-US" sz="1400" dirty="0">
                <a:solidFill>
                  <a:srgbClr val="1F1F1D"/>
                </a:solidFill>
              </a:rPr>
              <a:t>أقرب مرور لمحور الظل من مركز الأرض، عند ٢٥°٣٠٫٤′ ش و٣٣°١٠٫٨′ ق، نحو ٦٠ كم شرق الأقصر، الساعة ١٣:٠٦:٣٤ ومدته ٦ د ٢٢٫٧ ث</a:t>
            </a:r>
            <a:endParaRPr lang="ar-EG" sz="1400" dirty="0"/>
          </a:p>
          <a:p>
            <a:pPr rtl="1" algn="r" marL="228600" indent="-228600">
              <a:spcAft>
                <a:spcPts val="800"/>
              </a:spcAft>
              <a:buSzPct val="100000"/>
              <a:buChar char="•"/>
            </a:pPr>
            <a:r>
              <a:rPr lang="ar-EG" altLang="en-US" sz="1400" b="1" dirty="0">
                <a:solidFill>
                  <a:srgbClr val="1F1F1D"/>
                </a:solidFill>
              </a:rPr>
              <a:t>المدن: </a:t>
            </a:r>
            <a:pPr rtl="1" algn="r" indent="0" marL="0">
              <a:buNone/>
            </a:pPr>
            <a:r>
              <a:rPr lang="ar-EG" altLang="en-US" sz="1400" dirty="0">
                <a:solidFill>
                  <a:srgbClr val="1F1F1D"/>
                </a:solidFill>
              </a:rPr>
              <a:t>نجع حمادي وسوهاج ٦ د ٢٢ ث، أبيدوس وقوص ٦ د ٢١ ث، الأقصر وبرنيس ٦ د ٢٠ ث</a:t>
            </a:r>
            <a:endParaRPr lang="ar-EG" sz="1400" dirty="0"/>
          </a:p>
          <a:p>
            <a:pPr rtl="1" algn="r" marL="228600" indent="-228600">
              <a:spcAft>
                <a:spcPts val="800"/>
              </a:spcAft>
              <a:buSzPct val="100000"/>
              <a:buChar char="•"/>
            </a:pPr>
            <a:r>
              <a:rPr lang="ar-EG" altLang="en-US" sz="1400" b="1" dirty="0">
                <a:solidFill>
                  <a:srgbClr val="1F1F1D"/>
                </a:solidFill>
              </a:rPr>
              <a:t>الخلاصة: </a:t>
            </a:r>
            <a:pPr rtl="1" algn="r" indent="0" marL="0">
              <a:buNone/>
            </a:pPr>
            <a:r>
              <a:rPr lang="ar-EG" altLang="en-US" sz="1400" dirty="0">
                <a:solidFill>
                  <a:srgbClr val="1F1F1D"/>
                </a:solidFill>
              </a:rPr>
              <a:t>الفرق ثوانٍ لا يدركها الراصد؛ الأهم سماء صافية وأفق مفتوح قرب خط المركز</a:t>
            </a:r>
            <a:endParaRPr lang="ar-EG" sz="14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٢٤-٤ من الكتاب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مواعيد الكلية في مدن المسار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Totality times in cities inside the path (Egypt summer time, UT+3)</a:t>
            </a:r>
            <a:endParaRPr lang="en-US" sz="1400" dirty="0"/>
          </a:p>
        </p:txBody>
      </p:sp>
      <p:graphicFrame>
        <p:nvGraphicFramePr>
          <p:cNvPr id="43" name="totality-table-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300" b="1" dirty="0">
                          <a:solidFill>
                            <a:srgbClr val="FFFFFF"/>
                          </a:solidFill>
                        </a:rPr>
                        <a:t>المدة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نهاية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بداية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المدينة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475488">
                <a:tc>
                  <a:txBody>
                    <a:bodyPr/>
                    <a:lstStyle/>
                    <a:p>
                      <a:pPr rtl="1" algn="ctr" indent="0" marL="0">
                        <a:buNone/>
                      </a:pPr>
                      <a:r>
                        <a:rPr lang="ar-EG" altLang="en-US" sz="1300" b="1" dirty="0">
                          <a:solidFill>
                            <a:srgbClr val="1D4E89"/>
                          </a:solidFill>
                        </a:rPr>
                        <a:t>٦ د ٢٢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١٣:٠٦:٥٦</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١٣:٠٠:٣٣</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نجع حمادي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٦ د ٢٢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١٣:٠٥:٠٠</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١٢:٥٨:٣٨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سوهاج</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٦ د ٢١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١٣:٠٦:٠٢</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١٢:٥٩:٤١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أبيدوس (البلينا)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٦ د ٢٠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١٣:٠٨:١٨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١٣:٠١:٥٨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الأقصر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٦ د ٢٠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١٣:١٦:٥٤</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١٣:١٠:٣٤</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برنيس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٦ د ١٧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١٢:٥٦:٢٨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١٢:٥٠:١٠</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الباويطي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٦ د ١٤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١٣:٠٧:٣٥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١٣:٠١:٢١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دندرة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٦ د ١١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١٣:٠٧:٣٨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١٣:٠١:٢٧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قنا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graphicFrame>
        <p:nvGraphicFramePr>
          <p:cNvPr id="85" name="totality-table-2"/>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188720"/>
                <a:gridCol w="1325880"/>
                <a:gridCol w="1325880"/>
                <a:gridCol w="1600200"/>
              </a:tblGrid>
              <a:tr h="475488">
                <a:tc>
                  <a:txBody>
                    <a:bodyPr/>
                    <a:lstStyle/>
                    <a:p>
                      <a:pPr rtl="1" algn="ctr" indent="0" marL="0">
                        <a:buNone/>
                      </a:pPr>
                      <a:r>
                        <a:rPr lang="ar-EG" altLang="en-US" sz="1300" b="1" dirty="0">
                          <a:solidFill>
                            <a:srgbClr val="FFFFFF"/>
                          </a:solidFill>
                        </a:rPr>
                        <a:t>المدة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نهاية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بداية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المدينة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475488">
                <a:tc>
                  <a:txBody>
                    <a:bodyPr/>
                    <a:lstStyle/>
                    <a:p>
                      <a:pPr rtl="1" algn="ctr" indent="0" marL="0">
                        <a:buNone/>
                      </a:pPr>
                      <a:r>
                        <a:rPr lang="ar-EG" altLang="en-US" sz="1300" b="1" dirty="0">
                          <a:solidFill>
                            <a:srgbClr val="1D4E89"/>
                          </a:solidFill>
                        </a:rPr>
                        <a:t>٦ د ٠٧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١٣:٠٢:٥٣</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١٢:٥٦:٤٦</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أسيوط</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٥ د ٤٤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١٣:٠٨:٢٨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١٣:٠٢:٤٣</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إسنا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٥ د ٣١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١٣:١٣:٢٥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١٣:٠٧:٥٤</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مرسى علم</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٥ د ٣٠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١٣:٠٩:٣١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١٣:٠٤:٠١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إدفو</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٥ د ٢٨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١٢:٤٧:٥٥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١٢:٤٢:٢٦</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سيوة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٤ د ٠٩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١٢:٥٩:٣٧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١٢:٥٥:٢٨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المنيا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475488">
                <a:tc>
                  <a:txBody>
                    <a:bodyPr/>
                    <a:lstStyle/>
                    <a:p>
                      <a:pPr rtl="1" algn="ctr" indent="0" marL="0">
                        <a:buNone/>
                      </a:pPr>
                      <a:r>
                        <a:rPr lang="ar-EG" altLang="en-US" sz="1300" b="1" dirty="0">
                          <a:solidFill>
                            <a:srgbClr val="1D4E89"/>
                          </a:solidFill>
                        </a:rPr>
                        <a:t>٣ د ٢١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١٣:٠٩:٢٥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dirty="0">
                          <a:solidFill>
                            <a:srgbClr val="1F1F1D"/>
                          </a:solidFill>
                        </a:rPr>
                        <a:t>١٣:٠٦:٠٤</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F1F1D"/>
                          </a:solidFill>
                        </a:rPr>
                        <a:t>كوم أمبو</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475488">
                <a:tc>
                  <a:txBody>
                    <a:bodyPr/>
                    <a:lstStyle/>
                    <a:p>
                      <a:pPr rtl="1" algn="ctr" indent="0" marL="0">
                        <a:buNone/>
                      </a:pPr>
                      <a:r>
                        <a:rPr lang="ar-EG" altLang="en-US" sz="1300" b="1" dirty="0">
                          <a:solidFill>
                            <a:srgbClr val="1D4E89"/>
                          </a:solidFill>
                        </a:rPr>
                        <a:t>٢ د ٣١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١٣:٠٩:٠٢</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dirty="0">
                          <a:solidFill>
                            <a:srgbClr val="1F1F1D"/>
                          </a:solidFill>
                        </a:rPr>
                        <a:t>١٣:٠٦:٣٠</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F1F1D"/>
                          </a:solidFill>
                        </a:rPr>
                        <a:t>القصير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6" name="Text 2"/>
          <p:cNvSpPr txBox="1"/>
          <p:nvPr/>
        </p:nvSpPr>
        <p:spPr>
          <a:xfrm>
            <a:off x="548640" y="580644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الأوقات بتوقيت مصر الصيفي (ت.ع +٣)، والراصد عند مستوى سطح البحر؛ قد تختلف التماسات ثواني قليلة بسبب تضاريس حافة القمر</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مواعيد الكسوف الجزئي في المدن خارج المسار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Partial eclipse times in cities outside the path (UT+3)</a:t>
            </a:r>
            <a:endParaRPr lang="en-US" sz="1400" dirty="0"/>
          </a:p>
        </p:txBody>
      </p:sp>
      <p:graphicFrame>
        <p:nvGraphicFramePr>
          <p:cNvPr id="44" name="partial-table"/>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1280160"/>
                <a:gridCol w="1508760"/>
                <a:gridCol w="1508760"/>
                <a:gridCol w="1508760"/>
                <a:gridCol w="1691640"/>
              </a:tblGrid>
              <a:tr h="393192">
                <a:tc>
                  <a:txBody>
                    <a:bodyPr/>
                    <a:lstStyle/>
                    <a:p>
                      <a:pPr rtl="1" algn="ctr" indent="0" marL="0">
                        <a:buNone/>
                      </a:pPr>
                      <a:r>
                        <a:rPr lang="ar-EG" altLang="en-US" sz="1400" b="1" dirty="0">
                          <a:solidFill>
                            <a:srgbClr val="FFFFFF"/>
                          </a:solidFill>
                        </a:rPr>
                        <a:t>الاحتجاب</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rPr>
                        <a:t>النهاية (C4)</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rPr>
                        <a:t>الذروة (Max)</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rPr>
                        <a:t>البداية (C1)</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400" b="1" dirty="0">
                          <a:solidFill>
                            <a:srgbClr val="FFFFFF"/>
                          </a:solidFill>
                        </a:rPr>
                        <a:t>المدينة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93192">
                <a:tc>
                  <a:txBody>
                    <a:bodyPr/>
                    <a:lstStyle/>
                    <a:p>
                      <a:pPr rtl="1" algn="ctr" indent="0" marL="0">
                        <a:buNone/>
                      </a:pPr>
                      <a:r>
                        <a:rPr lang="ar-EG" altLang="en-US" sz="1400" b="1" dirty="0">
                          <a:solidFill>
                            <a:srgbClr val="E88A2C"/>
                          </a:solidFill>
                        </a:rPr>
                        <a:t>٩٩٫٨٪</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١٤:٢٩:٤٢</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١٣:٠٨:١٧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١١:٤٢:٤٢</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rPr>
                        <a:t>أسوان</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rPr>
                        <a:t>٩٩٫٦٪</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١٤:٢٦:٢٨</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١٣:٠٦:٠٤</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١١:٤١:٤٦</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rPr>
                        <a:t>سفاجا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rPr>
                        <a:t>٩٩٫٥٪</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١٤:٢٣:٢٣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١٣:٠١:١٢</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١١:٣٥:٥٩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rPr>
                        <a:t>الخارجة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rPr>
                        <a:t>٩٨٫٦٪</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١٤:٢٥:١٧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١٣:٠٤:٥٩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١١:٤٠:٥٧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rPr>
                        <a:t>الغردقة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rPr>
                        <a:t>٩٥٫٦٪</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١٤:٢٤:٤٤</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١٣:٠٤:٥٨</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١١:٤١:٢٦</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rPr>
                        <a:t>شرم الشيخ</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rPr>
                        <a:t>٩٥٫٠٪</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١٤:١٦:٠٧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١٢:٥٥:٤٣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١١:٣٢:٥٩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rPr>
                        <a:t>الجيزة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rPr>
                        <a:t>٩٤٫٨٪</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١٤:١٦:٠٥</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١٢:٥٥:٤٣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١١:٣٣:٠١</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rPr>
                        <a:t>القاهرة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rPr>
                        <a:t>٩٣٫٤٪</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١٤:١١:٥٣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١٢:٥١:٣٣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١١:٢٩:٣٣</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rPr>
                        <a:t>الإسكندرية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93192">
                <a:tc>
                  <a:txBody>
                    <a:bodyPr/>
                    <a:lstStyle/>
                    <a:p>
                      <a:pPr rtl="1" algn="ctr" indent="0" marL="0">
                        <a:buNone/>
                      </a:pPr>
                      <a:r>
                        <a:rPr lang="ar-EG" altLang="en-US" sz="1400" b="1" dirty="0">
                          <a:solidFill>
                            <a:srgbClr val="E88A2C"/>
                          </a:solidFill>
                        </a:rPr>
                        <a:t>٩٢٫٠٪</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١٤:٣٠:٢٧</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١٣:٠٨:٣٢</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dirty="0">
                          <a:solidFill>
                            <a:srgbClr val="1F1F1D"/>
                          </a:solidFill>
                        </a:rPr>
                        <a:t>١١:٤٢:٢٩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400" b="1" dirty="0">
                          <a:solidFill>
                            <a:srgbClr val="1D4E89"/>
                          </a:solidFill>
                        </a:rPr>
                        <a:t>أبو سمبل</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93192">
                <a:tc>
                  <a:txBody>
                    <a:bodyPr/>
                    <a:lstStyle/>
                    <a:p>
                      <a:pPr rtl="1" algn="ctr" indent="0" marL="0">
                        <a:buNone/>
                      </a:pPr>
                      <a:r>
                        <a:rPr lang="ar-EG" altLang="en-US" sz="1400" b="1" dirty="0">
                          <a:solidFill>
                            <a:srgbClr val="E88A2C"/>
                          </a:solidFill>
                        </a:rPr>
                        <a:t>٨٨٫٥٪</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١٤:١٥:١٤</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١٢:٥٦:٠٤</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dirty="0">
                          <a:solidFill>
                            <a:srgbClr val="1F1F1D"/>
                          </a:solidFill>
                        </a:rPr>
                        <a:t>١١:٣٤:٢٩</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400" b="1" dirty="0">
                          <a:solidFill>
                            <a:srgbClr val="1D4E89"/>
                          </a:solidFill>
                        </a:rPr>
                        <a:t>بورسعيد</a:t>
                      </a:r>
                      <a:endParaRPr lang="ar-EG" sz="14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5" name="partial-note"/>
          <p:cNvSpPr/>
          <p:nvPr/>
        </p:nvSpPr>
        <p:spPr>
          <a:xfrm>
            <a:off x="8321040" y="1371600"/>
            <a:ext cx="3322015" cy="4343400"/>
          </a:xfrm>
          <a:prstGeom prst="roundRect">
            <a:avLst>
              <a:gd name="adj" fmla="val 3303"/>
            </a:avLst>
          </a:prstGeom>
          <a:solidFill>
            <a:srgbClr val="0F1B2D"/>
          </a:solidFill>
          <a:ln w="9525">
            <a:solidFill>
              <a:srgbClr val="0F1B2D"/>
            </a:solidFill>
            <a:prstDash val="solid"/>
          </a:ln>
        </p:spPr>
      </p:sp>
      <p:sp>
        <p:nvSpPr>
          <p:cNvPr id="6" name="Text 3"/>
          <p:cNvSpPr txBox="1"/>
          <p:nvPr/>
        </p:nvSpPr>
        <p:spPr>
          <a:xfrm>
            <a:off x="8549640" y="1554480"/>
            <a:ext cx="2864815" cy="3977640"/>
          </a:xfrm>
          <a:prstGeom prst="rect">
            <a:avLst/>
          </a:prstGeom>
          <a:noFill/>
          <a:ln/>
        </p:spPr>
        <p:txBody>
          <a:bodyPr wrap="square" lIns="0" tIns="0" rIns="0" bIns="0" rtlCol="0" anchor="t"/>
          <a:lstStyle/>
          <a:p>
            <a:pPr rtl="1" algn="r" indent="0" marL="0">
              <a:spcAft>
                <a:spcPts val="1200"/>
              </a:spcAft>
              <a:buNone/>
            </a:pPr>
            <a:r>
              <a:rPr lang="ar-EG" altLang="en-US" sz="2000" b="1" dirty="0">
                <a:solidFill>
                  <a:srgbClr val="F7B733"/>
                </a:solidFill>
              </a:rPr>
              <a:t>في هذه المدن</a:t>
            </a:r>
            <a:endParaRPr lang="en-US" sz="2000" dirty="0"/>
          </a:p>
          <a:p>
            <a:pPr rtl="1" algn="r" indent="0" marL="0">
              <a:spcAft>
                <a:spcPts val="1200"/>
              </a:spcAft>
              <a:buNone/>
            </a:pPr>
            <a:r>
              <a:rPr lang="ar-EG" altLang="en-US" sz="1600" dirty="0">
                <a:solidFill>
                  <a:srgbClr val="FFFFFF"/>
                </a:solidFill>
              </a:rPr>
              <a:t>لا توجد لحظة كلية، فالنظارة على العين من البداية إلى النهاية.</a:t>
            </a:r>
            <a:endParaRPr lang="en-US" sz="2000" dirty="0"/>
          </a:p>
          <a:p>
            <a:pPr rtl="1" algn="r" indent="0" marL="0">
              <a:spcAft>
                <a:spcPts val="1200"/>
              </a:spcAft>
              <a:buNone/>
            </a:pPr>
            <a:r>
              <a:rPr lang="ar-EG" altLang="en-US" sz="1500" dirty="0">
                <a:solidFill>
                  <a:srgbClr val="C9D6EA"/>
                </a:solidFill>
              </a:rPr>
              <a:t>الحدث كله نحو ساعتين وأربعين دقيقة، وذروته بين ١٢:٥١ (الإسكندرية) و١٣:٠٨ (أسوان).</a:t>
            </a:r>
            <a:endParaRPr lang="en-US" sz="2000" dirty="0"/>
          </a:p>
        </p:txBody>
      </p:sp>
      <p:sp>
        <p:nvSpPr>
          <p:cNvPr id="7" name="Text 4"/>
          <p:cNvSpPr txBox="1"/>
          <p:nvPr/>
        </p:nvSpPr>
        <p:spPr>
          <a:xfrm>
            <a:off x="548640" y="6053328"/>
            <a:ext cx="7498080"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المصدر: جدول المدن في ملحق الكتاب (محسوب)؛ توقيت مصر الصيفي</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خارج المسار: الجزئي يبقى جزئيًا مهما بلغ</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Outside the path: a partial eclipse stays partial</a:t>
            </a:r>
            <a:endParaRPr lang="en-US" sz="1400" dirty="0"/>
          </a:p>
        </p:txBody>
      </p:sp>
      <p:graphicFrame>
        <p:nvGraphicFramePr>
          <p:cNvPr id="4" name="chart-partial-cities" descr=""/>
          <p:cNvGraphicFramePr/>
          <p:nvPr/>
        </p:nvGraphicFramePr>
        <p:xfrm>
          <a:off x="548640" y="1325880"/>
          <a:ext cx="6675120" cy="4709160"/>
        </p:xfrm>
        <a:graphic xmlns:a="http://schemas.openxmlformats.org/drawingml/2006/main">
          <a:graphicData uri="http://schemas.openxmlformats.org/drawingml/2006/chart">
            <c:chart xmlns:c="http://schemas.openxmlformats.org/drawingml/2006/chart" r:id="rId1"/>
          </a:graphicData>
        </a:graphic>
      </p:graphicFrame>
      <p:sp>
        <p:nvSpPr>
          <p:cNvPr id="5" name="warn-card"/>
          <p:cNvSpPr/>
          <p:nvPr/>
        </p:nvSpPr>
        <p:spPr>
          <a:xfrm>
            <a:off x="7543800" y="1371600"/>
            <a:ext cx="4099255" cy="2057400"/>
          </a:xfrm>
          <a:prstGeom prst="roundRect">
            <a:avLst>
              <a:gd name="adj" fmla="val 5333"/>
            </a:avLst>
          </a:prstGeom>
          <a:solidFill>
            <a:srgbClr val="B3261E"/>
          </a:solidFill>
          <a:ln w="9525">
            <a:solidFill>
              <a:srgbClr val="B3261E"/>
            </a:solidFill>
            <a:prstDash val="solid"/>
          </a:ln>
        </p:spPr>
      </p:sp>
      <p:sp>
        <p:nvSpPr>
          <p:cNvPr id="6" name="Text 3"/>
          <p:cNvSpPr txBox="1"/>
          <p:nvPr/>
        </p:nvSpPr>
        <p:spPr>
          <a:xfrm>
            <a:off x="7772400" y="1481328"/>
            <a:ext cx="3642055" cy="1828800"/>
          </a:xfrm>
          <a:prstGeom prst="rect">
            <a:avLst/>
          </a:prstGeom>
          <a:noFill/>
          <a:ln/>
        </p:spPr>
        <p:txBody>
          <a:bodyPr wrap="square" lIns="0" tIns="0" rIns="0" bIns="0" rtlCol="0" anchor="ctr"/>
          <a:lstStyle/>
          <a:p>
            <a:pPr rtl="1" algn="r" indent="0" marL="0">
              <a:spcAft>
                <a:spcPts val="600"/>
              </a:spcAft>
              <a:buNone/>
            </a:pPr>
            <a:r>
              <a:rPr lang="ar-EG" altLang="en-US" sz="2600" b="1" dirty="0">
                <a:solidFill>
                  <a:srgbClr val="FFFFFF"/>
                </a:solidFill>
              </a:rPr>
              <a:t>٩٩٫٨٪ ≠ كلي</a:t>
            </a:r>
            <a:endParaRPr lang="en-US" sz="2600" dirty="0"/>
          </a:p>
          <a:p>
            <a:pPr rtl="1" algn="r" indent="0" marL="0">
              <a:spcAft>
                <a:spcPts val="600"/>
              </a:spcAft>
              <a:buNone/>
            </a:pPr>
            <a:r>
              <a:rPr lang="ar-EG" altLang="en-US" sz="1500" dirty="0">
                <a:solidFill>
                  <a:srgbClr val="FFFFFF"/>
                </a:solidFill>
              </a:rPr>
              <a:t>الجزء الباقي من الشمس في أسوان أسطع بآلاف المرات من الهالة: لا ليل، ولا هالة، ولا نزع للنظارة أبدًا</a:t>
            </a:r>
            <a:endParaRPr lang="en-US" sz="2600" dirty="0"/>
          </a:p>
        </p:txBody>
      </p:sp>
      <p:pic>
        <p:nvPicPr>
          <p:cNvPr id="7" name="partialVsTotal" descr="partialVsTotal">    </p:cNvPr>
          <p:cNvPicPr>
            <a:picLocks noChangeAspect="1"/>
          </p:cNvPicPr>
          <p:nvPr/>
        </p:nvPicPr>
        <p:blipFill>
          <a:blip r:embed="rId2"/>
          <a:stretch>
            <a:fillRect/>
          </a:stretch>
        </p:blipFill>
        <p:spPr>
          <a:xfrm>
            <a:off x="7709706" y="3611880"/>
            <a:ext cx="3767444" cy="2103120"/>
          </a:xfrm>
          <a:prstGeom prst="rect">
            <a:avLst/>
          </a:prstGeom>
        </p:spPr>
      </p:pic>
      <p:sp>
        <p:nvSpPr>
          <p:cNvPr id="8" name="Text 4"/>
          <p:cNvSpPr txBox="1"/>
          <p:nvPr/>
        </p:nvSpPr>
        <p:spPr>
          <a:xfrm>
            <a:off x="7543800" y="6053328"/>
            <a:ext cx="409925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المصدر: جدول المدن في ملحق الكتاب (محسوب)؛ الصورة: الشكل ٢١-٤</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٣-ب</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كيف سيبدو الكسوف في الأقصر؟</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What the eclipse will look like in Luxor</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المراحل كاملة، وشكل الشمس في كل مرحلة، والسماء لحظة الكلية، والمواقع الأثرية تحت الظل</a:t>
            </a:r>
            <a:endParaRPr lang="ar-EG"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بطاقة الأقصر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Luxor eclipse card</a:t>
            </a:r>
            <a:endParaRPr lang="en-US" sz="1400" dirty="0"/>
          </a:p>
        </p:txBody>
      </p:sp>
      <p:pic>
        <p:nvPicPr>
          <p:cNvPr id="4" name="luxorCard" descr="luxorCard">    </p:cNvPr>
          <p:cNvPicPr>
            <a:picLocks noChangeAspect="1"/>
          </p:cNvPicPr>
          <p:nvPr/>
        </p:nvPicPr>
        <p:blipFill>
          <a:blip r:embed="rId1"/>
          <a:stretch>
            <a:fillRect/>
          </a:stretch>
        </p:blipFill>
        <p:spPr>
          <a:xfrm>
            <a:off x="707746" y="1325880"/>
            <a:ext cx="3796589" cy="4663440"/>
          </a:xfrm>
          <a:prstGeom prst="rect">
            <a:avLst/>
          </a:prstGeom>
        </p:spPr>
      </p:pic>
      <p:sp>
        <p:nvSpPr>
          <p:cNvPr id="5" name="Text 2"/>
          <p:cNvSpPr txBox="1"/>
          <p:nvPr/>
        </p:nvSpPr>
        <p:spPr>
          <a:xfrm>
            <a:off x="4983480" y="1325880"/>
            <a:ext cx="6659575" cy="822960"/>
          </a:xfrm>
          <a:prstGeom prst="rect">
            <a:avLst/>
          </a:prstGeom>
          <a:noFill/>
          <a:ln/>
        </p:spPr>
        <p:txBody>
          <a:bodyPr wrap="square" lIns="0" tIns="0" rIns="0" bIns="0" rtlCol="0" anchor="t"/>
          <a:lstStyle/>
          <a:p>
            <a:pPr rtl="1" algn="r" indent="0" marL="0">
              <a:buNone/>
            </a:pPr>
            <a:r>
              <a:rPr lang="ar-EG" altLang="en-US" sz="2000" b="1" dirty="0">
                <a:solidFill>
                  <a:srgbClr val="1D4E89"/>
                </a:solidFill>
              </a:rPr>
              <a:t>الأقصر: كل ما تحتاجه في بطاقة</a:t>
            </a:r>
            <a:endParaRPr lang="ar-EG" sz="2000" dirty="0"/>
          </a:p>
        </p:txBody>
      </p:sp>
      <p:sp>
        <p:nvSpPr>
          <p:cNvPr id="6" name="Text 3"/>
          <p:cNvSpPr txBox="1"/>
          <p:nvPr/>
        </p:nvSpPr>
        <p:spPr>
          <a:xfrm>
            <a:off x="4983480" y="2194560"/>
            <a:ext cx="6659575" cy="384048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بداية الكسوف: </a:t>
            </a:r>
            <a:pPr rtl="1" algn="r" indent="0" marL="0">
              <a:buNone/>
            </a:pPr>
            <a:r>
              <a:rPr lang="ar-EG" altLang="en-US" sz="1600" dirty="0">
                <a:solidFill>
                  <a:srgbClr val="1F1F1D"/>
                </a:solidFill>
              </a:rPr>
              <a:t>١١:٤٠:٠٧</a:t>
            </a:r>
            <a:endParaRPr lang="ar-EG" sz="1600" dirty="0"/>
          </a:p>
          <a:p>
            <a:pPr rtl="1" algn="r" marL="228600" indent="-228600">
              <a:spcAft>
                <a:spcPts val="800"/>
              </a:spcAft>
              <a:buSzPct val="100000"/>
              <a:buChar char="•"/>
            </a:pPr>
            <a:r>
              <a:rPr lang="ar-EG" altLang="en-US" sz="1600" b="1" dirty="0">
                <a:solidFill>
                  <a:srgbClr val="1F1F1D"/>
                </a:solidFill>
              </a:rPr>
              <a:t>بداية الكلية: </a:t>
            </a:r>
            <a:pPr rtl="1" algn="r" indent="0" marL="0">
              <a:buNone/>
            </a:pPr>
            <a:r>
              <a:rPr lang="ar-EG" altLang="en-US" sz="1600" dirty="0">
                <a:solidFill>
                  <a:srgbClr val="1F1F1D"/>
                </a:solidFill>
              </a:rPr>
              <a:t>١٣:٠١:٥٨</a:t>
            </a:r>
            <a:endParaRPr lang="ar-EG" sz="1600" dirty="0"/>
          </a:p>
          <a:p>
            <a:pPr rtl="1" algn="r" marL="228600" indent="-228600">
              <a:spcAft>
                <a:spcPts val="800"/>
              </a:spcAft>
              <a:buSzPct val="100000"/>
              <a:buChar char="•"/>
            </a:pPr>
            <a:r>
              <a:rPr lang="ar-EG" altLang="en-US" sz="1600" b="1" dirty="0">
                <a:solidFill>
                  <a:srgbClr val="1F1F1D"/>
                </a:solidFill>
              </a:rPr>
              <a:t>نهاية الكلية: </a:t>
            </a:r>
            <a:pPr rtl="1" algn="r" indent="0" marL="0">
              <a:buNone/>
            </a:pPr>
            <a:r>
              <a:rPr lang="ar-EG" altLang="en-US" sz="1600" dirty="0">
                <a:solidFill>
                  <a:srgbClr val="1F1F1D"/>
                </a:solidFill>
              </a:rPr>
              <a:t>١٣:٠٨:١٨ — ٦ د ٢٠ ث</a:t>
            </a:r>
            <a:endParaRPr lang="ar-EG" sz="1600" dirty="0"/>
          </a:p>
          <a:p>
            <a:pPr rtl="1" algn="r" marL="228600" indent="-228600">
              <a:spcAft>
                <a:spcPts val="800"/>
              </a:spcAft>
              <a:buSzPct val="100000"/>
              <a:buChar char="•"/>
            </a:pPr>
            <a:r>
              <a:rPr lang="ar-EG" altLang="en-US" sz="1600" b="1" dirty="0">
                <a:solidFill>
                  <a:srgbClr val="1F1F1D"/>
                </a:solidFill>
              </a:rPr>
              <a:t>نهاية الكسوف: </a:t>
            </a:r>
            <a:pPr rtl="1" algn="r" indent="0" marL="0">
              <a:buNone/>
            </a:pPr>
            <a:r>
              <a:rPr lang="ar-EG" altLang="en-US" sz="1600" dirty="0">
                <a:solidFill>
                  <a:srgbClr val="1F1F1D"/>
                </a:solidFill>
              </a:rPr>
              <a:t>١٤:٢٦:٢٥</a:t>
            </a:r>
            <a:endParaRPr lang="ar-EG" sz="1600" dirty="0"/>
          </a:p>
          <a:p>
            <a:pPr rtl="1" algn="r" marL="228600" indent="-228600">
              <a:spcAft>
                <a:spcPts val="800"/>
              </a:spcAft>
              <a:buSzPct val="100000"/>
              <a:buChar char="•"/>
            </a:pPr>
            <a:r>
              <a:rPr lang="ar-EG" altLang="en-US" sz="1600" b="1" dirty="0">
                <a:solidFill>
                  <a:srgbClr val="1F1F1D"/>
                </a:solidFill>
              </a:rPr>
              <a:t>ارتفاع الشمس: </a:t>
            </a:r>
            <a:pPr rtl="1" algn="r" indent="0" marL="0">
              <a:buNone/>
            </a:pPr>
            <a:r>
              <a:rPr lang="ar-EG" altLang="en-US" sz="1600" dirty="0">
                <a:solidFill>
                  <a:srgbClr val="1F1F1D"/>
                </a:solidFill>
              </a:rPr>
              <a:t>٨١٫٨° — قرب سمت الرأس</a:t>
            </a:r>
            <a:endParaRPr lang="ar-EG" sz="1600" dirty="0"/>
          </a:p>
        </p:txBody>
      </p:sp>
      <p:sp>
        <p:nvSpPr>
          <p:cNvPr id="7" name="Text 4"/>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٢٥-٤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مراحل الكسوف كاملة في الأقصر: ماذا ترى وماذا تفعل؟</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Complete eclipse timeline at Luxor: what to see, what to do</a:t>
            </a:r>
            <a:endParaRPr lang="en-US" sz="1400" dirty="0"/>
          </a:p>
        </p:txBody>
      </p:sp>
      <p:graphicFrame>
        <p:nvGraphicFramePr>
          <p:cNvPr id="48" name="phases-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514600"/>
                <a:gridCol w="4572000"/>
                <a:gridCol w="2148840"/>
                <a:gridCol w="1856232"/>
              </a:tblGrid>
              <a:tr h="502920">
                <a:tc>
                  <a:txBody>
                    <a:bodyPr/>
                    <a:lstStyle/>
                    <a:p>
                      <a:pPr rtl="1" algn="r" indent="0" marL="0">
                        <a:buNone/>
                      </a:pPr>
                      <a:r>
                        <a:rPr lang="ar-EG" altLang="en-US" sz="1300" b="1" dirty="0">
                          <a:solidFill>
                            <a:srgbClr val="FFFFFF"/>
                          </a:solidFill>
                        </a:rPr>
                        <a:t>ماذا تفعل؟</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300" b="1" dirty="0">
                          <a:solidFill>
                            <a:srgbClr val="FFFFFF"/>
                          </a:solidFill>
                        </a:rPr>
                        <a:t>ماذا ترى؟</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300" b="1" dirty="0">
                          <a:solidFill>
                            <a:srgbClr val="FFFFFF"/>
                          </a:solidFill>
                        </a:rPr>
                        <a:t>المرحلة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ctr" indent="0" marL="0">
                        <a:buNone/>
                      </a:pPr>
                      <a:r>
                        <a:rPr lang="ar-EG" altLang="en-US" sz="1300" b="1" dirty="0">
                          <a:solidFill>
                            <a:srgbClr val="FFFFFF"/>
                          </a:solidFill>
                        </a:rPr>
                        <a:t>الوقت</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502920">
                <a:tc>
                  <a:txBody>
                    <a:bodyPr/>
                    <a:lstStyle/>
                    <a:p>
                      <a:pPr rtl="1" algn="r" indent="0" marL="0">
                        <a:buNone/>
                      </a:pPr>
                      <a:r>
                        <a:rPr lang="ar-EG" altLang="en-US" sz="1300" dirty="0">
                          <a:solidFill>
                            <a:srgbClr val="B3261E"/>
                          </a:solidFill>
                        </a:rPr>
                        <a:t>النظارة على العين</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dirty="0">
                          <a:solidFill>
                            <a:srgbClr val="1F1F1D"/>
                          </a:solidFill>
                        </a:rPr>
                        <a:t>«عضّة» صغيرة على الحافة الغربية العليا للشمس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1F1F1D"/>
                          </a:solidFill>
                        </a:rPr>
                        <a:t>التماس الأول (C1)</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D4E89"/>
                          </a:solidFill>
                        </a:rPr>
                        <a:t>١١:٤٠:٠٧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300" dirty="0">
                          <a:solidFill>
                            <a:srgbClr val="B3261E"/>
                          </a:solidFill>
                        </a:rPr>
                        <a:t>كاميرا الثقب ومصفاة المطبخ</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dirty="0">
                          <a:solidFill>
                            <a:srgbClr val="1F1F1D"/>
                          </a:solidFill>
                        </a:rPr>
                        <a:t>الاحتجاب ١٤٪ ← ٦٨٪؛ أهلّة الضوء تحت الأشجار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1F1F1D"/>
                          </a:solidFill>
                        </a:rPr>
                        <a:t>الجزئي المتزايد</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D4E89"/>
                          </a:solidFill>
                        </a:rPr>
                        <a:t>١٢:٠٠ – ١٢:٤٠</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300" dirty="0">
                          <a:solidFill>
                            <a:srgbClr val="B3261E"/>
                          </a:solidFill>
                        </a:rPr>
                        <a:t>اشرب، واستعد، وراقب الغرب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dirty="0">
                          <a:solidFill>
                            <a:srgbClr val="1F1F1D"/>
                          </a:solidFill>
                        </a:rPr>
                        <a:t>نحو ٩١٪: ضوء معدني باهت، الحرارة تنخفض، الظلال حادة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1F1F1D"/>
                          </a:solidFill>
                        </a:rPr>
                        <a:t>قبل الكلية بسبع دقائق</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D4E89"/>
                          </a:solidFill>
                        </a:rPr>
                        <a:t>١٢:٥٥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300" dirty="0">
                          <a:solidFill>
                            <a:srgbClr val="B3261E"/>
                          </a:solidFill>
                        </a:rPr>
                        <a:t>النظارة حتى يختفي آخر ضوء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dirty="0">
                          <a:solidFill>
                            <a:srgbClr val="1F1F1D"/>
                          </a:solidFill>
                        </a:rPr>
                        <a:t>الأحزمة الظلية (Shadow bands)، ظل القمر قادم من الغرب، حبات بيلي ثم الخاتم الماسي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1F1F1D"/>
                          </a:solidFill>
                        </a:rPr>
                        <a:t>الدقيقة الأخيرة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D4E89"/>
                          </a:solidFill>
                        </a:rPr>
                        <a:t>١٣:٠١</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300" dirty="0">
                          <a:solidFill>
                            <a:srgbClr val="FFFFFF"/>
                          </a:solidFill>
                        </a:rPr>
                        <a:t>انزعوا النظارات وانظروا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r" indent="0" marL="0">
                        <a:buNone/>
                      </a:pPr>
                      <a:r>
                        <a:rPr lang="ar-EG" altLang="en-US" sz="1300" dirty="0">
                          <a:solidFill>
                            <a:srgbClr val="FFFFFF"/>
                          </a:solidFill>
                        </a:rPr>
                        <a:t>الهالة، الشواظ الحمراء، الزهرة والمشتري وعطارد، غروب على الأفق كله</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r" indent="0" marL="0">
                        <a:buNone/>
                      </a:pPr>
                      <a:r>
                        <a:rPr lang="ar-EG" altLang="en-US" sz="1300" b="1" dirty="0">
                          <a:solidFill>
                            <a:srgbClr val="FFFFFF"/>
                          </a:solidFill>
                        </a:rPr>
                        <a:t>الكلية (Totality) ٦ د ٢٠ 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c>
                  <a:txBody>
                    <a:bodyPr/>
                    <a:lstStyle/>
                    <a:p>
                      <a:pPr rtl="1" algn="ctr" indent="0" marL="0">
                        <a:buNone/>
                      </a:pPr>
                      <a:r>
                        <a:rPr lang="ar-EG" altLang="en-US" sz="1300" b="1" dirty="0">
                          <a:solidFill>
                            <a:srgbClr val="F7B733"/>
                          </a:solidFill>
                        </a:rPr>
                        <a:t>١٣:٠١:٥٨ – ١٣:٠٨:١٨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1A2A44"/>
                    </a:solidFill>
                  </a:tcPr>
                </a:tc>
              </a:tr>
              <a:tr h="502920">
                <a:tc>
                  <a:txBody>
                    <a:bodyPr/>
                    <a:lstStyle/>
                    <a:p>
                      <a:pPr rtl="1" algn="r" indent="0" marL="0">
                        <a:buNone/>
                      </a:pPr>
                      <a:r>
                        <a:rPr lang="ar-EG" altLang="en-US" sz="1300" dirty="0">
                          <a:solidFill>
                            <a:srgbClr val="B3261E"/>
                          </a:solidFill>
                        </a:rPr>
                        <a:t>النظارات فورًا!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dirty="0">
                          <a:solidFill>
                            <a:srgbClr val="1F1F1D"/>
                          </a:solidFill>
                        </a:rPr>
                        <a:t>الخاتم الماسي الثاني على الجهة المقابلة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1F1F1D"/>
                          </a:solidFill>
                        </a:rPr>
                        <a:t>التماس الثالث (C3)</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D4E89"/>
                          </a:solidFill>
                        </a:rPr>
                        <a:t>١٣:٠٨:١٨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502920">
                <a:tc>
                  <a:txBody>
                    <a:bodyPr/>
                    <a:lstStyle/>
                    <a:p>
                      <a:pPr rtl="1" algn="r" indent="0" marL="0">
                        <a:buNone/>
                      </a:pPr>
                      <a:r>
                        <a:rPr lang="ar-EG" altLang="en-US" sz="1300" dirty="0">
                          <a:solidFill>
                            <a:srgbClr val="B3261E"/>
                          </a:solidFill>
                        </a:rPr>
                        <a:t>صور جماعية، والماء والظل</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dirty="0">
                          <a:solidFill>
                            <a:srgbClr val="1F1F1D"/>
                          </a:solidFill>
                        </a:rPr>
                        <a:t>الاحتجاب ٩١٪ ← ٢٤٪؛ يعود الضوء والحرارة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1F1F1D"/>
                          </a:solidFill>
                        </a:rPr>
                        <a:t>الجزئي المتناقص</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ctr" indent="0" marL="0">
                        <a:buNone/>
                      </a:pPr>
                      <a:r>
                        <a:rPr lang="ar-EG" altLang="en-US" sz="1300" b="1" dirty="0">
                          <a:solidFill>
                            <a:srgbClr val="1D4E89"/>
                          </a:solidFill>
                        </a:rPr>
                        <a:t>١٣:١٥ – ١٤:٠٠</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502920">
                <a:tc>
                  <a:txBody>
                    <a:bodyPr/>
                    <a:lstStyle/>
                    <a:p>
                      <a:pPr rtl="1" algn="r" indent="0" marL="0">
                        <a:buNone/>
                      </a:pPr>
                      <a:r>
                        <a:rPr lang="ar-EG" altLang="en-US" sz="1300" dirty="0">
                          <a:solidFill>
                            <a:srgbClr val="B3261E"/>
                          </a:solidFill>
                        </a:rPr>
                        <a:t>نهاية الكسوف</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dirty="0">
                          <a:solidFill>
                            <a:srgbClr val="1F1F1D"/>
                          </a:solidFill>
                        </a:rPr>
                        <a:t>ينفصل القرصان</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1F1F1D"/>
                          </a:solidFill>
                        </a:rPr>
                        <a:t>التماس الرابع (C4)</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ctr" indent="0" marL="0">
                        <a:buNone/>
                      </a:pPr>
                      <a:r>
                        <a:rPr lang="ar-EG" altLang="en-US" sz="1300" b="1" dirty="0">
                          <a:solidFill>
                            <a:srgbClr val="1D4E89"/>
                          </a:solidFill>
                        </a:rPr>
                        <a:t>١٤:٢٦:٢٥</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bl>
          </a:graphicData>
        </a:graphic>
      </p:graphicFrame>
      <p:sp>
        <p:nvSpPr>
          <p:cNvPr id="5" name="Text 2"/>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الأوقات ونسب الاحتجاب محسوبة لموقع الأقصر (توقيت مصر الصيفي)</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شكل الشمس خلال الكسوف كما يُرى من الأقصر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The Sun's shape through the eclipse as seen from Luxor</a:t>
            </a:r>
            <a:endParaRPr lang="en-US" sz="1400" dirty="0"/>
          </a:p>
        </p:txBody>
      </p:sp>
      <p:sp>
        <p:nvSpPr>
          <p:cNvPr id="4" name="sun-11:40"/>
          <p:cNvSpPr/>
          <p:nvPr/>
        </p:nvSpPr>
        <p:spPr>
          <a:xfrm>
            <a:off x="10076414" y="1691640"/>
            <a:ext cx="914400" cy="914400"/>
          </a:xfrm>
          <a:prstGeom prst="ellipse">
            <a:avLst/>
          </a:prstGeom>
          <a:solidFill>
            <a:srgbClr val="F7B733"/>
          </a:solidFill>
          <a:ln w="12700">
            <a:solidFill>
              <a:srgbClr val="F7B733"/>
            </a:solidFill>
            <a:prstDash val="solid"/>
          </a:ln>
        </p:spPr>
      </p:sp>
      <p:sp>
        <p:nvSpPr>
          <p:cNvPr id="5" name="moon-11:40"/>
          <p:cNvSpPr/>
          <p:nvPr/>
        </p:nvSpPr>
        <p:spPr>
          <a:xfrm>
            <a:off x="10837452" y="1138129"/>
            <a:ext cx="986017" cy="986017"/>
          </a:xfrm>
          <a:prstGeom prst="ellipse">
            <a:avLst/>
          </a:prstGeom>
          <a:solidFill>
            <a:srgbClr val="0F1B2D"/>
          </a:solidFill>
          <a:ln w="9525">
            <a:solidFill>
              <a:srgbClr val="3A4D70"/>
            </a:solidFill>
            <a:prstDash val="solid"/>
          </a:ln>
        </p:spPr>
      </p:sp>
      <p:sp>
        <p:nvSpPr>
          <p:cNvPr id="6" name="sun-12:00"/>
          <p:cNvSpPr/>
          <p:nvPr/>
        </p:nvSpPr>
        <p:spPr>
          <a:xfrm>
            <a:off x="7857531" y="1691640"/>
            <a:ext cx="914400" cy="914400"/>
          </a:xfrm>
          <a:prstGeom prst="ellipse">
            <a:avLst/>
          </a:prstGeom>
          <a:solidFill>
            <a:srgbClr val="F7B733"/>
          </a:solidFill>
          <a:ln w="12700">
            <a:solidFill>
              <a:srgbClr val="F7B733"/>
            </a:solidFill>
            <a:prstDash val="solid"/>
          </a:ln>
        </p:spPr>
      </p:sp>
      <p:sp>
        <p:nvSpPr>
          <p:cNvPr id="7" name="moon-12:00"/>
          <p:cNvSpPr/>
          <p:nvPr/>
        </p:nvSpPr>
        <p:spPr>
          <a:xfrm>
            <a:off x="8428086" y="1251929"/>
            <a:ext cx="986337" cy="986337"/>
          </a:xfrm>
          <a:prstGeom prst="ellipse">
            <a:avLst/>
          </a:prstGeom>
          <a:solidFill>
            <a:srgbClr val="0F1B2D"/>
          </a:solidFill>
          <a:ln w="9525">
            <a:solidFill>
              <a:srgbClr val="3A4D70"/>
            </a:solidFill>
            <a:prstDash val="solid"/>
          </a:ln>
        </p:spPr>
      </p:sp>
      <p:sp>
        <p:nvSpPr>
          <p:cNvPr id="8" name="sun-12:20"/>
          <p:cNvSpPr/>
          <p:nvPr/>
        </p:nvSpPr>
        <p:spPr>
          <a:xfrm>
            <a:off x="5638648" y="1691640"/>
            <a:ext cx="914400" cy="914400"/>
          </a:xfrm>
          <a:prstGeom prst="ellipse">
            <a:avLst/>
          </a:prstGeom>
          <a:solidFill>
            <a:srgbClr val="F7B733"/>
          </a:solidFill>
          <a:ln w="12700">
            <a:solidFill>
              <a:srgbClr val="F7B733"/>
            </a:solidFill>
            <a:prstDash val="solid"/>
          </a:ln>
        </p:spPr>
      </p:sp>
      <p:sp>
        <p:nvSpPr>
          <p:cNvPr id="9" name="moon-12:20"/>
          <p:cNvSpPr/>
          <p:nvPr/>
        </p:nvSpPr>
        <p:spPr>
          <a:xfrm>
            <a:off x="6020469" y="1370273"/>
            <a:ext cx="986558" cy="986558"/>
          </a:xfrm>
          <a:prstGeom prst="ellipse">
            <a:avLst/>
          </a:prstGeom>
          <a:solidFill>
            <a:srgbClr val="0F1B2D"/>
          </a:solidFill>
          <a:ln w="9525">
            <a:solidFill>
              <a:srgbClr val="3A4D70"/>
            </a:solidFill>
            <a:prstDash val="solid"/>
          </a:ln>
        </p:spPr>
      </p:sp>
      <p:sp>
        <p:nvSpPr>
          <p:cNvPr id="10" name="sun-12:40"/>
          <p:cNvSpPr/>
          <p:nvPr/>
        </p:nvSpPr>
        <p:spPr>
          <a:xfrm>
            <a:off x="3419765" y="1691640"/>
            <a:ext cx="914400" cy="914400"/>
          </a:xfrm>
          <a:prstGeom prst="ellipse">
            <a:avLst/>
          </a:prstGeom>
          <a:solidFill>
            <a:srgbClr val="F7B733"/>
          </a:solidFill>
          <a:ln w="12700">
            <a:solidFill>
              <a:srgbClr val="F7B733"/>
            </a:solidFill>
            <a:prstDash val="solid"/>
          </a:ln>
        </p:spPr>
      </p:sp>
      <p:sp>
        <p:nvSpPr>
          <p:cNvPr id="11" name="moon-12:40"/>
          <p:cNvSpPr/>
          <p:nvPr/>
        </p:nvSpPr>
        <p:spPr>
          <a:xfrm>
            <a:off x="3614734" y="1492535"/>
            <a:ext cx="986674" cy="986674"/>
          </a:xfrm>
          <a:prstGeom prst="ellipse">
            <a:avLst/>
          </a:prstGeom>
          <a:solidFill>
            <a:srgbClr val="0F1B2D"/>
          </a:solidFill>
          <a:ln w="9525">
            <a:solidFill>
              <a:srgbClr val="3A4D70"/>
            </a:solidFill>
            <a:prstDash val="solid"/>
          </a:ln>
        </p:spPr>
      </p:sp>
      <p:sp>
        <p:nvSpPr>
          <p:cNvPr id="12" name="sun-12:55"/>
          <p:cNvSpPr/>
          <p:nvPr/>
        </p:nvSpPr>
        <p:spPr>
          <a:xfrm>
            <a:off x="1200882" y="1691640"/>
            <a:ext cx="914400" cy="914400"/>
          </a:xfrm>
          <a:prstGeom prst="ellipse">
            <a:avLst/>
          </a:prstGeom>
          <a:solidFill>
            <a:srgbClr val="F7B733"/>
          </a:solidFill>
          <a:ln w="12700">
            <a:solidFill>
              <a:srgbClr val="F7B733"/>
            </a:solidFill>
            <a:prstDash val="solid"/>
          </a:ln>
        </p:spPr>
      </p:sp>
      <p:sp>
        <p:nvSpPr>
          <p:cNvPr id="13" name="moon-12:55"/>
          <p:cNvSpPr/>
          <p:nvPr/>
        </p:nvSpPr>
        <p:spPr>
          <a:xfrm>
            <a:off x="1256338" y="1586801"/>
            <a:ext cx="986692" cy="986692"/>
          </a:xfrm>
          <a:prstGeom prst="ellipse">
            <a:avLst/>
          </a:prstGeom>
          <a:solidFill>
            <a:srgbClr val="0F1B2D"/>
          </a:solidFill>
          <a:ln w="9525">
            <a:solidFill>
              <a:srgbClr val="3A4D70"/>
            </a:solidFill>
            <a:prstDash val="solid"/>
          </a:ln>
        </p:spPr>
      </p:sp>
      <p:sp>
        <p:nvSpPr>
          <p:cNvPr id="14" name="corona-outer"/>
          <p:cNvSpPr/>
          <p:nvPr/>
        </p:nvSpPr>
        <p:spPr>
          <a:xfrm>
            <a:off x="9619214" y="3474720"/>
            <a:ext cx="1828800" cy="1828800"/>
          </a:xfrm>
          <a:prstGeom prst="ellipse">
            <a:avLst/>
          </a:prstGeom>
          <a:solidFill>
            <a:srgbClr val="FFFFFF">
              <a:alpha val="12000"/>
            </a:srgbClr>
          </a:solidFill>
          <a:ln w="12700">
            <a:solidFill>
              <a:srgbClr val="FFFFFF"/>
            </a:solidFill>
            <a:prstDash val="solid"/>
          </a:ln>
        </p:spPr>
      </p:sp>
      <p:sp>
        <p:nvSpPr>
          <p:cNvPr id="15" name="corona-inner"/>
          <p:cNvSpPr/>
          <p:nvPr/>
        </p:nvSpPr>
        <p:spPr>
          <a:xfrm>
            <a:off x="9870674" y="3726180"/>
            <a:ext cx="1325880" cy="1325880"/>
          </a:xfrm>
          <a:prstGeom prst="ellipse">
            <a:avLst/>
          </a:prstGeom>
          <a:solidFill>
            <a:srgbClr val="FFFFFF">
              <a:alpha val="30000"/>
            </a:srgbClr>
          </a:solidFill>
          <a:ln w="12700">
            <a:solidFill>
              <a:srgbClr val="FFFFFF"/>
            </a:solidFill>
            <a:prstDash val="solid"/>
          </a:ln>
        </p:spPr>
      </p:sp>
      <p:sp>
        <p:nvSpPr>
          <p:cNvPr id="16" name="moon-13:05"/>
          <p:cNvSpPr/>
          <p:nvPr/>
        </p:nvSpPr>
        <p:spPr>
          <a:xfrm>
            <a:off x="10037683" y="3892002"/>
            <a:ext cx="986671" cy="986671"/>
          </a:xfrm>
          <a:prstGeom prst="ellipse">
            <a:avLst/>
          </a:prstGeom>
          <a:solidFill>
            <a:srgbClr val="0F1B2D"/>
          </a:solidFill>
          <a:ln w="12700">
            <a:solidFill>
              <a:srgbClr val="FFFFFF"/>
            </a:solidFill>
            <a:prstDash val="solid"/>
          </a:ln>
        </p:spPr>
      </p:sp>
      <p:sp>
        <p:nvSpPr>
          <p:cNvPr id="17" name="sun-13:15"/>
          <p:cNvSpPr/>
          <p:nvPr/>
        </p:nvSpPr>
        <p:spPr>
          <a:xfrm>
            <a:off x="7857531" y="3931920"/>
            <a:ext cx="914400" cy="914400"/>
          </a:xfrm>
          <a:prstGeom prst="ellipse">
            <a:avLst/>
          </a:prstGeom>
          <a:solidFill>
            <a:srgbClr val="F7B733"/>
          </a:solidFill>
          <a:ln w="12700">
            <a:solidFill>
              <a:srgbClr val="F7B733"/>
            </a:solidFill>
            <a:prstDash val="solid"/>
          </a:ln>
        </p:spPr>
      </p:sp>
      <p:sp>
        <p:nvSpPr>
          <p:cNvPr id="18" name="moon-13:15"/>
          <p:cNvSpPr/>
          <p:nvPr/>
        </p:nvSpPr>
        <p:spPr>
          <a:xfrm>
            <a:off x="7726990" y="3956169"/>
            <a:ext cx="986624" cy="986624"/>
          </a:xfrm>
          <a:prstGeom prst="ellipse">
            <a:avLst/>
          </a:prstGeom>
          <a:solidFill>
            <a:srgbClr val="0F1B2D"/>
          </a:solidFill>
          <a:ln w="9525">
            <a:solidFill>
              <a:srgbClr val="3A4D70"/>
            </a:solidFill>
            <a:prstDash val="solid"/>
          </a:ln>
        </p:spPr>
      </p:sp>
      <p:sp>
        <p:nvSpPr>
          <p:cNvPr id="19" name="sun-13:35"/>
          <p:cNvSpPr/>
          <p:nvPr/>
        </p:nvSpPr>
        <p:spPr>
          <a:xfrm>
            <a:off x="5638648" y="3931920"/>
            <a:ext cx="914400" cy="914400"/>
          </a:xfrm>
          <a:prstGeom prst="ellipse">
            <a:avLst/>
          </a:prstGeom>
          <a:solidFill>
            <a:srgbClr val="F7B733"/>
          </a:solidFill>
          <a:ln w="12700">
            <a:solidFill>
              <a:srgbClr val="F7B733"/>
            </a:solidFill>
            <a:prstDash val="solid"/>
          </a:ln>
        </p:spPr>
      </p:sp>
      <p:sp>
        <p:nvSpPr>
          <p:cNvPr id="20" name="moon-13:35"/>
          <p:cNvSpPr/>
          <p:nvPr/>
        </p:nvSpPr>
        <p:spPr>
          <a:xfrm>
            <a:off x="5321199" y="4089087"/>
            <a:ext cx="986450" cy="986450"/>
          </a:xfrm>
          <a:prstGeom prst="ellipse">
            <a:avLst/>
          </a:prstGeom>
          <a:solidFill>
            <a:srgbClr val="0F1B2D"/>
          </a:solidFill>
          <a:ln w="9525">
            <a:solidFill>
              <a:srgbClr val="3A4D70"/>
            </a:solidFill>
            <a:prstDash val="solid"/>
          </a:ln>
        </p:spPr>
      </p:sp>
      <p:sp>
        <p:nvSpPr>
          <p:cNvPr id="21" name="sun-14:00"/>
          <p:cNvSpPr/>
          <p:nvPr/>
        </p:nvSpPr>
        <p:spPr>
          <a:xfrm>
            <a:off x="3419765" y="3931920"/>
            <a:ext cx="914400" cy="914400"/>
          </a:xfrm>
          <a:prstGeom prst="ellipse">
            <a:avLst/>
          </a:prstGeom>
          <a:solidFill>
            <a:srgbClr val="F7B733"/>
          </a:solidFill>
          <a:ln w="12700">
            <a:solidFill>
              <a:srgbClr val="F7B733"/>
            </a:solidFill>
            <a:prstDash val="solid"/>
          </a:ln>
        </p:spPr>
      </p:sp>
      <p:sp>
        <p:nvSpPr>
          <p:cNvPr id="22" name="moon-14:00"/>
          <p:cNvSpPr/>
          <p:nvPr/>
        </p:nvSpPr>
        <p:spPr>
          <a:xfrm>
            <a:off x="2865863" y="4260481"/>
            <a:ext cx="986087" cy="986087"/>
          </a:xfrm>
          <a:prstGeom prst="ellipse">
            <a:avLst/>
          </a:prstGeom>
          <a:solidFill>
            <a:srgbClr val="0F1B2D"/>
          </a:solidFill>
          <a:ln w="9525">
            <a:solidFill>
              <a:srgbClr val="3A4D70"/>
            </a:solidFill>
            <a:prstDash val="solid"/>
          </a:ln>
        </p:spPr>
      </p:sp>
      <p:sp>
        <p:nvSpPr>
          <p:cNvPr id="23" name="sun-14:26"/>
          <p:cNvSpPr/>
          <p:nvPr/>
        </p:nvSpPr>
        <p:spPr>
          <a:xfrm>
            <a:off x="1200882" y="3931920"/>
            <a:ext cx="914400" cy="914400"/>
          </a:xfrm>
          <a:prstGeom prst="ellipse">
            <a:avLst/>
          </a:prstGeom>
          <a:solidFill>
            <a:srgbClr val="F7B733"/>
          </a:solidFill>
          <a:ln w="12700">
            <a:solidFill>
              <a:srgbClr val="F7B733"/>
            </a:solidFill>
            <a:prstDash val="solid"/>
          </a:ln>
        </p:spPr>
      </p:sp>
      <p:sp>
        <p:nvSpPr>
          <p:cNvPr id="24" name="moon-14:26"/>
          <p:cNvSpPr/>
          <p:nvPr/>
        </p:nvSpPr>
        <p:spPr>
          <a:xfrm>
            <a:off x="391727" y="4447664"/>
            <a:ext cx="985532" cy="985532"/>
          </a:xfrm>
          <a:prstGeom prst="ellipse">
            <a:avLst/>
          </a:prstGeom>
          <a:solidFill>
            <a:srgbClr val="0F1B2D"/>
          </a:solidFill>
          <a:ln w="9525">
            <a:solidFill>
              <a:srgbClr val="3A4D70"/>
            </a:solidFill>
            <a:prstDash val="solid"/>
          </a:ln>
        </p:spPr>
      </p:sp>
      <p:sp>
        <p:nvSpPr>
          <p:cNvPr id="25" name="Text 23"/>
          <p:cNvSpPr txBox="1"/>
          <p:nvPr/>
        </p:nvSpPr>
        <p:spPr>
          <a:xfrm>
            <a:off x="9469892"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١١:٤٠</a:t>
            </a:r>
            <a:endParaRPr lang="en-US" sz="1600" dirty="0"/>
          </a:p>
          <a:p>
            <a:pPr rtl="1" algn="ctr" indent="0" marL="0">
              <a:buNone/>
            </a:pPr>
            <a:r>
              <a:rPr lang="ar-EG" altLang="en-US" sz="1300" dirty="0">
                <a:solidFill>
                  <a:srgbClr val="C9D6EA"/>
                </a:solidFill>
              </a:rPr>
              <a:t>التماس الأول — ٠٪</a:t>
            </a:r>
            <a:endParaRPr lang="en-US" sz="1600" dirty="0"/>
          </a:p>
        </p:txBody>
      </p:sp>
      <p:sp>
        <p:nvSpPr>
          <p:cNvPr id="26" name="Text 24"/>
          <p:cNvSpPr txBox="1"/>
          <p:nvPr/>
        </p:nvSpPr>
        <p:spPr>
          <a:xfrm>
            <a:off x="7251009"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١٢:٠٠</a:t>
            </a:r>
            <a:endParaRPr lang="en-US" sz="1600" dirty="0"/>
          </a:p>
          <a:p>
            <a:pPr rtl="1" algn="ctr" indent="0" marL="0">
              <a:buNone/>
            </a:pPr>
            <a:r>
              <a:rPr lang="ar-EG" altLang="en-US" sz="1300" dirty="0">
                <a:solidFill>
                  <a:srgbClr val="C9D6EA"/>
                </a:solidFill>
              </a:rPr>
              <a:t>١٤٪</a:t>
            </a:r>
            <a:endParaRPr lang="en-US" sz="1600" dirty="0"/>
          </a:p>
        </p:txBody>
      </p:sp>
      <p:sp>
        <p:nvSpPr>
          <p:cNvPr id="27" name="Text 25"/>
          <p:cNvSpPr txBox="1"/>
          <p:nvPr/>
        </p:nvSpPr>
        <p:spPr>
          <a:xfrm>
            <a:off x="5032126"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١٢:٢٠</a:t>
            </a:r>
            <a:endParaRPr lang="en-US" sz="1600" dirty="0"/>
          </a:p>
          <a:p>
            <a:pPr rtl="1" algn="ctr" indent="0" marL="0">
              <a:buNone/>
            </a:pPr>
            <a:r>
              <a:rPr lang="ar-EG" altLang="en-US" sz="1300" dirty="0">
                <a:solidFill>
                  <a:srgbClr val="C9D6EA"/>
                </a:solidFill>
              </a:rPr>
              <a:t>٣٨٪</a:t>
            </a:r>
            <a:endParaRPr lang="en-US" sz="1600" dirty="0"/>
          </a:p>
        </p:txBody>
      </p:sp>
      <p:sp>
        <p:nvSpPr>
          <p:cNvPr id="28" name="Text 26"/>
          <p:cNvSpPr txBox="1"/>
          <p:nvPr/>
        </p:nvSpPr>
        <p:spPr>
          <a:xfrm>
            <a:off x="2813243"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١٢:٤٠</a:t>
            </a:r>
            <a:endParaRPr lang="en-US" sz="1600" dirty="0"/>
          </a:p>
          <a:p>
            <a:pPr rtl="1" algn="ctr" indent="0" marL="0">
              <a:buNone/>
            </a:pPr>
            <a:r>
              <a:rPr lang="ar-EG" altLang="en-US" sz="1300" dirty="0">
                <a:solidFill>
                  <a:srgbClr val="C9D6EA"/>
                </a:solidFill>
              </a:rPr>
              <a:t>٦٨٪</a:t>
            </a:r>
            <a:endParaRPr lang="en-US" sz="1600" dirty="0"/>
          </a:p>
        </p:txBody>
      </p:sp>
      <p:sp>
        <p:nvSpPr>
          <p:cNvPr id="29" name="Text 27"/>
          <p:cNvSpPr txBox="1"/>
          <p:nvPr/>
        </p:nvSpPr>
        <p:spPr>
          <a:xfrm>
            <a:off x="594360" y="301752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١٢:٥٥</a:t>
            </a:r>
            <a:endParaRPr lang="en-US" sz="1600" dirty="0"/>
          </a:p>
          <a:p>
            <a:pPr rtl="1" algn="ctr" indent="0" marL="0">
              <a:buNone/>
            </a:pPr>
            <a:r>
              <a:rPr lang="ar-EG" altLang="en-US" sz="1300" dirty="0">
                <a:solidFill>
                  <a:srgbClr val="C9D6EA"/>
                </a:solidFill>
              </a:rPr>
              <a:t>٩١٪</a:t>
            </a:r>
            <a:endParaRPr lang="en-US" sz="1600" dirty="0"/>
          </a:p>
        </p:txBody>
      </p:sp>
      <p:sp>
        <p:nvSpPr>
          <p:cNvPr id="30" name="Text 28"/>
          <p:cNvSpPr txBox="1"/>
          <p:nvPr/>
        </p:nvSpPr>
        <p:spPr>
          <a:xfrm>
            <a:off x="9469892"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١٣:٠٥</a:t>
            </a:r>
            <a:endParaRPr lang="en-US" sz="1600" dirty="0"/>
          </a:p>
          <a:p>
            <a:pPr rtl="1" algn="ctr" indent="0" marL="0">
              <a:buNone/>
            </a:pPr>
            <a:r>
              <a:rPr lang="ar-EG" altLang="en-US" sz="1300" dirty="0">
                <a:solidFill>
                  <a:srgbClr val="F7B733"/>
                </a:solidFill>
              </a:rPr>
              <a:t>الكلية — كلي ١٠٠٪</a:t>
            </a:r>
            <a:endParaRPr lang="en-US" sz="1600" dirty="0"/>
          </a:p>
        </p:txBody>
      </p:sp>
      <p:sp>
        <p:nvSpPr>
          <p:cNvPr id="31" name="Text 29"/>
          <p:cNvSpPr txBox="1"/>
          <p:nvPr/>
        </p:nvSpPr>
        <p:spPr>
          <a:xfrm>
            <a:off x="7251009"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١٣:١٥</a:t>
            </a:r>
            <a:endParaRPr lang="en-US" sz="1600" dirty="0"/>
          </a:p>
          <a:p>
            <a:pPr rtl="1" algn="ctr" indent="0" marL="0">
              <a:buNone/>
            </a:pPr>
            <a:r>
              <a:rPr lang="ar-EG" altLang="en-US" sz="1300" dirty="0">
                <a:solidFill>
                  <a:srgbClr val="C9D6EA"/>
                </a:solidFill>
              </a:rPr>
              <a:t>٩١٪</a:t>
            </a:r>
            <a:endParaRPr lang="en-US" sz="1600" dirty="0"/>
          </a:p>
        </p:txBody>
      </p:sp>
      <p:sp>
        <p:nvSpPr>
          <p:cNvPr id="32" name="Text 30"/>
          <p:cNvSpPr txBox="1"/>
          <p:nvPr/>
        </p:nvSpPr>
        <p:spPr>
          <a:xfrm>
            <a:off x="5032126"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١٣:٣٥</a:t>
            </a:r>
            <a:endParaRPr lang="en-US" sz="1600" dirty="0"/>
          </a:p>
          <a:p>
            <a:pPr rtl="1" algn="ctr" indent="0" marL="0">
              <a:buNone/>
            </a:pPr>
            <a:r>
              <a:rPr lang="ar-EG" altLang="en-US" sz="1300" dirty="0">
                <a:solidFill>
                  <a:srgbClr val="C9D6EA"/>
                </a:solidFill>
              </a:rPr>
              <a:t>٦٠٪</a:t>
            </a:r>
            <a:endParaRPr lang="en-US" sz="1600" dirty="0"/>
          </a:p>
        </p:txBody>
      </p:sp>
      <p:sp>
        <p:nvSpPr>
          <p:cNvPr id="33" name="Text 31"/>
          <p:cNvSpPr txBox="1"/>
          <p:nvPr/>
        </p:nvSpPr>
        <p:spPr>
          <a:xfrm>
            <a:off x="2813243"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١٤:٠٠</a:t>
            </a:r>
            <a:endParaRPr lang="en-US" sz="1600" dirty="0"/>
          </a:p>
          <a:p>
            <a:pPr rtl="1" algn="ctr" indent="0" marL="0">
              <a:buNone/>
            </a:pPr>
            <a:r>
              <a:rPr lang="ar-EG" altLang="en-US" sz="1300" dirty="0">
                <a:solidFill>
                  <a:srgbClr val="C9D6EA"/>
                </a:solidFill>
              </a:rPr>
              <a:t>٢٤٪</a:t>
            </a:r>
            <a:endParaRPr lang="en-US" sz="1600" dirty="0"/>
          </a:p>
        </p:txBody>
      </p:sp>
      <p:sp>
        <p:nvSpPr>
          <p:cNvPr id="34" name="Text 32"/>
          <p:cNvSpPr txBox="1"/>
          <p:nvPr/>
        </p:nvSpPr>
        <p:spPr>
          <a:xfrm>
            <a:off x="594360" y="5257800"/>
            <a:ext cx="2127443" cy="685800"/>
          </a:xfrm>
          <a:prstGeom prst="rect">
            <a:avLst/>
          </a:prstGeom>
          <a:noFill/>
          <a:ln/>
        </p:spPr>
        <p:txBody>
          <a:bodyPr wrap="square" lIns="0" tIns="0" rIns="0" bIns="0" rtlCol="0" anchor="t"/>
          <a:lstStyle/>
          <a:p>
            <a:pPr rtl="1" algn="ctr" indent="0" marL="0">
              <a:buNone/>
            </a:pPr>
            <a:r>
              <a:rPr lang="ar-EG" altLang="en-US" sz="1600" b="1" dirty="0">
                <a:solidFill>
                  <a:srgbClr val="FFFFFF"/>
                </a:solidFill>
              </a:rPr>
              <a:t>١٤:٢٦</a:t>
            </a:r>
            <a:endParaRPr lang="en-US" sz="1600" dirty="0"/>
          </a:p>
          <a:p>
            <a:pPr rtl="1" algn="ctr" indent="0" marL="0">
              <a:buNone/>
            </a:pPr>
            <a:r>
              <a:rPr lang="ar-EG" altLang="en-US" sz="1300" dirty="0">
                <a:solidFill>
                  <a:srgbClr val="C9D6EA"/>
                </a:solidFill>
              </a:rPr>
              <a:t>التماس الرابع — ٠٪</a:t>
            </a:r>
            <a:endParaRPr lang="en-US" sz="1600" dirty="0"/>
          </a:p>
        </p:txBody>
      </p:sp>
      <p:sp>
        <p:nvSpPr>
          <p:cNvPr id="35" name="Text 33"/>
          <p:cNvSpPr txBox="1"/>
          <p:nvPr/>
        </p:nvSpPr>
        <p:spPr>
          <a:xfrm>
            <a:off x="548640" y="6035040"/>
            <a:ext cx="11094415" cy="274320"/>
          </a:xfrm>
          <a:prstGeom prst="rect">
            <a:avLst/>
          </a:prstGeom>
          <a:noFill/>
          <a:ln/>
        </p:spPr>
        <p:txBody>
          <a:bodyPr wrap="square" lIns="0" tIns="0" rIns="0" bIns="0" rtlCol="0" anchor="ctr"/>
          <a:lstStyle/>
          <a:p>
            <a:pPr rtl="1" algn="r" indent="0" marL="0">
              <a:buNone/>
            </a:pPr>
            <a:r>
              <a:rPr lang="ar-EG" altLang="en-US" sz="1100" i="1" dirty="0">
                <a:solidFill>
                  <a:srgbClr val="8C9AB3"/>
                </a:solidFill>
              </a:rPr>
              <a:t>الشمال إلى أعلى والغرب إلى اليمين؛ الشمس شبه عمودية فوق الرأس (٧١°–٨٢°)</a:t>
            </a:r>
            <a:endParaRPr lang="ar-EG" sz="11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ماذا يحدث حولك أثناء الكلية؟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What happens around you during totality</a:t>
            </a:r>
            <a:endParaRPr lang="en-US" sz="1400" dirty="0"/>
          </a:p>
        </p:txBody>
      </p:sp>
      <p:pic>
        <p:nvPicPr>
          <p:cNvPr id="4" name="skyLuxor" descr="skyLuxor">    </p:cNvPr>
          <p:cNvPicPr>
            <a:picLocks noChangeAspect="1"/>
          </p:cNvPicPr>
          <p:nvPr/>
        </p:nvPicPr>
        <p:blipFill>
          <a:blip r:embed="rId1"/>
          <a:stretch>
            <a:fillRect/>
          </a:stretch>
        </p:blipFill>
        <p:spPr>
          <a:xfrm>
            <a:off x="731520" y="1325880"/>
            <a:ext cx="4663440" cy="4663440"/>
          </a:xfrm>
          <a:prstGeom prst="rect">
            <a:avLst/>
          </a:prstGeom>
        </p:spPr>
      </p:pic>
      <p:sp>
        <p:nvSpPr>
          <p:cNvPr id="5" name="Text 2"/>
          <p:cNvSpPr txBox="1"/>
          <p:nvPr/>
        </p:nvSpPr>
        <p:spPr>
          <a:xfrm>
            <a:off x="5897880" y="1371600"/>
            <a:ext cx="57451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E8ECF3"/>
                </a:solidFill>
              </a:rPr>
              <a:t>الكواكب والنجوم: </a:t>
            </a:r>
            <a:pPr rtl="1" algn="r" indent="0" marL="0">
              <a:buNone/>
            </a:pPr>
            <a:r>
              <a:rPr lang="ar-EG" altLang="en-US" sz="1600" dirty="0">
                <a:solidFill>
                  <a:srgbClr val="E8ECF3"/>
                </a:solidFill>
              </a:rPr>
              <a:t>تظهر الزهرة ملاصقة للشمس تقريبًا، والمشتري وعطارد، والشعرى اليمانية</a:t>
            </a:r>
            <a:endParaRPr lang="ar-EG" sz="1600" dirty="0"/>
          </a:p>
          <a:p>
            <a:pPr rtl="1" algn="r" marL="228600" indent="-228600">
              <a:spcAft>
                <a:spcPts val="800"/>
              </a:spcAft>
              <a:buSzPct val="100000"/>
              <a:buChar char="•"/>
            </a:pPr>
            <a:r>
              <a:rPr lang="ar-EG" altLang="en-US" sz="1600" b="1" dirty="0">
                <a:solidFill>
                  <a:srgbClr val="E8ECF3"/>
                </a:solidFill>
              </a:rPr>
              <a:t>الضوء: </a:t>
            </a:r>
            <a:pPr rtl="1" algn="r" indent="0" marL="0">
              <a:buNone/>
            </a:pPr>
            <a:r>
              <a:rPr lang="ar-EG" altLang="en-US" sz="1600" dirty="0">
                <a:solidFill>
                  <a:srgbClr val="E8ECF3"/>
                </a:solidFill>
              </a:rPr>
              <a:t>يهبط إلى ما يشبه الشفق (Twilight)، مع «غروب» على امتداد الأفق كله (360° sunset)</a:t>
            </a:r>
            <a:endParaRPr lang="ar-EG" sz="1600" dirty="0"/>
          </a:p>
          <a:p>
            <a:pPr rtl="1" algn="r" marL="228600" indent="-228600">
              <a:spcAft>
                <a:spcPts val="800"/>
              </a:spcAft>
              <a:buSzPct val="100000"/>
              <a:buChar char="•"/>
            </a:pPr>
            <a:r>
              <a:rPr lang="ar-EG" altLang="en-US" sz="1600" b="1" dirty="0">
                <a:solidFill>
                  <a:srgbClr val="E8ECF3"/>
                </a:solidFill>
              </a:rPr>
              <a:t>الحرارة: </a:t>
            </a:r>
            <a:pPr rtl="1" algn="r" indent="0" marL="0">
              <a:buNone/>
            </a:pPr>
            <a:r>
              <a:rPr lang="ar-EG" altLang="en-US" sz="1600" dirty="0">
                <a:solidFill>
                  <a:srgbClr val="E8ECF3"/>
                </a:solidFill>
              </a:rPr>
              <a:t>تنخفض بضع درجات، ويتغير اتجاه الريح أحيانًا</a:t>
            </a:r>
            <a:endParaRPr lang="ar-EG" sz="1600" dirty="0"/>
          </a:p>
          <a:p>
            <a:pPr rtl="1" algn="r" marL="228600" indent="-228600">
              <a:spcAft>
                <a:spcPts val="800"/>
              </a:spcAft>
              <a:buSzPct val="100000"/>
              <a:buChar char="•"/>
            </a:pPr>
            <a:r>
              <a:rPr lang="ar-EG" altLang="en-US" sz="1600" b="1" dirty="0">
                <a:solidFill>
                  <a:srgbClr val="E8ECF3"/>
                </a:solidFill>
              </a:rPr>
              <a:t>الكائنات: </a:t>
            </a:r>
            <a:pPr rtl="1" algn="r" indent="0" marL="0">
              <a:buNone/>
            </a:pPr>
            <a:r>
              <a:rPr lang="ar-EG" altLang="en-US" sz="1600" dirty="0">
                <a:solidFill>
                  <a:srgbClr val="E8ECF3"/>
                </a:solidFill>
              </a:rPr>
              <a:t>تسكت الطيور، وتعود بعض الحيوانات إلى مأواها</a:t>
            </a:r>
            <a:endParaRPr lang="ar-EG" sz="1600" dirty="0"/>
          </a:p>
          <a:p>
            <a:pPr rtl="1" algn="r" marL="228600" indent="-228600">
              <a:spcAft>
                <a:spcPts val="800"/>
              </a:spcAft>
              <a:buSzPct val="100000"/>
              <a:buChar char="•"/>
            </a:pPr>
            <a:r>
              <a:rPr lang="ar-EG" altLang="en-US" sz="1600" b="1" dirty="0">
                <a:solidFill>
                  <a:srgbClr val="E8ECF3"/>
                </a:solidFill>
              </a:rPr>
              <a:t>الظلال: </a:t>
            </a:r>
            <a:pPr rtl="1" algn="r" indent="0" marL="0">
              <a:buNone/>
            </a:pPr>
            <a:r>
              <a:rPr lang="ar-EG" altLang="en-US" sz="1600" dirty="0">
                <a:solidFill>
                  <a:srgbClr val="E8ECF3"/>
                </a:solidFill>
              </a:rPr>
              <a:t>قبيل الكلية تصبح حادّة غريبة، وقد تظهر «الأحزمة الظلية» (Shadow bands) على الأرض الفاتحة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rPr>
              <a:t>الشكل ٢٨-١ من الكتاب: سماء الأقصر ١٣:٠٥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آثار مصر تحت ظل القمر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Egypt's monuments under the Moon's shadow</a:t>
            </a:r>
            <a:endParaRPr lang="en-US" sz="1400" dirty="0"/>
          </a:p>
        </p:txBody>
      </p:sp>
      <p:pic>
        <p:nvPicPr>
          <p:cNvPr id="4" name="monuments" descr="monuments">    </p:cNvPr>
          <p:cNvPicPr>
            <a:picLocks noChangeAspect="1"/>
          </p:cNvPicPr>
          <p:nvPr/>
        </p:nvPicPr>
        <p:blipFill>
          <a:blip r:embed="rId1"/>
          <a:stretch>
            <a:fillRect/>
          </a:stretch>
        </p:blipFill>
        <p:spPr>
          <a:xfrm>
            <a:off x="548640" y="1332953"/>
            <a:ext cx="5577840" cy="4649294"/>
          </a:xfrm>
          <a:prstGeom prst="rect">
            <a:avLst/>
          </a:prstGeom>
        </p:spPr>
      </p:pic>
      <p:sp>
        <p:nvSpPr>
          <p:cNvPr id="5" name="Text 2"/>
          <p:cNvSpPr txBox="1"/>
          <p:nvPr/>
        </p:nvSpPr>
        <p:spPr>
          <a:xfrm>
            <a:off x="6446520" y="1371600"/>
            <a:ext cx="519653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400" b="1" dirty="0">
                <a:solidFill>
                  <a:srgbClr val="1F1F1D"/>
                </a:solidFill>
              </a:rPr>
              <a:t>أكثر من ٦ دقائق: </a:t>
            </a:r>
            <a:pPr rtl="1" algn="r" indent="0" marL="0">
              <a:buNone/>
            </a:pPr>
            <a:r>
              <a:rPr lang="ar-EG" altLang="en-US" sz="1400" dirty="0">
                <a:solidFill>
                  <a:srgbClr val="1F1F1D"/>
                </a:solidFill>
              </a:rPr>
              <a:t>أبيدوس والكرنك (٦ د ٢١ ث)، الدير البحري ووادي الملوك وتمثالا ممنون ومعبد الأقصر ومدينة هابو (٦ د ٢٠ ث)، دندرة (٦ د ١٤ ث)</a:t>
            </a:r>
            <a:endParaRPr lang="ar-EG" sz="1400" dirty="0"/>
          </a:p>
          <a:p>
            <a:pPr rtl="1" algn="r" marL="228600" indent="-228600">
              <a:spcAft>
                <a:spcPts val="800"/>
              </a:spcAft>
              <a:buSzPct val="100000"/>
              <a:buChar char="•"/>
            </a:pPr>
            <a:r>
              <a:rPr lang="ar-EG" altLang="en-US" sz="1400" b="1" dirty="0">
                <a:solidFill>
                  <a:srgbClr val="1F1F1D"/>
                </a:solidFill>
              </a:rPr>
              <a:t>أكثر من ٥ دقائق: </a:t>
            </a:r>
            <a:pPr rtl="1" algn="r" indent="0" marL="0">
              <a:buNone/>
            </a:pPr>
            <a:r>
              <a:rPr lang="ar-EG" altLang="en-US" sz="1400" dirty="0">
                <a:solidFill>
                  <a:srgbClr val="1F1F1D"/>
                </a:solidFill>
              </a:rPr>
              <a:t>إسنا، تل العمارنة، معبد آمون في سيوة، إدفو، الأشمونين</a:t>
            </a:r>
            <a:endParaRPr lang="ar-EG" sz="1400" dirty="0"/>
          </a:p>
          <a:p>
            <a:pPr rtl="1" algn="r" marL="228600" indent="-228600">
              <a:spcAft>
                <a:spcPts val="800"/>
              </a:spcAft>
              <a:buSzPct val="100000"/>
              <a:buChar char="•"/>
            </a:pPr>
            <a:r>
              <a:rPr lang="ar-EG" altLang="en-US" sz="1400" b="1" dirty="0">
                <a:solidFill>
                  <a:srgbClr val="1F1F1D"/>
                </a:solidFill>
              </a:rPr>
              <a:t>أقل: </a:t>
            </a:r>
            <a:pPr rtl="1" algn="r" indent="0" marL="0">
              <a:buNone/>
            </a:pPr>
            <a:r>
              <a:rPr lang="ar-EG" altLang="en-US" sz="1400" dirty="0">
                <a:solidFill>
                  <a:srgbClr val="1F1F1D"/>
                </a:solidFill>
              </a:rPr>
              <a:t>بني حسن (٤ د ٣٧ ث)، كوم أمبو (٣ د ٢١ ث)</a:t>
            </a:r>
            <a:endParaRPr lang="ar-EG" sz="1400" dirty="0"/>
          </a:p>
          <a:p>
            <a:pPr rtl="1" algn="r" marL="228600" indent="-228600">
              <a:spcAft>
                <a:spcPts val="800"/>
              </a:spcAft>
              <a:buSzPct val="100000"/>
              <a:buChar char="•"/>
            </a:pPr>
            <a:r>
              <a:rPr lang="ar-EG" altLang="en-US" sz="1400" b="1" dirty="0">
                <a:solidFill>
                  <a:srgbClr val="1F1F1D"/>
                </a:solidFill>
              </a:rPr>
              <a:t>جزئي: </a:t>
            </a:r>
            <a:pPr rtl="1" algn="r" indent="0" marL="0">
              <a:buNone/>
            </a:pPr>
            <a:r>
              <a:rPr lang="ar-EG" altLang="en-US" sz="1400" dirty="0">
                <a:solidFill>
                  <a:srgbClr val="1F1F1D"/>
                </a:solidFill>
              </a:rPr>
              <a:t>فيلة ٩٩٫٧٪، سقارة والأهرام ٩٥٪، سانت كاترين ٩٤٫٢٪، أبو سمبل ٩٢٪</a:t>
            </a:r>
            <a:endParaRPr lang="ar-EG" sz="14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٢٤-٣ من الكتاب: مدة الكلية عند المواقع الأثرية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خريطة المواقع الأثرية في وادي النيل</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Archaeological sites of the Nile Valley inside the path</a:t>
            </a:r>
            <a:endParaRPr lang="en-US" sz="1400" dirty="0"/>
          </a:p>
        </p:txBody>
      </p:sp>
      <p:pic>
        <p:nvPicPr>
          <p:cNvPr id="4" name="monumentsMap" descr="monumentsMap">    </p:cNvPr>
          <p:cNvPicPr>
            <a:picLocks noChangeAspect="1"/>
          </p:cNvPicPr>
          <p:nvPr/>
        </p:nvPicPr>
        <p:blipFill>
          <a:blip r:embed="rId1"/>
          <a:stretch>
            <a:fillRect/>
          </a:stretch>
        </p:blipFill>
        <p:spPr>
          <a:xfrm>
            <a:off x="934060" y="1325880"/>
            <a:ext cx="4441241" cy="4663440"/>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الأقصر الكبرى: </a:t>
            </a:r>
            <a:pPr rtl="1" algn="r" indent="0" marL="0">
              <a:buNone/>
            </a:pPr>
            <a:r>
              <a:rPr lang="ar-EG" altLang="en-US" sz="1600" dirty="0">
                <a:solidFill>
                  <a:srgbClr val="1F1F1D"/>
                </a:solidFill>
              </a:rPr>
              <a:t>الضفتان داخل المسار بفارق ثوانٍ؛ اختر الموقع بحسب الزحام والظل والخدمات</a:t>
            </a:r>
            <a:endParaRPr lang="ar-EG" sz="1600" dirty="0"/>
          </a:p>
          <a:p>
            <a:pPr rtl="1" algn="r" marL="228600" indent="-228600">
              <a:spcAft>
                <a:spcPts val="800"/>
              </a:spcAft>
              <a:buSzPct val="100000"/>
              <a:buChar char="•"/>
            </a:pPr>
            <a:r>
              <a:rPr lang="ar-EG" altLang="en-US" sz="1600" b="1" dirty="0">
                <a:solidFill>
                  <a:srgbClr val="1F1F1D"/>
                </a:solidFill>
              </a:rPr>
              <a:t>أبيدوس ودندرة: </a:t>
            </a:r>
            <a:pPr rtl="1" algn="r" indent="0" marL="0">
              <a:buNone/>
            </a:pPr>
            <a:r>
              <a:rPr lang="ar-EG" altLang="en-US" sz="1600" dirty="0">
                <a:solidFill>
                  <a:srgbClr val="1F1F1D"/>
                </a:solidFill>
              </a:rPr>
              <a:t>أقرب إلى خط المركز وأقل ازدحامًا من الكرنك ووادي الملوك</a:t>
            </a:r>
            <a:endParaRPr lang="ar-EG" sz="1600" dirty="0"/>
          </a:p>
          <a:p>
            <a:pPr rtl="1" algn="r" marL="228600" indent="-228600">
              <a:spcAft>
                <a:spcPts val="800"/>
              </a:spcAft>
              <a:buSzPct val="100000"/>
              <a:buChar char="•"/>
            </a:pPr>
            <a:r>
              <a:rPr lang="ar-EG" altLang="en-US" sz="1600" b="1" dirty="0">
                <a:solidFill>
                  <a:srgbClr val="1F1F1D"/>
                </a:solidFill>
              </a:rPr>
              <a:t>مصر الوسطى: </a:t>
            </a:r>
            <a:pPr rtl="1" algn="r" indent="0" marL="0">
              <a:buNone/>
            </a:pPr>
            <a:r>
              <a:rPr lang="ar-EG" altLang="en-US" sz="1600" dirty="0">
                <a:solidFill>
                  <a:srgbClr val="1F1F1D"/>
                </a:solidFill>
              </a:rPr>
              <a:t>تل العمارنة والأشمونين وبني حسن: تجربة تجمع آثار إخناتون والكسوف</a:t>
            </a:r>
            <a:endParaRPr lang="ar-EG" sz="1600" dirty="0"/>
          </a:p>
          <a:p>
            <a:pPr rtl="1" algn="r" marL="228600" indent="-228600">
              <a:spcAft>
                <a:spcPts val="800"/>
              </a:spcAft>
              <a:buSzPct val="100000"/>
              <a:buChar char="•"/>
            </a:pPr>
            <a:r>
              <a:rPr lang="ar-EG" altLang="en-US" sz="1600" b="1" dirty="0">
                <a:solidFill>
                  <a:srgbClr val="1F1F1D"/>
                </a:solidFill>
              </a:rPr>
              <a:t>تنظيم الزيارة: </a:t>
            </a:r>
            <a:pPr rtl="1" algn="r" indent="0" marL="0">
              <a:buNone/>
            </a:pPr>
            <a:r>
              <a:rPr lang="ar-EG" altLang="en-US" sz="1600" dirty="0">
                <a:solidFill>
                  <a:srgbClr val="1F1F1D"/>
                </a:solidFill>
              </a:rPr>
              <a:t>نسّق مسبقًا مع إدارة الموقع بشأن مواعيد الدخول والبقاء في الساحات المفتوحة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٢٥-٣ من الكتاب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الواحات البحرية: الخيار الأقرب للقاهرة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Bahariya Oasis: the closest option to Cairo</a:t>
            </a:r>
            <a:endParaRPr lang="en-US" sz="1400" dirty="0"/>
          </a:p>
        </p:txBody>
      </p:sp>
      <p:pic>
        <p:nvPicPr>
          <p:cNvPr id="4" name="bahariya" descr="bahariya">    </p:cNvPr>
          <p:cNvPicPr>
            <a:picLocks noChangeAspect="1"/>
          </p:cNvPicPr>
          <p:nvPr/>
        </p:nvPicPr>
        <p:blipFill>
          <a:blip r:embed="rId1"/>
          <a:stretch>
            <a:fillRect/>
          </a:stretch>
        </p:blipFill>
        <p:spPr>
          <a:xfrm>
            <a:off x="830580" y="1325880"/>
            <a:ext cx="4922520"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600" b="1" dirty="0">
                <a:solidFill>
                  <a:srgbClr val="1F1F1D"/>
                </a:solidFill>
              </a:rPr>
              <a:t>الباويطي: </a:t>
            </a:r>
            <a:pPr rtl="1" algn="r" indent="0" marL="0">
              <a:buNone/>
            </a:pPr>
            <a:r>
              <a:rPr lang="ar-EG" altLang="en-US" sz="1600" dirty="0">
                <a:solidFill>
                  <a:srgbClr val="1F1F1D"/>
                </a:solidFill>
              </a:rPr>
              <a:t>الكلية ١٢:٥٠:١٠–١٢:٥٦:٢٨، أي ٦ د ١٧ ث، والشمس على ارتفاع ٧٩°</a:t>
            </a:r>
            <a:endParaRPr lang="ar-EG" sz="1600" dirty="0"/>
          </a:p>
          <a:p>
            <a:pPr rtl="1" algn="r" marL="228600" indent="-228600">
              <a:spcAft>
                <a:spcPts val="800"/>
              </a:spcAft>
              <a:buSzPct val="100000"/>
              <a:buChar char="•"/>
            </a:pPr>
            <a:r>
              <a:rPr lang="ar-EG" altLang="en-US" sz="1600" b="1" dirty="0">
                <a:solidFill>
                  <a:srgbClr val="1F1F1D"/>
                </a:solidFill>
              </a:rPr>
              <a:t>الحيز ومنديشة: </a:t>
            </a:r>
            <a:pPr rtl="1" algn="r" indent="0" marL="0">
              <a:buNone/>
            </a:pPr>
            <a:r>
              <a:rPr lang="ar-EG" altLang="en-US" sz="1600" dirty="0">
                <a:solidFill>
                  <a:srgbClr val="1F1F1D"/>
                </a:solidFill>
              </a:rPr>
              <a:t>٦ د ١٦ ث و٦ د ١٥ ث</a:t>
            </a:r>
            <a:endParaRPr lang="ar-EG" sz="1600" dirty="0"/>
          </a:p>
          <a:p>
            <a:pPr rtl="1" algn="r" marL="228600" indent="-228600">
              <a:spcAft>
                <a:spcPts val="800"/>
              </a:spcAft>
              <a:buSzPct val="100000"/>
              <a:buChar char="•"/>
            </a:pPr>
            <a:r>
              <a:rPr lang="ar-EG" altLang="en-US" sz="1600" b="1" dirty="0">
                <a:solidFill>
                  <a:srgbClr val="1F1F1D"/>
                </a:solidFill>
              </a:rPr>
              <a:t>خط المركز (Central line): </a:t>
            </a:r>
            <a:pPr rtl="1" algn="r" indent="0" marL="0">
              <a:buNone/>
            </a:pPr>
            <a:r>
              <a:rPr lang="ar-EG" altLang="en-US" sz="1600" dirty="0">
                <a:solidFill>
                  <a:srgbClr val="1F1F1D"/>
                </a:solidFill>
              </a:rPr>
              <a:t>٦ د ٢٢ ث على بعد نحو ٢٢ كم جنوب الباويطي</a:t>
            </a:r>
            <a:endParaRPr lang="ar-EG" sz="1600" dirty="0"/>
          </a:p>
          <a:p>
            <a:pPr rtl="1" algn="r" marL="228600" indent="-228600">
              <a:spcAft>
                <a:spcPts val="800"/>
              </a:spcAft>
              <a:buSzPct val="100000"/>
              <a:buChar char="•"/>
            </a:pPr>
            <a:r>
              <a:rPr lang="ar-EG" altLang="en-US" sz="1600" b="1" dirty="0">
                <a:solidFill>
                  <a:srgbClr val="1F1F1D"/>
                </a:solidFill>
              </a:rPr>
              <a:t>المزايا: </a:t>
            </a:r>
            <a:pPr rtl="1" algn="r" indent="0" marL="0">
              <a:buNone/>
            </a:pPr>
            <a:r>
              <a:rPr lang="ar-EG" altLang="en-US" sz="1600" dirty="0">
                <a:solidFill>
                  <a:srgbClr val="1F1F1D"/>
                </a:solidFill>
              </a:rPr>
              <a:t>أفق صحراوي مفتوح، وسماء صافية عادة في أغسطس، ونحو ٣٧٠ كم فقط من القاهرة</a:t>
            </a:r>
            <a:endParaRPr lang="ar-EG" sz="16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١٦-٩ من الكتاب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٣-ج</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كيف ترصده بأمان؟</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How to observe safely</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النظارة المعتمدة، والوسائل الآمنة، ومتى تُنزع النظارة، والخرافات، والحر</a:t>
            </a:r>
            <a:endParaRPr lang="ar-EG"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القاعدة الذهبية لسلامة العين</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golden rule of eye safety</a:t>
            </a:r>
            <a:endParaRPr lang="en-US" sz="1400" dirty="0"/>
          </a:p>
        </p:txBody>
      </p:sp>
      <p:pic>
        <p:nvPicPr>
          <p:cNvPr id="4" name="golden" descr="golden">    </p:cNvPr>
          <p:cNvPicPr>
            <a:picLocks noChangeAspect="1"/>
          </p:cNvPicPr>
          <p:nvPr/>
        </p:nvPicPr>
        <p:blipFill>
          <a:blip r:embed="rId1"/>
          <a:stretch>
            <a:fillRect/>
          </a:stretch>
        </p:blipFill>
        <p:spPr>
          <a:xfrm>
            <a:off x="548640" y="1708484"/>
            <a:ext cx="5486400" cy="3898232"/>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دائمًا: </a:t>
            </a:r>
            <a:pPr rtl="1" algn="r" indent="0" marL="0">
              <a:buNone/>
            </a:pPr>
            <a:r>
              <a:rPr lang="ar-EG" altLang="en-US" sz="1500" dirty="0">
                <a:solidFill>
                  <a:srgbClr val="1F1F1D"/>
                </a:solidFill>
              </a:rPr>
              <a:t>نظارة كسوف (Eclipse glasses) مطابقة للمعيار ISO 12312-2، سليمة غير مخدوشة</a:t>
            </a:r>
            <a:endParaRPr lang="ar-EG" sz="1500" dirty="0"/>
          </a:p>
          <a:p>
            <a:pPr rtl="1" algn="r" marL="228600" indent="-228600">
              <a:spcAft>
                <a:spcPts val="800"/>
              </a:spcAft>
              <a:buSzPct val="100000"/>
              <a:buChar char="•"/>
            </a:pPr>
            <a:r>
              <a:rPr lang="ar-EG" altLang="en-US" sz="1500" b="1" dirty="0">
                <a:solidFill>
                  <a:srgbClr val="1F1F1D"/>
                </a:solidFill>
              </a:rPr>
              <a:t>الاستثناء الوحيد: </a:t>
            </a:r>
            <a:pPr rtl="1" algn="r" indent="0" marL="0">
              <a:buNone/>
            </a:pPr>
            <a:r>
              <a:rPr lang="ar-EG" altLang="en-US" sz="1500" dirty="0">
                <a:solidFill>
                  <a:srgbClr val="1F1F1D"/>
                </a:solidFill>
              </a:rPr>
              <a:t>داخل مسار الكلية، وبين التماسين الثاني والثالث فقط</a:t>
            </a:r>
            <a:endParaRPr lang="ar-EG" sz="1500" dirty="0"/>
          </a:p>
          <a:p>
            <a:pPr rtl="1" algn="r" marL="228600" indent="-228600">
              <a:spcAft>
                <a:spcPts val="800"/>
              </a:spcAft>
              <a:buSzPct val="100000"/>
              <a:buChar char="•"/>
            </a:pPr>
            <a:r>
              <a:rPr lang="ar-EG" altLang="en-US" sz="1500" b="1" dirty="0">
                <a:solidFill>
                  <a:srgbClr val="1F1F1D"/>
                </a:solidFill>
              </a:rPr>
              <a:t>ممنوع: </a:t>
            </a:r>
            <a:pPr rtl="1" algn="r" indent="0" marL="0">
              <a:buNone/>
            </a:pPr>
            <a:r>
              <a:rPr lang="ar-EG" altLang="en-US" sz="1500" dirty="0">
                <a:solidFill>
                  <a:srgbClr val="1F1F1D"/>
                </a:solidFill>
              </a:rPr>
              <a:t>النظارات الشمسية، والأفلام، والزجاج المدخّن، والنظر عبر كاميرا أو منظار بلا مرشح</a:t>
            </a:r>
            <a:endParaRPr lang="ar-EG" sz="1500" dirty="0"/>
          </a:p>
          <a:p>
            <a:pPr rtl="1" algn="r" marL="228600" indent="-228600">
              <a:spcAft>
                <a:spcPts val="800"/>
              </a:spcAft>
              <a:buSzPct val="100000"/>
              <a:buChar char="•"/>
            </a:pPr>
            <a:r>
              <a:rPr lang="ar-EG" altLang="en-US" sz="1500" b="1" dirty="0">
                <a:solidFill>
                  <a:srgbClr val="1F1F1D"/>
                </a:solidFill>
              </a:rPr>
              <a:t>زجاج اللحام: </a:t>
            </a:r>
            <a:pPr rtl="1" algn="r" indent="0" marL="0">
              <a:buNone/>
            </a:pPr>
            <a:r>
              <a:rPr lang="ar-EG" altLang="en-US" sz="1500" dirty="0">
                <a:solidFill>
                  <a:srgbClr val="1F1F1D"/>
                </a:solidFill>
              </a:rPr>
              <a:t>رقم ١٤ فقط مقبول؛ الأقل منه غير آمن</a:t>
            </a:r>
            <a:endParaRPr lang="ar-EG" sz="1500" dirty="0"/>
          </a:p>
          <a:p>
            <a:pPr rtl="1" algn="r" marL="228600" indent="-228600">
              <a:spcAft>
                <a:spcPts val="800"/>
              </a:spcAft>
              <a:buSzPct val="100000"/>
              <a:buChar char="•"/>
            </a:pPr>
            <a:r>
              <a:rPr lang="ar-EG" altLang="en-US" sz="1500" b="1" dirty="0">
                <a:solidFill>
                  <a:srgbClr val="1F1F1D"/>
                </a:solidFill>
              </a:rPr>
              <a:t>الخطر: </a:t>
            </a:r>
            <a:pPr rtl="1" algn="r" indent="0" marL="0">
              <a:buNone/>
            </a:pPr>
            <a:r>
              <a:rPr lang="ar-EG" altLang="en-US" sz="1500" dirty="0">
                <a:solidFill>
                  <a:srgbClr val="1F1F1D"/>
                </a:solidFill>
              </a:rPr>
              <a:t>اعتلال الشبكية الشمسي (Solar retinopathy) بلا ألم، وقد يكون دائمًا</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١-٥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الوسائل الآمنة وغير الآمنة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Safe vs. unsafe ways to watch the Sun</a:t>
            </a:r>
            <a:endParaRPr lang="en-US" sz="1400" dirty="0"/>
          </a:p>
        </p:txBody>
      </p:sp>
      <p:pic>
        <p:nvPicPr>
          <p:cNvPr id="4" name="safeUnsafe" descr="safeUnsafe">    </p:cNvPr>
          <p:cNvPicPr>
            <a:picLocks noChangeAspect="1"/>
          </p:cNvPicPr>
          <p:nvPr/>
        </p:nvPicPr>
        <p:blipFill>
          <a:blip r:embed="rId1"/>
          <a:stretch>
            <a:fillRect/>
          </a:stretch>
        </p:blipFill>
        <p:spPr>
          <a:xfrm>
            <a:off x="627017" y="1325880"/>
            <a:ext cx="5329646" cy="4663440"/>
          </a:xfrm>
          <a:prstGeom prst="rect">
            <a:avLst/>
          </a:prstGeom>
        </p:spPr>
      </p:pic>
      <p:sp>
        <p:nvSpPr>
          <p:cNvPr id="5" name="Text 2"/>
          <p:cNvSpPr txBox="1"/>
          <p:nvPr/>
        </p:nvSpPr>
        <p:spPr>
          <a:xfrm>
            <a:off x="6355080" y="1371600"/>
            <a:ext cx="52879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آمن: </a:t>
            </a:r>
            <a:pPr rtl="1" algn="r" indent="0" marL="0">
              <a:buNone/>
            </a:pPr>
            <a:r>
              <a:rPr lang="ar-EG" altLang="en-US" sz="1500" dirty="0">
                <a:solidFill>
                  <a:srgbClr val="1F1F1D"/>
                </a:solidFill>
              </a:rPr>
              <a:t>نظارة كسوف معتمدة (ISO 12312-2)، مرشح شمسي (Solar filter) أمام العدسة، كاميرا الثقب، زجاج لحام رقم ١٤</a:t>
            </a:r>
            <a:endParaRPr lang="ar-EG" sz="1500" dirty="0"/>
          </a:p>
          <a:p>
            <a:pPr rtl="1" algn="r" marL="228600" indent="-228600">
              <a:spcAft>
                <a:spcPts val="800"/>
              </a:spcAft>
              <a:buSzPct val="100000"/>
              <a:buChar char="•"/>
            </a:pPr>
            <a:r>
              <a:rPr lang="ar-EG" altLang="en-US" sz="1500" b="1" dirty="0">
                <a:solidFill>
                  <a:srgbClr val="1F1F1D"/>
                </a:solidFill>
              </a:rPr>
              <a:t>غير آمن: </a:t>
            </a:r>
            <a:pPr rtl="1" algn="r" indent="0" marL="0">
              <a:buNone/>
            </a:pPr>
            <a:r>
              <a:rPr lang="ar-EG" altLang="en-US" sz="1500" dirty="0">
                <a:solidFill>
                  <a:srgbClr val="1F1F1D"/>
                </a:solidFill>
              </a:rPr>
              <a:t>النظارات الشمسية (Sunglasses)، أفلام الأشعة، الأقراص المدمجة، الزجاج المدخّن، الانعكاس في الماء</a:t>
            </a:r>
            <a:endParaRPr lang="ar-EG" sz="1500" dirty="0"/>
          </a:p>
          <a:p>
            <a:pPr rtl="1" algn="r" marL="228600" indent="-228600">
              <a:spcAft>
                <a:spcPts val="800"/>
              </a:spcAft>
              <a:buSzPct val="100000"/>
              <a:buChar char="•"/>
            </a:pPr>
            <a:r>
              <a:rPr lang="ar-EG" altLang="en-US" sz="1500" b="1" dirty="0">
                <a:solidFill>
                  <a:srgbClr val="1F1F1D"/>
                </a:solidFill>
              </a:rPr>
              <a:t>الأخطر: </a:t>
            </a:r>
            <a:pPr rtl="1" algn="r" indent="0" marL="0">
              <a:buNone/>
            </a:pPr>
            <a:r>
              <a:rPr lang="ar-EG" altLang="en-US" sz="1500" dirty="0">
                <a:solidFill>
                  <a:srgbClr val="1F1F1D"/>
                </a:solidFill>
              </a:rPr>
              <a:t>منظار أو تلسكوب أو عدسة كاميرا بلا مرشح أمامها: يركّز الضوء فيحرق العين في ثانية</a:t>
            </a:r>
            <a:endParaRPr lang="ar-EG" sz="1500" dirty="0"/>
          </a:p>
          <a:p>
            <a:pPr rtl="1" algn="r" marL="228600" indent="-228600">
              <a:spcAft>
                <a:spcPts val="800"/>
              </a:spcAft>
              <a:buSzPct val="100000"/>
              <a:buChar char="•"/>
            </a:pPr>
            <a:r>
              <a:rPr lang="ar-EG" altLang="en-US" sz="1500" b="1" dirty="0">
                <a:solidFill>
                  <a:srgbClr val="1F1F1D"/>
                </a:solidFill>
              </a:rPr>
              <a:t>الفحص: </a:t>
            </a:r>
            <a:pPr rtl="1" algn="r" indent="0" marL="0">
              <a:buNone/>
            </a:pPr>
            <a:r>
              <a:rPr lang="ar-EG" altLang="en-US" sz="1500" dirty="0">
                <a:solidFill>
                  <a:srgbClr val="1F1F1D"/>
                </a:solidFill>
              </a:rPr>
              <a:t>النظارة السليمة لا يُرى منها إلا الشمس؛ أي خدش أو ثقب ← تُستبعد</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٢-٥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متى يلبس الزائر النظارة ومتى ينزعها؟ (الأقصر)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Glasses on, glasses off: the Luxor timeline</a:t>
            </a:r>
            <a:endParaRPr lang="en-US" sz="1400" dirty="0"/>
          </a:p>
        </p:txBody>
      </p:sp>
      <p:pic>
        <p:nvPicPr>
          <p:cNvPr id="4" name="glassesLuxor" descr="glassesLuxor">    </p:cNvPr>
          <p:cNvPicPr>
            <a:picLocks noChangeAspect="1"/>
          </p:cNvPicPr>
          <p:nvPr/>
        </p:nvPicPr>
        <p:blipFill>
          <a:blip r:embed="rId1"/>
          <a:stretch>
            <a:fillRect/>
          </a:stretch>
        </p:blipFill>
        <p:spPr>
          <a:xfrm>
            <a:off x="548640" y="2043146"/>
            <a:ext cx="6309360" cy="3228908"/>
          </a:xfrm>
          <a:prstGeom prst="rect">
            <a:avLst/>
          </a:prstGeom>
        </p:spPr>
      </p:pic>
      <p:sp>
        <p:nvSpPr>
          <p:cNvPr id="5" name="Text 2"/>
          <p:cNvSpPr txBox="1"/>
          <p:nvPr/>
        </p:nvSpPr>
        <p:spPr>
          <a:xfrm>
            <a:off x="7178040" y="1371600"/>
            <a:ext cx="44650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١١:٤٠: </a:t>
            </a:r>
            <a:pPr rtl="1" algn="r" indent="0" marL="0">
              <a:buNone/>
            </a:pPr>
            <a:r>
              <a:rPr lang="ar-EG" altLang="en-US" sz="1500" dirty="0">
                <a:solidFill>
                  <a:srgbClr val="1F1F1D"/>
                </a:solidFill>
              </a:rPr>
              <a:t>النظارة على العين لمتابعة بداية الجزئي</a:t>
            </a:r>
            <a:endParaRPr lang="ar-EG" sz="1500" dirty="0"/>
          </a:p>
          <a:p>
            <a:pPr rtl="1" algn="r" marL="228600" indent="-228600">
              <a:spcAft>
                <a:spcPts val="800"/>
              </a:spcAft>
              <a:buSzPct val="100000"/>
              <a:buChar char="•"/>
            </a:pPr>
            <a:r>
              <a:rPr lang="ar-EG" altLang="en-US" sz="1500" b="1" dirty="0">
                <a:solidFill>
                  <a:srgbClr val="1F1F1D"/>
                </a:solidFill>
              </a:rPr>
              <a:t>١٣:٠١:٥٨: </a:t>
            </a:r>
            <a:pPr rtl="1" algn="r" indent="0" marL="0">
              <a:buNone/>
            </a:pPr>
            <a:r>
              <a:rPr lang="ar-EG" altLang="en-US" sz="1500" dirty="0">
                <a:solidFill>
                  <a:srgbClr val="1F1F1D"/>
                </a:solidFill>
              </a:rPr>
              <a:t>يختفي آخر ضوء ← انزعوا النظارات</a:t>
            </a:r>
            <a:endParaRPr lang="ar-EG" sz="1500" dirty="0"/>
          </a:p>
          <a:p>
            <a:pPr rtl="1" algn="r" marL="228600" indent="-228600">
              <a:spcAft>
                <a:spcPts val="800"/>
              </a:spcAft>
              <a:buSzPct val="100000"/>
              <a:buChar char="•"/>
            </a:pPr>
            <a:r>
              <a:rPr lang="ar-EG" altLang="en-US" sz="1500" b="1" dirty="0">
                <a:solidFill>
                  <a:srgbClr val="1F1F1D"/>
                </a:solidFill>
              </a:rPr>
              <a:t>٦ دقائق و٢٠ ثانية: </a:t>
            </a:r>
            <a:pPr rtl="1" algn="r" indent="0" marL="0">
              <a:buNone/>
            </a:pPr>
            <a:r>
              <a:rPr lang="ar-EG" altLang="en-US" sz="1500" dirty="0">
                <a:solidFill>
                  <a:srgbClr val="1F1F1D"/>
                </a:solidFill>
              </a:rPr>
              <a:t>انظروا بالعين المجردة إلى الهالة والكواكب</a:t>
            </a:r>
            <a:endParaRPr lang="ar-EG" sz="1500" dirty="0"/>
          </a:p>
          <a:p>
            <a:pPr rtl="1" algn="r" marL="228600" indent="-228600">
              <a:spcAft>
                <a:spcPts val="800"/>
              </a:spcAft>
              <a:buSzPct val="100000"/>
              <a:buChar char="•"/>
            </a:pPr>
            <a:r>
              <a:rPr lang="ar-EG" altLang="en-US" sz="1500" b="1" dirty="0">
                <a:solidFill>
                  <a:srgbClr val="1F1F1D"/>
                </a:solidFill>
              </a:rPr>
              <a:t>١٣:٠٨:١٨: </a:t>
            </a:r>
            <a:pPr rtl="1" algn="r" indent="0" marL="0">
              <a:buNone/>
            </a:pPr>
            <a:r>
              <a:rPr lang="ar-EG" altLang="en-US" sz="1500" dirty="0">
                <a:solidFill>
                  <a:srgbClr val="1F1F1D"/>
                </a:solidFill>
              </a:rPr>
              <a:t>أول وميض للخاتم الماسي ← النظارات فورًا</a:t>
            </a:r>
            <a:endParaRPr lang="ar-EG" sz="1500" dirty="0"/>
          </a:p>
          <a:p>
            <a:pPr rtl="1" algn="r" marL="228600" indent="-228600">
              <a:spcAft>
                <a:spcPts val="800"/>
              </a:spcAft>
              <a:buSzPct val="100000"/>
              <a:buChar char="•"/>
            </a:pPr>
            <a:r>
              <a:rPr lang="ar-EG" altLang="en-US" sz="1500" b="1" dirty="0">
                <a:solidFill>
                  <a:srgbClr val="1F1F1D"/>
                </a:solidFill>
              </a:rPr>
              <a:t>١٤:٢٦: </a:t>
            </a:r>
            <a:pPr rtl="1" algn="r" indent="0" marL="0">
              <a:buNone/>
            </a:pPr>
            <a:r>
              <a:rPr lang="ar-EG" altLang="en-US" sz="1500" dirty="0">
                <a:solidFill>
                  <a:srgbClr val="1F1F1D"/>
                </a:solidFill>
              </a:rPr>
              <a:t>نهاية الكسوف</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٩-٥ من الكتاب (محسوب)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خرافات شائعة سيسألك عنها الزوار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Common myths visitors will ask about</a:t>
            </a:r>
            <a:endParaRPr lang="en-US" sz="1400" dirty="0"/>
          </a:p>
        </p:txBody>
      </p:sp>
      <p:pic>
        <p:nvPicPr>
          <p:cNvPr id="4" name="myths" descr="myths">    </p:cNvPr>
          <p:cNvPicPr>
            <a:picLocks noChangeAspect="1"/>
          </p:cNvPicPr>
          <p:nvPr/>
        </p:nvPicPr>
        <p:blipFill>
          <a:blip r:embed="rId1"/>
          <a:stretch>
            <a:fillRect/>
          </a:stretch>
        </p:blipFill>
        <p:spPr>
          <a:xfrm>
            <a:off x="739168" y="1325880"/>
            <a:ext cx="4831023" cy="4663440"/>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«الكسوف يضر الحوامل والطعام»: </a:t>
            </a:r>
            <a:pPr rtl="1" algn="r" indent="0" marL="0">
              <a:buNone/>
            </a:pPr>
            <a:r>
              <a:rPr lang="ar-EG" altLang="en-US" sz="1500" dirty="0">
                <a:solidFill>
                  <a:srgbClr val="1F1F1D"/>
                </a:solidFill>
              </a:rPr>
              <a:t>لا أصل علميًا لذلك</a:t>
            </a:r>
            <a:endParaRPr lang="ar-EG" sz="1500" dirty="0"/>
          </a:p>
          <a:p>
            <a:pPr rtl="1" algn="r" marL="228600" indent="-228600">
              <a:spcAft>
                <a:spcPts val="800"/>
              </a:spcAft>
              <a:buSzPct val="100000"/>
              <a:buChar char="•"/>
            </a:pPr>
            <a:r>
              <a:rPr lang="ar-EG" altLang="en-US" sz="1500" b="1" dirty="0">
                <a:solidFill>
                  <a:srgbClr val="1F1F1D"/>
                </a:solidFill>
              </a:rPr>
              <a:t>«لا تخرج وقت الكسوف»: </a:t>
            </a:r>
            <a:pPr rtl="1" algn="r" indent="0" marL="0">
              <a:buNone/>
            </a:pPr>
            <a:r>
              <a:rPr lang="ar-EG" altLang="en-US" sz="1500" dirty="0">
                <a:solidFill>
                  <a:srgbClr val="1F1F1D"/>
                </a:solidFill>
              </a:rPr>
              <a:t>الخطر الوحيد هو النظر إلى الشمس بلا مرشح</a:t>
            </a:r>
            <a:endParaRPr lang="ar-EG" sz="1500" dirty="0"/>
          </a:p>
          <a:p>
            <a:pPr rtl="1" algn="r" marL="228600" indent="-228600">
              <a:spcAft>
                <a:spcPts val="800"/>
              </a:spcAft>
              <a:buSzPct val="100000"/>
              <a:buChar char="•"/>
            </a:pPr>
            <a:r>
              <a:rPr lang="ar-EG" altLang="en-US" sz="1500" b="1" dirty="0">
                <a:solidFill>
                  <a:srgbClr val="1F1F1D"/>
                </a:solidFill>
              </a:rPr>
              <a:t>«الكسوف نذير»: </a:t>
            </a:r>
            <a:pPr rtl="1" algn="r" indent="0" marL="0">
              <a:buNone/>
            </a:pPr>
            <a:r>
              <a:rPr lang="ar-EG" altLang="en-US" sz="1500" dirty="0">
                <a:solidFill>
                  <a:srgbClr val="1F1F1D"/>
                </a:solidFill>
              </a:rPr>
              <a:t>«لا ينكسفان لموت أحد ولا لحياته» — حديث نبوي</a:t>
            </a:r>
            <a:endParaRPr lang="ar-EG" sz="1500" dirty="0"/>
          </a:p>
          <a:p>
            <a:pPr rtl="1" algn="r" marL="228600" indent="-228600">
              <a:spcAft>
                <a:spcPts val="800"/>
              </a:spcAft>
              <a:buSzPct val="100000"/>
              <a:buChar char="•"/>
            </a:pPr>
            <a:r>
              <a:rPr lang="ar-EG" altLang="en-US" sz="1500" b="1" dirty="0">
                <a:solidFill>
                  <a:srgbClr val="1F1F1D"/>
                </a:solidFill>
              </a:rPr>
              <a:t>«الأشعة أخطر أثناء الكسوف»: </a:t>
            </a:r>
            <a:pPr rtl="1" algn="r" indent="0" marL="0">
              <a:buNone/>
            </a:pPr>
            <a:r>
              <a:rPr lang="ar-EG" altLang="en-US" sz="1500" dirty="0">
                <a:solidFill>
                  <a:srgbClr val="1F1F1D"/>
                </a:solidFill>
              </a:rPr>
              <a:t>الشمس هي الشمس؛ الخطر أن الناس يحدّقون فيها</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١٥-٥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ظهيرة أغسطس في الصعيد: الحر خطر حقيقي</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August noon in Upper Egypt: heat is a real hazard</a:t>
            </a:r>
            <a:endParaRPr lang="en-US" sz="1400" dirty="0"/>
          </a:p>
        </p:txBody>
      </p:sp>
      <p:pic>
        <p:nvPicPr>
          <p:cNvPr id="4" name="heat" descr="heat">    </p:cNvPr>
          <p:cNvPicPr>
            <a:picLocks noChangeAspect="1"/>
          </p:cNvPicPr>
          <p:nvPr/>
        </p:nvPicPr>
        <p:blipFill>
          <a:blip r:embed="rId1"/>
          <a:stretch>
            <a:fillRect/>
          </a:stretch>
        </p:blipFill>
        <p:spPr>
          <a:xfrm>
            <a:off x="548640" y="1553441"/>
            <a:ext cx="5212080" cy="4208318"/>
          </a:xfrm>
          <a:prstGeom prst="rect">
            <a:avLst/>
          </a:prstGeom>
        </p:spPr>
      </p:pic>
      <p:sp>
        <p:nvSpPr>
          <p:cNvPr id="5" name="Text 2"/>
          <p:cNvSpPr txBox="1"/>
          <p:nvPr/>
        </p:nvSpPr>
        <p:spPr>
          <a:xfrm>
            <a:off x="6080760" y="1371600"/>
            <a:ext cx="556229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الشمس فوق الرأس: </a:t>
            </a:r>
            <a:pPr rtl="1" algn="r" indent="0" marL="0">
              <a:buNone/>
            </a:pPr>
            <a:r>
              <a:rPr lang="ar-EG" altLang="en-US" sz="1500" dirty="0">
                <a:solidFill>
                  <a:srgbClr val="1F1F1D"/>
                </a:solidFill>
              </a:rPr>
              <a:t>ارتفاعها ٨١–٨٢°، فلا ظل تقريبًا عند الجدران والأشجار</a:t>
            </a:r>
            <a:endParaRPr lang="ar-EG" sz="1500" dirty="0"/>
          </a:p>
          <a:p>
            <a:pPr rtl="1" algn="r" marL="228600" indent="-228600">
              <a:spcAft>
                <a:spcPts val="800"/>
              </a:spcAft>
              <a:buSzPct val="100000"/>
              <a:buChar char="•"/>
            </a:pPr>
            <a:r>
              <a:rPr lang="ar-EG" altLang="en-US" sz="1500" b="1" dirty="0">
                <a:solidFill>
                  <a:srgbClr val="1F1F1D"/>
                </a:solidFill>
              </a:rPr>
              <a:t>الحرارة (Heat stress): </a:t>
            </a:r>
            <a:pPr rtl="1" algn="r" indent="0" marL="0">
              <a:buNone/>
            </a:pPr>
            <a:r>
              <a:rPr lang="ar-EG" altLang="en-US" sz="1500" dirty="0">
                <a:solidFill>
                  <a:srgbClr val="1F1F1D"/>
                </a:solidFill>
              </a:rPr>
              <a:t>ظهيرة أغسطس في الأقصر وأسوان تتجاوز ٤٠° عادةً</a:t>
            </a:r>
            <a:endParaRPr lang="ar-EG" sz="1500" dirty="0"/>
          </a:p>
          <a:p>
            <a:pPr rtl="1" algn="r" marL="228600" indent="-228600">
              <a:spcAft>
                <a:spcPts val="800"/>
              </a:spcAft>
              <a:buSzPct val="100000"/>
              <a:buChar char="•"/>
            </a:pPr>
            <a:r>
              <a:rPr lang="ar-EG" altLang="en-US" sz="1500" b="1" dirty="0">
                <a:solidFill>
                  <a:srgbClr val="1F1F1D"/>
                </a:solidFill>
              </a:rPr>
              <a:t>الماء: </a:t>
            </a:r>
            <a:pPr rtl="1" algn="r" indent="0" marL="0">
              <a:buNone/>
            </a:pPr>
            <a:r>
              <a:rPr lang="ar-EG" altLang="en-US" sz="1500" dirty="0">
                <a:solidFill>
                  <a:srgbClr val="1F1F1D"/>
                </a:solidFill>
              </a:rPr>
              <a:t>لتر لكل ساعة لكل شخص، مع أملاح</a:t>
            </a:r>
            <a:endParaRPr lang="ar-EG" sz="1500" dirty="0"/>
          </a:p>
          <a:p>
            <a:pPr rtl="1" algn="r" marL="228600" indent="-228600">
              <a:spcAft>
                <a:spcPts val="800"/>
              </a:spcAft>
              <a:buSzPct val="100000"/>
              <a:buChar char="•"/>
            </a:pPr>
            <a:r>
              <a:rPr lang="ar-EG" altLang="en-US" sz="1500" b="1" dirty="0">
                <a:solidFill>
                  <a:srgbClr val="1F1F1D"/>
                </a:solidFill>
              </a:rPr>
              <a:t>الوقاية: </a:t>
            </a:r>
            <a:pPr rtl="1" algn="r" indent="0" marL="0">
              <a:buNone/>
            </a:pPr>
            <a:r>
              <a:rPr lang="ar-EG" altLang="en-US" sz="1500" dirty="0">
                <a:solidFill>
                  <a:srgbClr val="1F1F1D"/>
                </a:solidFill>
              </a:rPr>
              <a:t>قبعة واسعة، ومظلات، وملابس فاتحة، ومكان استراحة مظلل قريب</a:t>
            </a:r>
            <a:endParaRPr lang="ar-EG" sz="1500" dirty="0"/>
          </a:p>
          <a:p>
            <a:pPr rtl="1" algn="r" marL="228600" indent="-228600">
              <a:spcAft>
                <a:spcPts val="800"/>
              </a:spcAft>
              <a:buSzPct val="100000"/>
              <a:buChar char="•"/>
            </a:pPr>
            <a:r>
              <a:rPr lang="ar-EG" altLang="en-US" sz="1500" b="1" dirty="0">
                <a:solidFill>
                  <a:srgbClr val="1F1F1D"/>
                </a:solidFill>
              </a:rPr>
              <a:t>الإسعاف: </a:t>
            </a:r>
            <a:pPr rtl="1" algn="r" indent="0" marL="0">
              <a:buNone/>
            </a:pPr>
            <a:r>
              <a:rPr lang="ar-EG" altLang="en-US" sz="1500" dirty="0">
                <a:solidFill>
                  <a:srgbClr val="1F1F1D"/>
                </a:solidFill>
              </a:rPr>
              <a:t>حدّد أقرب نقطة إسعاف، وراقب كبار السن والأطفال</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١٨-٥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part-disc"/>
          <p:cNvSpPr/>
          <p:nvPr/>
        </p:nvSpPr>
        <p:spPr>
          <a:xfrm>
            <a:off x="10271455" y="2331720"/>
            <a:ext cx="1371600" cy="137160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 name="Text 1"/>
          <p:cNvSpPr txBox="1"/>
          <p:nvPr/>
        </p:nvSpPr>
        <p:spPr>
          <a:xfrm>
            <a:off x="10271455" y="2331720"/>
            <a:ext cx="1371600" cy="1371600"/>
          </a:xfrm>
          <a:prstGeom prst="rect">
            <a:avLst/>
          </a:prstGeom>
          <a:noFill/>
          <a:ln/>
        </p:spPr>
        <p:txBody>
          <a:bodyPr wrap="square" lIns="0" tIns="0" rIns="0" bIns="0" rtlCol="0" anchor="ctr"/>
          <a:lstStyle/>
          <a:p>
            <a:pPr rtl="1" algn="ctr" indent="0" marL="0">
              <a:buNone/>
            </a:pPr>
            <a:r>
              <a:rPr lang="en-US" sz="2600" b="1" dirty="0">
                <a:solidFill>
                  <a:srgbClr val="F7B733"/>
                </a:solidFill>
              </a:rPr>
              <a:t>٣-د</a:t>
            </a:r>
            <a:endParaRPr lang="en-US" sz="2600" dirty="0"/>
          </a:p>
        </p:txBody>
      </p:sp>
      <p:sp>
        <p:nvSpPr>
          <p:cNvPr id="4" name="Text 2"/>
          <p:cNvSpPr txBox="1"/>
          <p:nvPr/>
        </p:nvSpPr>
        <p:spPr>
          <a:xfrm>
            <a:off x="548640" y="2148840"/>
            <a:ext cx="9357055" cy="914400"/>
          </a:xfrm>
          <a:prstGeom prst="rect">
            <a:avLst/>
          </a:prstGeom>
          <a:noFill/>
          <a:ln/>
        </p:spPr>
        <p:txBody>
          <a:bodyPr wrap="square" lIns="0" tIns="0" rIns="0" bIns="0" rtlCol="0" anchor="ctr"/>
          <a:lstStyle/>
          <a:p>
            <a:pPr rtl="1" algn="r" indent="0" marL="0">
              <a:buNone/>
            </a:pPr>
            <a:r>
              <a:rPr lang="ar-EG" altLang="en-US" sz="3400" b="1" dirty="0">
                <a:solidFill>
                  <a:srgbClr val="FFFFFF"/>
                </a:solidFill>
              </a:rPr>
              <a:t>كيف تصوّره؟</a:t>
            </a:r>
            <a:endParaRPr lang="ar-EG" sz="3400" dirty="0"/>
          </a:p>
        </p:txBody>
      </p:sp>
      <p:sp>
        <p:nvSpPr>
          <p:cNvPr id="5" name="Text 3"/>
          <p:cNvSpPr txBox="1"/>
          <p:nvPr/>
        </p:nvSpPr>
        <p:spPr>
          <a:xfrm>
            <a:off x="548640" y="3063240"/>
            <a:ext cx="9357055" cy="411480"/>
          </a:xfrm>
          <a:prstGeom prst="rect">
            <a:avLst/>
          </a:prstGeom>
          <a:noFill/>
          <a:ln/>
        </p:spPr>
        <p:txBody>
          <a:bodyPr wrap="square" lIns="0" tIns="0" rIns="0" bIns="0" rtlCol="0" anchor="ctr"/>
          <a:lstStyle/>
          <a:p>
            <a:pPr algn="r" indent="0" marL="0">
              <a:buNone/>
            </a:pPr>
            <a:r>
              <a:rPr lang="en-US" altLang="en-US" sz="1700" i="1" dirty="0">
                <a:solidFill>
                  <a:srgbClr val="F7B733"/>
                </a:solidFill>
              </a:rPr>
              <a:t>How to photograph it</a:t>
            </a:r>
            <a:endParaRPr lang="en-US" sz="1700" dirty="0"/>
          </a:p>
        </p:txBody>
      </p:sp>
      <p:sp>
        <p:nvSpPr>
          <p:cNvPr id="6" name="Text 4"/>
          <p:cNvSpPr txBox="1"/>
          <p:nvPr/>
        </p:nvSpPr>
        <p:spPr>
          <a:xfrm>
            <a:off x="548640" y="3566160"/>
            <a:ext cx="9357055" cy="822960"/>
          </a:xfrm>
          <a:prstGeom prst="rect">
            <a:avLst/>
          </a:prstGeom>
          <a:noFill/>
          <a:ln/>
        </p:spPr>
        <p:txBody>
          <a:bodyPr wrap="square" lIns="0" tIns="0" rIns="0" bIns="0" rtlCol="0" anchor="t"/>
          <a:lstStyle/>
          <a:p>
            <a:pPr rtl="1" algn="r" indent="0" marL="0">
              <a:buNone/>
            </a:pPr>
            <a:r>
              <a:rPr lang="ar-EG" altLang="en-US" sz="1600" dirty="0">
                <a:solidFill>
                  <a:srgbClr val="C9D6EA"/>
                </a:solidFill>
              </a:rPr>
              <a:t>بالهاتف الذكي، ثم بالكاميرا: المرشح، والوضع اليدوي، والتعريض المتدرج، وخطة الدقائق الست</a:t>
            </a:r>
            <a:endParaRPr lang="ar-EG"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تصوير الكسوف بالهاتف</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Photographing the eclipse with a smartphone</a:t>
            </a:r>
            <a:endParaRPr lang="en-US" sz="1400" dirty="0"/>
          </a:p>
        </p:txBody>
      </p:sp>
      <p:pic>
        <p:nvPicPr>
          <p:cNvPr id="4" name="phone" descr="phone">    </p:cNvPr>
          <p:cNvPicPr>
            <a:picLocks noChangeAspect="1"/>
          </p:cNvPicPr>
          <p:nvPr/>
        </p:nvPicPr>
        <p:blipFill>
          <a:blip r:embed="rId1"/>
          <a:stretch>
            <a:fillRect/>
          </a:stretch>
        </p:blipFill>
        <p:spPr>
          <a:xfrm>
            <a:off x="548640" y="1394105"/>
            <a:ext cx="5394960" cy="4526991"/>
          </a:xfrm>
          <a:prstGeom prst="rect">
            <a:avLst/>
          </a:prstGeom>
        </p:spPr>
      </p:pic>
      <p:sp>
        <p:nvSpPr>
          <p:cNvPr id="5" name="Text 2"/>
          <p:cNvSpPr txBox="1"/>
          <p:nvPr/>
        </p:nvSpPr>
        <p:spPr>
          <a:xfrm>
            <a:off x="6263640" y="1371600"/>
            <a:ext cx="53794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أثناء الجزئي: </a:t>
            </a:r>
            <a:pPr rtl="1" algn="r" indent="0" marL="0">
              <a:buNone/>
            </a:pPr>
            <a:r>
              <a:rPr lang="ar-EG" altLang="en-US" sz="1500" dirty="0">
                <a:solidFill>
                  <a:srgbClr val="1F1F1D"/>
                </a:solidFill>
              </a:rPr>
              <a:t>ضع مرشحًا شمسيًا أو نظارة كسوف أمام عدسة الهاتف، واقفل التركيز والتعريض (AE/AF lock)</a:t>
            </a:r>
            <a:endParaRPr lang="ar-EG" sz="1500" dirty="0"/>
          </a:p>
          <a:p>
            <a:pPr rtl="1" algn="r" marL="228600" indent="-228600">
              <a:spcAft>
                <a:spcPts val="800"/>
              </a:spcAft>
              <a:buSzPct val="100000"/>
              <a:buChar char="•"/>
            </a:pPr>
            <a:r>
              <a:rPr lang="ar-EG" altLang="en-US" sz="1500" b="1" dirty="0">
                <a:solidFill>
                  <a:srgbClr val="1F1F1D"/>
                </a:solidFill>
              </a:rPr>
              <a:t>أثناء الكلية: </a:t>
            </a:r>
            <a:pPr rtl="1" algn="r" indent="0" marL="0">
              <a:buNone/>
            </a:pPr>
            <a:r>
              <a:rPr lang="ar-EG" altLang="en-US" sz="1500" dirty="0">
                <a:solidFill>
                  <a:srgbClr val="1F1F1D"/>
                </a:solidFill>
              </a:rPr>
              <a:t>انزع المرشح؛ صوّر الأفق الدائري والناس بعدسة واسعة (Wide angle) — الشمس فوق الرأس</a:t>
            </a:r>
            <a:endParaRPr lang="ar-EG" sz="1500" dirty="0"/>
          </a:p>
          <a:p>
            <a:pPr rtl="1" algn="r" marL="228600" indent="-228600">
              <a:spcAft>
                <a:spcPts val="800"/>
              </a:spcAft>
              <a:buSzPct val="100000"/>
              <a:buChar char="•"/>
            </a:pPr>
            <a:r>
              <a:rPr lang="ar-EG" altLang="en-US" sz="1500" b="1" dirty="0">
                <a:solidFill>
                  <a:srgbClr val="1F1F1D"/>
                </a:solidFill>
              </a:rPr>
              <a:t>الوضع الليلي: </a:t>
            </a:r>
            <a:pPr rtl="1" algn="r" indent="0" marL="0">
              <a:buNone/>
            </a:pPr>
            <a:r>
              <a:rPr lang="ar-EG" altLang="en-US" sz="1500" dirty="0">
                <a:solidFill>
                  <a:srgbClr val="1F1F1D"/>
                </a:solidFill>
              </a:rPr>
              <a:t>أطفئ الفلاش، وثبّت الهاتف على حامل (Tripod)</a:t>
            </a:r>
            <a:endParaRPr lang="ar-EG" sz="1500" dirty="0"/>
          </a:p>
          <a:p>
            <a:pPr rtl="1" algn="r" marL="228600" indent="-228600">
              <a:spcAft>
                <a:spcPts val="800"/>
              </a:spcAft>
              <a:buSzPct val="100000"/>
              <a:buChar char="•"/>
            </a:pPr>
            <a:r>
              <a:rPr lang="ar-EG" altLang="en-US" sz="1500" b="1" dirty="0">
                <a:solidFill>
                  <a:srgbClr val="1F1F1D"/>
                </a:solidFill>
              </a:rPr>
              <a:t>الأهم: </a:t>
            </a:r>
            <a:pPr rtl="1" algn="r" indent="0" marL="0">
              <a:buNone/>
            </a:pPr>
            <a:r>
              <a:rPr lang="ar-EG" altLang="en-US" sz="1500" dirty="0">
                <a:solidFill>
                  <a:srgbClr val="1F1F1D"/>
                </a:solidFill>
              </a:rPr>
              <a:t>لا تقضِ الدقائق الست خلف الشاشة؛ صوّر دقيقة ثم انظر بعينيك</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٢١-٧ من الكتاب</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تصوير الكسوف بالكاميرا: خطة الدقائق الست في الأقصر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Camera photography: the six-minute totality plan for Luxor</a:t>
            </a:r>
            <a:endParaRPr lang="en-US" sz="1400" dirty="0"/>
          </a:p>
        </p:txBody>
      </p:sp>
      <p:pic>
        <p:nvPicPr>
          <p:cNvPr id="4" name="planLuxor" descr="planLuxor">    </p:cNvPr>
          <p:cNvPicPr>
            <a:picLocks noChangeAspect="1"/>
          </p:cNvPicPr>
          <p:nvPr/>
        </p:nvPicPr>
        <p:blipFill>
          <a:blip r:embed="rId1"/>
          <a:stretch>
            <a:fillRect/>
          </a:stretch>
        </p:blipFill>
        <p:spPr>
          <a:xfrm>
            <a:off x="556260" y="1325880"/>
            <a:ext cx="4922520" cy="4663440"/>
          </a:xfrm>
          <a:prstGeom prst="rect">
            <a:avLst/>
          </a:prstGeom>
        </p:spPr>
      </p:pic>
      <p:sp>
        <p:nvSpPr>
          <p:cNvPr id="5" name="Text 2"/>
          <p:cNvSpPr txBox="1"/>
          <p:nvPr/>
        </p:nvSpPr>
        <p:spPr>
          <a:xfrm>
            <a:off x="5806440" y="1371600"/>
            <a:ext cx="583661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E8ECF3"/>
                </a:solidFill>
              </a:rPr>
              <a:t>الوضع اليدوي (Manual mode): </a:t>
            </a:r>
            <a:pPr rtl="1" algn="r" indent="0" marL="0">
              <a:buNone/>
            </a:pPr>
            <a:r>
              <a:rPr lang="ar-EG" altLang="en-US" sz="1500" dirty="0">
                <a:solidFill>
                  <a:srgbClr val="E8ECF3"/>
                </a:solidFill>
              </a:rPr>
              <a:t>فتحة ثابتة مثل f/8 وحساسية منخفضة ISO 100–400، وتغيير زمن الغالق وحده</a:t>
            </a:r>
            <a:endParaRPr lang="ar-EG" sz="1500" dirty="0"/>
          </a:p>
          <a:p>
            <a:pPr rtl="1" algn="r" marL="228600" indent="-228600">
              <a:spcAft>
                <a:spcPts val="800"/>
              </a:spcAft>
              <a:buSzPct val="100000"/>
              <a:buChar char="•"/>
            </a:pPr>
            <a:r>
              <a:rPr lang="ar-EG" altLang="en-US" sz="1500" b="1" dirty="0">
                <a:solidFill>
                  <a:srgbClr val="E8ECF3"/>
                </a:solidFill>
              </a:rPr>
              <a:t>المرشح الشمسي (Solar filter): </a:t>
            </a:r>
            <a:pPr rtl="1" algn="r" indent="0" marL="0">
              <a:buNone/>
            </a:pPr>
            <a:r>
              <a:rPr lang="ar-EG" altLang="en-US" sz="1500" dirty="0">
                <a:solidFill>
                  <a:srgbClr val="E8ECF3"/>
                </a:solidFill>
              </a:rPr>
              <a:t>أمام العدسة طوال الجزئي؛ يُنزع قبل التماس الثاني بثوانٍ ويُعاد بعد الثالث</a:t>
            </a:r>
            <a:endParaRPr lang="ar-EG" sz="1500" dirty="0"/>
          </a:p>
          <a:p>
            <a:pPr rtl="1" algn="r" marL="228600" indent="-228600">
              <a:spcAft>
                <a:spcPts val="800"/>
              </a:spcAft>
              <a:buSzPct val="100000"/>
              <a:buChar char="•"/>
            </a:pPr>
            <a:r>
              <a:rPr lang="ar-EG" altLang="en-US" sz="1500" b="1" dirty="0">
                <a:solidFill>
                  <a:srgbClr val="E8ECF3"/>
                </a:solidFill>
              </a:rPr>
              <a:t>التعريض المتدرج (Bracketing): </a:t>
            </a:r>
            <a:pPr rtl="1" algn="r" indent="0" marL="0">
              <a:buNone/>
            </a:pPr>
            <a:r>
              <a:rPr lang="ar-EG" altLang="en-US" sz="1500" dirty="0">
                <a:solidFill>
                  <a:srgbClr val="E8ECF3"/>
                </a:solidFill>
              </a:rPr>
              <a:t>سلسلة لقطات من ١/٤٠٠٠ ث حتى ١ ث تقريبًا لتغطي الهالة الداخلية والخارجية</a:t>
            </a:r>
            <a:endParaRPr lang="ar-EG" sz="1500" dirty="0"/>
          </a:p>
          <a:p>
            <a:pPr rtl="1" algn="r" marL="228600" indent="-228600">
              <a:spcAft>
                <a:spcPts val="800"/>
              </a:spcAft>
              <a:buSzPct val="100000"/>
              <a:buChar char="•"/>
            </a:pPr>
            <a:r>
              <a:rPr lang="ar-EG" altLang="en-US" sz="1500" b="1" dirty="0">
                <a:solidFill>
                  <a:srgbClr val="E8ECF3"/>
                </a:solidFill>
              </a:rPr>
              <a:t>البعد البؤري: </a:t>
            </a:r>
            <a:pPr rtl="1" algn="r" indent="0" marL="0">
              <a:buNone/>
            </a:pPr>
            <a:r>
              <a:rPr lang="ar-EG" altLang="en-US" sz="1500" dirty="0">
                <a:solidFill>
                  <a:srgbClr val="E8ECF3"/>
                </a:solidFill>
              </a:rPr>
              <a:t>٤٠٠–٨٠٠ مم لقرص الشمس والهالة؛ عدسة واسعة للمشهد لأن الشمس فوق الرأس</a:t>
            </a:r>
            <a:endParaRPr lang="ar-EG" sz="1500" dirty="0"/>
          </a:p>
          <a:p>
            <a:pPr rtl="1" algn="r" marL="228600" indent="-228600">
              <a:spcAft>
                <a:spcPts val="800"/>
              </a:spcAft>
              <a:buSzPct val="100000"/>
              <a:buChar char="•"/>
            </a:pPr>
            <a:r>
              <a:rPr lang="ar-EG" altLang="en-US" sz="1500" b="1" dirty="0">
                <a:solidFill>
                  <a:srgbClr val="E8ECF3"/>
                </a:solidFill>
              </a:rPr>
              <a:t>الأتمتة: </a:t>
            </a:r>
            <a:pPr rtl="1" algn="r" indent="0" marL="0">
              <a:buNone/>
            </a:pPr>
            <a:r>
              <a:rPr lang="ar-EG" altLang="en-US" sz="1500" dirty="0">
                <a:solidFill>
                  <a:srgbClr val="E8ECF3"/>
                </a:solidFill>
              </a:rPr>
              <a:t>برامج مثل Eclipse Orchestrator تلتقط التسلسل آليًا، فتتفرغ عيناك</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C9AB3"/>
                </a:solidFill>
              </a:rPr>
              <a:t>الشكل ١٤-٧ من الكتاب: خطة التصوير خلال الكلية في الأقصر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إعدادات الكاميرا لكل مرحلة</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Camera settings for each phase of the eclipse</a:t>
            </a:r>
            <a:endParaRPr lang="en-US" sz="1400" dirty="0"/>
          </a:p>
        </p:txBody>
      </p:sp>
      <p:pic>
        <p:nvPicPr>
          <p:cNvPr id="4" name="phaseSettings" descr="phaseSettings">    </p:cNvPr>
          <p:cNvPicPr>
            <a:picLocks noChangeAspect="1"/>
          </p:cNvPicPr>
          <p:nvPr/>
        </p:nvPicPr>
        <p:blipFill>
          <a:blip r:embed="rId1"/>
          <a:stretch>
            <a:fillRect/>
          </a:stretch>
        </p:blipFill>
        <p:spPr>
          <a:xfrm>
            <a:off x="548640" y="1551118"/>
            <a:ext cx="5943600" cy="4212964"/>
          </a:xfrm>
          <a:prstGeom prst="rect">
            <a:avLst/>
          </a:prstGeom>
        </p:spPr>
      </p:pic>
      <p:sp>
        <p:nvSpPr>
          <p:cNvPr id="5" name="Text 2"/>
          <p:cNvSpPr txBox="1"/>
          <p:nvPr/>
        </p:nvSpPr>
        <p:spPr>
          <a:xfrm>
            <a:off x="6812280" y="1371600"/>
            <a:ext cx="4830775" cy="4663440"/>
          </a:xfrm>
          <a:prstGeom prst="rect">
            <a:avLst/>
          </a:prstGeom>
          <a:noFill/>
          <a:ln/>
        </p:spPr>
        <p:txBody>
          <a:bodyPr wrap="square" lIns="0" tIns="0" rIns="0" bIns="0" rtlCol="0" anchor="t"/>
          <a:lstStyle/>
          <a:p>
            <a:pPr rtl="1" algn="r" marL="228600" indent="-228600">
              <a:spcAft>
                <a:spcPts val="800"/>
              </a:spcAft>
              <a:buSzPct val="100000"/>
              <a:buChar char="•"/>
            </a:pPr>
            <a:r>
              <a:rPr lang="ar-EG" altLang="en-US" sz="1500" b="1" dirty="0">
                <a:solidFill>
                  <a:srgbClr val="1F1F1D"/>
                </a:solidFill>
              </a:rPr>
              <a:t>الجزئي (Partial): </a:t>
            </a:r>
            <a:pPr rtl="1" algn="r" indent="0" marL="0">
              <a:buNone/>
            </a:pPr>
            <a:r>
              <a:rPr lang="ar-EG" altLang="en-US" sz="1500" dirty="0">
                <a:solidFill>
                  <a:srgbClr val="1F1F1D"/>
                </a:solidFill>
              </a:rPr>
              <a:t>مع المرشح، تعريض قصير، صورة كل ٥–١٠ دقائق لصنع تسلسل المراحل</a:t>
            </a:r>
            <a:endParaRPr lang="ar-EG" sz="1500" dirty="0"/>
          </a:p>
          <a:p>
            <a:pPr rtl="1" algn="r" marL="228600" indent="-228600">
              <a:spcAft>
                <a:spcPts val="800"/>
              </a:spcAft>
              <a:buSzPct val="100000"/>
              <a:buChar char="•"/>
            </a:pPr>
            <a:r>
              <a:rPr lang="ar-EG" altLang="en-US" sz="1500" b="1" dirty="0">
                <a:solidFill>
                  <a:srgbClr val="1F1F1D"/>
                </a:solidFill>
              </a:rPr>
              <a:t>حبات بيلي والخاتم الماسي: </a:t>
            </a:r>
            <a:pPr rtl="1" algn="r" indent="0" marL="0">
              <a:buNone/>
            </a:pPr>
            <a:r>
              <a:rPr lang="ar-EG" altLang="en-US" sz="1500" dirty="0">
                <a:solidFill>
                  <a:srgbClr val="1F1F1D"/>
                </a:solidFill>
              </a:rPr>
              <a:t>بلا مرشح، تعريض قصير جدًا وتصوير متتابع سريع (Burst)</a:t>
            </a:r>
            <a:endParaRPr lang="ar-EG" sz="1500" dirty="0"/>
          </a:p>
          <a:p>
            <a:pPr rtl="1" algn="r" marL="228600" indent="-228600">
              <a:spcAft>
                <a:spcPts val="800"/>
              </a:spcAft>
              <a:buSzPct val="100000"/>
              <a:buChar char="•"/>
            </a:pPr>
            <a:r>
              <a:rPr lang="ar-EG" altLang="en-US" sz="1500" b="1" dirty="0">
                <a:solidFill>
                  <a:srgbClr val="1F1F1D"/>
                </a:solidFill>
              </a:rPr>
              <a:t>الشواظ والكروموسفير: </a:t>
            </a:r>
            <a:pPr rtl="1" algn="r" indent="0" marL="0">
              <a:buNone/>
            </a:pPr>
            <a:r>
              <a:rPr lang="ar-EG" altLang="en-US" sz="1500" dirty="0">
                <a:solidFill>
                  <a:srgbClr val="1F1F1D"/>
                </a:solidFill>
              </a:rPr>
              <a:t>تعريضات قصيرة في أول الكلية وآخرها</a:t>
            </a:r>
            <a:endParaRPr lang="ar-EG" sz="1500" dirty="0"/>
          </a:p>
          <a:p>
            <a:pPr rtl="1" algn="r" marL="228600" indent="-228600">
              <a:spcAft>
                <a:spcPts val="800"/>
              </a:spcAft>
              <a:buSzPct val="100000"/>
              <a:buChar char="•"/>
            </a:pPr>
            <a:r>
              <a:rPr lang="ar-EG" altLang="en-US" sz="1500" b="1" dirty="0">
                <a:solidFill>
                  <a:srgbClr val="1F1F1D"/>
                </a:solidFill>
              </a:rPr>
              <a:t>الهالة (Corona): </a:t>
            </a:r>
            <a:pPr rtl="1" algn="r" indent="0" marL="0">
              <a:buNone/>
            </a:pPr>
            <a:r>
              <a:rPr lang="ar-EG" altLang="en-US" sz="1500" dirty="0">
                <a:solidFill>
                  <a:srgbClr val="1F1F1D"/>
                </a:solidFill>
              </a:rPr>
              <a:t>سلسلة من الأقصر إلى الأطول، ثم دمج HDR بعد الحدث</a:t>
            </a:r>
            <a:endParaRPr lang="ar-EG" sz="1500" dirty="0"/>
          </a:p>
          <a:p>
            <a:pPr rtl="1" algn="r" marL="228600" indent="-228600">
              <a:spcAft>
                <a:spcPts val="800"/>
              </a:spcAft>
              <a:buSzPct val="100000"/>
              <a:buChar char="•"/>
            </a:pPr>
            <a:r>
              <a:rPr lang="ar-EG" altLang="en-US" sz="1500" b="1" dirty="0">
                <a:solidFill>
                  <a:srgbClr val="1F1F1D"/>
                </a:solidFill>
              </a:rPr>
              <a:t>المدرّج التكراري (Histogram): </a:t>
            </a:r>
            <a:pPr rtl="1" algn="r" indent="0" marL="0">
              <a:buNone/>
            </a:pPr>
            <a:r>
              <a:rPr lang="ar-EG" altLang="en-US" sz="1500" dirty="0">
                <a:solidFill>
                  <a:srgbClr val="1F1F1D"/>
                </a:solidFill>
              </a:rPr>
              <a:t>راجعه في الجزئي فقط؛ لا وقت لذلك في الكلية</a:t>
            </a:r>
            <a:endParaRPr lang="ar-EG" sz="1500" dirty="0"/>
          </a:p>
        </p:txBody>
      </p:sp>
      <p:sp>
        <p:nvSpPr>
          <p:cNvPr id="6" name="Text 3"/>
          <p:cNvSpPr txBox="1"/>
          <p:nvPr/>
        </p:nvSpPr>
        <p:spPr>
          <a:xfrm>
            <a:off x="548640" y="6053328"/>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الشكل ٥-٧ من الكتاب: الإعدادات المقترحة لكل مرحلة (محسوبة)</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خطة المرشد: من الآن حتى نهاية الكسوف</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The guide's plan: from now until fourth contact</a:t>
            </a:r>
            <a:endParaRPr lang="en-US" sz="1400" dirty="0"/>
          </a:p>
        </p:txBody>
      </p:sp>
      <p:sp>
        <p:nvSpPr>
          <p:cNvPr id="4" name="timeline-line"/>
          <p:cNvSpPr/>
          <p:nvPr/>
        </p:nvSpPr>
        <p:spPr>
          <a:xfrm>
            <a:off x="822960" y="1874520"/>
            <a:ext cx="10545775" cy="0"/>
          </a:xfrm>
          <a:prstGeom prst="line">
            <a:avLst/>
          </a:prstGeom>
          <a:noFill/>
          <a:ln w="25400">
            <a:solidFill>
              <a:srgbClr val="F7B733"/>
            </a:solidFill>
            <a:prstDash val="dash"/>
          </a:ln>
        </p:spPr>
      </p:sp>
      <p:sp>
        <p:nvSpPr>
          <p:cNvPr id="5" name="step-disc-1"/>
          <p:cNvSpPr/>
          <p:nvPr/>
        </p:nvSpPr>
        <p:spPr>
          <a:xfrm>
            <a:off x="10421341"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6" name="Text 4"/>
          <p:cNvSpPr txBox="1"/>
          <p:nvPr/>
        </p:nvSpPr>
        <p:spPr>
          <a:xfrm>
            <a:off x="10421341"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١</a:t>
            </a:r>
            <a:endParaRPr lang="en-US" sz="2000" dirty="0"/>
          </a:p>
        </p:txBody>
      </p:sp>
      <p:sp>
        <p:nvSpPr>
          <p:cNvPr id="7" name="step-card-1"/>
          <p:cNvSpPr/>
          <p:nvPr/>
        </p:nvSpPr>
        <p:spPr>
          <a:xfrm>
            <a:off x="9931146"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10068306"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rPr>
              <a:t>قبل سنة</a:t>
            </a:r>
            <a:endParaRPr lang="ar-EG" sz="1500" dirty="0"/>
          </a:p>
        </p:txBody>
      </p:sp>
      <p:sp>
        <p:nvSpPr>
          <p:cNvPr id="9" name="Text 7"/>
          <p:cNvSpPr txBox="1"/>
          <p:nvPr/>
        </p:nvSpPr>
        <p:spPr>
          <a:xfrm>
            <a:off x="10068306"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rPr>
              <a:t>حجز الموقع والنقل؛ دراسة بطاقة المدينة؛ قراءة الكتاب والرواية</a:t>
            </a:r>
            <a:endParaRPr lang="ar-EG" sz="1400" dirty="0"/>
          </a:p>
        </p:txBody>
      </p:sp>
      <p:sp>
        <p:nvSpPr>
          <p:cNvPr id="10" name="step-disc-2"/>
          <p:cNvSpPr/>
          <p:nvPr/>
        </p:nvSpPr>
        <p:spPr>
          <a:xfrm>
            <a:off x="8544839"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8544839"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٢</a:t>
            </a:r>
            <a:endParaRPr lang="en-US" sz="2000" dirty="0"/>
          </a:p>
        </p:txBody>
      </p:sp>
      <p:sp>
        <p:nvSpPr>
          <p:cNvPr id="12" name="step-card-2"/>
          <p:cNvSpPr/>
          <p:nvPr/>
        </p:nvSpPr>
        <p:spPr>
          <a:xfrm>
            <a:off x="8054645"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8191805"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rPr>
              <a:t>قبل ٣ أشهر</a:t>
            </a:r>
            <a:endParaRPr lang="ar-EG" sz="1500" dirty="0"/>
          </a:p>
        </p:txBody>
      </p:sp>
      <p:sp>
        <p:nvSpPr>
          <p:cNvPr id="14" name="Text 12"/>
          <p:cNvSpPr txBox="1"/>
          <p:nvPr/>
        </p:nvSpPr>
        <p:spPr>
          <a:xfrm>
            <a:off x="8191805"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rPr>
              <a:t>شراء نظارات معتمدة + ٢٠٪ احتياطي؛ تجربة التطبيقات</a:t>
            </a:r>
            <a:endParaRPr lang="ar-EG" sz="1400" dirty="0"/>
          </a:p>
        </p:txBody>
      </p:sp>
      <p:sp>
        <p:nvSpPr>
          <p:cNvPr id="15" name="step-disc-3"/>
          <p:cNvSpPr/>
          <p:nvPr/>
        </p:nvSpPr>
        <p:spPr>
          <a:xfrm>
            <a:off x="6668338"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6" name="Text 14"/>
          <p:cNvSpPr txBox="1"/>
          <p:nvPr/>
        </p:nvSpPr>
        <p:spPr>
          <a:xfrm>
            <a:off x="6668338"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٣</a:t>
            </a:r>
            <a:endParaRPr lang="en-US" sz="2000" dirty="0"/>
          </a:p>
        </p:txBody>
      </p:sp>
      <p:sp>
        <p:nvSpPr>
          <p:cNvPr id="17" name="step-card-3"/>
          <p:cNvSpPr/>
          <p:nvPr/>
        </p:nvSpPr>
        <p:spPr>
          <a:xfrm>
            <a:off x="6178144"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18" name="Text 16"/>
          <p:cNvSpPr txBox="1"/>
          <p:nvPr/>
        </p:nvSpPr>
        <p:spPr>
          <a:xfrm>
            <a:off x="6315304"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rPr>
              <a:t>قبل أسبوع</a:t>
            </a:r>
            <a:endParaRPr lang="ar-EG" sz="1500" dirty="0"/>
          </a:p>
        </p:txBody>
      </p:sp>
      <p:sp>
        <p:nvSpPr>
          <p:cNvPr id="19" name="Text 17"/>
          <p:cNvSpPr txBox="1"/>
          <p:nvPr/>
        </p:nvSpPr>
        <p:spPr>
          <a:xfrm>
            <a:off x="6315304"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rPr>
              <a:t>مراجعة الطقس والطرق؛ إحاطة المجموعة بالسلامة</a:t>
            </a:r>
            <a:endParaRPr lang="ar-EG" sz="1400" dirty="0"/>
          </a:p>
        </p:txBody>
      </p:sp>
      <p:sp>
        <p:nvSpPr>
          <p:cNvPr id="20" name="step-disc-4"/>
          <p:cNvSpPr/>
          <p:nvPr/>
        </p:nvSpPr>
        <p:spPr>
          <a:xfrm>
            <a:off x="4791837"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1" name="Text 19"/>
          <p:cNvSpPr txBox="1"/>
          <p:nvPr/>
        </p:nvSpPr>
        <p:spPr>
          <a:xfrm>
            <a:off x="4791837"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٤</a:t>
            </a:r>
            <a:endParaRPr lang="en-US" sz="2000" dirty="0"/>
          </a:p>
        </p:txBody>
      </p:sp>
      <p:sp>
        <p:nvSpPr>
          <p:cNvPr id="22" name="step-card-4"/>
          <p:cNvSpPr/>
          <p:nvPr/>
        </p:nvSpPr>
        <p:spPr>
          <a:xfrm>
            <a:off x="4301642" y="2514600"/>
            <a:ext cx="1711909" cy="2834640"/>
          </a:xfrm>
          <a:prstGeom prst="roundRect">
            <a:avLst>
              <a:gd name="adj" fmla="val 6410"/>
            </a:avLst>
          </a:prstGeom>
          <a:solidFill>
            <a:srgbClr val="FFFFFF"/>
          </a:solidFill>
          <a:ln w="9525">
            <a:solidFill>
              <a:srgbClr val="E4E2DC"/>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4438802"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1D4E89"/>
                </a:solidFill>
              </a:rPr>
              <a:t>يوم الكسوف صباحًا</a:t>
            </a:r>
            <a:endParaRPr lang="ar-EG" sz="1500" dirty="0"/>
          </a:p>
        </p:txBody>
      </p:sp>
      <p:sp>
        <p:nvSpPr>
          <p:cNvPr id="24" name="Text 22"/>
          <p:cNvSpPr txBox="1"/>
          <p:nvPr/>
        </p:nvSpPr>
        <p:spPr>
          <a:xfrm>
            <a:off x="4438802"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1F1F1D"/>
                </a:solidFill>
              </a:rPr>
              <a:t>الوصول مبكرًا؛ توزيع النظارات والماء؛ تحديد الظل والإسعاف</a:t>
            </a:r>
            <a:endParaRPr lang="ar-EG" sz="1400" dirty="0"/>
          </a:p>
        </p:txBody>
      </p:sp>
      <p:sp>
        <p:nvSpPr>
          <p:cNvPr id="25" name="step-disc-5"/>
          <p:cNvSpPr/>
          <p:nvPr/>
        </p:nvSpPr>
        <p:spPr>
          <a:xfrm>
            <a:off x="2915336"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6" name="Text 24"/>
          <p:cNvSpPr txBox="1"/>
          <p:nvPr/>
        </p:nvSpPr>
        <p:spPr>
          <a:xfrm>
            <a:off x="2915336"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٥</a:t>
            </a:r>
            <a:endParaRPr lang="en-US" sz="2000" dirty="0"/>
          </a:p>
        </p:txBody>
      </p:sp>
      <p:sp>
        <p:nvSpPr>
          <p:cNvPr id="27" name="step-card-5"/>
          <p:cNvSpPr/>
          <p:nvPr/>
        </p:nvSpPr>
        <p:spPr>
          <a:xfrm>
            <a:off x="2425141" y="2514600"/>
            <a:ext cx="1711909" cy="2834640"/>
          </a:xfrm>
          <a:prstGeom prst="roundRect">
            <a:avLst>
              <a:gd name="adj" fmla="val 6410"/>
            </a:avLst>
          </a:prstGeom>
          <a:solidFill>
            <a:srgbClr val="0F1B2D"/>
          </a:solidFill>
          <a:ln w="9525">
            <a:solidFill>
              <a:srgbClr val="0F1B2D"/>
            </a:solidFill>
            <a:prstDash val="solid"/>
          </a:ln>
          <a:effectLst>
            <a:outerShdw sx="100000" sy="100000" kx="0" ky="0" algn="bl" rotWithShape="0" blurRad="76200" dist="25400" dir="5400000">
              <a:srgbClr val="000000">
                <a:alpha val="8000"/>
              </a:srgbClr>
            </a:outerShdw>
          </a:effectLst>
        </p:spPr>
      </p:sp>
      <p:sp>
        <p:nvSpPr>
          <p:cNvPr id="28" name="Text 26"/>
          <p:cNvSpPr txBox="1"/>
          <p:nvPr/>
        </p:nvSpPr>
        <p:spPr>
          <a:xfrm>
            <a:off x="2562301"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F7B733"/>
                </a:solidFill>
              </a:rPr>
              <a:t>١١:٤٠ ← ١٣:٠٠</a:t>
            </a:r>
            <a:endParaRPr lang="ar-EG" sz="1500" dirty="0"/>
          </a:p>
        </p:txBody>
      </p:sp>
      <p:sp>
        <p:nvSpPr>
          <p:cNvPr id="29" name="Text 27"/>
          <p:cNvSpPr txBox="1"/>
          <p:nvPr/>
        </p:nvSpPr>
        <p:spPr>
          <a:xfrm>
            <a:off x="2562301"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rPr>
              <a:t>متابعة الجزئي بالنظارة؛ أهلّة الأشجار؛ شرح ما سيأتي</a:t>
            </a:r>
            <a:endParaRPr lang="ar-EG" sz="1400" dirty="0"/>
          </a:p>
        </p:txBody>
      </p:sp>
      <p:sp>
        <p:nvSpPr>
          <p:cNvPr id="30" name="step-disc-6"/>
          <p:cNvSpPr/>
          <p:nvPr/>
        </p:nvSpPr>
        <p:spPr>
          <a:xfrm>
            <a:off x="1038835" y="1508760"/>
            <a:ext cx="731520" cy="731520"/>
          </a:xfrm>
          <a:prstGeom prst="ellipse">
            <a:avLst/>
          </a:prstGeom>
          <a:solidFill>
            <a:srgbClr val="0F1B2D"/>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31" name="Text 29"/>
          <p:cNvSpPr txBox="1"/>
          <p:nvPr/>
        </p:nvSpPr>
        <p:spPr>
          <a:xfrm>
            <a:off x="1038835" y="1508760"/>
            <a:ext cx="731520" cy="731520"/>
          </a:xfrm>
          <a:prstGeom prst="rect">
            <a:avLst/>
          </a:prstGeom>
          <a:noFill/>
          <a:ln/>
        </p:spPr>
        <p:txBody>
          <a:bodyPr wrap="square" lIns="0" tIns="0" rIns="0" bIns="0" rtlCol="0" anchor="ctr"/>
          <a:lstStyle/>
          <a:p>
            <a:pPr rtl="1" algn="ctr" indent="0" marL="0">
              <a:buNone/>
            </a:pPr>
            <a:r>
              <a:rPr lang="en-US" sz="2000" b="1" dirty="0">
                <a:solidFill>
                  <a:srgbClr val="F7B733"/>
                </a:solidFill>
              </a:rPr>
              <a:t>٦</a:t>
            </a:r>
            <a:endParaRPr lang="en-US" sz="2000" dirty="0"/>
          </a:p>
        </p:txBody>
      </p:sp>
      <p:sp>
        <p:nvSpPr>
          <p:cNvPr id="32" name="step-card-6"/>
          <p:cNvSpPr/>
          <p:nvPr/>
        </p:nvSpPr>
        <p:spPr>
          <a:xfrm>
            <a:off x="548640" y="2514600"/>
            <a:ext cx="1711909" cy="2834640"/>
          </a:xfrm>
          <a:prstGeom prst="roundRect">
            <a:avLst>
              <a:gd name="adj" fmla="val 6410"/>
            </a:avLst>
          </a:prstGeom>
          <a:solidFill>
            <a:srgbClr val="0F1B2D"/>
          </a:solidFill>
          <a:ln w="9525">
            <a:solidFill>
              <a:srgbClr val="0F1B2D"/>
            </a:solidFill>
            <a:prstDash val="solid"/>
          </a:ln>
          <a:effectLst>
            <a:outerShdw sx="100000" sy="100000" kx="0" ky="0" algn="bl" rotWithShape="0" blurRad="76200" dist="25400" dir="5400000">
              <a:srgbClr val="000000">
                <a:alpha val="8000"/>
              </a:srgbClr>
            </a:outerShdw>
          </a:effectLst>
        </p:spPr>
      </p:sp>
      <p:sp>
        <p:nvSpPr>
          <p:cNvPr id="33" name="Text 31"/>
          <p:cNvSpPr txBox="1"/>
          <p:nvPr/>
        </p:nvSpPr>
        <p:spPr>
          <a:xfrm>
            <a:off x="685800" y="2651760"/>
            <a:ext cx="1437589" cy="640080"/>
          </a:xfrm>
          <a:prstGeom prst="rect">
            <a:avLst/>
          </a:prstGeom>
          <a:noFill/>
          <a:ln/>
        </p:spPr>
        <p:txBody>
          <a:bodyPr wrap="square" lIns="0" tIns="0" rIns="0" bIns="0" rtlCol="0" anchor="t"/>
          <a:lstStyle/>
          <a:p>
            <a:pPr rtl="1" algn="r" indent="0" marL="0">
              <a:buNone/>
            </a:pPr>
            <a:r>
              <a:rPr lang="ar-EG" altLang="en-US" sz="1500" b="1" dirty="0">
                <a:solidFill>
                  <a:srgbClr val="F7B733"/>
                </a:solidFill>
              </a:rPr>
              <a:t>١٣:٠٢ ← ١٣:٠٨</a:t>
            </a:r>
            <a:endParaRPr lang="ar-EG" sz="1500" dirty="0"/>
          </a:p>
        </p:txBody>
      </p:sp>
      <p:sp>
        <p:nvSpPr>
          <p:cNvPr id="34" name="Text 32"/>
          <p:cNvSpPr txBox="1"/>
          <p:nvPr/>
        </p:nvSpPr>
        <p:spPr>
          <a:xfrm>
            <a:off x="685800" y="3291840"/>
            <a:ext cx="1437589" cy="1965960"/>
          </a:xfrm>
          <a:prstGeom prst="rect">
            <a:avLst/>
          </a:prstGeom>
          <a:noFill/>
          <a:ln/>
        </p:spPr>
        <p:txBody>
          <a:bodyPr wrap="square" lIns="0" tIns="0" rIns="0" bIns="0" rtlCol="0" anchor="t"/>
          <a:lstStyle/>
          <a:p>
            <a:pPr rtl="1" algn="r" indent="0" marL="0">
              <a:buNone/>
            </a:pPr>
            <a:r>
              <a:rPr lang="ar-EG" altLang="en-US" sz="1400" dirty="0">
                <a:solidFill>
                  <a:srgbClr val="FFFFFF"/>
                </a:solidFill>
              </a:rPr>
              <a:t>«انزعوا النظارات!» ثم «النظارات!» مع أول وميض</a:t>
            </a:r>
            <a:endParaRPr lang="ar-EG" sz="1400" dirty="0"/>
          </a:p>
        </p:txBody>
      </p:sp>
      <p:sp>
        <p:nvSpPr>
          <p:cNvPr id="35" name="Text 33"/>
          <p:cNvSpPr txBox="1"/>
          <p:nvPr/>
        </p:nvSpPr>
        <p:spPr>
          <a:xfrm>
            <a:off x="548640" y="5486400"/>
            <a:ext cx="11094415" cy="548640"/>
          </a:xfrm>
          <a:prstGeom prst="rect">
            <a:avLst/>
          </a:prstGeom>
          <a:noFill/>
          <a:ln/>
        </p:spPr>
        <p:txBody>
          <a:bodyPr wrap="square" lIns="0" tIns="0" rIns="0" bIns="0" rtlCol="0" anchor="ctr"/>
          <a:lstStyle/>
          <a:p>
            <a:pPr rtl="1" algn="r" indent="0" marL="0">
              <a:buNone/>
            </a:pPr>
            <a:r>
              <a:rPr lang="ar-EG" altLang="en-US" sz="1500" b="1" dirty="0">
                <a:solidFill>
                  <a:srgbClr val="0F1B2D"/>
                </a:solidFill>
              </a:rPr>
              <a:t>بعد الكلية: </a:t>
            </a:r>
            <a:pPr rtl="1" algn="r" indent="0" marL="0">
              <a:buNone/>
            </a:pPr>
            <a:r>
              <a:rPr lang="ar-EG" altLang="en-US" sz="1500" dirty="0">
                <a:solidFill>
                  <a:srgbClr val="1F1F1D"/>
                </a:solidFill>
              </a:rPr>
              <a:t>ساعة و١٨ دقيقة من الجزئي — وقت مناسب للصور الجماعية وجمع النظارات وشرح ما رأيناه وربطه بابن يونس وإخناتون.</a:t>
            </a:r>
            <a:endParaRPr lang="en-US"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مسرد المصطلحات (١ من ٢)</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Bilingual glossary of eclipse terms (1/2)</a:t>
            </a:r>
            <a:endParaRPr lang="en-US" sz="1400" dirty="0"/>
          </a:p>
        </p:txBody>
      </p:sp>
      <p:graphicFrame>
        <p:nvGraphicFramePr>
          <p:cNvPr id="65" name="glossary-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301752">
                <a:tc>
                  <a:txBody>
                    <a:bodyPr/>
                    <a:lstStyle/>
                    <a:p>
                      <a:pPr rtl="1" algn="r" indent="0" marL="0">
                        <a:buNone/>
                      </a:pPr>
                      <a:r>
                        <a:rPr lang="ar-EG" altLang="en-US" sz="1300" b="1" dirty="0">
                          <a:solidFill>
                            <a:srgbClr val="FFFFFF"/>
                          </a:solidFill>
                        </a:rPr>
                        <a:t>المعنى</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algn="ctr" indent="0" marL="0">
                        <a:buNone/>
                      </a:pPr>
                      <a:r>
                        <a:rPr lang="en-US" altLang="en-US" sz="1300" b="1" dirty="0">
                          <a:solidFill>
                            <a:srgbClr val="FFFFFF"/>
                          </a:solidFill>
                        </a:rPr>
                        <a:t>English</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300" b="1" dirty="0">
                          <a:solidFill>
                            <a:srgbClr val="FFFFFF"/>
                          </a:solidFill>
                        </a:rPr>
                        <a:t>المصطلح</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01752">
                <a:tc>
                  <a:txBody>
                    <a:bodyPr/>
                    <a:lstStyle/>
                    <a:p>
                      <a:pPr rtl="1" algn="r" indent="0" marL="0">
                        <a:buNone/>
                      </a:pPr>
                      <a:r>
                        <a:rPr lang="ar-EG" altLang="en-US" sz="1300" dirty="0">
                          <a:solidFill>
                            <a:srgbClr val="1F1F1D"/>
                          </a:solidFill>
                        </a:rPr>
                        <a:t>القمر يحجب الشمس، في المحاق</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Solar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كسوف الشمس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ظل الأرض يغطي القمر، في البدر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Lunar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خسوف القمر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حجب قرص الشمس كله</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Total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كسوف كلي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تبقى حلقة مضيئة حول القمر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Annular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كسوف حلقي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حجب جزء من القرص فقط</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Partial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كسوف جزئي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حلقي في جزء من المسار وكلي في آخر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Hybrid eclipse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كسوف هجين</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منطقة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Umbra</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الظل الكامل</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منطقة الكسوف الجزئي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Penumbra</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شبه الظل</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الشريط الذي تُرى فيه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Path of totality</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مسار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منتصف المسار، وفيه أطول مدة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Central line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خط المركز</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الفترة بين التماسين الثاني والثالث</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Totality</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لحظات بدء المراحل وانتهائها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Contacts (C1–C4)</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التماسات</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نسبة قطر الشمس الذي يغطيه القمر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Eclipse magnitude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قدر الكسوف</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نسبة مساحة القرص المحجوبة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Obscuration</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نسبة الاحتجاب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الغلاف الخارجي للشمس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Corona</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الهالة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مسرد المصطلحات (٢ من ٢)</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Bilingual glossary of eclipse terms (2/2)</a:t>
            </a:r>
            <a:endParaRPr lang="en-US" sz="1400" dirty="0"/>
          </a:p>
        </p:txBody>
      </p:sp>
      <p:graphicFrame>
        <p:nvGraphicFramePr>
          <p:cNvPr id="66" name="glossary-2"/>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0"/>
                <a:gridCol w="3291840"/>
                <a:gridCol w="2770632"/>
              </a:tblGrid>
              <a:tr h="301752">
                <a:tc>
                  <a:txBody>
                    <a:bodyPr/>
                    <a:lstStyle/>
                    <a:p>
                      <a:pPr rtl="1" algn="r" indent="0" marL="0">
                        <a:buNone/>
                      </a:pPr>
                      <a:r>
                        <a:rPr lang="ar-EG" altLang="en-US" sz="1300" b="1" dirty="0">
                          <a:solidFill>
                            <a:srgbClr val="FFFFFF"/>
                          </a:solidFill>
                        </a:rPr>
                        <a:t>المعنى</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algn="ctr" indent="0" marL="0">
                        <a:buNone/>
                      </a:pPr>
                      <a:r>
                        <a:rPr lang="en-US" altLang="en-US" sz="1300" b="1" dirty="0">
                          <a:solidFill>
                            <a:srgbClr val="FFFFFF"/>
                          </a:solidFill>
                        </a:rPr>
                        <a:t>English</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c>
                  <a:txBody>
                    <a:bodyPr/>
                    <a:lstStyle/>
                    <a:p>
                      <a:pPr rtl="1" algn="r" indent="0" marL="0">
                        <a:buNone/>
                      </a:pPr>
                      <a:r>
                        <a:rPr lang="ar-EG" altLang="en-US" sz="1300" b="1" dirty="0">
                          <a:solidFill>
                            <a:srgbClr val="FFFFFF"/>
                          </a:solidFill>
                        </a:rPr>
                        <a:t>المصطلح</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0F1B2D"/>
                    </a:solidFill>
                  </a:tcPr>
                </a:tc>
              </a:tr>
              <a:tr h="301752">
                <a:tc>
                  <a:txBody>
                    <a:bodyPr/>
                    <a:lstStyle/>
                    <a:p>
                      <a:pPr rtl="1" algn="r" indent="0" marL="0">
                        <a:buNone/>
                      </a:pPr>
                      <a:r>
                        <a:rPr lang="ar-EG" altLang="en-US" sz="1300" dirty="0">
                          <a:solidFill>
                            <a:srgbClr val="1F1F1D"/>
                          </a:solidFill>
                        </a:rPr>
                        <a:t>الطبقة الوردية فوق سطح الشمس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Chromosphere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الكروموسفير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ألسنة غاز حمراء عند حافة الشمس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Prominences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الشواظ</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آخر وميض قبل الكلية وأوله بعدها</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Diamond ring</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الخاتم الماسي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ضوء الشمس عبر وديان حافة القمر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Baily's beads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حبات بيلي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خطوط متموجة على الأرض قبيل الكلية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Shadow bands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الأحزمة الظلية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نقطتا تقاطع مداري القمر والأرض</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Lunar nodes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العقدتان</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١٨ سنة و١١ يومًا و٨ ساعات</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Saros cycle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دورة ساروس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أقرب / أبعد نقطة للقمر من الأرض</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Perigee / Apogee</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الحضيض / الأوج</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وقت الكسوف / وقت الخسوف</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New Moon / Full Moon</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المحاق / البدر</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أثر تباطؤ دوران الأرض على الحساب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Delta T (ΔT)</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فرق التوقيت</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معاملات حساب ظروف الكسوف</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Besselian elements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عناصر بِسِل</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مرشح آمن للنظر إلى الشمس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Eclipse glasses (ISO 12312-2)</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نظارة الكسوف</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تلف العين بالنظر إلى الشمس</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Solar retinopathy</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اعتلال الشبكية الشمسي</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r h="301752">
                <a:tc>
                  <a:txBody>
                    <a:bodyPr/>
                    <a:lstStyle/>
                    <a:p>
                      <a:pPr rtl="1" algn="r" indent="0" marL="0">
                        <a:buNone/>
                      </a:pPr>
                      <a:r>
                        <a:rPr lang="ar-EG" altLang="en-US" sz="1300" dirty="0">
                          <a:solidFill>
                            <a:srgbClr val="1F1F1D"/>
                          </a:solidFill>
                        </a:rPr>
                        <a:t>رصد غير مباشر آمن</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algn="ctr" indent="0" marL="0">
                        <a:buNone/>
                      </a:pPr>
                      <a:r>
                        <a:rPr lang="en-US" altLang="en-US" sz="1300" i="1" dirty="0">
                          <a:solidFill>
                            <a:srgbClr val="1D4E89"/>
                          </a:solidFill>
                        </a:rPr>
                        <a:t>Pinhole projector</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c>
                  <a:txBody>
                    <a:bodyPr/>
                    <a:lstStyle/>
                    <a:p>
                      <a:pPr rtl="1" algn="r" indent="0" marL="0">
                        <a:buNone/>
                      </a:pPr>
                      <a:r>
                        <a:rPr lang="ar-EG" altLang="en-US" sz="1300" b="1" dirty="0">
                          <a:solidFill>
                            <a:srgbClr val="0F1B2D"/>
                          </a:solidFill>
                        </a:rPr>
                        <a:t>كاميرا الثقب</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EEF1F5"/>
                    </a:solidFill>
                  </a:tcPr>
                </a:tc>
              </a:tr>
              <a:tr h="301752">
                <a:tc>
                  <a:txBody>
                    <a:bodyPr/>
                    <a:lstStyle/>
                    <a:p>
                      <a:pPr rtl="1" algn="r" indent="0" marL="0">
                        <a:buNone/>
                      </a:pPr>
                      <a:r>
                        <a:rPr lang="ar-EG" altLang="en-US" sz="1300" dirty="0">
                          <a:solidFill>
                            <a:srgbClr val="1F1F1D"/>
                          </a:solidFill>
                        </a:rPr>
                        <a:t>جداول فلكية في الحضارة الإسلامية</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algn="ctr" indent="0" marL="0">
                        <a:buNone/>
                      </a:pPr>
                      <a:r>
                        <a:rPr lang="en-US" altLang="en-US" sz="1300" i="1" dirty="0">
                          <a:solidFill>
                            <a:srgbClr val="1D4E89"/>
                          </a:solidFill>
                        </a:rPr>
                        <a:t>Zij (astronomical tables)</a:t>
                      </a:r>
                      <a:endParaRPr lang="en-US"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c>
                  <a:txBody>
                    <a:bodyPr/>
                    <a:lstStyle/>
                    <a:p>
                      <a:pPr rtl="1" algn="r" indent="0" marL="0">
                        <a:buNone/>
                      </a:pPr>
                      <a:r>
                        <a:rPr lang="ar-EG" altLang="en-US" sz="1300" b="1" dirty="0">
                          <a:solidFill>
                            <a:srgbClr val="0F1B2D"/>
                          </a:solidFill>
                        </a:rPr>
                        <a:t>الزيج</a:t>
                      </a:r>
                      <a:endParaRPr lang="ar-EG" sz="1300" dirty="0"/>
                    </a:p>
                  </a:txBody>
                  <a:tcPr marL="91440" marR="91440" marT="45720" marB="45720" anchor="ctr">
                    <a:lnL w="6350" cap="flat" cmpd="sng" algn="ctr">
                      <a:solidFill>
                        <a:srgbClr val="E4E2DC"/>
                      </a:solidFill>
                      <a:prstDash val="solid"/>
                      <a:round/>
                      <a:headEnd type="none" w="med" len="med"/>
                      <a:tailEnd type="none" w="med" len="med"/>
                    </a:lnL>
                    <a:lnR w="6350" cap="flat" cmpd="sng" algn="ctr">
                      <a:solidFill>
                        <a:srgbClr val="E4E2DC"/>
                      </a:solidFill>
                      <a:prstDash val="solid"/>
                      <a:round/>
                      <a:headEnd type="none" w="med" len="med"/>
                      <a:tailEnd type="none" w="med" len="med"/>
                    </a:lnR>
                    <a:lnT w="6350" cap="flat" cmpd="sng" algn="ctr">
                      <a:solidFill>
                        <a:srgbClr val="E4E2DC"/>
                      </a:solidFill>
                      <a:prstDash val="solid"/>
                      <a:round/>
                      <a:headEnd type="none" w="med" len="med"/>
                      <a:tailEnd type="none" w="med" len="med"/>
                    </a:lnT>
                    <a:lnB w="6350" cap="flat" cmpd="sng" algn="ctr">
                      <a:solidFill>
                        <a:srgbClr val="E4E2D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FFFFFF"/>
                </a:solidFill>
              </a:rPr>
              <a:t>خلاصة: سبع رسائل يحملها المرشد</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F7B733"/>
                </a:solidFill>
              </a:rPr>
              <a:t>Summary: seven key messages</a:t>
            </a:r>
            <a:endParaRPr lang="en-US" sz="1400" dirty="0"/>
          </a:p>
        </p:txBody>
      </p:sp>
      <p:sp>
        <p:nvSpPr>
          <p:cNvPr id="4" name="msg-disc-0"/>
          <p:cNvSpPr/>
          <p:nvPr/>
        </p:nvSpPr>
        <p:spPr>
          <a:xfrm>
            <a:off x="10957255" y="1508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5" name="Text 3"/>
          <p:cNvSpPr txBox="1"/>
          <p:nvPr/>
        </p:nvSpPr>
        <p:spPr>
          <a:xfrm>
            <a:off x="10957255" y="1508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١</a:t>
            </a:r>
            <a:endParaRPr lang="en-US" sz="1800" dirty="0"/>
          </a:p>
        </p:txBody>
      </p:sp>
      <p:sp>
        <p:nvSpPr>
          <p:cNvPr id="6" name="Text 4"/>
          <p:cNvSpPr txBox="1"/>
          <p:nvPr/>
        </p:nvSpPr>
        <p:spPr>
          <a:xfrm>
            <a:off x="6248095"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الكسوف في آخر الشهر القمري، والخسوف في منتصفه</a:t>
            </a:r>
            <a:endParaRPr lang="ar-EG" sz="1700" dirty="0"/>
          </a:p>
        </p:txBody>
      </p:sp>
      <p:sp>
        <p:nvSpPr>
          <p:cNvPr id="7" name="msg-disc-1"/>
          <p:cNvSpPr/>
          <p:nvPr/>
        </p:nvSpPr>
        <p:spPr>
          <a:xfrm>
            <a:off x="10957255" y="2651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8" name="Text 6"/>
          <p:cNvSpPr txBox="1"/>
          <p:nvPr/>
        </p:nvSpPr>
        <p:spPr>
          <a:xfrm>
            <a:off x="10957255" y="2651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٢</a:t>
            </a:r>
            <a:endParaRPr lang="en-US" sz="1800" dirty="0"/>
          </a:p>
        </p:txBody>
      </p:sp>
      <p:sp>
        <p:nvSpPr>
          <p:cNvPr id="9" name="Text 7"/>
          <p:cNvSpPr txBox="1"/>
          <p:nvPr/>
        </p:nvSpPr>
        <p:spPr>
          <a:xfrm>
            <a:off x="6248095"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الكسوف الكلي كل ١٨ شهرًا في مكان ما، وعلى المدينة نفسها مرة كل قرون</a:t>
            </a:r>
            <a:endParaRPr lang="ar-EG" sz="1700" dirty="0"/>
          </a:p>
        </p:txBody>
      </p:sp>
      <p:sp>
        <p:nvSpPr>
          <p:cNvPr id="10" name="msg-disc-2"/>
          <p:cNvSpPr/>
          <p:nvPr/>
        </p:nvSpPr>
        <p:spPr>
          <a:xfrm>
            <a:off x="10957255" y="3794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1" name="Text 9"/>
          <p:cNvSpPr txBox="1"/>
          <p:nvPr/>
        </p:nvSpPr>
        <p:spPr>
          <a:xfrm>
            <a:off x="10957255" y="3794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٣</a:t>
            </a:r>
            <a:endParaRPr lang="en-US" sz="1800" dirty="0"/>
          </a:p>
        </p:txBody>
      </p:sp>
      <p:sp>
        <p:nvSpPr>
          <p:cNvPr id="12" name="Text 10"/>
          <p:cNvSpPr txBox="1"/>
          <p:nvPr/>
        </p:nvSpPr>
        <p:spPr>
          <a:xfrm>
            <a:off x="6248095"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الخسوف الكلي يُرى من المكان نفسه كل سنتين إلى ثلاث — أقربها ٣١ ديسمبر ٢٠٢٨</a:t>
            </a:r>
            <a:endParaRPr lang="ar-EG" sz="1700" dirty="0"/>
          </a:p>
        </p:txBody>
      </p:sp>
      <p:sp>
        <p:nvSpPr>
          <p:cNvPr id="13" name="msg-disc-3"/>
          <p:cNvSpPr/>
          <p:nvPr/>
        </p:nvSpPr>
        <p:spPr>
          <a:xfrm>
            <a:off x="10957255" y="4937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4" name="Text 12"/>
          <p:cNvSpPr txBox="1"/>
          <p:nvPr/>
        </p:nvSpPr>
        <p:spPr>
          <a:xfrm>
            <a:off x="10957255" y="4937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٤</a:t>
            </a:r>
            <a:endParaRPr lang="en-US" sz="1800" dirty="0"/>
          </a:p>
        </p:txBody>
      </p:sp>
      <p:sp>
        <p:nvSpPr>
          <p:cNvPr id="15" name="Text 13"/>
          <p:cNvSpPr txBox="1"/>
          <p:nvPr/>
        </p:nvSpPr>
        <p:spPr>
          <a:xfrm>
            <a:off x="6248095" y="4846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«لا ينكسفان لموت أحد ولا لحياته» — والقاهرة الفاطمية رصدت الكسوف بالطست والأصابع</a:t>
            </a:r>
            <a:endParaRPr lang="ar-EG" sz="1700" dirty="0"/>
          </a:p>
        </p:txBody>
      </p:sp>
      <p:sp>
        <p:nvSpPr>
          <p:cNvPr id="16" name="msg-disc-4"/>
          <p:cNvSpPr/>
          <p:nvPr/>
        </p:nvSpPr>
        <p:spPr>
          <a:xfrm>
            <a:off x="5257800" y="1508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17" name="Text 15"/>
          <p:cNvSpPr txBox="1"/>
          <p:nvPr/>
        </p:nvSpPr>
        <p:spPr>
          <a:xfrm>
            <a:off x="5257800" y="1508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٥</a:t>
            </a:r>
            <a:endParaRPr lang="en-US" sz="1800" dirty="0"/>
          </a:p>
        </p:txBody>
      </p:sp>
      <p:sp>
        <p:nvSpPr>
          <p:cNvPr id="18" name="Text 16"/>
          <p:cNvSpPr txBox="1"/>
          <p:nvPr/>
        </p:nvSpPr>
        <p:spPr>
          <a:xfrm>
            <a:off x="548640" y="1417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الأقصر: كلية ٦ د ٢٠ ث من ١٣:٠١:٥٨، لأول مرة منذ ١٣٧٧م</a:t>
            </a:r>
            <a:endParaRPr lang="ar-EG" sz="1700" dirty="0"/>
          </a:p>
        </p:txBody>
      </p:sp>
      <p:sp>
        <p:nvSpPr>
          <p:cNvPr id="19" name="msg-disc-5"/>
          <p:cNvSpPr/>
          <p:nvPr/>
        </p:nvSpPr>
        <p:spPr>
          <a:xfrm>
            <a:off x="5257800" y="2651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0" name="Text 18"/>
          <p:cNvSpPr txBox="1"/>
          <p:nvPr/>
        </p:nvSpPr>
        <p:spPr>
          <a:xfrm>
            <a:off x="5257800" y="2651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٦</a:t>
            </a:r>
            <a:endParaRPr lang="en-US" sz="1800" dirty="0"/>
          </a:p>
        </p:txBody>
      </p:sp>
      <p:sp>
        <p:nvSpPr>
          <p:cNvPr id="21" name="Text 19"/>
          <p:cNvSpPr txBox="1"/>
          <p:nvPr/>
        </p:nvSpPr>
        <p:spPr>
          <a:xfrm>
            <a:off x="548640" y="2560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أسوان والقاهرة والغردقة خارج المسار: النظارة لا تُنزع أبدًا</a:t>
            </a:r>
            <a:endParaRPr lang="ar-EG" sz="1700" dirty="0"/>
          </a:p>
        </p:txBody>
      </p:sp>
      <p:sp>
        <p:nvSpPr>
          <p:cNvPr id="22" name="msg-disc-6"/>
          <p:cNvSpPr/>
          <p:nvPr/>
        </p:nvSpPr>
        <p:spPr>
          <a:xfrm>
            <a:off x="5257800" y="3794760"/>
            <a:ext cx="640080" cy="640080"/>
          </a:xfrm>
          <a:prstGeom prst="ellipse">
            <a:avLst/>
          </a:prstGeom>
          <a:solidFill>
            <a:srgbClr val="1A2A44"/>
          </a:solidFill>
          <a:ln w="31750">
            <a:solidFill>
              <a:srgbClr val="F7B733"/>
            </a:solidFill>
            <a:prstDash val="solid"/>
          </a:ln>
          <a:effectLst>
            <a:outerShdw sx="100000" sy="100000" kx="0" ky="0" algn="bl" rotWithShape="0" blurRad="101600" dist="50800" dir="16200000">
              <a:srgbClr val="F7B733">
                <a:alpha val="35000"/>
              </a:srgbClr>
            </a:outerShdw>
          </a:effectLst>
        </p:spPr>
      </p:sp>
      <p:sp>
        <p:nvSpPr>
          <p:cNvPr id="23" name="Text 21"/>
          <p:cNvSpPr txBox="1"/>
          <p:nvPr/>
        </p:nvSpPr>
        <p:spPr>
          <a:xfrm>
            <a:off x="5257800" y="3794760"/>
            <a:ext cx="640080" cy="640080"/>
          </a:xfrm>
          <a:prstGeom prst="rect">
            <a:avLst/>
          </a:prstGeom>
          <a:noFill/>
          <a:ln/>
        </p:spPr>
        <p:txBody>
          <a:bodyPr wrap="square" lIns="0" tIns="0" rIns="0" bIns="0" rtlCol="0" anchor="ctr"/>
          <a:lstStyle/>
          <a:p>
            <a:pPr rtl="1" algn="ctr" indent="0" marL="0">
              <a:buNone/>
            </a:pPr>
            <a:r>
              <a:rPr lang="en-US" sz="1800" b="1" dirty="0">
                <a:solidFill>
                  <a:srgbClr val="F7B733"/>
                </a:solidFill>
              </a:rPr>
              <a:t>٧</a:t>
            </a:r>
            <a:endParaRPr lang="en-US" sz="1800" dirty="0"/>
          </a:p>
        </p:txBody>
      </p:sp>
      <p:sp>
        <p:nvSpPr>
          <p:cNvPr id="24" name="Text 22"/>
          <p:cNvSpPr txBox="1"/>
          <p:nvPr/>
        </p:nvSpPr>
        <p:spPr>
          <a:xfrm>
            <a:off x="548640" y="3703320"/>
            <a:ext cx="4526280" cy="868680"/>
          </a:xfrm>
          <a:prstGeom prst="rect">
            <a:avLst/>
          </a:prstGeom>
          <a:noFill/>
          <a:ln/>
        </p:spPr>
        <p:txBody>
          <a:bodyPr wrap="square" lIns="0" tIns="0" rIns="0" bIns="0" rtlCol="0" anchor="ctr"/>
          <a:lstStyle/>
          <a:p>
            <a:pPr rtl="1" algn="r" indent="0" marL="0">
              <a:buNone/>
            </a:pPr>
            <a:r>
              <a:rPr lang="ar-EG" altLang="en-US" sz="1700" dirty="0">
                <a:solidFill>
                  <a:srgbClr val="FFFFFF"/>
                </a:solidFill>
              </a:rPr>
              <a:t>الحر والزحام هما الخطر العملي الأكبر يوم الكسوف</a:t>
            </a:r>
            <a:endParaRPr lang="ar-EG" sz="17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AB3"/>
                </a:solidFill>
              </a:defRPr>
            </a:lvl1pPr>
          </a:lstStyle>
          <a:p>
            <a:pPr algn="l"/>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56032"/>
            <a:ext cx="11094415" cy="685800"/>
          </a:xfrm>
          <a:prstGeom prst="rect">
            <a:avLst/>
          </a:prstGeom>
          <a:noFill/>
          <a:ln/>
        </p:spPr>
        <p:txBody>
          <a:bodyPr wrap="square" lIns="0" tIns="0" rIns="0" bIns="0" rtlCol="0" anchor="ctr"/>
          <a:lstStyle/>
          <a:p>
            <a:pPr rtl="1" algn="r" indent="0" marL="0">
              <a:buNone/>
            </a:pPr>
            <a:r>
              <a:rPr lang="ar-EG" altLang="en-US" sz="3200" b="1" dirty="0">
                <a:solidFill>
                  <a:srgbClr val="0F1B2D"/>
                </a:solidFill>
              </a:rPr>
              <a:t>المصادر</a:t>
            </a:r>
            <a:endParaRPr lang="ar-EG" sz="3200" dirty="0"/>
          </a:p>
        </p:txBody>
      </p:sp>
      <p:sp>
        <p:nvSpPr>
          <p:cNvPr id="3" name="title-en"/>
          <p:cNvSpPr txBox="1"/>
          <p:nvPr/>
        </p:nvSpPr>
        <p:spPr>
          <a:xfrm>
            <a:off x="548640" y="914400"/>
            <a:ext cx="11094415" cy="310896"/>
          </a:xfrm>
          <a:prstGeom prst="rect">
            <a:avLst/>
          </a:prstGeom>
          <a:noFill/>
          <a:ln/>
        </p:spPr>
        <p:txBody>
          <a:bodyPr wrap="square" lIns="0" tIns="0" rIns="0" bIns="0" rtlCol="0" anchor="ctr"/>
          <a:lstStyle/>
          <a:p>
            <a:pPr algn="r" indent="0" marL="0">
              <a:buNone/>
            </a:pPr>
            <a:r>
              <a:rPr lang="en-US" altLang="en-US" sz="1400" i="1" dirty="0">
                <a:solidFill>
                  <a:srgbClr val="E88A2C"/>
                </a:solidFill>
              </a:rPr>
              <a:t>Sources &amp; references</a:t>
            </a:r>
            <a:endParaRPr lang="en-US" sz="1400" dirty="0"/>
          </a:p>
        </p:txBody>
      </p:sp>
      <p:sp>
        <p:nvSpPr>
          <p:cNvPr id="4" name="Text 2"/>
          <p:cNvSpPr txBox="1"/>
          <p:nvPr/>
        </p:nvSpPr>
        <p:spPr>
          <a:xfrm>
            <a:off x="548640" y="1371600"/>
            <a:ext cx="11094415" cy="4480560"/>
          </a:xfrm>
          <a:prstGeom prst="rect">
            <a:avLst/>
          </a:prstGeom>
          <a:noFill/>
          <a:ln/>
        </p:spPr>
        <p:txBody>
          <a:bodyPr wrap="square" lIns="0" tIns="0" rIns="0" bIns="0" rtlCol="0" anchor="t"/>
          <a:lstStyle/>
          <a:p>
            <a:pPr rtl="1" algn="r" marL="228600" indent="-228600">
              <a:spcAft>
                <a:spcPts val="900"/>
              </a:spcAft>
              <a:buSzPct val="100000"/>
              <a:buChar char="•"/>
            </a:pPr>
            <a:r>
              <a:rPr lang="ar-EG" altLang="en-US" sz="1500" b="1" dirty="0">
                <a:solidFill>
                  <a:srgbClr val="1F1F1D"/>
                </a:solidFill>
              </a:rPr>
              <a:t>الكتاب: </a:t>
            </a:r>
            <a:pPr rtl="1" algn="r" indent="0" marL="0">
              <a:buNone/>
            </a:pPr>
            <a:r>
              <a:rPr lang="ar-EG" altLang="en-US" sz="1500" dirty="0">
                <a:solidFill>
                  <a:srgbClr val="1F1F1D"/>
                </a:solidFill>
              </a:rPr>
              <a:t>«الكسوف الكلي للشمس — ٢ أغسطس ٢٠٢٧: دليل علمي مصوّر لمصر والعالم العربي» (أكتوبر ٢٠٢٦) — مصدر الأشكال والجداول والأوقات</a:t>
            </a:r>
            <a:endParaRPr lang="ar-EG" sz="1500" dirty="0"/>
          </a:p>
          <a:p>
            <a:pPr rtl="1" algn="r" marL="228600" indent="-228600">
              <a:spcAft>
                <a:spcPts val="900"/>
              </a:spcAft>
              <a:buSzPct val="100000"/>
              <a:buChar char="•"/>
            </a:pPr>
            <a:r>
              <a:rPr lang="ar-EG" altLang="en-US" sz="1500" b="1" dirty="0">
                <a:solidFill>
                  <a:srgbClr val="1F1F1D"/>
                </a:solidFill>
              </a:rPr>
              <a:t>الرواية: </a:t>
            </a:r>
            <a:pPr rtl="1" algn="r" indent="0" marL="0">
              <a:buNone/>
            </a:pPr>
            <a:r>
              <a:rPr lang="ar-EG" altLang="en-US" sz="1500" dirty="0">
                <a:solidFill>
                  <a:srgbClr val="1F1F1D"/>
                </a:solidFill>
              </a:rPr>
              <a:t>«أرصاد وأطوار: سر الحاكم — ثغرة الكسوف»، ولا سيما «ملحق المؤلف: ما هو حقيقي في هذا الكتاب» وجدولها الزمني</a:t>
            </a:r>
            <a:endParaRPr lang="ar-EG" sz="1500" dirty="0"/>
          </a:p>
          <a:p>
            <a:pPr rtl="1" algn="r" marL="228600" indent="-228600">
              <a:spcAft>
                <a:spcPts val="900"/>
              </a:spcAft>
              <a:buSzPct val="100000"/>
              <a:buChar char="•"/>
            </a:pPr>
            <a:r>
              <a:rPr lang="ar-EG" altLang="en-US" sz="1500" b="1" dirty="0">
                <a:solidFill>
                  <a:srgbClr val="1F1F1D"/>
                </a:solidFill>
              </a:rPr>
              <a:t>ناسا: </a:t>
            </a:r>
            <a:pPr rtl="1" algn="r" indent="0" marL="0">
              <a:buNone/>
            </a:pPr>
            <a:r>
              <a:rPr lang="ar-EG" altLang="en-US" sz="1500" dirty="0">
                <a:solidFill>
                  <a:srgbClr val="1F1F1D"/>
                </a:solidFill>
              </a:rPr>
              <a:t>عناصر بِسِل لكسوف ٢٠٢٧ (Fred Espenak, NASA GSFC)، وصور ناسا المفتوحة للاستخدام التعليمي</a:t>
            </a:r>
            <a:endParaRPr lang="ar-EG" sz="1500" dirty="0"/>
          </a:p>
          <a:p>
            <a:pPr rtl="1" algn="r" marL="228600" indent="-228600">
              <a:spcAft>
                <a:spcPts val="900"/>
              </a:spcAft>
              <a:buSzPct val="100000"/>
              <a:buChar char="•"/>
            </a:pPr>
            <a:r>
              <a:rPr lang="ar-EG" altLang="en-US" sz="1500" b="1" dirty="0">
                <a:solidFill>
                  <a:srgbClr val="1F1F1D"/>
                </a:solidFill>
              </a:rPr>
              <a:t>الحساب: </a:t>
            </a:r>
            <a:pPr rtl="1" algn="r" indent="0" marL="0">
              <a:buNone/>
            </a:pPr>
            <a:r>
              <a:rPr lang="ar-EG" altLang="en-US" sz="1500" dirty="0">
                <a:solidFill>
                  <a:srgbClr val="1F1F1D"/>
                </a:solidFill>
              </a:rPr>
              <a:t>تقويم JPL DE421 (Skyfield)، ونظرية ERFA مع معادلات إسبيناك ومييس لفرق التوقيت ΔT للعصور القديمة</a:t>
            </a:r>
            <a:endParaRPr lang="ar-EG" sz="1500" dirty="0"/>
          </a:p>
          <a:p>
            <a:pPr rtl="1" algn="r" marL="228600" indent="-228600">
              <a:spcAft>
                <a:spcPts val="900"/>
              </a:spcAft>
              <a:buSzPct val="100000"/>
              <a:buChar char="•"/>
            </a:pPr>
            <a:r>
              <a:rPr lang="ar-EG" altLang="en-US" sz="1500" b="1" dirty="0">
                <a:solidFill>
                  <a:srgbClr val="1F1F1D"/>
                </a:solidFill>
              </a:rPr>
              <a:t>ابن يونس: </a:t>
            </a:r>
            <a:pPr rtl="1" algn="r" indent="0" marL="0">
              <a:buNone/>
            </a:pPr>
            <a:r>
              <a:rPr lang="ar-EG" altLang="en-US" sz="1500" dirty="0">
                <a:solidFill>
                  <a:srgbClr val="1F1F1D"/>
                </a:solidFill>
              </a:rPr>
              <a:t>«الزيج الحاكمي الكبير»، قطعة مخطوط ليدن، نشرة كوسان دي برسفال، باريس ١٨٠٤</a:t>
            </a:r>
            <a:endParaRPr lang="ar-EG" sz="1500" dirty="0"/>
          </a:p>
          <a:p>
            <a:pPr rtl="1" algn="r" marL="228600" indent="-228600">
              <a:spcAft>
                <a:spcPts val="900"/>
              </a:spcAft>
              <a:buSzPct val="100000"/>
              <a:buChar char="•"/>
            </a:pPr>
            <a:r>
              <a:rPr lang="ar-EG" altLang="en-US" sz="1500" b="1" dirty="0">
                <a:solidFill>
                  <a:srgbClr val="1F1F1D"/>
                </a:solidFill>
              </a:rPr>
              <a:t>الحديث: </a:t>
            </a:r>
            <a:pPr rtl="1" algn="r" indent="0" marL="0">
              <a:buNone/>
            </a:pPr>
            <a:r>
              <a:rPr lang="ar-EG" altLang="en-US" sz="1500" dirty="0">
                <a:solidFill>
                  <a:srgbClr val="1F1F1D"/>
                </a:solidFill>
              </a:rPr>
              <a:t>صحيح البخاري، كتاب الكسوف</a:t>
            </a:r>
            <a:endParaRPr lang="ar-EG" sz="1500" dirty="0"/>
          </a:p>
          <a:p>
            <a:pPr rtl="1" algn="r" marL="228600" indent="-228600">
              <a:spcAft>
                <a:spcPts val="900"/>
              </a:spcAft>
              <a:buSzPct val="100000"/>
              <a:buChar char="•"/>
            </a:pPr>
            <a:r>
              <a:rPr lang="ar-EG" altLang="en-US" sz="1500" b="1" dirty="0">
                <a:solidFill>
                  <a:srgbClr val="1F1F1D"/>
                </a:solidFill>
              </a:rPr>
              <a:t>مراجع أخرى في الكتاب: </a:t>
            </a:r>
            <a:pPr rtl="1" algn="r" indent="0" marL="0">
              <a:buNone/>
            </a:pPr>
            <a:r>
              <a:rPr lang="ar-EG" altLang="en-US" sz="1500" dirty="0">
                <a:solidFill>
                  <a:srgbClr val="1F1F1D"/>
                </a:solidFill>
              </a:rPr>
              <a:t>Sepharial, Eclipses (1915)؛ Allan Hall, How to Photograph an Eclipse (2017)؛ Jean Meeus</a:t>
            </a:r>
            <a:endParaRPr lang="ar-EG" sz="1500" dirty="0"/>
          </a:p>
        </p:txBody>
      </p:sp>
      <p:sp>
        <p:nvSpPr>
          <p:cNvPr id="5" name="Text 3"/>
          <p:cNvSpPr txBox="1"/>
          <p:nvPr/>
        </p:nvSpPr>
        <p:spPr>
          <a:xfrm>
            <a:off x="548640" y="5943600"/>
            <a:ext cx="11094415" cy="274320"/>
          </a:xfrm>
          <a:prstGeom prst="rect">
            <a:avLst/>
          </a:prstGeom>
          <a:noFill/>
          <a:ln/>
        </p:spPr>
        <p:txBody>
          <a:bodyPr wrap="square" lIns="0" tIns="0" rIns="0" bIns="0" rtlCol="0" anchor="ctr"/>
          <a:lstStyle/>
          <a:p>
            <a:pPr rtl="1" algn="r" indent="0" marL="0">
              <a:buNone/>
            </a:pPr>
            <a:r>
              <a:rPr lang="ar-EG" altLang="en-US" sz="1000" i="1" dirty="0">
                <a:solidFill>
                  <a:srgbClr val="8A8984"/>
                </a:solidFill>
              </a:rPr>
              <a:t>حسابات خاصة بهذه المحاضرة: كسوف ٦٣٢م في المدينة، وخسوفات ٢٠٢٨–٢٠٣٠ من القاهرة، ووقت الزوال يوم ٢ أغسطس ٢٠٢٧ — بأدوات الكتاب نفسها</a:t>
            </a:r>
            <a:endParaRPr lang="ar-EG"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defRPr>
            </a:lvl1pPr>
          </a:lstStyle>
          <a:p>
            <a:pPr algn="l"/>
            <a:fld id="{F7021451-1387-4CA6-816F-3879F97B5CBC}" type="slidenum">
              <a:rPr b="0" lang="en-US"/>
              <a:t>67</a:t>
            </a:fld>
            <a:endParaRPr lang="en-US"/>
          </a:p>
        </p:txBody>
      </p:sp>
    </p:spTree>
  </p:cSld>
  <p:clrMapOvr>
    <a:masterClrMapping/>
  </p:clrMapOvr>
</p:sld>
</file>

<file path=ppt/theme/theme1.xml><?xml version="1.0" encoding="utf-8"?>
<a:theme xmlns:a="http://schemas.openxmlformats.org/drawingml/2006/main" name="Eclipse 2027">
  <a:themeElements>
    <a:clrScheme name="Eclipse 2027">
      <a:dk1>
        <a:srgbClr val="1F1F1D"/>
      </a:dk1>
      <a:lt1>
        <a:srgbClr val="FBFAF7"/>
      </a:lt1>
      <a:dk2>
        <a:srgbClr val="0F1B2D"/>
      </a:dk2>
      <a:lt2>
        <a:srgbClr val="EEF1F5"/>
      </a:lt2>
      <a:accent1>
        <a:srgbClr val="F7B733"/>
      </a:accent1>
      <a:accent2>
        <a:srgbClr val="1D4E89"/>
      </a:accent2>
      <a:accent3>
        <a:srgbClr val="B3261E"/>
      </a:accent3>
      <a:accent4>
        <a:srgbClr val="1F7A4D"/>
      </a:accent4>
      <a:accent5>
        <a:srgbClr val="E88A2C"/>
      </a:accent5>
      <a:accent6>
        <a:srgbClr val="8A8984"/>
      </a:accent6>
      <a:hlink>
        <a:srgbClr val="1D4E89"/>
      </a:hlink>
      <a:folHlink>
        <a:srgbClr val="6D4C8B"/>
      </a:folHlink>
    </a:clrScheme>
    <a:fontScheme name="Eclipse 202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الكسوف الكلي للشمس ٢ أغسطس ٢٠٢٧ — محاضرة للمرشدين السياحيين والأثريين</dc:title>
  <dc:subject>الكسوف والخسوف، دوريتهما، الكسوف في الحضارة الإسلامية، كسوف ٢٠٢٧ في مصر</dc:subject>
  <dc:creator>مبنية على كتاب «الكسوف الكلي للشمس — ٢ أغسطس ٢٠٢٧»</dc:creator>
  <cp:lastModifiedBy>مبنية على كتاب «الكسوف الكلي للشمس — ٢ أغسطس ٢٠٢٧»</cp:lastModifiedBy>
  <cp:revision>1</cp:revision>
  <dcterms:created xsi:type="dcterms:W3CDTF">2026-10-24T16:21:00Z</dcterms:created>
  <dcterms:modified xsi:type="dcterms:W3CDTF">2026-10-24T16:21:00Z</dcterms:modified>
</cp:coreProperties>
</file>